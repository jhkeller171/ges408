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1" r:id="rId6"/>
    <p:sldId id="262" r:id="rId7"/>
    <p:sldId id="260" r:id="rId8"/>
    <p:sldId id="263" r:id="rId9"/>
    <p:sldId id="265" r:id="rId10"/>
    <p:sldId id="283" r:id="rId11"/>
    <p:sldId id="285" r:id="rId12"/>
    <p:sldId id="266" r:id="rId13"/>
    <p:sldId id="286" r:id="rId14"/>
    <p:sldId id="287" r:id="rId15"/>
    <p:sldId id="288" r:id="rId16"/>
    <p:sldId id="269" r:id="rId17"/>
    <p:sldId id="271" r:id="rId18"/>
    <p:sldId id="273" r:id="rId19"/>
    <p:sldId id="275" r:id="rId20"/>
    <p:sldId id="270" r:id="rId21"/>
    <p:sldId id="276" r:id="rId22"/>
    <p:sldId id="277" r:id="rId23"/>
    <p:sldId id="267" r:id="rId24"/>
    <p:sldId id="279" r:id="rId25"/>
    <p:sldId id="289" r:id="rId26"/>
    <p:sldId id="290" r:id="rId27"/>
    <p:sldId id="280" r:id="rId28"/>
    <p:sldId id="268" r:id="rId29"/>
    <p:sldId id="291" r:id="rId30"/>
    <p:sldId id="292" r:id="rId31"/>
    <p:sldId id="284" r:id="rId32"/>
    <p:sldId id="28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49"/>
    <p:restoredTop sz="80811"/>
  </p:normalViewPr>
  <p:slideViewPr>
    <p:cSldViewPr snapToGrid="0">
      <p:cViewPr varScale="1">
        <p:scale>
          <a:sx n="88" d="100"/>
          <a:sy n="88" d="100"/>
        </p:scale>
        <p:origin x="4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8ED41F-E61C-7747-A085-BD31FAF40D4A}" type="datetimeFigureOut">
              <a:rPr lang="en-US" smtClean="0"/>
              <a:t>8/30/26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AEB9DF-75F8-D84D-AFE9-DA668D1F4117}" type="slidenum">
              <a:rPr lang="en-US" smtClean="0"/>
              <a:t>‹#›</a:t>
            </a:fld>
            <a:endParaRPr lang="en-US"/>
          </a:p>
        </p:txBody>
      </p:sp>
    </p:spTree>
    <p:extLst>
      <p:ext uri="{BB962C8B-B14F-4D97-AF65-F5344CB8AC3E}">
        <p14:creationId xmlns:p14="http://schemas.microsoft.com/office/powerpoint/2010/main" val="4038289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sort of non-randomness going on!</a:t>
            </a:r>
          </a:p>
          <a:p>
            <a:endParaRPr lang="en-US" dirty="0"/>
          </a:p>
          <a:p>
            <a:r>
              <a:rPr lang="en-US" dirty="0"/>
              <a:t>But these are just random histograms I found on google images. Don’t pay attention to the actual graphs just the idea</a:t>
            </a:r>
          </a:p>
        </p:txBody>
      </p:sp>
      <p:sp>
        <p:nvSpPr>
          <p:cNvPr id="4" name="Slide Number Placeholder 3"/>
          <p:cNvSpPr>
            <a:spLocks noGrp="1"/>
          </p:cNvSpPr>
          <p:nvPr>
            <p:ph type="sldNum" sz="quarter" idx="5"/>
          </p:nvPr>
        </p:nvSpPr>
        <p:spPr/>
        <p:txBody>
          <a:bodyPr/>
          <a:lstStyle/>
          <a:p>
            <a:fld id="{A1AEB9DF-75F8-D84D-AFE9-DA668D1F4117}" type="slidenum">
              <a:rPr lang="en-US" smtClean="0"/>
              <a:t>1</a:t>
            </a:fld>
            <a:endParaRPr lang="en-US"/>
          </a:p>
        </p:txBody>
      </p:sp>
    </p:spTree>
    <p:extLst>
      <p:ext uri="{BB962C8B-B14F-4D97-AF65-F5344CB8AC3E}">
        <p14:creationId xmlns:p14="http://schemas.microsoft.com/office/powerpoint/2010/main" val="13661379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sometimes say more about manipulative studies than observational ones – by creating treatments and randomly assigning groups, you can reduce confounding/bias. </a:t>
            </a:r>
          </a:p>
          <a:p>
            <a:endParaRPr lang="en-US" dirty="0"/>
          </a:p>
          <a:p>
            <a:r>
              <a:rPr lang="en-US" dirty="0"/>
              <a:t>For example, what is the effect of an animal missing a limb on reproductive success (can they find a mate if they are missing a limb) – you may have the ability to randomly assign groups and remove limbs from a set of animals, but that often is not ethical, so you may choose to do an observational study. However, there may be confounding variables in these observations that you would not have if you did the manipulation. </a:t>
            </a:r>
          </a:p>
        </p:txBody>
      </p:sp>
      <p:sp>
        <p:nvSpPr>
          <p:cNvPr id="4" name="Slide Number Placeholder 3"/>
          <p:cNvSpPr>
            <a:spLocks noGrp="1"/>
          </p:cNvSpPr>
          <p:nvPr>
            <p:ph type="sldNum" sz="quarter" idx="5"/>
          </p:nvPr>
        </p:nvSpPr>
        <p:spPr/>
        <p:txBody>
          <a:bodyPr/>
          <a:lstStyle/>
          <a:p>
            <a:fld id="{A1AEB9DF-75F8-D84D-AFE9-DA668D1F4117}" type="slidenum">
              <a:rPr lang="en-US" smtClean="0"/>
              <a:t>2</a:t>
            </a:fld>
            <a:endParaRPr lang="en-US"/>
          </a:p>
        </p:txBody>
      </p:sp>
    </p:spTree>
    <p:extLst>
      <p:ext uri="{BB962C8B-B14F-4D97-AF65-F5344CB8AC3E}">
        <p14:creationId xmlns:p14="http://schemas.microsoft.com/office/powerpoint/2010/main" val="74310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Biological Population and Statistical Population may be the same or may be different. </a:t>
            </a:r>
          </a:p>
          <a:p>
            <a:endParaRPr lang="en-US" dirty="0"/>
          </a:p>
          <a:p>
            <a:r>
              <a:rPr lang="en-US" dirty="0"/>
              <a:t>A biological population could be “common dolphins in the Chesapeake bay”</a:t>
            </a:r>
          </a:p>
          <a:p>
            <a:r>
              <a:rPr lang="en-US" dirty="0"/>
              <a:t>ASK: what if I wanted to know the weights of juvenile dolphins? Would that align with or be a subset of the biological population? </a:t>
            </a:r>
          </a:p>
          <a:p>
            <a:endParaRPr lang="en-US" dirty="0"/>
          </a:p>
          <a:p>
            <a:r>
              <a:rPr lang="en-US" dirty="0"/>
              <a:t>Then I would randomly sample some of the juvenile dolphins – that would be our statistical sample. </a:t>
            </a:r>
          </a:p>
        </p:txBody>
      </p:sp>
      <p:sp>
        <p:nvSpPr>
          <p:cNvPr id="4" name="Slide Number Placeholder 3"/>
          <p:cNvSpPr>
            <a:spLocks noGrp="1"/>
          </p:cNvSpPr>
          <p:nvPr>
            <p:ph type="sldNum" sz="quarter" idx="5"/>
          </p:nvPr>
        </p:nvSpPr>
        <p:spPr/>
        <p:txBody>
          <a:bodyPr/>
          <a:lstStyle/>
          <a:p>
            <a:fld id="{A1AEB9DF-75F8-D84D-AFE9-DA668D1F4117}" type="slidenum">
              <a:rPr lang="en-US" smtClean="0"/>
              <a:t>3</a:t>
            </a:fld>
            <a:endParaRPr lang="en-US"/>
          </a:p>
        </p:txBody>
      </p:sp>
    </p:spTree>
    <p:extLst>
      <p:ext uri="{BB962C8B-B14F-4D97-AF65-F5344CB8AC3E}">
        <p14:creationId xmlns:p14="http://schemas.microsoft.com/office/powerpoint/2010/main" val="2585200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population (juvenile dolphins in the Chesapeake bay) and we take a random sample of those to get our statistical sample. We do some statistics on our sample, and then we can make an inference about the population! (i.e., being confident that the interval of 45 to 65 kilos contains the true population mean weight of juvenile dolphins)</a:t>
            </a:r>
          </a:p>
        </p:txBody>
      </p:sp>
      <p:sp>
        <p:nvSpPr>
          <p:cNvPr id="4" name="Slide Number Placeholder 3"/>
          <p:cNvSpPr>
            <a:spLocks noGrp="1"/>
          </p:cNvSpPr>
          <p:nvPr>
            <p:ph type="sldNum" sz="quarter" idx="5"/>
          </p:nvPr>
        </p:nvSpPr>
        <p:spPr/>
        <p:txBody>
          <a:bodyPr/>
          <a:lstStyle/>
          <a:p>
            <a:fld id="{A1AEB9DF-75F8-D84D-AFE9-DA668D1F4117}" type="slidenum">
              <a:rPr lang="en-US" smtClean="0"/>
              <a:t>4</a:t>
            </a:fld>
            <a:endParaRPr lang="en-US"/>
          </a:p>
        </p:txBody>
      </p:sp>
    </p:spTree>
    <p:extLst>
      <p:ext uri="{BB962C8B-B14F-4D97-AF65-F5344CB8AC3E}">
        <p14:creationId xmlns:p14="http://schemas.microsoft.com/office/powerpoint/2010/main" val="417967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bias example! Crayfish, phone surveys</a:t>
            </a:r>
          </a:p>
          <a:p>
            <a:endParaRPr lang="en-US" dirty="0"/>
          </a:p>
          <a:p>
            <a:r>
              <a:rPr lang="en-US" dirty="0"/>
              <a:t>Those probability distributions are what underpin lots of statistical tests and they require our samples to be random to use them – they just assume that things are random and if they aren’t, things can go haywire and your results aren’t legit. (reasoning – drivers tests/cars?)</a:t>
            </a:r>
          </a:p>
          <a:p>
            <a:endParaRPr lang="en-US" dirty="0"/>
          </a:p>
          <a:p>
            <a:r>
              <a:rPr lang="en-US" dirty="0"/>
              <a:t> </a:t>
            </a:r>
          </a:p>
        </p:txBody>
      </p:sp>
      <p:sp>
        <p:nvSpPr>
          <p:cNvPr id="4" name="Slide Number Placeholder 3"/>
          <p:cNvSpPr>
            <a:spLocks noGrp="1"/>
          </p:cNvSpPr>
          <p:nvPr>
            <p:ph type="sldNum" sz="quarter" idx="5"/>
          </p:nvPr>
        </p:nvSpPr>
        <p:spPr/>
        <p:txBody>
          <a:bodyPr/>
          <a:lstStyle/>
          <a:p>
            <a:fld id="{A1AEB9DF-75F8-D84D-AFE9-DA668D1F4117}" type="slidenum">
              <a:rPr lang="en-US" smtClean="0"/>
              <a:t>5</a:t>
            </a:fld>
            <a:endParaRPr lang="en-US"/>
          </a:p>
        </p:txBody>
      </p:sp>
    </p:spTree>
    <p:extLst>
      <p:ext uri="{BB962C8B-B14F-4D97-AF65-F5344CB8AC3E}">
        <p14:creationId xmlns:p14="http://schemas.microsoft.com/office/powerpoint/2010/main" val="3953206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an example with everyone with this! Bring in little squares of paper! </a:t>
            </a:r>
          </a:p>
          <a:p>
            <a:endParaRPr lang="en-US" dirty="0"/>
          </a:p>
          <a:p>
            <a:r>
              <a:rPr lang="en-US" dirty="0"/>
              <a:t>Number the class: 01-18 (can hand everyone a number when they come in or whenever really)</a:t>
            </a:r>
          </a:p>
          <a:p>
            <a:r>
              <a:rPr lang="en-US" dirty="0"/>
              <a:t>Point to number on the table and start reading 2 digit numbers from there</a:t>
            </a:r>
          </a:p>
          <a:p>
            <a:r>
              <a:rPr lang="en-US" dirty="0"/>
              <a:t>Try to get 3-4 off of the table – will have to reject a lot of numbers here lol but can point out that’s why we don’t use random number tables a lot anymore </a:t>
            </a:r>
          </a:p>
          <a:p>
            <a:endParaRPr lang="en-US" dirty="0"/>
          </a:p>
        </p:txBody>
      </p:sp>
      <p:sp>
        <p:nvSpPr>
          <p:cNvPr id="4" name="Slide Number Placeholder 3"/>
          <p:cNvSpPr>
            <a:spLocks noGrp="1"/>
          </p:cNvSpPr>
          <p:nvPr>
            <p:ph type="sldNum" sz="quarter" idx="5"/>
          </p:nvPr>
        </p:nvSpPr>
        <p:spPr/>
        <p:txBody>
          <a:bodyPr/>
          <a:lstStyle/>
          <a:p>
            <a:fld id="{A1AEB9DF-75F8-D84D-AFE9-DA668D1F4117}" type="slidenum">
              <a:rPr lang="en-US" smtClean="0"/>
              <a:t>6</a:t>
            </a:fld>
            <a:endParaRPr lang="en-US"/>
          </a:p>
        </p:txBody>
      </p:sp>
    </p:spTree>
    <p:extLst>
      <p:ext uri="{BB962C8B-B14F-4D97-AF65-F5344CB8AC3E}">
        <p14:creationId xmlns:p14="http://schemas.microsoft.com/office/powerpoint/2010/main" val="2719499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a lot of replicates (you can measure the weight of a bunch of dolphins) and their weights will vary. </a:t>
            </a:r>
          </a:p>
          <a:p>
            <a:endParaRPr lang="en-US" dirty="0"/>
          </a:p>
          <a:p>
            <a:r>
              <a:rPr lang="en-US" dirty="0"/>
              <a:t>You then estimate the mean, and there is some error within that estimate </a:t>
            </a:r>
          </a:p>
        </p:txBody>
      </p:sp>
      <p:sp>
        <p:nvSpPr>
          <p:cNvPr id="4" name="Slide Number Placeholder 3"/>
          <p:cNvSpPr>
            <a:spLocks noGrp="1"/>
          </p:cNvSpPr>
          <p:nvPr>
            <p:ph type="sldNum" sz="quarter" idx="5"/>
          </p:nvPr>
        </p:nvSpPr>
        <p:spPr/>
        <p:txBody>
          <a:bodyPr/>
          <a:lstStyle/>
          <a:p>
            <a:fld id="{A1AEB9DF-75F8-D84D-AFE9-DA668D1F4117}" type="slidenum">
              <a:rPr lang="en-US" smtClean="0"/>
              <a:t>7</a:t>
            </a:fld>
            <a:endParaRPr lang="en-US"/>
          </a:p>
        </p:txBody>
      </p:sp>
    </p:spTree>
    <p:extLst>
      <p:ext uri="{BB962C8B-B14F-4D97-AF65-F5344CB8AC3E}">
        <p14:creationId xmlns:p14="http://schemas.microsoft.com/office/powerpoint/2010/main" val="2589717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talk more when we get to making experiments and a further discussion of power</a:t>
            </a:r>
          </a:p>
        </p:txBody>
      </p:sp>
      <p:sp>
        <p:nvSpPr>
          <p:cNvPr id="4" name="Slide Number Placeholder 3"/>
          <p:cNvSpPr>
            <a:spLocks noGrp="1"/>
          </p:cNvSpPr>
          <p:nvPr>
            <p:ph type="sldNum" sz="quarter" idx="5"/>
          </p:nvPr>
        </p:nvSpPr>
        <p:spPr/>
        <p:txBody>
          <a:bodyPr/>
          <a:lstStyle/>
          <a:p>
            <a:fld id="{A1AEB9DF-75F8-D84D-AFE9-DA668D1F4117}" type="slidenum">
              <a:rPr lang="en-US" smtClean="0"/>
              <a:t>8</a:t>
            </a:fld>
            <a:endParaRPr lang="en-US"/>
          </a:p>
        </p:txBody>
      </p:sp>
    </p:spTree>
    <p:extLst>
      <p:ext uri="{BB962C8B-B14F-4D97-AF65-F5344CB8AC3E}">
        <p14:creationId xmlns:p14="http://schemas.microsoft.com/office/powerpoint/2010/main" val="2955349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to think about while you are taking samples</a:t>
            </a:r>
          </a:p>
        </p:txBody>
      </p:sp>
      <p:sp>
        <p:nvSpPr>
          <p:cNvPr id="4" name="Slide Number Placeholder 3"/>
          <p:cNvSpPr>
            <a:spLocks noGrp="1"/>
          </p:cNvSpPr>
          <p:nvPr>
            <p:ph type="sldNum" sz="quarter" idx="5"/>
          </p:nvPr>
        </p:nvSpPr>
        <p:spPr/>
        <p:txBody>
          <a:bodyPr/>
          <a:lstStyle/>
          <a:p>
            <a:fld id="{A1AEB9DF-75F8-D84D-AFE9-DA668D1F4117}" type="slidenum">
              <a:rPr lang="en-US" smtClean="0"/>
              <a:t>9</a:t>
            </a:fld>
            <a:endParaRPr lang="en-US"/>
          </a:p>
        </p:txBody>
      </p:sp>
    </p:spTree>
    <p:extLst>
      <p:ext uri="{BB962C8B-B14F-4D97-AF65-F5344CB8AC3E}">
        <p14:creationId xmlns:p14="http://schemas.microsoft.com/office/powerpoint/2010/main" val="3504777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talk about in their groups which scale is accurate, which is precise, which is both, and which is neither, about 30-45 seconds. Then ask group 1 to share what scale 1 was, etc.</a:t>
            </a:r>
          </a:p>
          <a:p>
            <a:r>
              <a:rPr lang="en-US" dirty="0"/>
              <a:t>1 = precise, 2 = neither, 3 = both, and 4 = accurate. </a:t>
            </a:r>
          </a:p>
          <a:p>
            <a:r>
              <a:rPr lang="en-US" dirty="0"/>
              <a:t>I should buy scale 3. </a:t>
            </a:r>
          </a:p>
          <a:p>
            <a:r>
              <a:rPr lang="en-US" dirty="0"/>
              <a:t>Mention that sometimes scientific instruments that are super precise and accurate are $$$$, which one should I buy if I’m on a budget? Scale 4. </a:t>
            </a:r>
          </a:p>
        </p:txBody>
      </p:sp>
      <p:sp>
        <p:nvSpPr>
          <p:cNvPr id="4" name="Slide Number Placeholder 3"/>
          <p:cNvSpPr>
            <a:spLocks noGrp="1"/>
          </p:cNvSpPr>
          <p:nvPr>
            <p:ph type="sldNum" sz="quarter" idx="5"/>
          </p:nvPr>
        </p:nvSpPr>
        <p:spPr/>
        <p:txBody>
          <a:bodyPr/>
          <a:lstStyle/>
          <a:p>
            <a:fld id="{D735DE03-F2FF-4841-B802-65C5782942C0}" type="slidenum">
              <a:rPr lang="en-US" smtClean="0"/>
              <a:t>10</a:t>
            </a:fld>
            <a:endParaRPr lang="en-US"/>
          </a:p>
        </p:txBody>
      </p:sp>
    </p:spTree>
    <p:extLst>
      <p:ext uri="{BB962C8B-B14F-4D97-AF65-F5344CB8AC3E}">
        <p14:creationId xmlns:p14="http://schemas.microsoft.com/office/powerpoint/2010/main" val="618784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*i.e., your treatment groups AREN’T different, there is NO relationship between the variables, </a:t>
            </a:r>
            <a:r>
              <a:rPr lang="en-US" sz="1200" kern="1200" dirty="0" err="1">
                <a:solidFill>
                  <a:schemeClr val="tx1"/>
                </a:solidFill>
                <a:effectLst/>
                <a:latin typeface="+mn-lt"/>
                <a:ea typeface="+mn-ea"/>
                <a:cs typeface="+mn-cs"/>
              </a:rPr>
              <a:t>etc</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A1AEB9DF-75F8-D84D-AFE9-DA668D1F4117}" type="slidenum">
              <a:rPr lang="en-US" smtClean="0"/>
              <a:t>11</a:t>
            </a:fld>
            <a:endParaRPr lang="en-US"/>
          </a:p>
        </p:txBody>
      </p:sp>
    </p:spTree>
    <p:extLst>
      <p:ext uri="{BB962C8B-B14F-4D97-AF65-F5344CB8AC3E}">
        <p14:creationId xmlns:p14="http://schemas.microsoft.com/office/powerpoint/2010/main" val="27333041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Null hypothesis would be interesting to reject</a:t>
            </a:r>
          </a:p>
        </p:txBody>
      </p:sp>
      <p:sp>
        <p:nvSpPr>
          <p:cNvPr id="4" name="Slide Number Placeholder 3"/>
          <p:cNvSpPr>
            <a:spLocks noGrp="1"/>
          </p:cNvSpPr>
          <p:nvPr>
            <p:ph type="sldNum" sz="quarter" idx="5"/>
          </p:nvPr>
        </p:nvSpPr>
        <p:spPr/>
        <p:txBody>
          <a:bodyPr/>
          <a:lstStyle/>
          <a:p>
            <a:fld id="{A1AEB9DF-75F8-D84D-AFE9-DA668D1F4117}" type="slidenum">
              <a:rPr lang="en-US" smtClean="0"/>
              <a:t>12</a:t>
            </a:fld>
            <a:endParaRPr lang="en-US"/>
          </a:p>
        </p:txBody>
      </p:sp>
    </p:spTree>
    <p:extLst>
      <p:ext uri="{BB962C8B-B14F-4D97-AF65-F5344CB8AC3E}">
        <p14:creationId xmlns:p14="http://schemas.microsoft.com/office/powerpoint/2010/main" val="74187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ASK the questions on the board!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density of dolphins </a:t>
            </a:r>
            <a:r>
              <a:rPr lang="en-US" sz="1200" i="1" kern="1200" dirty="0">
                <a:solidFill>
                  <a:schemeClr val="tx1"/>
                </a:solidFill>
                <a:effectLst/>
                <a:latin typeface="+mn-lt"/>
                <a:ea typeface="+mn-ea"/>
                <a:cs typeface="+mn-cs"/>
              </a:rPr>
              <a:t>is the same </a:t>
            </a:r>
            <a:r>
              <a:rPr lang="en-US" sz="1200" kern="1200" dirty="0">
                <a:solidFill>
                  <a:schemeClr val="tx1"/>
                </a:solidFill>
                <a:effectLst/>
                <a:latin typeface="+mn-lt"/>
                <a:ea typeface="+mn-ea"/>
                <a:cs typeface="+mn-cs"/>
              </a:rPr>
              <a:t>in areas with and without drift-net fishing.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density of dolphins </a:t>
            </a:r>
            <a:r>
              <a:rPr lang="en-US" sz="1200" i="1" kern="1200" dirty="0">
                <a:solidFill>
                  <a:schemeClr val="tx1"/>
                </a:solidFill>
                <a:effectLst/>
                <a:latin typeface="+mn-lt"/>
                <a:ea typeface="+mn-ea"/>
                <a:cs typeface="+mn-cs"/>
              </a:rPr>
              <a:t>differs </a:t>
            </a:r>
            <a:r>
              <a:rPr lang="en-US" sz="1200" kern="1200" dirty="0">
                <a:solidFill>
                  <a:schemeClr val="tx1"/>
                </a:solidFill>
                <a:effectLst/>
                <a:latin typeface="+mn-lt"/>
                <a:ea typeface="+mn-ea"/>
                <a:cs typeface="+mn-cs"/>
              </a:rPr>
              <a:t>between areas with and without drift-net fishing. </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dirty="0"/>
          </a:p>
          <a:p>
            <a:endParaRPr lang="en-US" dirty="0"/>
          </a:p>
        </p:txBody>
      </p:sp>
      <p:sp>
        <p:nvSpPr>
          <p:cNvPr id="4" name="Slide Number Placeholder 3"/>
          <p:cNvSpPr>
            <a:spLocks noGrp="1"/>
          </p:cNvSpPr>
          <p:nvPr>
            <p:ph type="sldNum" sz="quarter" idx="5"/>
          </p:nvPr>
        </p:nvSpPr>
        <p:spPr/>
        <p:txBody>
          <a:bodyPr/>
          <a:lstStyle/>
          <a:p>
            <a:fld id="{A1AEB9DF-75F8-D84D-AFE9-DA668D1F4117}" type="slidenum">
              <a:rPr lang="en-US" smtClean="0"/>
              <a:t>13</a:t>
            </a:fld>
            <a:endParaRPr lang="en-US"/>
          </a:p>
        </p:txBody>
      </p:sp>
    </p:spTree>
    <p:extLst>
      <p:ext uri="{BB962C8B-B14F-4D97-AF65-F5344CB8AC3E}">
        <p14:creationId xmlns:p14="http://schemas.microsoft.com/office/powerpoint/2010/main" val="19321844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P-value is large, Very likely to have observed the difference if the null were true</a:t>
            </a:r>
          </a:p>
          <a:p>
            <a:endParaRPr lang="en-US" dirty="0"/>
          </a:p>
          <a:p>
            <a:r>
              <a:rPr lang="en-US" dirty="0"/>
              <a:t>If the P-value is small, Unlikely that the observed differences could have been observed if the null were true</a:t>
            </a:r>
          </a:p>
          <a:p>
            <a:endParaRPr lang="en-US" dirty="0"/>
          </a:p>
        </p:txBody>
      </p:sp>
      <p:sp>
        <p:nvSpPr>
          <p:cNvPr id="4" name="Slide Number Placeholder 3"/>
          <p:cNvSpPr>
            <a:spLocks noGrp="1"/>
          </p:cNvSpPr>
          <p:nvPr>
            <p:ph type="sldNum" sz="quarter" idx="5"/>
          </p:nvPr>
        </p:nvSpPr>
        <p:spPr/>
        <p:txBody>
          <a:bodyPr/>
          <a:lstStyle/>
          <a:p>
            <a:fld id="{A1AEB9DF-75F8-D84D-AFE9-DA668D1F4117}" type="slidenum">
              <a:rPr lang="en-US" smtClean="0"/>
              <a:t>15</a:t>
            </a:fld>
            <a:endParaRPr lang="en-US"/>
          </a:p>
        </p:txBody>
      </p:sp>
    </p:spTree>
    <p:extLst>
      <p:ext uri="{BB962C8B-B14F-4D97-AF65-F5344CB8AC3E}">
        <p14:creationId xmlns:p14="http://schemas.microsoft.com/office/powerpoint/2010/main" val="1328885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control and treatment groups differed significantly from one another (P = 0.01)”</a:t>
            </a:r>
          </a:p>
          <a:p>
            <a:endParaRPr lang="en-US" dirty="0"/>
          </a:p>
        </p:txBody>
      </p:sp>
      <p:sp>
        <p:nvSpPr>
          <p:cNvPr id="4" name="Slide Number Placeholder 3"/>
          <p:cNvSpPr>
            <a:spLocks noGrp="1"/>
          </p:cNvSpPr>
          <p:nvPr>
            <p:ph type="sldNum" sz="quarter" idx="5"/>
          </p:nvPr>
        </p:nvSpPr>
        <p:spPr/>
        <p:txBody>
          <a:bodyPr/>
          <a:lstStyle/>
          <a:p>
            <a:fld id="{A1AEB9DF-75F8-D84D-AFE9-DA668D1F4117}" type="slidenum">
              <a:rPr lang="en-US" smtClean="0"/>
              <a:t>16</a:t>
            </a:fld>
            <a:endParaRPr lang="en-US"/>
          </a:p>
        </p:txBody>
      </p:sp>
    </p:spTree>
    <p:extLst>
      <p:ext uri="{BB962C8B-B14F-4D97-AF65-F5344CB8AC3E}">
        <p14:creationId xmlns:p14="http://schemas.microsoft.com/office/powerpoint/2010/main" val="3409402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Usually we just look at the test statistic if we calculate by hand and that will tell us if we are smaller or larger than a given p value</a:t>
            </a:r>
          </a:p>
          <a:p>
            <a:r>
              <a:rPr lang="en-US" dirty="0"/>
              <a:t>A computer can give us the actual p value!</a:t>
            </a:r>
          </a:p>
        </p:txBody>
      </p:sp>
      <p:sp>
        <p:nvSpPr>
          <p:cNvPr id="4" name="Slide Number Placeholder 3"/>
          <p:cNvSpPr>
            <a:spLocks noGrp="1"/>
          </p:cNvSpPr>
          <p:nvPr>
            <p:ph type="sldNum" sz="quarter" idx="5"/>
          </p:nvPr>
        </p:nvSpPr>
        <p:spPr/>
        <p:txBody>
          <a:bodyPr/>
          <a:lstStyle/>
          <a:p>
            <a:fld id="{A1AEB9DF-75F8-D84D-AFE9-DA668D1F4117}" type="slidenum">
              <a:rPr lang="en-US" smtClean="0"/>
              <a:t>18</a:t>
            </a:fld>
            <a:endParaRPr lang="en-US"/>
          </a:p>
        </p:txBody>
      </p:sp>
    </p:spTree>
    <p:extLst>
      <p:ext uri="{BB962C8B-B14F-4D97-AF65-F5344CB8AC3E}">
        <p14:creationId xmlns:p14="http://schemas.microsoft.com/office/powerpoint/2010/main" val="32220929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priori = in advance</a:t>
            </a:r>
          </a:p>
        </p:txBody>
      </p:sp>
      <p:sp>
        <p:nvSpPr>
          <p:cNvPr id="4" name="Slide Number Placeholder 3"/>
          <p:cNvSpPr>
            <a:spLocks noGrp="1"/>
          </p:cNvSpPr>
          <p:nvPr>
            <p:ph type="sldNum" sz="quarter" idx="5"/>
          </p:nvPr>
        </p:nvSpPr>
        <p:spPr/>
        <p:txBody>
          <a:bodyPr/>
          <a:lstStyle/>
          <a:p>
            <a:fld id="{A1AEB9DF-75F8-D84D-AFE9-DA668D1F4117}" type="slidenum">
              <a:rPr lang="en-US" smtClean="0"/>
              <a:t>19</a:t>
            </a:fld>
            <a:endParaRPr lang="en-US"/>
          </a:p>
        </p:txBody>
      </p:sp>
    </p:spTree>
    <p:extLst>
      <p:ext uri="{BB962C8B-B14F-4D97-AF65-F5344CB8AC3E}">
        <p14:creationId xmlns:p14="http://schemas.microsoft.com/office/powerpoint/2010/main" val="5640002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Basically what </a:t>
            </a:r>
            <a:r>
              <a:rPr lang="en-US" dirty="0" err="1"/>
              <a:t>weve</a:t>
            </a:r>
            <a:r>
              <a:rPr lang="en-US" dirty="0"/>
              <a:t> been talking about so far</a:t>
            </a:r>
          </a:p>
        </p:txBody>
      </p:sp>
      <p:sp>
        <p:nvSpPr>
          <p:cNvPr id="4" name="Slide Number Placeholder 3"/>
          <p:cNvSpPr>
            <a:spLocks noGrp="1"/>
          </p:cNvSpPr>
          <p:nvPr>
            <p:ph type="sldNum" sz="quarter" idx="5"/>
          </p:nvPr>
        </p:nvSpPr>
        <p:spPr/>
        <p:txBody>
          <a:bodyPr/>
          <a:lstStyle/>
          <a:p>
            <a:fld id="{A1AEB9DF-75F8-D84D-AFE9-DA668D1F4117}" type="slidenum">
              <a:rPr lang="en-US" smtClean="0"/>
              <a:t>21</a:t>
            </a:fld>
            <a:endParaRPr lang="en-US"/>
          </a:p>
        </p:txBody>
      </p:sp>
    </p:spTree>
    <p:extLst>
      <p:ext uri="{BB962C8B-B14F-4D97-AF65-F5344CB8AC3E}">
        <p14:creationId xmlns:p14="http://schemas.microsoft.com/office/powerpoint/2010/main" val="33227866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Nonparametric methods often don’t require data to fit a particular distribution, </a:t>
            </a:r>
            <a:r>
              <a:rPr lang="en-US" dirty="0" err="1"/>
              <a:t>etc</a:t>
            </a:r>
            <a:endParaRPr lang="en-US" dirty="0"/>
          </a:p>
        </p:txBody>
      </p:sp>
      <p:sp>
        <p:nvSpPr>
          <p:cNvPr id="4" name="Slide Number Placeholder 3"/>
          <p:cNvSpPr>
            <a:spLocks noGrp="1"/>
          </p:cNvSpPr>
          <p:nvPr>
            <p:ph type="sldNum" sz="quarter" idx="5"/>
          </p:nvPr>
        </p:nvSpPr>
        <p:spPr/>
        <p:txBody>
          <a:bodyPr/>
          <a:lstStyle/>
          <a:p>
            <a:fld id="{A1AEB9DF-75F8-D84D-AFE9-DA668D1F4117}" type="slidenum">
              <a:rPr lang="en-US" smtClean="0"/>
              <a:t>22</a:t>
            </a:fld>
            <a:endParaRPr lang="en-US"/>
          </a:p>
        </p:txBody>
      </p:sp>
    </p:spTree>
    <p:extLst>
      <p:ext uri="{BB962C8B-B14F-4D97-AF65-F5344CB8AC3E}">
        <p14:creationId xmlns:p14="http://schemas.microsoft.com/office/powerpoint/2010/main" val="10486272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Is an individual lizard smaller than the mean size of (a sample of) the current </a:t>
            </a:r>
            <a:r>
              <a:rPr lang="en-US" sz="1200" i="1" kern="1200" dirty="0">
                <a:solidFill>
                  <a:schemeClr val="tx1"/>
                </a:solidFill>
                <a:effectLst/>
                <a:latin typeface="+mn-lt"/>
                <a:ea typeface="+mn-ea"/>
                <a:cs typeface="+mn-cs"/>
              </a:rPr>
              <a:t>population </a:t>
            </a:r>
            <a:r>
              <a:rPr lang="en-US" sz="1200" kern="1200" dirty="0">
                <a:solidFill>
                  <a:schemeClr val="tx1"/>
                </a:solidFill>
                <a:effectLst/>
                <a:latin typeface="+mn-lt"/>
                <a:ea typeface="+mn-ea"/>
                <a:cs typeface="+mn-cs"/>
              </a:rPr>
              <a:t>from which it was sampled?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Is the (sample of the) </a:t>
            </a:r>
            <a:r>
              <a:rPr lang="en-US" sz="1200" i="1" kern="1200" dirty="0">
                <a:solidFill>
                  <a:schemeClr val="tx1"/>
                </a:solidFill>
                <a:effectLst/>
                <a:latin typeface="+mn-lt"/>
                <a:ea typeface="+mn-ea"/>
                <a:cs typeface="+mn-cs"/>
              </a:rPr>
              <a:t>population </a:t>
            </a:r>
            <a:r>
              <a:rPr lang="en-US" sz="1200" kern="1200" dirty="0">
                <a:solidFill>
                  <a:schemeClr val="tx1"/>
                </a:solidFill>
                <a:effectLst/>
                <a:latin typeface="+mn-lt"/>
                <a:ea typeface="+mn-ea"/>
                <a:cs typeface="+mn-cs"/>
              </a:rPr>
              <a:t>of lizards smaller/larger than a (sample of the) neighboring </a:t>
            </a:r>
            <a:r>
              <a:rPr lang="en-US" sz="1200" i="1" kern="1200" dirty="0">
                <a:solidFill>
                  <a:schemeClr val="tx1"/>
                </a:solidFill>
                <a:effectLst/>
                <a:latin typeface="+mn-lt"/>
                <a:ea typeface="+mn-ea"/>
                <a:cs typeface="+mn-cs"/>
              </a:rPr>
              <a:t>population</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Is the (sample of the) </a:t>
            </a:r>
            <a:r>
              <a:rPr lang="en-US" sz="1200" i="1" kern="1200" dirty="0">
                <a:solidFill>
                  <a:schemeClr val="tx1"/>
                </a:solidFill>
                <a:effectLst/>
                <a:latin typeface="+mn-lt"/>
                <a:ea typeface="+mn-ea"/>
                <a:cs typeface="+mn-cs"/>
              </a:rPr>
              <a:t>population </a:t>
            </a:r>
            <a:r>
              <a:rPr lang="en-US" sz="1200" kern="1200" dirty="0">
                <a:solidFill>
                  <a:schemeClr val="tx1"/>
                </a:solidFill>
                <a:effectLst/>
                <a:latin typeface="+mn-lt"/>
                <a:ea typeface="+mn-ea"/>
                <a:cs typeface="+mn-cs"/>
              </a:rPr>
              <a:t>of lizards smaller/larger than (a sample of) 6 </a:t>
            </a:r>
            <a:r>
              <a:rPr lang="en-US" sz="1200" i="1" kern="1200" dirty="0">
                <a:solidFill>
                  <a:schemeClr val="tx1"/>
                </a:solidFill>
                <a:effectLst/>
                <a:latin typeface="+mn-lt"/>
                <a:ea typeface="+mn-ea"/>
                <a:cs typeface="+mn-cs"/>
              </a:rPr>
              <a:t>populations </a:t>
            </a:r>
            <a:r>
              <a:rPr lang="en-US" sz="1200" kern="1200" dirty="0">
                <a:solidFill>
                  <a:schemeClr val="tx1"/>
                </a:solidFill>
                <a:effectLst/>
                <a:latin typeface="+mn-lt"/>
                <a:ea typeface="+mn-ea"/>
                <a:cs typeface="+mn-cs"/>
              </a:rPr>
              <a:t>from the state of Arizona?</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A1AEB9DF-75F8-D84D-AFE9-DA668D1F4117}" type="slidenum">
              <a:rPr lang="en-US" smtClean="0"/>
              <a:t>23</a:t>
            </a:fld>
            <a:endParaRPr lang="en-US"/>
          </a:p>
        </p:txBody>
      </p:sp>
    </p:spTree>
    <p:extLst>
      <p:ext uri="{BB962C8B-B14F-4D97-AF65-F5344CB8AC3E}">
        <p14:creationId xmlns:p14="http://schemas.microsoft.com/office/powerpoint/2010/main" val="9301573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do two sided tests, where your population parameter can deviate to either side of the value specified for the null hypothesis.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One sided-test: imagine a study designed to test whether daughters resemble their fathers. In each trial of the study, a participant examines a photo of one girl and photos of two adult men, one of whom is the girl’s father. The participant must guess which man is the father.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H0: Participants pick the father correctly half the time</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HA: Participants pick the father correctly </a:t>
            </a:r>
            <a:r>
              <a:rPr lang="en-US" sz="1200" i="1" kern="1200" dirty="0">
                <a:solidFill>
                  <a:schemeClr val="tx1"/>
                </a:solidFill>
                <a:effectLst/>
                <a:latin typeface="+mn-lt"/>
                <a:ea typeface="+mn-ea"/>
                <a:cs typeface="+mn-cs"/>
              </a:rPr>
              <a:t>more frequently than </a:t>
            </a:r>
            <a:r>
              <a:rPr lang="en-US" sz="1200" kern="1200" dirty="0">
                <a:solidFill>
                  <a:schemeClr val="tx1"/>
                </a:solidFill>
                <a:effectLst/>
                <a:latin typeface="+mn-lt"/>
                <a:ea typeface="+mn-ea"/>
                <a:cs typeface="+mn-cs"/>
              </a:rPr>
              <a:t>half the time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mostly use 2 sided tests: even when we predict that a result may go in a particular direction, we may still be tempted to interpret a result in the tail of the opposite direction as a significant deviation from the null hypothesis. </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A1AEB9DF-75F8-D84D-AFE9-DA668D1F4117}" type="slidenum">
              <a:rPr lang="en-US" smtClean="0"/>
              <a:t>24</a:t>
            </a:fld>
            <a:endParaRPr lang="en-US"/>
          </a:p>
        </p:txBody>
      </p:sp>
    </p:spTree>
    <p:extLst>
      <p:ext uri="{BB962C8B-B14F-4D97-AF65-F5344CB8AC3E}">
        <p14:creationId xmlns:p14="http://schemas.microsoft.com/office/powerpoint/2010/main" val="38276027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complicated I mean it’s not that the math is hard it’s just that there are a lot of little pieces you have to pay attention to</a:t>
            </a:r>
          </a:p>
        </p:txBody>
      </p:sp>
      <p:sp>
        <p:nvSpPr>
          <p:cNvPr id="4" name="Slide Number Placeholder 3"/>
          <p:cNvSpPr>
            <a:spLocks noGrp="1"/>
          </p:cNvSpPr>
          <p:nvPr>
            <p:ph type="sldNum" sz="quarter" idx="5"/>
          </p:nvPr>
        </p:nvSpPr>
        <p:spPr/>
        <p:txBody>
          <a:bodyPr/>
          <a:lstStyle/>
          <a:p>
            <a:fld id="{A1AEB9DF-75F8-D84D-AFE9-DA668D1F4117}" type="slidenum">
              <a:rPr lang="en-US" smtClean="0"/>
              <a:t>25</a:t>
            </a:fld>
            <a:endParaRPr lang="en-US"/>
          </a:p>
        </p:txBody>
      </p:sp>
    </p:spTree>
    <p:extLst>
      <p:ext uri="{BB962C8B-B14F-4D97-AF65-F5344CB8AC3E}">
        <p14:creationId xmlns:p14="http://schemas.microsoft.com/office/powerpoint/2010/main" val="34921364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Degrees of freedom: This formula need not give an integer value. For a given test, round the </a:t>
            </a:r>
            <a:r>
              <a:rPr lang="en-US" sz="1200" kern="1200" dirty="0" err="1">
                <a:solidFill>
                  <a:schemeClr val="tx1"/>
                </a:solidFill>
                <a:effectLst/>
                <a:latin typeface="+mn-lt"/>
                <a:ea typeface="+mn-ea"/>
                <a:cs typeface="+mn-cs"/>
              </a:rPr>
              <a:t>df</a:t>
            </a:r>
            <a:r>
              <a:rPr lang="en-US" sz="1200" kern="1200" dirty="0">
                <a:solidFill>
                  <a:schemeClr val="tx1"/>
                </a:solidFill>
                <a:effectLst/>
                <a:latin typeface="+mn-lt"/>
                <a:ea typeface="+mn-ea"/>
                <a:cs typeface="+mn-cs"/>
              </a:rPr>
              <a:t> calculated by this formula down to the nearest integer.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table, we have our highlighted value 2.23, so if we calculated a value of 2.41, we would say that our p value is less than 0.05 and reject the null hypothesis.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A1AEB9DF-75F8-D84D-AFE9-DA668D1F4117}" type="slidenum">
              <a:rPr lang="en-US" smtClean="0"/>
              <a:t>27</a:t>
            </a:fld>
            <a:endParaRPr lang="en-US"/>
          </a:p>
        </p:txBody>
      </p:sp>
    </p:spTree>
    <p:extLst>
      <p:ext uri="{BB962C8B-B14F-4D97-AF65-F5344CB8AC3E}">
        <p14:creationId xmlns:p14="http://schemas.microsoft.com/office/powerpoint/2010/main" val="28548091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Probably will have more on power later in the semester!</a:t>
            </a:r>
          </a:p>
        </p:txBody>
      </p:sp>
      <p:sp>
        <p:nvSpPr>
          <p:cNvPr id="4" name="Slide Number Placeholder 3"/>
          <p:cNvSpPr>
            <a:spLocks noGrp="1"/>
          </p:cNvSpPr>
          <p:nvPr>
            <p:ph type="sldNum" sz="quarter" idx="5"/>
          </p:nvPr>
        </p:nvSpPr>
        <p:spPr/>
        <p:txBody>
          <a:bodyPr/>
          <a:lstStyle/>
          <a:p>
            <a:fld id="{A1AEB9DF-75F8-D84D-AFE9-DA668D1F4117}" type="slidenum">
              <a:rPr lang="en-US" smtClean="0"/>
              <a:t>30</a:t>
            </a:fld>
            <a:endParaRPr lang="en-US"/>
          </a:p>
        </p:txBody>
      </p:sp>
    </p:spTree>
    <p:extLst>
      <p:ext uri="{BB962C8B-B14F-4D97-AF65-F5344CB8AC3E}">
        <p14:creationId xmlns:p14="http://schemas.microsoft.com/office/powerpoint/2010/main" val="19738619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1 error</a:t>
            </a:r>
          </a:p>
          <a:p>
            <a:r>
              <a:rPr lang="en-US" dirty="0"/>
              <a:t>I would have not rejected the null thinking there was no difference, but in reality there was a difference and the null was false</a:t>
            </a:r>
          </a:p>
        </p:txBody>
      </p:sp>
      <p:sp>
        <p:nvSpPr>
          <p:cNvPr id="4" name="Slide Number Placeholder 3"/>
          <p:cNvSpPr>
            <a:spLocks noGrp="1"/>
          </p:cNvSpPr>
          <p:nvPr>
            <p:ph type="sldNum" sz="quarter" idx="5"/>
          </p:nvPr>
        </p:nvSpPr>
        <p:spPr/>
        <p:txBody>
          <a:bodyPr/>
          <a:lstStyle/>
          <a:p>
            <a:fld id="{A1AEB9DF-75F8-D84D-AFE9-DA668D1F4117}" type="slidenum">
              <a:rPr lang="en-US" smtClean="0"/>
              <a:t>31</a:t>
            </a:fld>
            <a:endParaRPr lang="en-US"/>
          </a:p>
        </p:txBody>
      </p:sp>
    </p:spTree>
    <p:extLst>
      <p:ext uri="{BB962C8B-B14F-4D97-AF65-F5344CB8AC3E}">
        <p14:creationId xmlns:p14="http://schemas.microsoft.com/office/powerpoint/2010/main" val="673807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29122-20C2-AD3D-F271-AD103FF7E9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7E0A9F-CD43-21D3-4EDD-292DF0E6B6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A6FD2B-7479-8C0E-CD06-A004B06DB10C}"/>
              </a:ext>
            </a:extLst>
          </p:cNvPr>
          <p:cNvSpPr>
            <a:spLocks noGrp="1"/>
          </p:cNvSpPr>
          <p:nvPr>
            <p:ph type="dt" sz="half" idx="10"/>
          </p:nvPr>
        </p:nvSpPr>
        <p:spPr/>
        <p:txBody>
          <a:bodyPr/>
          <a:lstStyle/>
          <a:p>
            <a:fld id="{D29726E9-956C-3641-A57F-E8DAD7A979CC}" type="datetimeFigureOut">
              <a:rPr lang="en-US" smtClean="0"/>
              <a:t>8/30/26</a:t>
            </a:fld>
            <a:endParaRPr lang="en-US"/>
          </a:p>
        </p:txBody>
      </p:sp>
      <p:sp>
        <p:nvSpPr>
          <p:cNvPr id="5" name="Footer Placeholder 4">
            <a:extLst>
              <a:ext uri="{FF2B5EF4-FFF2-40B4-BE49-F238E27FC236}">
                <a16:creationId xmlns:a16="http://schemas.microsoft.com/office/drawing/2014/main" id="{2D9E35D6-463A-74D6-E21B-2ABA2F42B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A16D89-1F5B-6FF7-6BAC-AD5B059A5441}"/>
              </a:ext>
            </a:extLst>
          </p:cNvPr>
          <p:cNvSpPr>
            <a:spLocks noGrp="1"/>
          </p:cNvSpPr>
          <p:nvPr>
            <p:ph type="sldNum" sz="quarter" idx="12"/>
          </p:nvPr>
        </p:nvSpPr>
        <p:spPr/>
        <p:txBody>
          <a:bodyPr/>
          <a:lstStyle/>
          <a:p>
            <a:fld id="{F22F9420-57A1-1C4C-BA63-944DC829FE4A}" type="slidenum">
              <a:rPr lang="en-US" smtClean="0"/>
              <a:t>‹#›</a:t>
            </a:fld>
            <a:endParaRPr lang="en-US"/>
          </a:p>
        </p:txBody>
      </p:sp>
    </p:spTree>
    <p:extLst>
      <p:ext uri="{BB962C8B-B14F-4D97-AF65-F5344CB8AC3E}">
        <p14:creationId xmlns:p14="http://schemas.microsoft.com/office/powerpoint/2010/main" val="24498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F9D7A-8359-B4C3-D5AE-3FDBE1C3D0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8358CD-CA10-162B-186A-A7AB0713F5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91D6D3-08A4-1DA9-06C1-48F21577FB3F}"/>
              </a:ext>
            </a:extLst>
          </p:cNvPr>
          <p:cNvSpPr>
            <a:spLocks noGrp="1"/>
          </p:cNvSpPr>
          <p:nvPr>
            <p:ph type="dt" sz="half" idx="10"/>
          </p:nvPr>
        </p:nvSpPr>
        <p:spPr/>
        <p:txBody>
          <a:bodyPr/>
          <a:lstStyle/>
          <a:p>
            <a:fld id="{D29726E9-956C-3641-A57F-E8DAD7A979CC}" type="datetimeFigureOut">
              <a:rPr lang="en-US" smtClean="0"/>
              <a:t>8/30/26</a:t>
            </a:fld>
            <a:endParaRPr lang="en-US"/>
          </a:p>
        </p:txBody>
      </p:sp>
      <p:sp>
        <p:nvSpPr>
          <p:cNvPr id="5" name="Footer Placeholder 4">
            <a:extLst>
              <a:ext uri="{FF2B5EF4-FFF2-40B4-BE49-F238E27FC236}">
                <a16:creationId xmlns:a16="http://schemas.microsoft.com/office/drawing/2014/main" id="{8ED515D2-1920-D64A-E621-7B95AFBB86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7CE052-BAAC-E3FD-628D-976D03751466}"/>
              </a:ext>
            </a:extLst>
          </p:cNvPr>
          <p:cNvSpPr>
            <a:spLocks noGrp="1"/>
          </p:cNvSpPr>
          <p:nvPr>
            <p:ph type="sldNum" sz="quarter" idx="12"/>
          </p:nvPr>
        </p:nvSpPr>
        <p:spPr/>
        <p:txBody>
          <a:bodyPr/>
          <a:lstStyle/>
          <a:p>
            <a:fld id="{F22F9420-57A1-1C4C-BA63-944DC829FE4A}" type="slidenum">
              <a:rPr lang="en-US" smtClean="0"/>
              <a:t>‹#›</a:t>
            </a:fld>
            <a:endParaRPr lang="en-US"/>
          </a:p>
        </p:txBody>
      </p:sp>
    </p:spTree>
    <p:extLst>
      <p:ext uri="{BB962C8B-B14F-4D97-AF65-F5344CB8AC3E}">
        <p14:creationId xmlns:p14="http://schemas.microsoft.com/office/powerpoint/2010/main" val="3527721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5D71A-AF94-1104-AEF1-7BFF81CB62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A10F08-3838-D21B-071F-CC2150AECF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491600-8763-D1CD-CA7D-9747F7C2793F}"/>
              </a:ext>
            </a:extLst>
          </p:cNvPr>
          <p:cNvSpPr>
            <a:spLocks noGrp="1"/>
          </p:cNvSpPr>
          <p:nvPr>
            <p:ph type="dt" sz="half" idx="10"/>
          </p:nvPr>
        </p:nvSpPr>
        <p:spPr/>
        <p:txBody>
          <a:bodyPr/>
          <a:lstStyle/>
          <a:p>
            <a:fld id="{D29726E9-956C-3641-A57F-E8DAD7A979CC}" type="datetimeFigureOut">
              <a:rPr lang="en-US" smtClean="0"/>
              <a:t>8/30/26</a:t>
            </a:fld>
            <a:endParaRPr lang="en-US"/>
          </a:p>
        </p:txBody>
      </p:sp>
      <p:sp>
        <p:nvSpPr>
          <p:cNvPr id="5" name="Footer Placeholder 4">
            <a:extLst>
              <a:ext uri="{FF2B5EF4-FFF2-40B4-BE49-F238E27FC236}">
                <a16:creationId xmlns:a16="http://schemas.microsoft.com/office/drawing/2014/main" id="{8A192280-E591-11B5-4E1A-9056AAB663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4B6E02-A08C-08B7-FC2D-B41E2D9033C1}"/>
              </a:ext>
            </a:extLst>
          </p:cNvPr>
          <p:cNvSpPr>
            <a:spLocks noGrp="1"/>
          </p:cNvSpPr>
          <p:nvPr>
            <p:ph type="sldNum" sz="quarter" idx="12"/>
          </p:nvPr>
        </p:nvSpPr>
        <p:spPr/>
        <p:txBody>
          <a:bodyPr/>
          <a:lstStyle/>
          <a:p>
            <a:fld id="{F22F9420-57A1-1C4C-BA63-944DC829FE4A}" type="slidenum">
              <a:rPr lang="en-US" smtClean="0"/>
              <a:t>‹#›</a:t>
            </a:fld>
            <a:endParaRPr lang="en-US"/>
          </a:p>
        </p:txBody>
      </p:sp>
    </p:spTree>
    <p:extLst>
      <p:ext uri="{BB962C8B-B14F-4D97-AF65-F5344CB8AC3E}">
        <p14:creationId xmlns:p14="http://schemas.microsoft.com/office/powerpoint/2010/main" val="3181329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9AC14-AA9D-ADDC-021B-60357042CB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3BAA24-BB31-5C38-0F5C-CEEC10ED19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9864AF-31C0-6D3B-5AD0-A3A2C5EA06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44C479-C618-D454-2BB7-20E81E67EBA2}"/>
              </a:ext>
            </a:extLst>
          </p:cNvPr>
          <p:cNvSpPr>
            <a:spLocks noGrp="1"/>
          </p:cNvSpPr>
          <p:nvPr>
            <p:ph type="dt" sz="half" idx="10"/>
          </p:nvPr>
        </p:nvSpPr>
        <p:spPr/>
        <p:txBody>
          <a:bodyPr/>
          <a:lstStyle/>
          <a:p>
            <a:fld id="{D29726E9-956C-3641-A57F-E8DAD7A979CC}" type="datetimeFigureOut">
              <a:rPr lang="en-US" smtClean="0"/>
              <a:t>8/30/26</a:t>
            </a:fld>
            <a:endParaRPr lang="en-US"/>
          </a:p>
        </p:txBody>
      </p:sp>
      <p:sp>
        <p:nvSpPr>
          <p:cNvPr id="6" name="Footer Placeholder 5">
            <a:extLst>
              <a:ext uri="{FF2B5EF4-FFF2-40B4-BE49-F238E27FC236}">
                <a16:creationId xmlns:a16="http://schemas.microsoft.com/office/drawing/2014/main" id="{22E27777-6677-42CF-4215-8F34575F78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E31A78-52BB-75BE-37BF-E068242C95A3}"/>
              </a:ext>
            </a:extLst>
          </p:cNvPr>
          <p:cNvSpPr>
            <a:spLocks noGrp="1"/>
          </p:cNvSpPr>
          <p:nvPr>
            <p:ph type="sldNum" sz="quarter" idx="12"/>
          </p:nvPr>
        </p:nvSpPr>
        <p:spPr/>
        <p:txBody>
          <a:bodyPr/>
          <a:lstStyle/>
          <a:p>
            <a:fld id="{F22F9420-57A1-1C4C-BA63-944DC829FE4A}" type="slidenum">
              <a:rPr lang="en-US" smtClean="0"/>
              <a:t>‹#›</a:t>
            </a:fld>
            <a:endParaRPr lang="en-US"/>
          </a:p>
        </p:txBody>
      </p:sp>
    </p:spTree>
    <p:extLst>
      <p:ext uri="{BB962C8B-B14F-4D97-AF65-F5344CB8AC3E}">
        <p14:creationId xmlns:p14="http://schemas.microsoft.com/office/powerpoint/2010/main" val="1258473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269A7-AD1B-403E-FF08-79FC13F2AE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F43CB7-FF1D-E451-2966-19E46098B8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BAA939-AD1E-AB7F-DB6C-DF3DDB9E88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811D7F-66A6-A96F-43B1-71EDDD33E3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170D92-BEEE-8C8D-3A9A-D25515AC67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98C4B2-6082-8A9B-1CFE-96BD1ABD7C6F}"/>
              </a:ext>
            </a:extLst>
          </p:cNvPr>
          <p:cNvSpPr>
            <a:spLocks noGrp="1"/>
          </p:cNvSpPr>
          <p:nvPr>
            <p:ph type="dt" sz="half" idx="10"/>
          </p:nvPr>
        </p:nvSpPr>
        <p:spPr/>
        <p:txBody>
          <a:bodyPr/>
          <a:lstStyle/>
          <a:p>
            <a:fld id="{D29726E9-956C-3641-A57F-E8DAD7A979CC}" type="datetimeFigureOut">
              <a:rPr lang="en-US" smtClean="0"/>
              <a:t>8/30/26</a:t>
            </a:fld>
            <a:endParaRPr lang="en-US"/>
          </a:p>
        </p:txBody>
      </p:sp>
      <p:sp>
        <p:nvSpPr>
          <p:cNvPr id="8" name="Footer Placeholder 7">
            <a:extLst>
              <a:ext uri="{FF2B5EF4-FFF2-40B4-BE49-F238E27FC236}">
                <a16:creationId xmlns:a16="http://schemas.microsoft.com/office/drawing/2014/main" id="{4135817F-D682-0736-F53D-D72CE9281D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74BFD5-D91C-44C5-B714-738894FFE81E}"/>
              </a:ext>
            </a:extLst>
          </p:cNvPr>
          <p:cNvSpPr>
            <a:spLocks noGrp="1"/>
          </p:cNvSpPr>
          <p:nvPr>
            <p:ph type="sldNum" sz="quarter" idx="12"/>
          </p:nvPr>
        </p:nvSpPr>
        <p:spPr/>
        <p:txBody>
          <a:bodyPr/>
          <a:lstStyle/>
          <a:p>
            <a:fld id="{F22F9420-57A1-1C4C-BA63-944DC829FE4A}" type="slidenum">
              <a:rPr lang="en-US" smtClean="0"/>
              <a:t>‹#›</a:t>
            </a:fld>
            <a:endParaRPr lang="en-US"/>
          </a:p>
        </p:txBody>
      </p:sp>
    </p:spTree>
    <p:extLst>
      <p:ext uri="{BB962C8B-B14F-4D97-AF65-F5344CB8AC3E}">
        <p14:creationId xmlns:p14="http://schemas.microsoft.com/office/powerpoint/2010/main" val="2858688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19753-C36F-7F2C-2D0D-7BF0B11666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2EA55F4-68FD-A4F8-EC73-E0382235A085}"/>
              </a:ext>
            </a:extLst>
          </p:cNvPr>
          <p:cNvSpPr>
            <a:spLocks noGrp="1"/>
          </p:cNvSpPr>
          <p:nvPr>
            <p:ph type="dt" sz="half" idx="10"/>
          </p:nvPr>
        </p:nvSpPr>
        <p:spPr/>
        <p:txBody>
          <a:bodyPr/>
          <a:lstStyle/>
          <a:p>
            <a:fld id="{D29726E9-956C-3641-A57F-E8DAD7A979CC}" type="datetimeFigureOut">
              <a:rPr lang="en-US" smtClean="0"/>
              <a:t>8/30/26</a:t>
            </a:fld>
            <a:endParaRPr lang="en-US"/>
          </a:p>
        </p:txBody>
      </p:sp>
      <p:sp>
        <p:nvSpPr>
          <p:cNvPr id="4" name="Footer Placeholder 3">
            <a:extLst>
              <a:ext uri="{FF2B5EF4-FFF2-40B4-BE49-F238E27FC236}">
                <a16:creationId xmlns:a16="http://schemas.microsoft.com/office/drawing/2014/main" id="{C3910EA1-1EA5-147B-CB23-0662AD0DF7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284459-3CB4-13C2-59DE-A6F3449FF414}"/>
              </a:ext>
            </a:extLst>
          </p:cNvPr>
          <p:cNvSpPr>
            <a:spLocks noGrp="1"/>
          </p:cNvSpPr>
          <p:nvPr>
            <p:ph type="sldNum" sz="quarter" idx="12"/>
          </p:nvPr>
        </p:nvSpPr>
        <p:spPr/>
        <p:txBody>
          <a:bodyPr/>
          <a:lstStyle/>
          <a:p>
            <a:fld id="{F22F9420-57A1-1C4C-BA63-944DC829FE4A}" type="slidenum">
              <a:rPr lang="en-US" smtClean="0"/>
              <a:t>‹#›</a:t>
            </a:fld>
            <a:endParaRPr lang="en-US"/>
          </a:p>
        </p:txBody>
      </p:sp>
    </p:spTree>
    <p:extLst>
      <p:ext uri="{BB962C8B-B14F-4D97-AF65-F5344CB8AC3E}">
        <p14:creationId xmlns:p14="http://schemas.microsoft.com/office/powerpoint/2010/main" val="752887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F4CE67-4D9E-FFA5-2656-03A77DA2F5D3}"/>
              </a:ext>
            </a:extLst>
          </p:cNvPr>
          <p:cNvSpPr>
            <a:spLocks noGrp="1"/>
          </p:cNvSpPr>
          <p:nvPr>
            <p:ph type="dt" sz="half" idx="10"/>
          </p:nvPr>
        </p:nvSpPr>
        <p:spPr/>
        <p:txBody>
          <a:bodyPr/>
          <a:lstStyle/>
          <a:p>
            <a:fld id="{D29726E9-956C-3641-A57F-E8DAD7A979CC}" type="datetimeFigureOut">
              <a:rPr lang="en-US" smtClean="0"/>
              <a:t>8/30/26</a:t>
            </a:fld>
            <a:endParaRPr lang="en-US"/>
          </a:p>
        </p:txBody>
      </p:sp>
      <p:sp>
        <p:nvSpPr>
          <p:cNvPr id="3" name="Footer Placeholder 2">
            <a:extLst>
              <a:ext uri="{FF2B5EF4-FFF2-40B4-BE49-F238E27FC236}">
                <a16:creationId xmlns:a16="http://schemas.microsoft.com/office/drawing/2014/main" id="{95566CD8-EFA1-163C-94BD-87F9B94371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7B052B-CC3D-ED76-4574-97FDD3090FB5}"/>
              </a:ext>
            </a:extLst>
          </p:cNvPr>
          <p:cNvSpPr>
            <a:spLocks noGrp="1"/>
          </p:cNvSpPr>
          <p:nvPr>
            <p:ph type="sldNum" sz="quarter" idx="12"/>
          </p:nvPr>
        </p:nvSpPr>
        <p:spPr/>
        <p:txBody>
          <a:bodyPr/>
          <a:lstStyle/>
          <a:p>
            <a:fld id="{F22F9420-57A1-1C4C-BA63-944DC829FE4A}" type="slidenum">
              <a:rPr lang="en-US" smtClean="0"/>
              <a:t>‹#›</a:t>
            </a:fld>
            <a:endParaRPr lang="en-US"/>
          </a:p>
        </p:txBody>
      </p:sp>
    </p:spTree>
    <p:extLst>
      <p:ext uri="{BB962C8B-B14F-4D97-AF65-F5344CB8AC3E}">
        <p14:creationId xmlns:p14="http://schemas.microsoft.com/office/powerpoint/2010/main" val="370542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B858D-DA7F-A437-7B19-2B62DFDDD7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BC2DA7-B826-9DB7-59D6-E6D7F9CEBF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9C7FEE-692C-06C8-6FFC-66FA76F16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0600A8-5A2E-B55C-FA5E-D9A433D251DB}"/>
              </a:ext>
            </a:extLst>
          </p:cNvPr>
          <p:cNvSpPr>
            <a:spLocks noGrp="1"/>
          </p:cNvSpPr>
          <p:nvPr>
            <p:ph type="dt" sz="half" idx="10"/>
          </p:nvPr>
        </p:nvSpPr>
        <p:spPr/>
        <p:txBody>
          <a:bodyPr/>
          <a:lstStyle/>
          <a:p>
            <a:fld id="{D29726E9-956C-3641-A57F-E8DAD7A979CC}" type="datetimeFigureOut">
              <a:rPr lang="en-US" smtClean="0"/>
              <a:t>8/30/26</a:t>
            </a:fld>
            <a:endParaRPr lang="en-US"/>
          </a:p>
        </p:txBody>
      </p:sp>
      <p:sp>
        <p:nvSpPr>
          <p:cNvPr id="6" name="Footer Placeholder 5">
            <a:extLst>
              <a:ext uri="{FF2B5EF4-FFF2-40B4-BE49-F238E27FC236}">
                <a16:creationId xmlns:a16="http://schemas.microsoft.com/office/drawing/2014/main" id="{FAC78AE0-D283-B72B-1488-CF30E1B68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5D43CC-15D4-0347-4298-8F1DF9E3B126}"/>
              </a:ext>
            </a:extLst>
          </p:cNvPr>
          <p:cNvSpPr>
            <a:spLocks noGrp="1"/>
          </p:cNvSpPr>
          <p:nvPr>
            <p:ph type="sldNum" sz="quarter" idx="12"/>
          </p:nvPr>
        </p:nvSpPr>
        <p:spPr/>
        <p:txBody>
          <a:bodyPr/>
          <a:lstStyle/>
          <a:p>
            <a:fld id="{F22F9420-57A1-1C4C-BA63-944DC829FE4A}" type="slidenum">
              <a:rPr lang="en-US" smtClean="0"/>
              <a:t>‹#›</a:t>
            </a:fld>
            <a:endParaRPr lang="en-US"/>
          </a:p>
        </p:txBody>
      </p:sp>
    </p:spTree>
    <p:extLst>
      <p:ext uri="{BB962C8B-B14F-4D97-AF65-F5344CB8AC3E}">
        <p14:creationId xmlns:p14="http://schemas.microsoft.com/office/powerpoint/2010/main" val="3579147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B07E0-9622-2010-4ABD-4B9D5B8066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19B5D5-4147-9411-3C97-6DFA9BCFA5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E82B48-2DAC-0AE2-4ECB-F6EF51105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857FD1-069B-81B1-D4ED-615D5BC30332}"/>
              </a:ext>
            </a:extLst>
          </p:cNvPr>
          <p:cNvSpPr>
            <a:spLocks noGrp="1"/>
          </p:cNvSpPr>
          <p:nvPr>
            <p:ph type="dt" sz="half" idx="10"/>
          </p:nvPr>
        </p:nvSpPr>
        <p:spPr/>
        <p:txBody>
          <a:bodyPr/>
          <a:lstStyle/>
          <a:p>
            <a:fld id="{D29726E9-956C-3641-A57F-E8DAD7A979CC}" type="datetimeFigureOut">
              <a:rPr lang="en-US" smtClean="0"/>
              <a:t>8/30/26</a:t>
            </a:fld>
            <a:endParaRPr lang="en-US"/>
          </a:p>
        </p:txBody>
      </p:sp>
      <p:sp>
        <p:nvSpPr>
          <p:cNvPr id="6" name="Footer Placeholder 5">
            <a:extLst>
              <a:ext uri="{FF2B5EF4-FFF2-40B4-BE49-F238E27FC236}">
                <a16:creationId xmlns:a16="http://schemas.microsoft.com/office/drawing/2014/main" id="{1D9907E2-8263-5CE5-EFDB-BFE466D4CC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440590-98C0-AE0E-8E64-24DB9BE37ED8}"/>
              </a:ext>
            </a:extLst>
          </p:cNvPr>
          <p:cNvSpPr>
            <a:spLocks noGrp="1"/>
          </p:cNvSpPr>
          <p:nvPr>
            <p:ph type="sldNum" sz="quarter" idx="12"/>
          </p:nvPr>
        </p:nvSpPr>
        <p:spPr/>
        <p:txBody>
          <a:bodyPr/>
          <a:lstStyle/>
          <a:p>
            <a:fld id="{F22F9420-57A1-1C4C-BA63-944DC829FE4A}" type="slidenum">
              <a:rPr lang="en-US" smtClean="0"/>
              <a:t>‹#›</a:t>
            </a:fld>
            <a:endParaRPr lang="en-US"/>
          </a:p>
        </p:txBody>
      </p:sp>
    </p:spTree>
    <p:extLst>
      <p:ext uri="{BB962C8B-B14F-4D97-AF65-F5344CB8AC3E}">
        <p14:creationId xmlns:p14="http://schemas.microsoft.com/office/powerpoint/2010/main" val="4156975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2DDE8-34BA-A161-8F42-B661D2BDBE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A3929D-8895-A547-1A47-A068C45B99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56EE50-FC45-538A-517C-A440885D77A9}"/>
              </a:ext>
            </a:extLst>
          </p:cNvPr>
          <p:cNvSpPr>
            <a:spLocks noGrp="1"/>
          </p:cNvSpPr>
          <p:nvPr>
            <p:ph type="dt" sz="half" idx="10"/>
          </p:nvPr>
        </p:nvSpPr>
        <p:spPr/>
        <p:txBody>
          <a:bodyPr/>
          <a:lstStyle/>
          <a:p>
            <a:fld id="{D29726E9-956C-3641-A57F-E8DAD7A979CC}" type="datetimeFigureOut">
              <a:rPr lang="en-US" smtClean="0"/>
              <a:t>8/30/26</a:t>
            </a:fld>
            <a:endParaRPr lang="en-US"/>
          </a:p>
        </p:txBody>
      </p:sp>
      <p:sp>
        <p:nvSpPr>
          <p:cNvPr id="5" name="Footer Placeholder 4">
            <a:extLst>
              <a:ext uri="{FF2B5EF4-FFF2-40B4-BE49-F238E27FC236}">
                <a16:creationId xmlns:a16="http://schemas.microsoft.com/office/drawing/2014/main" id="{D7445164-F88A-1FA6-D48B-042286545C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BAC7D7-C533-A3BC-12D4-964446F2B877}"/>
              </a:ext>
            </a:extLst>
          </p:cNvPr>
          <p:cNvSpPr>
            <a:spLocks noGrp="1"/>
          </p:cNvSpPr>
          <p:nvPr>
            <p:ph type="sldNum" sz="quarter" idx="12"/>
          </p:nvPr>
        </p:nvSpPr>
        <p:spPr/>
        <p:txBody>
          <a:bodyPr/>
          <a:lstStyle/>
          <a:p>
            <a:fld id="{F22F9420-57A1-1C4C-BA63-944DC829FE4A}" type="slidenum">
              <a:rPr lang="en-US" smtClean="0"/>
              <a:t>‹#›</a:t>
            </a:fld>
            <a:endParaRPr lang="en-US"/>
          </a:p>
        </p:txBody>
      </p:sp>
    </p:spTree>
    <p:extLst>
      <p:ext uri="{BB962C8B-B14F-4D97-AF65-F5344CB8AC3E}">
        <p14:creationId xmlns:p14="http://schemas.microsoft.com/office/powerpoint/2010/main" val="3740587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A7E786-E13D-FE71-0CD7-4A958F14EC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2322A5-8455-3A9A-283C-B8490C72D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3B293-DFEB-FBF2-52D7-B161E712B082}"/>
              </a:ext>
            </a:extLst>
          </p:cNvPr>
          <p:cNvSpPr>
            <a:spLocks noGrp="1"/>
          </p:cNvSpPr>
          <p:nvPr>
            <p:ph type="dt" sz="half" idx="10"/>
          </p:nvPr>
        </p:nvSpPr>
        <p:spPr/>
        <p:txBody>
          <a:bodyPr/>
          <a:lstStyle/>
          <a:p>
            <a:fld id="{D29726E9-956C-3641-A57F-E8DAD7A979CC}" type="datetimeFigureOut">
              <a:rPr lang="en-US" smtClean="0"/>
              <a:t>8/30/26</a:t>
            </a:fld>
            <a:endParaRPr lang="en-US"/>
          </a:p>
        </p:txBody>
      </p:sp>
      <p:sp>
        <p:nvSpPr>
          <p:cNvPr id="5" name="Footer Placeholder 4">
            <a:extLst>
              <a:ext uri="{FF2B5EF4-FFF2-40B4-BE49-F238E27FC236}">
                <a16:creationId xmlns:a16="http://schemas.microsoft.com/office/drawing/2014/main" id="{355DFB5A-2F65-9303-6561-C40BE0D229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B1A11-3C58-C05A-2F7C-C19D710D5EF1}"/>
              </a:ext>
            </a:extLst>
          </p:cNvPr>
          <p:cNvSpPr>
            <a:spLocks noGrp="1"/>
          </p:cNvSpPr>
          <p:nvPr>
            <p:ph type="sldNum" sz="quarter" idx="12"/>
          </p:nvPr>
        </p:nvSpPr>
        <p:spPr/>
        <p:txBody>
          <a:bodyPr/>
          <a:lstStyle/>
          <a:p>
            <a:fld id="{F22F9420-57A1-1C4C-BA63-944DC829FE4A}" type="slidenum">
              <a:rPr lang="en-US" smtClean="0"/>
              <a:t>‹#›</a:t>
            </a:fld>
            <a:endParaRPr lang="en-US"/>
          </a:p>
        </p:txBody>
      </p:sp>
    </p:spTree>
    <p:extLst>
      <p:ext uri="{BB962C8B-B14F-4D97-AF65-F5344CB8AC3E}">
        <p14:creationId xmlns:p14="http://schemas.microsoft.com/office/powerpoint/2010/main" val="1988369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12921-87C5-45B0-9DD5-F8540F0642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5206C5-BB60-99D3-84EE-7D8CA76D70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71F2D6-308F-0DA7-8874-B4EB74F2A8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9726E9-956C-3641-A57F-E8DAD7A979CC}" type="datetimeFigureOut">
              <a:rPr lang="en-US" smtClean="0"/>
              <a:t>8/30/26</a:t>
            </a:fld>
            <a:endParaRPr lang="en-US"/>
          </a:p>
        </p:txBody>
      </p:sp>
      <p:sp>
        <p:nvSpPr>
          <p:cNvPr id="5" name="Footer Placeholder 4">
            <a:extLst>
              <a:ext uri="{FF2B5EF4-FFF2-40B4-BE49-F238E27FC236}">
                <a16:creationId xmlns:a16="http://schemas.microsoft.com/office/drawing/2014/main" id="{0441B40F-5188-31D1-FE79-A613D72B62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22F383-908D-8D6F-F39E-72C26E8BCC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2F9420-57A1-1C4C-BA63-944DC829FE4A}" type="slidenum">
              <a:rPr lang="en-US" smtClean="0"/>
              <a:t>‹#›</a:t>
            </a:fld>
            <a:endParaRPr lang="en-US"/>
          </a:p>
        </p:txBody>
      </p:sp>
    </p:spTree>
    <p:extLst>
      <p:ext uri="{BB962C8B-B14F-4D97-AF65-F5344CB8AC3E}">
        <p14:creationId xmlns:p14="http://schemas.microsoft.com/office/powerpoint/2010/main" val="3535216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C5DD2-6189-465D-3954-E84B40320302}"/>
              </a:ext>
            </a:extLst>
          </p:cNvPr>
          <p:cNvSpPr>
            <a:spLocks noGrp="1"/>
          </p:cNvSpPr>
          <p:nvPr>
            <p:ph type="ctrTitle"/>
          </p:nvPr>
        </p:nvSpPr>
        <p:spPr>
          <a:xfrm>
            <a:off x="999066" y="476074"/>
            <a:ext cx="10193867" cy="1124126"/>
          </a:xfrm>
        </p:spPr>
        <p:txBody>
          <a:bodyPr>
            <a:normAutofit fontScale="90000"/>
          </a:bodyPr>
          <a:lstStyle/>
          <a:p>
            <a:r>
              <a:rPr lang="en-US" sz="6600" dirty="0"/>
              <a:t>QFE Week 3-Hypothesis Testing </a:t>
            </a:r>
          </a:p>
        </p:txBody>
      </p:sp>
      <p:pic>
        <p:nvPicPr>
          <p:cNvPr id="7" name="Picture 6">
            <a:extLst>
              <a:ext uri="{FF2B5EF4-FFF2-40B4-BE49-F238E27FC236}">
                <a16:creationId xmlns:a16="http://schemas.microsoft.com/office/drawing/2014/main" id="{99FAA0BE-DDD7-EEDD-ECB5-218BDB96C460}"/>
              </a:ext>
            </a:extLst>
          </p:cNvPr>
          <p:cNvPicPr>
            <a:picLocks noChangeAspect="1"/>
          </p:cNvPicPr>
          <p:nvPr/>
        </p:nvPicPr>
        <p:blipFill>
          <a:blip r:embed="rId3"/>
          <a:stretch>
            <a:fillRect/>
          </a:stretch>
        </p:blipFill>
        <p:spPr>
          <a:xfrm>
            <a:off x="2207438" y="1753304"/>
            <a:ext cx="2697339" cy="2568125"/>
          </a:xfrm>
          <a:prstGeom prst="rect">
            <a:avLst/>
          </a:prstGeom>
        </p:spPr>
      </p:pic>
      <p:pic>
        <p:nvPicPr>
          <p:cNvPr id="9" name="Picture 8">
            <a:extLst>
              <a:ext uri="{FF2B5EF4-FFF2-40B4-BE49-F238E27FC236}">
                <a16:creationId xmlns:a16="http://schemas.microsoft.com/office/drawing/2014/main" id="{D1E60AA5-DDB7-98E6-43C0-13A3FB99A6FF}"/>
              </a:ext>
            </a:extLst>
          </p:cNvPr>
          <p:cNvPicPr>
            <a:picLocks noChangeAspect="1"/>
          </p:cNvPicPr>
          <p:nvPr/>
        </p:nvPicPr>
        <p:blipFill>
          <a:blip r:embed="rId4"/>
          <a:stretch>
            <a:fillRect/>
          </a:stretch>
        </p:blipFill>
        <p:spPr>
          <a:xfrm>
            <a:off x="6919381" y="1753304"/>
            <a:ext cx="3065181" cy="2568125"/>
          </a:xfrm>
          <a:prstGeom prst="rect">
            <a:avLst/>
          </a:prstGeom>
        </p:spPr>
      </p:pic>
      <p:sp>
        <p:nvSpPr>
          <p:cNvPr id="10" name="TextBox 9">
            <a:extLst>
              <a:ext uri="{FF2B5EF4-FFF2-40B4-BE49-F238E27FC236}">
                <a16:creationId xmlns:a16="http://schemas.microsoft.com/office/drawing/2014/main" id="{D75C8DF5-33C1-4702-2E88-19CD6C40FF63}"/>
              </a:ext>
            </a:extLst>
          </p:cNvPr>
          <p:cNvSpPr txBox="1"/>
          <p:nvPr/>
        </p:nvSpPr>
        <p:spPr>
          <a:xfrm>
            <a:off x="514474" y="4731539"/>
            <a:ext cx="11543056" cy="1938992"/>
          </a:xfrm>
          <a:prstGeom prst="rect">
            <a:avLst/>
          </a:prstGeom>
          <a:noFill/>
        </p:spPr>
        <p:txBody>
          <a:bodyPr wrap="square" rtlCol="0">
            <a:spAutoFit/>
          </a:bodyPr>
          <a:lstStyle/>
          <a:p>
            <a:r>
              <a:rPr lang="en-US" sz="2400" dirty="0"/>
              <a:t>Discuss with classmates: We observed grizzlies in Alaska catching salmon over the course of a day. Histogram A shows the number of grizzlies that caught a number of salmon during the day. Histogram B shows the </a:t>
            </a:r>
            <a:r>
              <a:rPr lang="en-US" sz="2400" i="1" dirty="0"/>
              <a:t>expected</a:t>
            </a:r>
            <a:r>
              <a:rPr lang="en-US" sz="2400" dirty="0"/>
              <a:t> number of grizzlies that caught that number of salmon during the day. Do you think the grizzlies’ ability to catch salmon is “random” or do you think some grizzlies may be better or worse than others?</a:t>
            </a:r>
          </a:p>
        </p:txBody>
      </p:sp>
      <p:sp>
        <p:nvSpPr>
          <p:cNvPr id="11" name="TextBox 10">
            <a:extLst>
              <a:ext uri="{FF2B5EF4-FFF2-40B4-BE49-F238E27FC236}">
                <a16:creationId xmlns:a16="http://schemas.microsoft.com/office/drawing/2014/main" id="{46DE015B-4DAE-BC4A-B63D-F03737DAE0EC}"/>
              </a:ext>
            </a:extLst>
          </p:cNvPr>
          <p:cNvSpPr txBox="1"/>
          <p:nvPr/>
        </p:nvSpPr>
        <p:spPr>
          <a:xfrm>
            <a:off x="2639702" y="4341818"/>
            <a:ext cx="1832809" cy="369332"/>
          </a:xfrm>
          <a:prstGeom prst="rect">
            <a:avLst/>
          </a:prstGeom>
          <a:noFill/>
        </p:spPr>
        <p:txBody>
          <a:bodyPr wrap="none" rtlCol="0">
            <a:spAutoFit/>
          </a:bodyPr>
          <a:lstStyle/>
          <a:p>
            <a:r>
              <a:rPr lang="en-US" dirty="0"/>
              <a:t># salmon caught</a:t>
            </a:r>
          </a:p>
        </p:txBody>
      </p:sp>
      <p:sp>
        <p:nvSpPr>
          <p:cNvPr id="12" name="TextBox 11">
            <a:extLst>
              <a:ext uri="{FF2B5EF4-FFF2-40B4-BE49-F238E27FC236}">
                <a16:creationId xmlns:a16="http://schemas.microsoft.com/office/drawing/2014/main" id="{398E7E49-35C3-C254-B6FD-B0173A76FD26}"/>
              </a:ext>
            </a:extLst>
          </p:cNvPr>
          <p:cNvSpPr txBox="1"/>
          <p:nvPr/>
        </p:nvSpPr>
        <p:spPr>
          <a:xfrm rot="16200000">
            <a:off x="1341668" y="2852700"/>
            <a:ext cx="1362208" cy="369332"/>
          </a:xfrm>
          <a:prstGeom prst="rect">
            <a:avLst/>
          </a:prstGeom>
          <a:noFill/>
        </p:spPr>
        <p:txBody>
          <a:bodyPr wrap="square" rtlCol="0">
            <a:spAutoFit/>
          </a:bodyPr>
          <a:lstStyle/>
          <a:p>
            <a:r>
              <a:rPr lang="en-US" dirty="0"/>
              <a:t>frequency</a:t>
            </a:r>
          </a:p>
        </p:txBody>
      </p:sp>
      <p:sp>
        <p:nvSpPr>
          <p:cNvPr id="13" name="TextBox 12">
            <a:extLst>
              <a:ext uri="{FF2B5EF4-FFF2-40B4-BE49-F238E27FC236}">
                <a16:creationId xmlns:a16="http://schemas.microsoft.com/office/drawing/2014/main" id="{D345BB95-D3CB-1CCA-2F2A-B1D0ABAF748C}"/>
              </a:ext>
            </a:extLst>
          </p:cNvPr>
          <p:cNvSpPr txBox="1"/>
          <p:nvPr/>
        </p:nvSpPr>
        <p:spPr>
          <a:xfrm>
            <a:off x="7535566" y="4341818"/>
            <a:ext cx="1832809" cy="369332"/>
          </a:xfrm>
          <a:prstGeom prst="rect">
            <a:avLst/>
          </a:prstGeom>
          <a:noFill/>
        </p:spPr>
        <p:txBody>
          <a:bodyPr wrap="none" rtlCol="0">
            <a:spAutoFit/>
          </a:bodyPr>
          <a:lstStyle/>
          <a:p>
            <a:r>
              <a:rPr lang="en-US" dirty="0"/>
              <a:t># salmon caught</a:t>
            </a:r>
          </a:p>
        </p:txBody>
      </p:sp>
      <p:sp>
        <p:nvSpPr>
          <p:cNvPr id="14" name="TextBox 13">
            <a:extLst>
              <a:ext uri="{FF2B5EF4-FFF2-40B4-BE49-F238E27FC236}">
                <a16:creationId xmlns:a16="http://schemas.microsoft.com/office/drawing/2014/main" id="{8B444D38-6949-FBAF-FDC1-7EB65BECAC83}"/>
              </a:ext>
            </a:extLst>
          </p:cNvPr>
          <p:cNvSpPr txBox="1"/>
          <p:nvPr/>
        </p:nvSpPr>
        <p:spPr>
          <a:xfrm rot="16200000">
            <a:off x="5950400" y="2852699"/>
            <a:ext cx="1362208" cy="369332"/>
          </a:xfrm>
          <a:prstGeom prst="rect">
            <a:avLst/>
          </a:prstGeom>
          <a:noFill/>
        </p:spPr>
        <p:txBody>
          <a:bodyPr wrap="square" rtlCol="0">
            <a:spAutoFit/>
          </a:bodyPr>
          <a:lstStyle/>
          <a:p>
            <a:r>
              <a:rPr lang="en-US" dirty="0"/>
              <a:t>frequency</a:t>
            </a:r>
          </a:p>
        </p:txBody>
      </p:sp>
      <p:sp>
        <p:nvSpPr>
          <p:cNvPr id="15" name="TextBox 14">
            <a:extLst>
              <a:ext uri="{FF2B5EF4-FFF2-40B4-BE49-F238E27FC236}">
                <a16:creationId xmlns:a16="http://schemas.microsoft.com/office/drawing/2014/main" id="{1387A2C8-989D-E332-FC42-BAEF38281019}"/>
              </a:ext>
            </a:extLst>
          </p:cNvPr>
          <p:cNvSpPr txBox="1"/>
          <p:nvPr/>
        </p:nvSpPr>
        <p:spPr>
          <a:xfrm>
            <a:off x="4312050" y="1832730"/>
            <a:ext cx="320922" cy="369332"/>
          </a:xfrm>
          <a:prstGeom prst="rect">
            <a:avLst/>
          </a:prstGeom>
          <a:noFill/>
        </p:spPr>
        <p:txBody>
          <a:bodyPr wrap="square" rtlCol="0">
            <a:spAutoFit/>
          </a:bodyPr>
          <a:lstStyle/>
          <a:p>
            <a:r>
              <a:rPr lang="en-US" dirty="0"/>
              <a:t>A</a:t>
            </a:r>
          </a:p>
        </p:txBody>
      </p:sp>
      <p:sp>
        <p:nvSpPr>
          <p:cNvPr id="16" name="TextBox 15">
            <a:extLst>
              <a:ext uri="{FF2B5EF4-FFF2-40B4-BE49-F238E27FC236}">
                <a16:creationId xmlns:a16="http://schemas.microsoft.com/office/drawing/2014/main" id="{63DF0EBE-3536-2689-DABE-7BD6414976D3}"/>
              </a:ext>
            </a:extLst>
          </p:cNvPr>
          <p:cNvSpPr txBox="1"/>
          <p:nvPr/>
        </p:nvSpPr>
        <p:spPr>
          <a:xfrm>
            <a:off x="9543121" y="1832730"/>
            <a:ext cx="320922" cy="369332"/>
          </a:xfrm>
          <a:prstGeom prst="rect">
            <a:avLst/>
          </a:prstGeom>
          <a:noFill/>
        </p:spPr>
        <p:txBody>
          <a:bodyPr wrap="square" rtlCol="0">
            <a:spAutoFit/>
          </a:bodyPr>
          <a:lstStyle/>
          <a:p>
            <a:r>
              <a:rPr lang="en-US" dirty="0"/>
              <a:t>B</a:t>
            </a:r>
          </a:p>
        </p:txBody>
      </p:sp>
    </p:spTree>
    <p:extLst>
      <p:ext uri="{BB962C8B-B14F-4D97-AF65-F5344CB8AC3E}">
        <p14:creationId xmlns:p14="http://schemas.microsoft.com/office/powerpoint/2010/main" val="3886053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E8A6-C85A-21E4-C597-0462D40175DD}"/>
              </a:ext>
            </a:extLst>
          </p:cNvPr>
          <p:cNvSpPr>
            <a:spLocks noGrp="1"/>
          </p:cNvSpPr>
          <p:nvPr>
            <p:ph type="title"/>
          </p:nvPr>
        </p:nvSpPr>
        <p:spPr/>
        <p:txBody>
          <a:bodyPr>
            <a:normAutofit/>
          </a:bodyPr>
          <a:lstStyle/>
          <a:p>
            <a:r>
              <a:rPr lang="en-US" sz="5400" dirty="0"/>
              <a:t>Hypothesis Testing</a:t>
            </a:r>
          </a:p>
        </p:txBody>
      </p:sp>
      <p:sp>
        <p:nvSpPr>
          <p:cNvPr id="3" name="Content Placeholder 2">
            <a:extLst>
              <a:ext uri="{FF2B5EF4-FFF2-40B4-BE49-F238E27FC236}">
                <a16:creationId xmlns:a16="http://schemas.microsoft.com/office/drawing/2014/main" id="{3C4665AF-0078-2848-2E9A-AA9BBEBAA6E5}"/>
              </a:ext>
            </a:extLst>
          </p:cNvPr>
          <p:cNvSpPr>
            <a:spLocks noGrp="1"/>
          </p:cNvSpPr>
          <p:nvPr>
            <p:ph idx="1"/>
          </p:nvPr>
        </p:nvSpPr>
        <p:spPr/>
        <p:txBody>
          <a:bodyPr/>
          <a:lstStyle/>
          <a:p>
            <a:pPr marL="0" indent="0">
              <a:buNone/>
            </a:pPr>
            <a:r>
              <a:rPr lang="en-US" sz="3600" dirty="0"/>
              <a:t>Hypotheses: potential explanations for what we observe</a:t>
            </a:r>
          </a:p>
          <a:p>
            <a:r>
              <a:rPr lang="en-US" sz="3600" dirty="0"/>
              <a:t>Manipulative studies</a:t>
            </a:r>
          </a:p>
          <a:p>
            <a:r>
              <a:rPr lang="en-US" sz="3600" dirty="0"/>
              <a:t>Correlative/observational studies</a:t>
            </a:r>
          </a:p>
          <a:p>
            <a:pPr marL="0" indent="0">
              <a:buNone/>
            </a:pPr>
            <a:r>
              <a:rPr lang="en-US" sz="3600" dirty="0"/>
              <a:t>Statistical treatment is identical</a:t>
            </a:r>
          </a:p>
          <a:p>
            <a:r>
              <a:rPr lang="en-US" sz="3600" dirty="0"/>
              <a:t>Distinction lies with inference</a:t>
            </a:r>
          </a:p>
          <a:p>
            <a:pPr lvl="1"/>
            <a:r>
              <a:rPr lang="en-US" sz="3200" dirty="0"/>
              <a:t>When you are done, what can you say</a:t>
            </a:r>
          </a:p>
        </p:txBody>
      </p:sp>
      <p:pic>
        <p:nvPicPr>
          <p:cNvPr id="5" name="Picture 4">
            <a:extLst>
              <a:ext uri="{FF2B5EF4-FFF2-40B4-BE49-F238E27FC236}">
                <a16:creationId xmlns:a16="http://schemas.microsoft.com/office/drawing/2014/main" id="{C461D059-6AC6-2D08-E2C9-7E78A2A07C3B}"/>
              </a:ext>
            </a:extLst>
          </p:cNvPr>
          <p:cNvPicPr>
            <a:picLocks noChangeAspect="1"/>
          </p:cNvPicPr>
          <p:nvPr/>
        </p:nvPicPr>
        <p:blipFill>
          <a:blip r:embed="rId3"/>
          <a:stretch>
            <a:fillRect/>
          </a:stretch>
        </p:blipFill>
        <p:spPr>
          <a:xfrm>
            <a:off x="8772979" y="2280260"/>
            <a:ext cx="2461078" cy="3442067"/>
          </a:xfrm>
          <a:prstGeom prst="rect">
            <a:avLst/>
          </a:prstGeom>
        </p:spPr>
      </p:pic>
    </p:spTree>
    <p:extLst>
      <p:ext uri="{BB962C8B-B14F-4D97-AF65-F5344CB8AC3E}">
        <p14:creationId xmlns:p14="http://schemas.microsoft.com/office/powerpoint/2010/main" val="146700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A3C81-EBD6-617E-401F-4D0ABF4F69A0}"/>
              </a:ext>
            </a:extLst>
          </p:cNvPr>
          <p:cNvSpPr>
            <a:spLocks noGrp="1"/>
          </p:cNvSpPr>
          <p:nvPr>
            <p:ph type="title"/>
          </p:nvPr>
        </p:nvSpPr>
        <p:spPr>
          <a:xfrm>
            <a:off x="838200" y="503671"/>
            <a:ext cx="10515600" cy="1325563"/>
          </a:xfrm>
        </p:spPr>
        <p:txBody>
          <a:bodyPr>
            <a:noAutofit/>
          </a:bodyPr>
          <a:lstStyle/>
          <a:p>
            <a:r>
              <a:rPr lang="en-US" sz="5400" dirty="0"/>
              <a:t>To test our hypotheses, we need to take samples!</a:t>
            </a:r>
          </a:p>
        </p:txBody>
      </p:sp>
      <p:sp>
        <p:nvSpPr>
          <p:cNvPr id="3" name="Content Placeholder 2">
            <a:extLst>
              <a:ext uri="{FF2B5EF4-FFF2-40B4-BE49-F238E27FC236}">
                <a16:creationId xmlns:a16="http://schemas.microsoft.com/office/drawing/2014/main" id="{744B4388-625D-D99E-58F9-517F1BE9AB17}"/>
              </a:ext>
            </a:extLst>
          </p:cNvPr>
          <p:cNvSpPr>
            <a:spLocks noGrp="1"/>
          </p:cNvSpPr>
          <p:nvPr>
            <p:ph idx="1"/>
          </p:nvPr>
        </p:nvSpPr>
        <p:spPr>
          <a:xfrm>
            <a:off x="838200" y="2141537"/>
            <a:ext cx="10515600" cy="4351338"/>
          </a:xfrm>
        </p:spPr>
        <p:txBody>
          <a:bodyPr>
            <a:normAutofit/>
          </a:bodyPr>
          <a:lstStyle/>
          <a:p>
            <a:pPr marL="0" indent="0">
              <a:buNone/>
            </a:pPr>
            <a:r>
              <a:rPr lang="en-US" sz="3600" dirty="0"/>
              <a:t>Purpose: ecologists want to collect quantitative information about something</a:t>
            </a:r>
          </a:p>
          <a:p>
            <a:r>
              <a:rPr lang="en-US" sz="3600" u="sng" dirty="0"/>
              <a:t>Biological Population: </a:t>
            </a:r>
            <a:r>
              <a:rPr lang="en-US" sz="3600" dirty="0"/>
              <a:t>aggregation of individual organisms of a single-species in a given area</a:t>
            </a:r>
          </a:p>
          <a:p>
            <a:r>
              <a:rPr lang="en-US" sz="3600" u="sng" dirty="0"/>
              <a:t>Statistical Population: </a:t>
            </a:r>
            <a:r>
              <a:rPr lang="en-US" sz="3600" dirty="0"/>
              <a:t>entire set of data of interest</a:t>
            </a:r>
          </a:p>
          <a:p>
            <a:r>
              <a:rPr lang="en-US" sz="3600" u="sng" dirty="0"/>
              <a:t>Statistical Sample: </a:t>
            </a:r>
            <a:r>
              <a:rPr lang="en-US" sz="3600" dirty="0"/>
              <a:t>measured portion of subset of the statistical population</a:t>
            </a:r>
          </a:p>
        </p:txBody>
      </p:sp>
    </p:spTree>
    <p:extLst>
      <p:ext uri="{BB962C8B-B14F-4D97-AF65-F5344CB8AC3E}">
        <p14:creationId xmlns:p14="http://schemas.microsoft.com/office/powerpoint/2010/main" val="1174925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E8621A-AA32-137A-7BA4-5EEEF0D715BD}"/>
              </a:ext>
            </a:extLst>
          </p:cNvPr>
          <p:cNvPicPr>
            <a:picLocks noGrp="1" noChangeAspect="1"/>
          </p:cNvPicPr>
          <p:nvPr>
            <p:ph idx="1"/>
          </p:nvPr>
        </p:nvPicPr>
        <p:blipFill>
          <a:blip r:embed="rId3"/>
          <a:stretch>
            <a:fillRect/>
          </a:stretch>
        </p:blipFill>
        <p:spPr>
          <a:xfrm>
            <a:off x="945698" y="503074"/>
            <a:ext cx="10574398" cy="5851851"/>
          </a:xfrm>
          <a:prstGeom prst="rect">
            <a:avLst/>
          </a:prstGeom>
          <a:ln w="28575">
            <a:solidFill>
              <a:schemeClr val="accent6">
                <a:lumMod val="75000"/>
              </a:schemeClr>
            </a:solidFill>
          </a:ln>
        </p:spPr>
      </p:pic>
      <p:pic>
        <p:nvPicPr>
          <p:cNvPr id="4" name="Picture 3">
            <a:extLst>
              <a:ext uri="{FF2B5EF4-FFF2-40B4-BE49-F238E27FC236}">
                <a16:creationId xmlns:a16="http://schemas.microsoft.com/office/drawing/2014/main" id="{4F03E484-F3DB-CB98-5968-A572D9AC3A0F}"/>
              </a:ext>
            </a:extLst>
          </p:cNvPr>
          <p:cNvPicPr>
            <a:picLocks noChangeAspect="1"/>
          </p:cNvPicPr>
          <p:nvPr/>
        </p:nvPicPr>
        <p:blipFill>
          <a:blip r:embed="rId4"/>
          <a:stretch>
            <a:fillRect/>
          </a:stretch>
        </p:blipFill>
        <p:spPr>
          <a:xfrm>
            <a:off x="2893868" y="623453"/>
            <a:ext cx="2708607" cy="1480705"/>
          </a:xfrm>
          <a:prstGeom prst="rect">
            <a:avLst/>
          </a:prstGeom>
        </p:spPr>
      </p:pic>
      <p:pic>
        <p:nvPicPr>
          <p:cNvPr id="6" name="Picture 5">
            <a:extLst>
              <a:ext uri="{FF2B5EF4-FFF2-40B4-BE49-F238E27FC236}">
                <a16:creationId xmlns:a16="http://schemas.microsoft.com/office/drawing/2014/main" id="{B093B291-8467-5F22-9A59-A9FD36860EF7}"/>
              </a:ext>
            </a:extLst>
          </p:cNvPr>
          <p:cNvPicPr>
            <a:picLocks noChangeAspect="1"/>
          </p:cNvPicPr>
          <p:nvPr/>
        </p:nvPicPr>
        <p:blipFill>
          <a:blip r:embed="rId4"/>
          <a:stretch>
            <a:fillRect/>
          </a:stretch>
        </p:blipFill>
        <p:spPr>
          <a:xfrm>
            <a:off x="1749444" y="1363805"/>
            <a:ext cx="2288848" cy="1251237"/>
          </a:xfrm>
          <a:prstGeom prst="rect">
            <a:avLst/>
          </a:prstGeom>
        </p:spPr>
      </p:pic>
    </p:spTree>
    <p:extLst>
      <p:ext uri="{BB962C8B-B14F-4D97-AF65-F5344CB8AC3E}">
        <p14:creationId xmlns:p14="http://schemas.microsoft.com/office/powerpoint/2010/main" val="1582782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354B-D126-658F-6A97-56D0BCD4989E}"/>
              </a:ext>
            </a:extLst>
          </p:cNvPr>
          <p:cNvSpPr>
            <a:spLocks noGrp="1"/>
          </p:cNvSpPr>
          <p:nvPr>
            <p:ph type="title"/>
          </p:nvPr>
        </p:nvSpPr>
        <p:spPr/>
        <p:txBody>
          <a:bodyPr>
            <a:normAutofit/>
          </a:bodyPr>
          <a:lstStyle/>
          <a:p>
            <a:r>
              <a:rPr lang="en-US" sz="5400" dirty="0"/>
              <a:t>Selecting Samples</a:t>
            </a:r>
          </a:p>
        </p:txBody>
      </p:sp>
      <p:sp>
        <p:nvSpPr>
          <p:cNvPr id="3" name="Content Placeholder 2">
            <a:extLst>
              <a:ext uri="{FF2B5EF4-FFF2-40B4-BE49-F238E27FC236}">
                <a16:creationId xmlns:a16="http://schemas.microsoft.com/office/drawing/2014/main" id="{173A2379-3E44-618E-28DB-528491FA69BC}"/>
              </a:ext>
            </a:extLst>
          </p:cNvPr>
          <p:cNvSpPr>
            <a:spLocks noGrp="1"/>
          </p:cNvSpPr>
          <p:nvPr>
            <p:ph idx="1"/>
          </p:nvPr>
        </p:nvSpPr>
        <p:spPr/>
        <p:txBody>
          <a:bodyPr>
            <a:normAutofit fontScale="85000" lnSpcReduction="20000"/>
          </a:bodyPr>
          <a:lstStyle/>
          <a:p>
            <a:pPr marL="0" indent="0">
              <a:buNone/>
            </a:pPr>
            <a:r>
              <a:rPr lang="en-US" sz="3500" u="sng" dirty="0"/>
              <a:t>Bias:</a:t>
            </a:r>
            <a:r>
              <a:rPr lang="en-US" sz="3500" dirty="0"/>
              <a:t> when some members of the population are more likely to be sampled than others</a:t>
            </a:r>
          </a:p>
          <a:p>
            <a:pPr marL="0" indent="0">
              <a:buNone/>
            </a:pPr>
            <a:r>
              <a:rPr lang="en-US" sz="3500" u="sng" dirty="0"/>
              <a:t>Random Sampling: </a:t>
            </a:r>
            <a:r>
              <a:rPr lang="en-US" sz="3500" dirty="0"/>
              <a:t>allows for legitimate conclusions to be made</a:t>
            </a:r>
          </a:p>
          <a:p>
            <a:r>
              <a:rPr lang="en-US" sz="3500" dirty="0"/>
              <a:t>Allows use of probability theory to generate chances of error and accurate variance estimation</a:t>
            </a:r>
          </a:p>
          <a:p>
            <a:pPr marL="0" indent="0">
              <a:buNone/>
            </a:pPr>
            <a:r>
              <a:rPr lang="en-US" sz="3500" dirty="0"/>
              <a:t>Methods of randomly selecting samples:</a:t>
            </a:r>
          </a:p>
          <a:p>
            <a:r>
              <a:rPr lang="en-US" dirty="0"/>
              <a:t>Flip coin</a:t>
            </a:r>
          </a:p>
          <a:p>
            <a:r>
              <a:rPr lang="en-US" dirty="0"/>
              <a:t>Draws from a hat</a:t>
            </a:r>
          </a:p>
          <a:p>
            <a:r>
              <a:rPr lang="en-US" dirty="0"/>
              <a:t>Hundredths place on stopwatch</a:t>
            </a:r>
          </a:p>
          <a:p>
            <a:r>
              <a:rPr lang="en-US" dirty="0"/>
              <a:t>Random number table</a:t>
            </a:r>
          </a:p>
        </p:txBody>
      </p:sp>
      <p:pic>
        <p:nvPicPr>
          <p:cNvPr id="5" name="Picture 4">
            <a:extLst>
              <a:ext uri="{FF2B5EF4-FFF2-40B4-BE49-F238E27FC236}">
                <a16:creationId xmlns:a16="http://schemas.microsoft.com/office/drawing/2014/main" id="{68F9D9A7-7F15-31CD-FCFB-E8477D089D17}"/>
              </a:ext>
            </a:extLst>
          </p:cNvPr>
          <p:cNvPicPr>
            <a:picLocks noChangeAspect="1"/>
          </p:cNvPicPr>
          <p:nvPr/>
        </p:nvPicPr>
        <p:blipFill>
          <a:blip r:embed="rId3"/>
          <a:stretch>
            <a:fillRect/>
          </a:stretch>
        </p:blipFill>
        <p:spPr>
          <a:xfrm>
            <a:off x="8442778" y="4001294"/>
            <a:ext cx="2273300" cy="2540000"/>
          </a:xfrm>
          <a:prstGeom prst="rect">
            <a:avLst/>
          </a:prstGeom>
        </p:spPr>
      </p:pic>
    </p:spTree>
    <p:extLst>
      <p:ext uri="{BB962C8B-B14F-4D97-AF65-F5344CB8AC3E}">
        <p14:creationId xmlns:p14="http://schemas.microsoft.com/office/powerpoint/2010/main" val="3962337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994551-FD44-7DD4-331C-FCF8D285F76F}"/>
              </a:ext>
            </a:extLst>
          </p:cNvPr>
          <p:cNvPicPr>
            <a:picLocks noChangeAspect="1"/>
          </p:cNvPicPr>
          <p:nvPr/>
        </p:nvPicPr>
        <p:blipFill>
          <a:blip r:embed="rId3"/>
          <a:stretch>
            <a:fillRect/>
          </a:stretch>
        </p:blipFill>
        <p:spPr>
          <a:xfrm>
            <a:off x="1584128" y="288981"/>
            <a:ext cx="9023743" cy="6280037"/>
          </a:xfrm>
          <a:prstGeom prst="rect">
            <a:avLst/>
          </a:prstGeom>
          <a:ln w="28575">
            <a:solidFill>
              <a:schemeClr val="accent6">
                <a:lumMod val="75000"/>
              </a:schemeClr>
            </a:solidFill>
          </a:ln>
        </p:spPr>
      </p:pic>
    </p:spTree>
    <p:extLst>
      <p:ext uri="{BB962C8B-B14F-4D97-AF65-F5344CB8AC3E}">
        <p14:creationId xmlns:p14="http://schemas.microsoft.com/office/powerpoint/2010/main" val="330407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1ABB9-4217-D28B-B9CA-129837026124}"/>
              </a:ext>
            </a:extLst>
          </p:cNvPr>
          <p:cNvSpPr>
            <a:spLocks noGrp="1"/>
          </p:cNvSpPr>
          <p:nvPr>
            <p:ph type="title"/>
          </p:nvPr>
        </p:nvSpPr>
        <p:spPr/>
        <p:txBody>
          <a:bodyPr>
            <a:normAutofit/>
          </a:bodyPr>
          <a:lstStyle/>
          <a:p>
            <a:r>
              <a:rPr lang="en-US" sz="5400" dirty="0"/>
              <a:t>Replication</a:t>
            </a:r>
          </a:p>
        </p:txBody>
      </p:sp>
      <p:sp>
        <p:nvSpPr>
          <p:cNvPr id="3" name="Content Placeholder 2">
            <a:extLst>
              <a:ext uri="{FF2B5EF4-FFF2-40B4-BE49-F238E27FC236}">
                <a16:creationId xmlns:a16="http://schemas.microsoft.com/office/drawing/2014/main" id="{2D359185-0BFC-C928-F4AC-320441FFFABA}"/>
              </a:ext>
            </a:extLst>
          </p:cNvPr>
          <p:cNvSpPr>
            <a:spLocks noGrp="1"/>
          </p:cNvSpPr>
          <p:nvPr>
            <p:ph idx="1"/>
          </p:nvPr>
        </p:nvSpPr>
        <p:spPr>
          <a:xfrm>
            <a:off x="838200" y="1825625"/>
            <a:ext cx="4164106" cy="4351338"/>
          </a:xfrm>
        </p:spPr>
        <p:txBody>
          <a:bodyPr/>
          <a:lstStyle/>
          <a:p>
            <a:pPr lvl="0" fontAlgn="base"/>
            <a:r>
              <a:rPr lang="en-US" sz="3600" dirty="0"/>
              <a:t>Measurements vary</a:t>
            </a:r>
          </a:p>
          <a:p>
            <a:pPr lvl="0" fontAlgn="base"/>
            <a:r>
              <a:rPr lang="en-US" sz="3600" dirty="0"/>
              <a:t>Estimate central tendency</a:t>
            </a:r>
          </a:p>
          <a:p>
            <a:pPr lvl="0" fontAlgn="base"/>
            <a:r>
              <a:rPr lang="en-US" sz="3600" dirty="0"/>
              <a:t>Error in estimate</a:t>
            </a:r>
          </a:p>
          <a:p>
            <a:endParaRPr lang="en-US" dirty="0"/>
          </a:p>
        </p:txBody>
      </p:sp>
      <p:pic>
        <p:nvPicPr>
          <p:cNvPr id="4" name="Picture 3">
            <a:extLst>
              <a:ext uri="{FF2B5EF4-FFF2-40B4-BE49-F238E27FC236}">
                <a16:creationId xmlns:a16="http://schemas.microsoft.com/office/drawing/2014/main" id="{FABF49A9-0340-2D4D-FBE6-D02B123282C5}"/>
              </a:ext>
            </a:extLst>
          </p:cNvPr>
          <p:cNvPicPr>
            <a:picLocks noChangeAspect="1"/>
          </p:cNvPicPr>
          <p:nvPr/>
        </p:nvPicPr>
        <p:blipFill>
          <a:blip r:embed="rId3"/>
          <a:stretch>
            <a:fillRect/>
          </a:stretch>
        </p:blipFill>
        <p:spPr>
          <a:xfrm>
            <a:off x="5783356" y="1522132"/>
            <a:ext cx="6057109" cy="3813735"/>
          </a:xfrm>
          <a:prstGeom prst="rect">
            <a:avLst/>
          </a:prstGeom>
          <a:ln w="28575">
            <a:solidFill>
              <a:schemeClr val="accent6">
                <a:lumMod val="75000"/>
              </a:schemeClr>
            </a:solidFill>
          </a:ln>
        </p:spPr>
      </p:pic>
    </p:spTree>
    <p:extLst>
      <p:ext uri="{BB962C8B-B14F-4D97-AF65-F5344CB8AC3E}">
        <p14:creationId xmlns:p14="http://schemas.microsoft.com/office/powerpoint/2010/main" val="2795312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413CF-22E5-D012-6A76-BACCF0C9C167}"/>
              </a:ext>
            </a:extLst>
          </p:cNvPr>
          <p:cNvSpPr>
            <a:spLocks noGrp="1"/>
          </p:cNvSpPr>
          <p:nvPr>
            <p:ph type="title"/>
          </p:nvPr>
        </p:nvSpPr>
        <p:spPr>
          <a:xfrm>
            <a:off x="726140" y="351678"/>
            <a:ext cx="10739719" cy="1325563"/>
          </a:xfrm>
        </p:spPr>
        <p:txBody>
          <a:bodyPr/>
          <a:lstStyle/>
          <a:p>
            <a:r>
              <a:rPr lang="en-US" dirty="0"/>
              <a:t>How do you know if you have enough samples?</a:t>
            </a:r>
          </a:p>
        </p:txBody>
      </p:sp>
      <p:sp>
        <p:nvSpPr>
          <p:cNvPr id="3" name="Content Placeholder 2">
            <a:extLst>
              <a:ext uri="{FF2B5EF4-FFF2-40B4-BE49-F238E27FC236}">
                <a16:creationId xmlns:a16="http://schemas.microsoft.com/office/drawing/2014/main" id="{B01BD301-7108-40CA-A545-1F8465333C2C}"/>
              </a:ext>
            </a:extLst>
          </p:cNvPr>
          <p:cNvSpPr>
            <a:spLocks noGrp="1"/>
          </p:cNvSpPr>
          <p:nvPr>
            <p:ph idx="1"/>
          </p:nvPr>
        </p:nvSpPr>
        <p:spPr>
          <a:xfrm>
            <a:off x="838200" y="1825625"/>
            <a:ext cx="4285343" cy="4351338"/>
          </a:xfrm>
        </p:spPr>
        <p:txBody>
          <a:bodyPr>
            <a:normAutofit/>
          </a:bodyPr>
          <a:lstStyle/>
          <a:p>
            <a:pPr marL="0" indent="0">
              <a:buNone/>
            </a:pPr>
            <a:r>
              <a:rPr lang="en-US" sz="3600" dirty="0"/>
              <a:t>Ex. Species area curve</a:t>
            </a:r>
          </a:p>
          <a:p>
            <a:r>
              <a:rPr lang="en-US" dirty="0"/>
              <a:t>Cumulative number of species plotted against area</a:t>
            </a:r>
          </a:p>
          <a:p>
            <a:r>
              <a:rPr lang="en-US" dirty="0"/>
              <a:t>Plateaus – larger amounts of effort yield fewer and fewer new species</a:t>
            </a:r>
          </a:p>
        </p:txBody>
      </p:sp>
      <p:pic>
        <p:nvPicPr>
          <p:cNvPr id="8" name="Picture 7">
            <a:extLst>
              <a:ext uri="{FF2B5EF4-FFF2-40B4-BE49-F238E27FC236}">
                <a16:creationId xmlns:a16="http://schemas.microsoft.com/office/drawing/2014/main" id="{4D0A3577-E84C-2A8B-8020-C73F7AEA3D53}"/>
              </a:ext>
            </a:extLst>
          </p:cNvPr>
          <p:cNvPicPr>
            <a:picLocks noChangeAspect="1"/>
          </p:cNvPicPr>
          <p:nvPr/>
        </p:nvPicPr>
        <p:blipFill>
          <a:blip r:embed="rId3"/>
          <a:srcRect b="50000"/>
          <a:stretch>
            <a:fillRect/>
          </a:stretch>
        </p:blipFill>
        <p:spPr>
          <a:xfrm>
            <a:off x="5872843" y="1677241"/>
            <a:ext cx="5751116" cy="3910759"/>
          </a:xfrm>
          <a:prstGeom prst="rect">
            <a:avLst/>
          </a:prstGeom>
          <a:ln w="28575">
            <a:solidFill>
              <a:schemeClr val="accent6">
                <a:lumMod val="75000"/>
              </a:schemeClr>
            </a:solidFill>
          </a:ln>
        </p:spPr>
      </p:pic>
    </p:spTree>
    <p:extLst>
      <p:ext uri="{BB962C8B-B14F-4D97-AF65-F5344CB8AC3E}">
        <p14:creationId xmlns:p14="http://schemas.microsoft.com/office/powerpoint/2010/main" val="1260253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165D8-DA0D-EA9F-3FA3-76B220616911}"/>
              </a:ext>
            </a:extLst>
          </p:cNvPr>
          <p:cNvSpPr>
            <a:spLocks noGrp="1"/>
          </p:cNvSpPr>
          <p:nvPr>
            <p:ph type="title"/>
          </p:nvPr>
        </p:nvSpPr>
        <p:spPr/>
        <p:txBody>
          <a:bodyPr>
            <a:normAutofit/>
          </a:bodyPr>
          <a:lstStyle/>
          <a:p>
            <a:r>
              <a:rPr lang="en-US" sz="5400" dirty="0"/>
              <a:t>Accuracy vs. Precision</a:t>
            </a:r>
          </a:p>
        </p:txBody>
      </p:sp>
      <p:sp>
        <p:nvSpPr>
          <p:cNvPr id="3" name="Content Placeholder 2">
            <a:extLst>
              <a:ext uri="{FF2B5EF4-FFF2-40B4-BE49-F238E27FC236}">
                <a16:creationId xmlns:a16="http://schemas.microsoft.com/office/drawing/2014/main" id="{0C0685F0-6222-9D31-7D97-CD9BA65288A8}"/>
              </a:ext>
            </a:extLst>
          </p:cNvPr>
          <p:cNvSpPr>
            <a:spLocks noGrp="1"/>
          </p:cNvSpPr>
          <p:nvPr>
            <p:ph idx="1"/>
          </p:nvPr>
        </p:nvSpPr>
        <p:spPr>
          <a:xfrm>
            <a:off x="838200" y="1825625"/>
            <a:ext cx="5562600" cy="4351338"/>
          </a:xfrm>
        </p:spPr>
        <p:txBody>
          <a:bodyPr/>
          <a:lstStyle/>
          <a:p>
            <a:r>
              <a:rPr lang="en-US" sz="3600" dirty="0"/>
              <a:t>Accuracy: closeness of a measured value (estimate) to its true value (parameter)</a:t>
            </a:r>
          </a:p>
          <a:p>
            <a:r>
              <a:rPr lang="en-US" sz="3600" dirty="0"/>
              <a:t>Precision: closeness of repeated measurements of the same quantity to each other</a:t>
            </a:r>
          </a:p>
          <a:p>
            <a:pPr marL="0" indent="0">
              <a:buNone/>
            </a:pPr>
            <a:endParaRPr lang="en-US" dirty="0"/>
          </a:p>
        </p:txBody>
      </p:sp>
      <p:pic>
        <p:nvPicPr>
          <p:cNvPr id="5" name="Picture 4">
            <a:extLst>
              <a:ext uri="{FF2B5EF4-FFF2-40B4-BE49-F238E27FC236}">
                <a16:creationId xmlns:a16="http://schemas.microsoft.com/office/drawing/2014/main" id="{39B73223-2846-26CD-CD1C-7CE7D8B1C9EB}"/>
              </a:ext>
            </a:extLst>
          </p:cNvPr>
          <p:cNvPicPr>
            <a:picLocks noChangeAspect="1"/>
          </p:cNvPicPr>
          <p:nvPr/>
        </p:nvPicPr>
        <p:blipFill>
          <a:blip r:embed="rId3"/>
          <a:stretch>
            <a:fillRect/>
          </a:stretch>
        </p:blipFill>
        <p:spPr>
          <a:xfrm>
            <a:off x="6868687" y="1953942"/>
            <a:ext cx="4610100" cy="3708400"/>
          </a:xfrm>
          <a:prstGeom prst="rect">
            <a:avLst/>
          </a:prstGeom>
          <a:ln w="28575">
            <a:solidFill>
              <a:schemeClr val="accent6">
                <a:lumMod val="75000"/>
              </a:schemeClr>
            </a:solidFill>
          </a:ln>
        </p:spPr>
      </p:pic>
    </p:spTree>
    <p:extLst>
      <p:ext uri="{BB962C8B-B14F-4D97-AF65-F5344CB8AC3E}">
        <p14:creationId xmlns:p14="http://schemas.microsoft.com/office/powerpoint/2010/main" val="3762553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BF3AB-ACEE-3150-4E04-C18FC673B15C}"/>
              </a:ext>
            </a:extLst>
          </p:cNvPr>
          <p:cNvSpPr>
            <a:spLocks noGrp="1"/>
          </p:cNvSpPr>
          <p:nvPr>
            <p:ph type="title"/>
          </p:nvPr>
        </p:nvSpPr>
        <p:spPr/>
        <p:txBody>
          <a:bodyPr>
            <a:normAutofit/>
          </a:bodyPr>
          <a:lstStyle/>
          <a:p>
            <a:r>
              <a:rPr lang="en-US" sz="5400" dirty="0"/>
              <a:t>Accurate, Precise, Both, or Neither?</a:t>
            </a:r>
          </a:p>
        </p:txBody>
      </p:sp>
      <p:sp>
        <p:nvSpPr>
          <p:cNvPr id="3" name="Content Placeholder 2">
            <a:extLst>
              <a:ext uri="{FF2B5EF4-FFF2-40B4-BE49-F238E27FC236}">
                <a16:creationId xmlns:a16="http://schemas.microsoft.com/office/drawing/2014/main" id="{7ADC8630-4071-899E-B183-01D6C1F048E6}"/>
              </a:ext>
            </a:extLst>
          </p:cNvPr>
          <p:cNvSpPr>
            <a:spLocks noGrp="1"/>
          </p:cNvSpPr>
          <p:nvPr>
            <p:ph idx="1"/>
          </p:nvPr>
        </p:nvSpPr>
        <p:spPr/>
        <p:txBody>
          <a:bodyPr>
            <a:normAutofit fontScale="92500" lnSpcReduction="10000"/>
          </a:bodyPr>
          <a:lstStyle/>
          <a:p>
            <a:pPr marL="0" indent="0">
              <a:buNone/>
            </a:pPr>
            <a:r>
              <a:rPr lang="en-US" sz="3600" dirty="0"/>
              <a:t>I want to buy a scale for my lab, and I have 4 options. I’m testing them by weighing a 20 gram weight five times. </a:t>
            </a:r>
          </a:p>
          <a:p>
            <a:pPr marL="514350" indent="-514350">
              <a:buFont typeface="+mj-lt"/>
              <a:buAutoNum type="arabicPeriod"/>
            </a:pPr>
            <a:r>
              <a:rPr lang="en-US" sz="3600" dirty="0"/>
              <a:t>Gave readings of 24, 24.1, 24.2, 24, and 23.9. </a:t>
            </a:r>
          </a:p>
          <a:p>
            <a:pPr marL="514350" indent="-514350">
              <a:buFont typeface="+mj-lt"/>
              <a:buAutoNum type="arabicPeriod"/>
            </a:pPr>
            <a:r>
              <a:rPr lang="en-US" sz="3600" dirty="0"/>
              <a:t>Gave readings of 10, 15, 9.2, 12, and 3. </a:t>
            </a:r>
          </a:p>
          <a:p>
            <a:pPr marL="514350" indent="-514350">
              <a:buFont typeface="+mj-lt"/>
              <a:buAutoNum type="arabicPeriod"/>
            </a:pPr>
            <a:r>
              <a:rPr lang="en-US" sz="3600" dirty="0"/>
              <a:t>Gave readings of 20.1, 20, 20.1, 19.9, and 20. </a:t>
            </a:r>
          </a:p>
          <a:p>
            <a:pPr marL="514350" indent="-514350">
              <a:buFont typeface="+mj-lt"/>
              <a:buAutoNum type="arabicPeriod"/>
            </a:pPr>
            <a:r>
              <a:rPr lang="en-US" sz="3600" dirty="0"/>
              <a:t>Gave readings of 19, 20.5, 21, 18.8, and 20.5. </a:t>
            </a:r>
          </a:p>
          <a:p>
            <a:pPr marL="0" indent="0">
              <a:buNone/>
            </a:pPr>
            <a:endParaRPr lang="en-US" sz="3600" dirty="0"/>
          </a:p>
          <a:p>
            <a:pPr marL="0" indent="0">
              <a:buNone/>
            </a:pPr>
            <a:r>
              <a:rPr lang="en-US" sz="3600" dirty="0"/>
              <a:t>Which scale should I buy? </a:t>
            </a:r>
          </a:p>
          <a:p>
            <a:pPr marL="0" indent="0">
              <a:buNone/>
            </a:pPr>
            <a:endParaRPr lang="en-US" dirty="0"/>
          </a:p>
        </p:txBody>
      </p:sp>
    </p:spTree>
    <p:extLst>
      <p:ext uri="{BB962C8B-B14F-4D97-AF65-F5344CB8AC3E}">
        <p14:creationId xmlns:p14="http://schemas.microsoft.com/office/powerpoint/2010/main" val="570841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55C02-0BE5-0DCB-1EBB-78F37F628BA1}"/>
              </a:ext>
            </a:extLst>
          </p:cNvPr>
          <p:cNvSpPr>
            <a:spLocks noGrp="1"/>
          </p:cNvSpPr>
          <p:nvPr>
            <p:ph type="title"/>
          </p:nvPr>
        </p:nvSpPr>
        <p:spPr/>
        <p:txBody>
          <a:bodyPr>
            <a:normAutofit/>
          </a:bodyPr>
          <a:lstStyle/>
          <a:p>
            <a:r>
              <a:rPr lang="en-US" sz="5400" dirty="0"/>
              <a:t>Statistical Analysis </a:t>
            </a:r>
          </a:p>
        </p:txBody>
      </p:sp>
      <p:sp>
        <p:nvSpPr>
          <p:cNvPr id="3" name="Content Placeholder 2">
            <a:extLst>
              <a:ext uri="{FF2B5EF4-FFF2-40B4-BE49-F238E27FC236}">
                <a16:creationId xmlns:a16="http://schemas.microsoft.com/office/drawing/2014/main" id="{B01D0AF7-5214-5F7E-FBCE-2A359AD90230}"/>
              </a:ext>
            </a:extLst>
          </p:cNvPr>
          <p:cNvSpPr>
            <a:spLocks noGrp="1"/>
          </p:cNvSpPr>
          <p:nvPr>
            <p:ph idx="1"/>
          </p:nvPr>
        </p:nvSpPr>
        <p:spPr/>
        <p:txBody>
          <a:bodyPr>
            <a:noAutofit/>
          </a:bodyPr>
          <a:lstStyle/>
          <a:p>
            <a:pPr marL="0" indent="0">
              <a:buNone/>
            </a:pPr>
            <a:r>
              <a:rPr lang="en-US" sz="3200" dirty="0"/>
              <a:t>1. Collect data</a:t>
            </a:r>
          </a:p>
          <a:p>
            <a:pPr marL="0" indent="0">
              <a:buNone/>
            </a:pPr>
            <a:r>
              <a:rPr lang="en-US" sz="3200" dirty="0"/>
              <a:t>2. Does it look like there is a pattern?</a:t>
            </a:r>
          </a:p>
          <a:p>
            <a:pPr marL="0" indent="0">
              <a:buNone/>
            </a:pPr>
            <a:r>
              <a:rPr lang="en-US" sz="3200" dirty="0"/>
              <a:t>3. Could the ‘pattern’ be due to just random noise? Compare your data to the pattern expected if there’s nothing going on</a:t>
            </a:r>
          </a:p>
          <a:p>
            <a:pPr marL="0" indent="0">
              <a:buNone/>
            </a:pPr>
            <a:r>
              <a:rPr lang="en-US" sz="3200" dirty="0"/>
              <a:t>4. Draw conclusions, ask more questions.</a:t>
            </a:r>
          </a:p>
          <a:p>
            <a:pPr marL="0" indent="0">
              <a:buNone/>
            </a:pPr>
            <a:r>
              <a:rPr lang="en-US" sz="3200" b="1" dirty="0"/>
              <a:t>Hypothesis testing </a:t>
            </a:r>
            <a:r>
              <a:rPr lang="en-US" sz="3200" dirty="0"/>
              <a:t>compares data to what we would expect to see if a specific null hypothesis were true. </a:t>
            </a:r>
          </a:p>
        </p:txBody>
      </p:sp>
      <p:sp>
        <p:nvSpPr>
          <p:cNvPr id="4" name="TextBox 3">
            <a:extLst>
              <a:ext uri="{FF2B5EF4-FFF2-40B4-BE49-F238E27FC236}">
                <a16:creationId xmlns:a16="http://schemas.microsoft.com/office/drawing/2014/main" id="{213CFB0E-F863-5536-6CC2-522CC55076E1}"/>
              </a:ext>
            </a:extLst>
          </p:cNvPr>
          <p:cNvSpPr txBox="1"/>
          <p:nvPr/>
        </p:nvSpPr>
        <p:spPr>
          <a:xfrm>
            <a:off x="9417848" y="1825625"/>
            <a:ext cx="2739789" cy="461665"/>
          </a:xfrm>
          <a:prstGeom prst="rect">
            <a:avLst/>
          </a:prstGeom>
          <a:noFill/>
        </p:spPr>
        <p:txBody>
          <a:bodyPr wrap="none" rtlCol="0">
            <a:spAutoFit/>
          </a:bodyPr>
          <a:lstStyle/>
          <a:p>
            <a:r>
              <a:rPr lang="en-US" sz="2400" dirty="0"/>
              <a:t>Hypothesis testing!</a:t>
            </a:r>
          </a:p>
        </p:txBody>
      </p:sp>
      <p:sp>
        <p:nvSpPr>
          <p:cNvPr id="5" name="Bent Arrow 4">
            <a:extLst>
              <a:ext uri="{FF2B5EF4-FFF2-40B4-BE49-F238E27FC236}">
                <a16:creationId xmlns:a16="http://schemas.microsoft.com/office/drawing/2014/main" id="{8F5666CB-CE35-D4BB-BE38-2C0BA0126EC2}"/>
              </a:ext>
            </a:extLst>
          </p:cNvPr>
          <p:cNvSpPr/>
          <p:nvPr/>
        </p:nvSpPr>
        <p:spPr>
          <a:xfrm rot="10800000">
            <a:off x="10225314" y="2287290"/>
            <a:ext cx="562428" cy="1524000"/>
          </a:xfrm>
          <a:prstGeom prst="bent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003955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94AF4-C3A5-6A6B-29B2-C0DE794A3482}"/>
              </a:ext>
            </a:extLst>
          </p:cNvPr>
          <p:cNvSpPr>
            <a:spLocks noGrp="1"/>
          </p:cNvSpPr>
          <p:nvPr>
            <p:ph type="title"/>
          </p:nvPr>
        </p:nvSpPr>
        <p:spPr/>
        <p:txBody>
          <a:bodyPr>
            <a:normAutofit/>
          </a:bodyPr>
          <a:lstStyle/>
          <a:p>
            <a:r>
              <a:rPr lang="en-US" sz="5400" dirty="0"/>
              <a:t>Statistical Hypotheses</a:t>
            </a:r>
          </a:p>
        </p:txBody>
      </p:sp>
      <p:sp>
        <p:nvSpPr>
          <p:cNvPr id="3" name="Content Placeholder 2">
            <a:extLst>
              <a:ext uri="{FF2B5EF4-FFF2-40B4-BE49-F238E27FC236}">
                <a16:creationId xmlns:a16="http://schemas.microsoft.com/office/drawing/2014/main" id="{D2B19A8E-DD9F-BA4A-4A42-494E1E2A116E}"/>
              </a:ext>
            </a:extLst>
          </p:cNvPr>
          <p:cNvSpPr>
            <a:spLocks noGrp="1"/>
          </p:cNvSpPr>
          <p:nvPr>
            <p:ph idx="1"/>
          </p:nvPr>
        </p:nvSpPr>
        <p:spPr/>
        <p:txBody>
          <a:bodyPr/>
          <a:lstStyle/>
          <a:p>
            <a:pPr lvl="1" fontAlgn="base"/>
            <a:r>
              <a:rPr lang="en-US" sz="3600" i="1" u="sng" dirty="0"/>
              <a:t>Null hypothesis: </a:t>
            </a:r>
            <a:r>
              <a:rPr lang="en-US" sz="3600" dirty="0"/>
              <a:t>a specific claim about the value of a population parameter. </a:t>
            </a:r>
            <a:endParaRPr lang="en-US" sz="3600" i="1" dirty="0"/>
          </a:p>
          <a:p>
            <a:pPr lvl="2" fontAlgn="base"/>
            <a:r>
              <a:rPr lang="en-US" sz="2800" dirty="0"/>
              <a:t>No pattern - No difference between groups, no relationship between variables</a:t>
            </a:r>
          </a:p>
          <a:p>
            <a:pPr lvl="1" fontAlgn="base"/>
            <a:r>
              <a:rPr lang="en-US" sz="3600" i="1" u="sng" dirty="0"/>
              <a:t>Alternative Hypothesis: </a:t>
            </a:r>
            <a:r>
              <a:rPr lang="en-US" sz="3600" dirty="0"/>
              <a:t>usually represents all other feasible parameter values except that stated in the null hypothesis </a:t>
            </a:r>
            <a:endParaRPr lang="en-US" sz="3600" i="1" dirty="0"/>
          </a:p>
          <a:p>
            <a:pPr lvl="2" fontAlgn="base"/>
            <a:r>
              <a:rPr lang="en-US" sz="2800" dirty="0"/>
              <a:t>Pattern exists - Difference exists, relationship evident</a:t>
            </a:r>
          </a:p>
          <a:p>
            <a:pPr marL="0" indent="0">
              <a:buNone/>
            </a:pPr>
            <a:endParaRPr lang="en-US" dirty="0"/>
          </a:p>
        </p:txBody>
      </p:sp>
    </p:spTree>
    <p:extLst>
      <p:ext uri="{BB962C8B-B14F-4D97-AF65-F5344CB8AC3E}">
        <p14:creationId xmlns:p14="http://schemas.microsoft.com/office/powerpoint/2010/main" val="1696315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F9137-197B-ED81-4C75-D6FD4408D1C6}"/>
              </a:ext>
            </a:extLst>
          </p:cNvPr>
          <p:cNvSpPr>
            <a:spLocks noGrp="1"/>
          </p:cNvSpPr>
          <p:nvPr>
            <p:ph type="title"/>
          </p:nvPr>
        </p:nvSpPr>
        <p:spPr/>
        <p:txBody>
          <a:bodyPr>
            <a:normAutofit/>
          </a:bodyPr>
          <a:lstStyle/>
          <a:p>
            <a:r>
              <a:rPr lang="en-US" sz="5400" dirty="0"/>
              <a:t>Hypotheses: Example</a:t>
            </a:r>
          </a:p>
        </p:txBody>
      </p:sp>
      <p:sp>
        <p:nvSpPr>
          <p:cNvPr id="3" name="Content Placeholder 2">
            <a:extLst>
              <a:ext uri="{FF2B5EF4-FFF2-40B4-BE49-F238E27FC236}">
                <a16:creationId xmlns:a16="http://schemas.microsoft.com/office/drawing/2014/main" id="{C0280FD4-AA66-B2E0-63B9-6656A304248F}"/>
              </a:ext>
            </a:extLst>
          </p:cNvPr>
          <p:cNvSpPr>
            <a:spLocks noGrp="1"/>
          </p:cNvSpPr>
          <p:nvPr>
            <p:ph idx="1"/>
          </p:nvPr>
        </p:nvSpPr>
        <p:spPr>
          <a:xfrm>
            <a:off x="838200" y="1825625"/>
            <a:ext cx="5257800" cy="4351338"/>
          </a:xfrm>
        </p:spPr>
        <p:txBody>
          <a:bodyPr/>
          <a:lstStyle/>
          <a:p>
            <a:pPr marL="0" indent="0">
              <a:buNone/>
            </a:pPr>
            <a:r>
              <a:rPr lang="en-US" dirty="0"/>
              <a:t>I want to study the impact that drift net fishing has on dolphins. I’m taking a look at the density of dolphins in places that have drift nets, and places that don’t. </a:t>
            </a:r>
          </a:p>
          <a:p>
            <a:pPr marL="0" indent="0">
              <a:buNone/>
            </a:pPr>
            <a:r>
              <a:rPr lang="en-US" dirty="0"/>
              <a:t>What is a null hypothesis I could state about dolphin density?</a:t>
            </a:r>
          </a:p>
          <a:p>
            <a:pPr marL="0" indent="0">
              <a:buNone/>
            </a:pPr>
            <a:r>
              <a:rPr lang="en-US" dirty="0"/>
              <a:t>What is an alternative hypothesis I could state about dolphin density?</a:t>
            </a:r>
          </a:p>
        </p:txBody>
      </p:sp>
      <p:pic>
        <p:nvPicPr>
          <p:cNvPr id="5" name="Picture 4">
            <a:extLst>
              <a:ext uri="{FF2B5EF4-FFF2-40B4-BE49-F238E27FC236}">
                <a16:creationId xmlns:a16="http://schemas.microsoft.com/office/drawing/2014/main" id="{F9548D5C-845D-4A86-B1F2-A6AC044DEB00}"/>
              </a:ext>
            </a:extLst>
          </p:cNvPr>
          <p:cNvPicPr>
            <a:picLocks noChangeAspect="1"/>
          </p:cNvPicPr>
          <p:nvPr/>
        </p:nvPicPr>
        <p:blipFill>
          <a:blip r:embed="rId3"/>
          <a:stretch>
            <a:fillRect/>
          </a:stretch>
        </p:blipFill>
        <p:spPr>
          <a:xfrm>
            <a:off x="6453842" y="1999797"/>
            <a:ext cx="5505372" cy="3656853"/>
          </a:xfrm>
          <a:prstGeom prst="rect">
            <a:avLst/>
          </a:prstGeom>
          <a:ln w="28575">
            <a:solidFill>
              <a:schemeClr val="accent6">
                <a:lumMod val="75000"/>
              </a:schemeClr>
            </a:solidFill>
          </a:ln>
        </p:spPr>
      </p:pic>
    </p:spTree>
    <p:extLst>
      <p:ext uri="{BB962C8B-B14F-4D97-AF65-F5344CB8AC3E}">
        <p14:creationId xmlns:p14="http://schemas.microsoft.com/office/powerpoint/2010/main" val="932966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0F3CF-FC41-E917-B585-817EFD902702}"/>
              </a:ext>
            </a:extLst>
          </p:cNvPr>
          <p:cNvSpPr>
            <a:spLocks noGrp="1"/>
          </p:cNvSpPr>
          <p:nvPr>
            <p:ph type="title"/>
          </p:nvPr>
        </p:nvSpPr>
        <p:spPr/>
        <p:txBody>
          <a:bodyPr>
            <a:normAutofit/>
          </a:bodyPr>
          <a:lstStyle/>
          <a:p>
            <a:r>
              <a:rPr lang="en-US" sz="5400" dirty="0"/>
              <a:t>Hypotheses: Another Example</a:t>
            </a:r>
          </a:p>
        </p:txBody>
      </p:sp>
      <p:sp>
        <p:nvSpPr>
          <p:cNvPr id="3" name="Content Placeholder 2">
            <a:extLst>
              <a:ext uri="{FF2B5EF4-FFF2-40B4-BE49-F238E27FC236}">
                <a16:creationId xmlns:a16="http://schemas.microsoft.com/office/drawing/2014/main" id="{9B4D1CAD-A432-AFC8-ED05-C6900667B5C6}"/>
              </a:ext>
            </a:extLst>
          </p:cNvPr>
          <p:cNvSpPr>
            <a:spLocks noGrp="1"/>
          </p:cNvSpPr>
          <p:nvPr>
            <p:ph idx="1"/>
          </p:nvPr>
        </p:nvSpPr>
        <p:spPr/>
        <p:txBody>
          <a:bodyPr>
            <a:normAutofit/>
          </a:bodyPr>
          <a:lstStyle/>
          <a:p>
            <a:pPr marL="0" indent="0">
              <a:buNone/>
            </a:pPr>
            <a:r>
              <a:rPr lang="en-US" sz="3600" dirty="0"/>
              <a:t>A null hypothesis can also represent an expectation from theory or from prior knowledge. </a:t>
            </a:r>
          </a:p>
          <a:p>
            <a:r>
              <a:rPr lang="en-US" sz="3600" dirty="0"/>
              <a:t>H</a:t>
            </a:r>
            <a:r>
              <a:rPr lang="en-US" sz="3600" baseline="-25000" dirty="0"/>
              <a:t>0</a:t>
            </a:r>
            <a:r>
              <a:rPr lang="en-US" sz="3600" dirty="0"/>
              <a:t>: The mean body temperature of healthy humans </a:t>
            </a:r>
            <a:r>
              <a:rPr lang="en-US" sz="3600" i="1" dirty="0"/>
              <a:t>is 98.6°F</a:t>
            </a:r>
            <a:r>
              <a:rPr lang="en-US" sz="3600" dirty="0"/>
              <a:t>. </a:t>
            </a:r>
          </a:p>
          <a:p>
            <a:r>
              <a:rPr lang="en-US" sz="3600" dirty="0"/>
              <a:t>H</a:t>
            </a:r>
            <a:r>
              <a:rPr lang="en-US" sz="3600" baseline="-25000" dirty="0"/>
              <a:t>A</a:t>
            </a:r>
            <a:r>
              <a:rPr lang="en-US" sz="3600" dirty="0"/>
              <a:t>: The mean body temperature of healthy humans </a:t>
            </a:r>
            <a:r>
              <a:rPr lang="en-US" sz="3600" i="1" dirty="0"/>
              <a:t>is not 98.6°F. </a:t>
            </a:r>
            <a:endParaRPr lang="en-US" sz="3600" dirty="0"/>
          </a:p>
        </p:txBody>
      </p:sp>
    </p:spTree>
    <p:extLst>
      <p:ext uri="{BB962C8B-B14F-4D97-AF65-F5344CB8AC3E}">
        <p14:creationId xmlns:p14="http://schemas.microsoft.com/office/powerpoint/2010/main" val="1228518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A6795-3EC6-E037-1E49-246BAC82ADA1}"/>
              </a:ext>
            </a:extLst>
          </p:cNvPr>
          <p:cNvSpPr>
            <a:spLocks noGrp="1"/>
          </p:cNvSpPr>
          <p:nvPr>
            <p:ph type="title"/>
          </p:nvPr>
        </p:nvSpPr>
        <p:spPr/>
        <p:txBody>
          <a:bodyPr>
            <a:normAutofit/>
          </a:bodyPr>
          <a:lstStyle/>
          <a:p>
            <a:r>
              <a:rPr lang="en-US" sz="5400" dirty="0"/>
              <a:t>The P-Value</a:t>
            </a:r>
          </a:p>
        </p:txBody>
      </p:sp>
      <p:sp>
        <p:nvSpPr>
          <p:cNvPr id="3" name="Content Placeholder 2">
            <a:extLst>
              <a:ext uri="{FF2B5EF4-FFF2-40B4-BE49-F238E27FC236}">
                <a16:creationId xmlns:a16="http://schemas.microsoft.com/office/drawing/2014/main" id="{921F6E26-0525-E5CC-6D86-9E31AD05831C}"/>
              </a:ext>
            </a:extLst>
          </p:cNvPr>
          <p:cNvSpPr>
            <a:spLocks noGrp="1"/>
          </p:cNvSpPr>
          <p:nvPr>
            <p:ph idx="1"/>
          </p:nvPr>
        </p:nvSpPr>
        <p:spPr/>
        <p:txBody>
          <a:bodyPr>
            <a:normAutofit/>
          </a:bodyPr>
          <a:lstStyle/>
          <a:p>
            <a:pPr marL="0" indent="0">
              <a:buNone/>
            </a:pPr>
            <a:r>
              <a:rPr lang="en-US" dirty="0"/>
              <a:t>The P-value is the </a:t>
            </a:r>
            <a:r>
              <a:rPr lang="en-US" b="1" u="sng" dirty="0"/>
              <a:t>p</a:t>
            </a:r>
            <a:r>
              <a:rPr lang="en-US" dirty="0"/>
              <a:t>robability of obtaining the data (or data showing as great or greater difference from the null hypothesis) if the null hypothesis were true. 0 ≤ P-value ≤ 1</a:t>
            </a:r>
          </a:p>
          <a:p>
            <a:r>
              <a:rPr lang="en-US" dirty="0"/>
              <a:t>Remember, in the world of the null hypothesis, everything is the same, treatments don’t have effects and there are no relationships between variables</a:t>
            </a:r>
          </a:p>
          <a:p>
            <a:pPr marL="0" indent="0">
              <a:buNone/>
            </a:pPr>
            <a:r>
              <a:rPr lang="en-US" dirty="0"/>
              <a:t>So if there’s a high probability of getting your result, you probably live in the null world—it’s not that weird or surprising for that world.</a:t>
            </a:r>
          </a:p>
          <a:p>
            <a:pPr marL="0" indent="0">
              <a:buNone/>
            </a:pPr>
            <a:r>
              <a:rPr lang="en-US" dirty="0"/>
              <a:t>But if your result is very unlikely in the null world (low probability of that result), then we can reject the null hypothesis</a:t>
            </a:r>
          </a:p>
          <a:p>
            <a:endParaRPr lang="en-US" dirty="0"/>
          </a:p>
        </p:txBody>
      </p:sp>
    </p:spTree>
    <p:extLst>
      <p:ext uri="{BB962C8B-B14F-4D97-AF65-F5344CB8AC3E}">
        <p14:creationId xmlns:p14="http://schemas.microsoft.com/office/powerpoint/2010/main" val="2309381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46668-CC07-64E1-D6AF-EB1709E51DD6}"/>
              </a:ext>
            </a:extLst>
          </p:cNvPr>
          <p:cNvSpPr>
            <a:spLocks noGrp="1"/>
          </p:cNvSpPr>
          <p:nvPr>
            <p:ph type="title"/>
          </p:nvPr>
        </p:nvSpPr>
        <p:spPr/>
        <p:txBody>
          <a:bodyPr>
            <a:normAutofit/>
          </a:bodyPr>
          <a:lstStyle/>
          <a:p>
            <a:r>
              <a:rPr lang="en-US" sz="5400" dirty="0"/>
              <a:t>Statistical Significance and P-Values</a:t>
            </a:r>
          </a:p>
        </p:txBody>
      </p:sp>
      <p:sp>
        <p:nvSpPr>
          <p:cNvPr id="3" name="Content Placeholder 2">
            <a:extLst>
              <a:ext uri="{FF2B5EF4-FFF2-40B4-BE49-F238E27FC236}">
                <a16:creationId xmlns:a16="http://schemas.microsoft.com/office/drawing/2014/main" id="{934F7E03-49F6-037C-E02E-07CB17E392D6}"/>
              </a:ext>
            </a:extLst>
          </p:cNvPr>
          <p:cNvSpPr>
            <a:spLocks noGrp="1"/>
          </p:cNvSpPr>
          <p:nvPr>
            <p:ph idx="1"/>
          </p:nvPr>
        </p:nvSpPr>
        <p:spPr/>
        <p:txBody>
          <a:bodyPr>
            <a:normAutofit lnSpcReduction="10000"/>
          </a:bodyPr>
          <a:lstStyle/>
          <a:p>
            <a:pPr marL="0" lvl="0" indent="0" fontAlgn="base">
              <a:buNone/>
            </a:pPr>
            <a:r>
              <a:rPr lang="en-US" dirty="0"/>
              <a:t>Example: Comparing Means</a:t>
            </a:r>
          </a:p>
          <a:p>
            <a:pPr fontAlgn="base"/>
            <a:r>
              <a:rPr lang="en-US" dirty="0"/>
              <a:t>Stress in mammals (GC hormone level in blood)</a:t>
            </a:r>
          </a:p>
          <a:p>
            <a:pPr lvl="1" fontAlgn="base"/>
            <a:r>
              <a:rPr lang="en-US" dirty="0"/>
              <a:t>- snowmobiles – 827 ng GC/g</a:t>
            </a:r>
          </a:p>
          <a:p>
            <a:pPr lvl="1" fontAlgn="base"/>
            <a:r>
              <a:rPr lang="en-US" dirty="0"/>
              <a:t>+ snowmobiles – 1468 ng GC/g</a:t>
            </a:r>
          </a:p>
          <a:p>
            <a:pPr fontAlgn="base"/>
            <a:r>
              <a:rPr lang="en-US" dirty="0"/>
              <a:t>Is the difference (1468 – 827 = 641 ng/g) big enough?</a:t>
            </a:r>
          </a:p>
          <a:p>
            <a:pPr fontAlgn="base"/>
            <a:r>
              <a:rPr lang="en-US" dirty="0"/>
              <a:t>Do a statistical test</a:t>
            </a:r>
          </a:p>
          <a:p>
            <a:pPr lvl="1" fontAlgn="base"/>
            <a:r>
              <a:rPr lang="en-US" dirty="0"/>
              <a:t>Test statistic</a:t>
            </a:r>
          </a:p>
          <a:p>
            <a:pPr lvl="1" fontAlgn="base"/>
            <a:r>
              <a:rPr lang="en-US" dirty="0"/>
              <a:t>Associated probability value (P-value)</a:t>
            </a:r>
          </a:p>
          <a:p>
            <a:r>
              <a:rPr lang="en-US" dirty="0"/>
              <a:t>If I find a P-value of 0.7, do you think I should reject the null? What about a P-value of 0.01?</a:t>
            </a:r>
          </a:p>
        </p:txBody>
      </p:sp>
      <p:pic>
        <p:nvPicPr>
          <p:cNvPr id="5" name="Picture 4">
            <a:extLst>
              <a:ext uri="{FF2B5EF4-FFF2-40B4-BE49-F238E27FC236}">
                <a16:creationId xmlns:a16="http://schemas.microsoft.com/office/drawing/2014/main" id="{E1FEB49A-8B5B-D554-8D78-5BD064A69BAA}"/>
              </a:ext>
            </a:extLst>
          </p:cNvPr>
          <p:cNvPicPr>
            <a:picLocks noChangeAspect="1"/>
          </p:cNvPicPr>
          <p:nvPr/>
        </p:nvPicPr>
        <p:blipFill>
          <a:blip r:embed="rId3"/>
          <a:stretch>
            <a:fillRect/>
          </a:stretch>
        </p:blipFill>
        <p:spPr>
          <a:xfrm rot="571453">
            <a:off x="8787636" y="1388155"/>
            <a:ext cx="3098819" cy="2711467"/>
          </a:xfrm>
          <a:prstGeom prst="rect">
            <a:avLst/>
          </a:prstGeom>
        </p:spPr>
      </p:pic>
    </p:spTree>
    <p:extLst>
      <p:ext uri="{BB962C8B-B14F-4D97-AF65-F5344CB8AC3E}">
        <p14:creationId xmlns:p14="http://schemas.microsoft.com/office/powerpoint/2010/main" val="2571970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7D02D-B45F-E516-7568-EB1277F0B926}"/>
              </a:ext>
            </a:extLst>
          </p:cNvPr>
          <p:cNvSpPr>
            <a:spLocks noGrp="1"/>
          </p:cNvSpPr>
          <p:nvPr>
            <p:ph type="title"/>
          </p:nvPr>
        </p:nvSpPr>
        <p:spPr/>
        <p:txBody>
          <a:bodyPr>
            <a:normAutofit/>
          </a:bodyPr>
          <a:lstStyle/>
          <a:p>
            <a:r>
              <a:rPr lang="en-US" sz="5400" dirty="0"/>
              <a:t>Statistical Significance and P-Values</a:t>
            </a:r>
          </a:p>
        </p:txBody>
      </p:sp>
      <p:sp>
        <p:nvSpPr>
          <p:cNvPr id="3" name="Content Placeholder 2">
            <a:extLst>
              <a:ext uri="{FF2B5EF4-FFF2-40B4-BE49-F238E27FC236}">
                <a16:creationId xmlns:a16="http://schemas.microsoft.com/office/drawing/2014/main" id="{E0EB57E0-F22B-AA2B-AFBC-6A92FD8C5DC7}"/>
              </a:ext>
            </a:extLst>
          </p:cNvPr>
          <p:cNvSpPr>
            <a:spLocks noGrp="1"/>
          </p:cNvSpPr>
          <p:nvPr>
            <p:ph idx="1"/>
          </p:nvPr>
        </p:nvSpPr>
        <p:spPr/>
        <p:txBody>
          <a:bodyPr>
            <a:normAutofit/>
          </a:bodyPr>
          <a:lstStyle/>
          <a:p>
            <a:pPr marL="0" indent="0">
              <a:buNone/>
            </a:pPr>
            <a:r>
              <a:rPr lang="en-US" sz="3200" dirty="0"/>
              <a:t>Null Hypothesis (H</a:t>
            </a:r>
            <a:r>
              <a:rPr lang="en-US" sz="3200" baseline="-25000" dirty="0"/>
              <a:t>0</a:t>
            </a:r>
            <a:r>
              <a:rPr lang="en-US" sz="3200" dirty="0"/>
              <a:t>)</a:t>
            </a:r>
          </a:p>
          <a:p>
            <a:r>
              <a:rPr lang="en-US" sz="3200" dirty="0"/>
              <a:t>Differences represent random variation between groups and do not reflect any systematic effect of snowmobiles</a:t>
            </a:r>
          </a:p>
          <a:p>
            <a:pPr lvl="1"/>
            <a:r>
              <a:rPr lang="en-US" sz="2800" dirty="0"/>
              <a:t>Differences between groups are no greater than we would expect due to random variation</a:t>
            </a:r>
          </a:p>
          <a:p>
            <a:pPr marL="0" indent="0">
              <a:buNone/>
            </a:pPr>
            <a:r>
              <a:rPr lang="en-US" sz="3200" dirty="0"/>
              <a:t>Alternative Hypothesis (H</a:t>
            </a:r>
            <a:r>
              <a:rPr lang="en-US" sz="3200" baseline="-25000" dirty="0"/>
              <a:t>A</a:t>
            </a:r>
            <a:r>
              <a:rPr lang="en-US" sz="3200" dirty="0"/>
              <a:t>)</a:t>
            </a:r>
          </a:p>
          <a:p>
            <a:r>
              <a:rPr lang="en-US" sz="3200" dirty="0"/>
              <a:t>Difference between groups is too large to be accounted for by random variation</a:t>
            </a:r>
          </a:p>
        </p:txBody>
      </p:sp>
    </p:spTree>
    <p:extLst>
      <p:ext uri="{BB962C8B-B14F-4D97-AF65-F5344CB8AC3E}">
        <p14:creationId xmlns:p14="http://schemas.microsoft.com/office/powerpoint/2010/main" val="272220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76457-E81E-0CA1-A301-AA0A37249F1F}"/>
              </a:ext>
            </a:extLst>
          </p:cNvPr>
          <p:cNvSpPr>
            <a:spLocks noGrp="1"/>
          </p:cNvSpPr>
          <p:nvPr>
            <p:ph type="title"/>
          </p:nvPr>
        </p:nvSpPr>
        <p:spPr/>
        <p:txBody>
          <a:bodyPr>
            <a:noAutofit/>
          </a:bodyPr>
          <a:lstStyle/>
          <a:p>
            <a:r>
              <a:rPr lang="en-US" sz="5400" dirty="0"/>
              <a:t>Statistical Significance and P-Values: Summary</a:t>
            </a:r>
          </a:p>
        </p:txBody>
      </p:sp>
      <p:sp>
        <p:nvSpPr>
          <p:cNvPr id="3" name="Content Placeholder 2">
            <a:extLst>
              <a:ext uri="{FF2B5EF4-FFF2-40B4-BE49-F238E27FC236}">
                <a16:creationId xmlns:a16="http://schemas.microsoft.com/office/drawing/2014/main" id="{C12E87CD-2CA6-4A28-3B6D-0815A9841F0F}"/>
              </a:ext>
            </a:extLst>
          </p:cNvPr>
          <p:cNvSpPr>
            <a:spLocks noGrp="1"/>
          </p:cNvSpPr>
          <p:nvPr>
            <p:ph idx="1"/>
          </p:nvPr>
        </p:nvSpPr>
        <p:spPr/>
        <p:txBody>
          <a:bodyPr>
            <a:noAutofit/>
          </a:bodyPr>
          <a:lstStyle/>
          <a:p>
            <a:pPr marL="0" indent="0">
              <a:buNone/>
            </a:pPr>
            <a:r>
              <a:rPr lang="en-US" sz="3200" dirty="0"/>
              <a:t>Group differences are assessed by taking the difference in some statistic (e.g., sample mean) and standardizing it by some measure of variation (pooled standard error) </a:t>
            </a:r>
          </a:p>
          <a:p>
            <a:r>
              <a:rPr lang="en-US" sz="3200" dirty="0"/>
              <a:t>(Mean amount of stress hormone in blood)</a:t>
            </a:r>
          </a:p>
          <a:p>
            <a:pPr marL="0" indent="0">
              <a:buNone/>
            </a:pPr>
            <a:r>
              <a:rPr lang="en-US" sz="3200" dirty="0"/>
              <a:t>A statistical test is applied to this calculation, and a P-value generated</a:t>
            </a:r>
          </a:p>
          <a:p>
            <a:r>
              <a:rPr lang="en-US" sz="3200" dirty="0"/>
              <a:t>Calculate test statistic and P-value (0 ≤ P-value ≤ 1)</a:t>
            </a:r>
          </a:p>
          <a:p>
            <a:pPr marL="0" indent="0">
              <a:buNone/>
            </a:pPr>
            <a:r>
              <a:rPr lang="en-US" sz="3200" dirty="0"/>
              <a:t>P-value is used to make the decision to reject/fail to reject the null</a:t>
            </a:r>
          </a:p>
        </p:txBody>
      </p:sp>
    </p:spTree>
    <p:extLst>
      <p:ext uri="{BB962C8B-B14F-4D97-AF65-F5344CB8AC3E}">
        <p14:creationId xmlns:p14="http://schemas.microsoft.com/office/powerpoint/2010/main" val="2582201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A7BA0-FBDD-336C-D571-1F594850ED40}"/>
              </a:ext>
            </a:extLst>
          </p:cNvPr>
          <p:cNvSpPr>
            <a:spLocks noGrp="1"/>
          </p:cNvSpPr>
          <p:nvPr>
            <p:ph type="title"/>
          </p:nvPr>
        </p:nvSpPr>
        <p:spPr/>
        <p:txBody>
          <a:bodyPr>
            <a:normAutofit/>
          </a:bodyPr>
          <a:lstStyle/>
          <a:p>
            <a:r>
              <a:rPr lang="en-US" sz="5400" dirty="0"/>
              <a:t>P-Value Calculation</a:t>
            </a:r>
          </a:p>
        </p:txBody>
      </p:sp>
      <p:sp>
        <p:nvSpPr>
          <p:cNvPr id="3" name="Content Placeholder 2">
            <a:extLst>
              <a:ext uri="{FF2B5EF4-FFF2-40B4-BE49-F238E27FC236}">
                <a16:creationId xmlns:a16="http://schemas.microsoft.com/office/drawing/2014/main" id="{0F65A81B-F359-1C75-4541-386AE9F09AEE}"/>
              </a:ext>
            </a:extLst>
          </p:cNvPr>
          <p:cNvSpPr>
            <a:spLocks noGrp="1"/>
          </p:cNvSpPr>
          <p:nvPr>
            <p:ph idx="1"/>
          </p:nvPr>
        </p:nvSpPr>
        <p:spPr/>
        <p:txBody>
          <a:bodyPr>
            <a:normAutofit/>
          </a:bodyPr>
          <a:lstStyle/>
          <a:p>
            <a:pPr marL="0" indent="0">
              <a:buNone/>
            </a:pPr>
            <a:r>
              <a:rPr lang="en-US" sz="3600" dirty="0"/>
              <a:t>Depends on three items:</a:t>
            </a:r>
          </a:p>
          <a:p>
            <a:r>
              <a:rPr lang="en-US" sz="3600" dirty="0"/>
              <a:t>Sample size</a:t>
            </a:r>
          </a:p>
          <a:p>
            <a:r>
              <a:rPr lang="en-US" sz="3600" dirty="0"/>
              <a:t>Difference between the sample means</a:t>
            </a:r>
          </a:p>
          <a:p>
            <a:r>
              <a:rPr lang="en-US" sz="3600" dirty="0"/>
              <a:t>Variance among individuals</a:t>
            </a:r>
          </a:p>
          <a:p>
            <a:endParaRPr lang="en-US" sz="3600" dirty="0"/>
          </a:p>
          <a:p>
            <a:pPr marL="0" indent="0">
              <a:buNone/>
            </a:pPr>
            <a:r>
              <a:rPr lang="en-US" sz="3600" dirty="0"/>
              <a:t>When is the P-value small enough? Decide </a:t>
            </a:r>
            <a:r>
              <a:rPr lang="en-US" sz="3600" i="1" dirty="0"/>
              <a:t>a priori</a:t>
            </a:r>
            <a:r>
              <a:rPr lang="en-US" sz="3600" dirty="0"/>
              <a:t>...</a:t>
            </a:r>
          </a:p>
          <a:p>
            <a:r>
              <a:rPr lang="en-US" sz="3600" dirty="0"/>
              <a:t>Usually, 0.05</a:t>
            </a:r>
          </a:p>
        </p:txBody>
      </p:sp>
    </p:spTree>
    <p:extLst>
      <p:ext uri="{BB962C8B-B14F-4D97-AF65-F5344CB8AC3E}">
        <p14:creationId xmlns:p14="http://schemas.microsoft.com/office/powerpoint/2010/main" val="2061956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8BE80-CD6A-4BA9-A898-B86B9975D96D}"/>
              </a:ext>
            </a:extLst>
          </p:cNvPr>
          <p:cNvSpPr>
            <a:spLocks noGrp="1"/>
          </p:cNvSpPr>
          <p:nvPr>
            <p:ph type="title"/>
          </p:nvPr>
        </p:nvSpPr>
        <p:spPr/>
        <p:txBody>
          <a:bodyPr>
            <a:normAutofit/>
          </a:bodyPr>
          <a:lstStyle/>
          <a:p>
            <a:r>
              <a:rPr lang="en-US" sz="5400" dirty="0"/>
              <a:t>Test Statistic?</a:t>
            </a:r>
          </a:p>
        </p:txBody>
      </p:sp>
      <p:sp>
        <p:nvSpPr>
          <p:cNvPr id="3" name="Content Placeholder 2">
            <a:extLst>
              <a:ext uri="{FF2B5EF4-FFF2-40B4-BE49-F238E27FC236}">
                <a16:creationId xmlns:a16="http://schemas.microsoft.com/office/drawing/2014/main" id="{2891AE50-7F79-47E2-951A-F85D43C70996}"/>
              </a:ext>
            </a:extLst>
          </p:cNvPr>
          <p:cNvSpPr>
            <a:spLocks noGrp="1"/>
          </p:cNvSpPr>
          <p:nvPr>
            <p:ph idx="1"/>
          </p:nvPr>
        </p:nvSpPr>
        <p:spPr/>
        <p:txBody>
          <a:bodyPr>
            <a:noAutofit/>
          </a:bodyPr>
          <a:lstStyle/>
          <a:p>
            <a:pPr marL="0" indent="0">
              <a:buNone/>
            </a:pPr>
            <a:r>
              <a:rPr lang="en-US" sz="3200" dirty="0"/>
              <a:t>The test statistic is how we relate the data to some probability distribution function </a:t>
            </a:r>
          </a:p>
          <a:p>
            <a:r>
              <a:rPr lang="en-US" sz="3200" dirty="0"/>
              <a:t>Calculated to represent the match between a set of data and the null hypothesis</a:t>
            </a:r>
          </a:p>
          <a:p>
            <a:r>
              <a:rPr lang="en-US" sz="3200" dirty="0"/>
              <a:t>If the test statistic is too extreme, the null hypothesis is generally rejected </a:t>
            </a:r>
          </a:p>
          <a:p>
            <a:pPr marL="0" indent="0">
              <a:buNone/>
            </a:pPr>
            <a:r>
              <a:rPr lang="en-US" sz="3200" dirty="0"/>
              <a:t>For parametric tests, the test statistic is a random variable </a:t>
            </a:r>
          </a:p>
          <a:p>
            <a:r>
              <a:rPr lang="en-US" sz="3200" dirty="0"/>
              <a:t>There are nonparametric alternatives</a:t>
            </a:r>
          </a:p>
        </p:txBody>
      </p:sp>
    </p:spTree>
    <p:extLst>
      <p:ext uri="{BB962C8B-B14F-4D97-AF65-F5344CB8AC3E}">
        <p14:creationId xmlns:p14="http://schemas.microsoft.com/office/powerpoint/2010/main" val="3587589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3ADEF-85BE-57D2-5654-32F14FE183F3}"/>
              </a:ext>
            </a:extLst>
          </p:cNvPr>
          <p:cNvSpPr>
            <a:spLocks noGrp="1"/>
          </p:cNvSpPr>
          <p:nvPr>
            <p:ph type="title"/>
          </p:nvPr>
        </p:nvSpPr>
        <p:spPr/>
        <p:txBody>
          <a:bodyPr>
            <a:normAutofit/>
          </a:bodyPr>
          <a:lstStyle/>
          <a:p>
            <a:r>
              <a:rPr lang="en-US" sz="5400" dirty="0"/>
              <a:t>Parametric Analysis - FYI</a:t>
            </a:r>
          </a:p>
        </p:txBody>
      </p:sp>
      <p:sp>
        <p:nvSpPr>
          <p:cNvPr id="3" name="Content Placeholder 2">
            <a:extLst>
              <a:ext uri="{FF2B5EF4-FFF2-40B4-BE49-F238E27FC236}">
                <a16:creationId xmlns:a16="http://schemas.microsoft.com/office/drawing/2014/main" id="{8621087B-FADD-68A9-CD23-27113311C6C9}"/>
              </a:ext>
            </a:extLst>
          </p:cNvPr>
          <p:cNvSpPr>
            <a:spLocks noGrp="1"/>
          </p:cNvSpPr>
          <p:nvPr>
            <p:ph idx="1"/>
          </p:nvPr>
        </p:nvSpPr>
        <p:spPr/>
        <p:txBody>
          <a:bodyPr>
            <a:noAutofit/>
          </a:bodyPr>
          <a:lstStyle/>
          <a:p>
            <a:pPr marL="0" indent="0">
              <a:buNone/>
            </a:pPr>
            <a:r>
              <a:rPr lang="en-US" sz="3600" dirty="0"/>
              <a:t>Based on assumption data follows some defined distribution</a:t>
            </a:r>
          </a:p>
          <a:p>
            <a:r>
              <a:rPr lang="en-US" sz="3600" dirty="0"/>
              <a:t>Normal distribution most common</a:t>
            </a:r>
          </a:p>
          <a:p>
            <a:pPr marL="0" indent="0">
              <a:buNone/>
            </a:pPr>
            <a:r>
              <a:rPr lang="en-US" sz="3600" dirty="0"/>
              <a:t>Steps:</a:t>
            </a:r>
          </a:p>
          <a:p>
            <a:r>
              <a:rPr lang="en-US" sz="3600" dirty="0"/>
              <a:t>Specifying the test statistics</a:t>
            </a:r>
          </a:p>
          <a:p>
            <a:r>
              <a:rPr lang="en-US" sz="3600" dirty="0"/>
              <a:t>Specifying the null distribution</a:t>
            </a:r>
          </a:p>
          <a:p>
            <a:r>
              <a:rPr lang="en-US" sz="3600" dirty="0"/>
              <a:t>Calculating the tail probability</a:t>
            </a:r>
          </a:p>
        </p:txBody>
      </p:sp>
    </p:spTree>
    <p:extLst>
      <p:ext uri="{BB962C8B-B14F-4D97-AF65-F5344CB8AC3E}">
        <p14:creationId xmlns:p14="http://schemas.microsoft.com/office/powerpoint/2010/main" val="2627617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C3565-2AFC-8493-53AB-6B82EA2A629A}"/>
              </a:ext>
            </a:extLst>
          </p:cNvPr>
          <p:cNvSpPr>
            <a:spLocks noGrp="1"/>
          </p:cNvSpPr>
          <p:nvPr>
            <p:ph type="title"/>
          </p:nvPr>
        </p:nvSpPr>
        <p:spPr/>
        <p:txBody>
          <a:bodyPr>
            <a:normAutofit/>
          </a:bodyPr>
          <a:lstStyle/>
          <a:p>
            <a:r>
              <a:rPr lang="en-US" sz="5400" dirty="0"/>
              <a:t>Parametric Analysis - FYI </a:t>
            </a:r>
          </a:p>
        </p:txBody>
      </p:sp>
      <p:sp>
        <p:nvSpPr>
          <p:cNvPr id="3" name="Content Placeholder 2">
            <a:extLst>
              <a:ext uri="{FF2B5EF4-FFF2-40B4-BE49-F238E27FC236}">
                <a16:creationId xmlns:a16="http://schemas.microsoft.com/office/drawing/2014/main" id="{556E2401-6D5B-52FD-15D6-E1BBCAC76764}"/>
              </a:ext>
            </a:extLst>
          </p:cNvPr>
          <p:cNvSpPr>
            <a:spLocks noGrp="1"/>
          </p:cNvSpPr>
          <p:nvPr>
            <p:ph idx="1"/>
          </p:nvPr>
        </p:nvSpPr>
        <p:spPr/>
        <p:txBody>
          <a:bodyPr>
            <a:noAutofit/>
          </a:bodyPr>
          <a:lstStyle/>
          <a:p>
            <a:pPr marL="0" indent="0">
              <a:buNone/>
            </a:pPr>
            <a:r>
              <a:rPr lang="en-US" sz="3600" dirty="0"/>
              <a:t>Advantages</a:t>
            </a:r>
          </a:p>
          <a:p>
            <a:r>
              <a:rPr lang="en-US" sz="3600" dirty="0"/>
              <a:t>Uses a powerful framework based on solid probability theory</a:t>
            </a:r>
          </a:p>
          <a:p>
            <a:endParaRPr lang="en-US" sz="3600" dirty="0"/>
          </a:p>
          <a:p>
            <a:pPr marL="0" indent="0">
              <a:buNone/>
            </a:pPr>
            <a:r>
              <a:rPr lang="en-US" sz="3600" dirty="0"/>
              <a:t>Disadvantages</a:t>
            </a:r>
          </a:p>
          <a:p>
            <a:r>
              <a:rPr lang="en-US" sz="3600" dirty="0"/>
              <a:t>May not be as powerful as other methods, particularly when the data does not fit the rules</a:t>
            </a:r>
          </a:p>
        </p:txBody>
      </p:sp>
    </p:spTree>
    <p:extLst>
      <p:ext uri="{BB962C8B-B14F-4D97-AF65-F5344CB8AC3E}">
        <p14:creationId xmlns:p14="http://schemas.microsoft.com/office/powerpoint/2010/main" val="1282911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07FA4-87AA-715A-7E8A-20A00B53E04B}"/>
              </a:ext>
            </a:extLst>
          </p:cNvPr>
          <p:cNvSpPr>
            <a:spLocks noGrp="1"/>
          </p:cNvSpPr>
          <p:nvPr>
            <p:ph type="title"/>
          </p:nvPr>
        </p:nvSpPr>
        <p:spPr/>
        <p:txBody>
          <a:bodyPr>
            <a:normAutofit/>
          </a:bodyPr>
          <a:lstStyle/>
          <a:p>
            <a:r>
              <a:rPr lang="en-US" sz="5400" dirty="0"/>
              <a:t>Types of Tests</a:t>
            </a:r>
          </a:p>
        </p:txBody>
      </p:sp>
      <p:sp>
        <p:nvSpPr>
          <p:cNvPr id="3" name="Content Placeholder 2">
            <a:extLst>
              <a:ext uri="{FF2B5EF4-FFF2-40B4-BE49-F238E27FC236}">
                <a16:creationId xmlns:a16="http://schemas.microsoft.com/office/drawing/2014/main" id="{3ED3F724-3D6D-0258-63D5-76267B10AB03}"/>
              </a:ext>
            </a:extLst>
          </p:cNvPr>
          <p:cNvSpPr>
            <a:spLocks noGrp="1"/>
          </p:cNvSpPr>
          <p:nvPr>
            <p:ph idx="1"/>
          </p:nvPr>
        </p:nvSpPr>
        <p:spPr/>
        <p:txBody>
          <a:bodyPr>
            <a:normAutofit fontScale="92500" lnSpcReduction="10000"/>
          </a:bodyPr>
          <a:lstStyle/>
          <a:p>
            <a:pPr lvl="0" fontAlgn="base"/>
            <a:r>
              <a:rPr lang="en-US" sz="3600" dirty="0"/>
              <a:t>One-sample</a:t>
            </a:r>
          </a:p>
          <a:p>
            <a:pPr lvl="1" fontAlgn="base"/>
            <a:r>
              <a:rPr lang="en-US" sz="3200" dirty="0"/>
              <a:t>Test sample statistic against a fixed value</a:t>
            </a:r>
          </a:p>
          <a:p>
            <a:pPr lvl="1" fontAlgn="base"/>
            <a:r>
              <a:rPr lang="en-US" sz="3200" dirty="0"/>
              <a:t>H</a:t>
            </a:r>
            <a:r>
              <a:rPr lang="en-US" sz="3200" baseline="-25000" dirty="0"/>
              <a:t>o</a:t>
            </a:r>
            <a:r>
              <a:rPr lang="en-US" sz="3200" dirty="0"/>
              <a:t>: μ</a:t>
            </a:r>
            <a:r>
              <a:rPr lang="en-US" sz="3200" baseline="-25000" dirty="0"/>
              <a:t>1 </a:t>
            </a:r>
            <a:r>
              <a:rPr lang="en-US" sz="3200" dirty="0"/>
              <a:t>= </a:t>
            </a:r>
            <a:r>
              <a:rPr lang="en-US" sz="3200" dirty="0" err="1"/>
              <a:t>μ</a:t>
            </a:r>
            <a:r>
              <a:rPr lang="en-US" sz="3200" baseline="-25000" dirty="0" err="1"/>
              <a:t>o</a:t>
            </a:r>
            <a:endParaRPr lang="en-US" sz="3200" dirty="0"/>
          </a:p>
          <a:p>
            <a:pPr lvl="0" fontAlgn="base"/>
            <a:r>
              <a:rPr lang="en-US" sz="3600" dirty="0"/>
              <a:t>Two-sample</a:t>
            </a:r>
          </a:p>
          <a:p>
            <a:pPr lvl="1" fontAlgn="base"/>
            <a:r>
              <a:rPr lang="en-US" sz="3200" dirty="0"/>
              <a:t>Compare two groups</a:t>
            </a:r>
          </a:p>
          <a:p>
            <a:pPr lvl="1" fontAlgn="base"/>
            <a:r>
              <a:rPr lang="en-US" sz="3200" dirty="0"/>
              <a:t>H</a:t>
            </a:r>
            <a:r>
              <a:rPr lang="en-US" sz="3200" baseline="-25000" dirty="0"/>
              <a:t>o</a:t>
            </a:r>
            <a:r>
              <a:rPr lang="en-US" sz="3200" dirty="0"/>
              <a:t>: μ</a:t>
            </a:r>
            <a:r>
              <a:rPr lang="en-US" sz="3200" baseline="-25000" dirty="0"/>
              <a:t>1 </a:t>
            </a:r>
            <a:r>
              <a:rPr lang="en-US" sz="3200" dirty="0"/>
              <a:t>= μ</a:t>
            </a:r>
            <a:r>
              <a:rPr lang="en-US" sz="3200" baseline="-25000" dirty="0"/>
              <a:t>2</a:t>
            </a:r>
            <a:endParaRPr lang="en-US" sz="3200" dirty="0"/>
          </a:p>
          <a:p>
            <a:pPr lvl="0" fontAlgn="base"/>
            <a:r>
              <a:rPr lang="en-US" sz="3600" dirty="0"/>
              <a:t>Multiple sample</a:t>
            </a:r>
          </a:p>
          <a:p>
            <a:pPr lvl="1" fontAlgn="base"/>
            <a:r>
              <a:rPr lang="en-US" sz="3200" dirty="0"/>
              <a:t>Compare &gt; 2 groups</a:t>
            </a:r>
          </a:p>
          <a:p>
            <a:pPr lvl="1" fontAlgn="base"/>
            <a:r>
              <a:rPr lang="en-US" sz="3200" dirty="0"/>
              <a:t>H</a:t>
            </a:r>
            <a:r>
              <a:rPr lang="en-US" sz="3200" baseline="-25000" dirty="0"/>
              <a:t>o</a:t>
            </a:r>
            <a:r>
              <a:rPr lang="en-US" sz="3200" dirty="0"/>
              <a:t>: μ</a:t>
            </a:r>
            <a:r>
              <a:rPr lang="en-US" sz="3200" baseline="-25000" dirty="0"/>
              <a:t>1 </a:t>
            </a:r>
            <a:r>
              <a:rPr lang="en-US" sz="3200" dirty="0"/>
              <a:t>= μ</a:t>
            </a:r>
            <a:r>
              <a:rPr lang="en-US" sz="3200" baseline="-25000" dirty="0"/>
              <a:t>2</a:t>
            </a:r>
            <a:r>
              <a:rPr lang="en-US" sz="3200" dirty="0"/>
              <a:t>= μ</a:t>
            </a:r>
            <a:r>
              <a:rPr lang="en-US" sz="3200" baseline="-25000" dirty="0"/>
              <a:t>3</a:t>
            </a:r>
            <a:r>
              <a:rPr lang="en-US" sz="3200" dirty="0"/>
              <a:t>, …= </a:t>
            </a:r>
            <a:r>
              <a:rPr lang="en-US" sz="3200" dirty="0" err="1"/>
              <a:t>μ</a:t>
            </a:r>
            <a:r>
              <a:rPr lang="en-US" sz="3200" baseline="-25000" dirty="0" err="1"/>
              <a:t>k</a:t>
            </a:r>
            <a:endParaRPr lang="en-US" sz="3200" dirty="0"/>
          </a:p>
          <a:p>
            <a:endParaRPr lang="en-US" dirty="0"/>
          </a:p>
        </p:txBody>
      </p:sp>
      <p:pic>
        <p:nvPicPr>
          <p:cNvPr id="5" name="Picture 4">
            <a:extLst>
              <a:ext uri="{FF2B5EF4-FFF2-40B4-BE49-F238E27FC236}">
                <a16:creationId xmlns:a16="http://schemas.microsoft.com/office/drawing/2014/main" id="{811CCC33-4318-429F-D50A-998D6B941AE4}"/>
              </a:ext>
            </a:extLst>
          </p:cNvPr>
          <p:cNvPicPr>
            <a:picLocks noChangeAspect="1"/>
          </p:cNvPicPr>
          <p:nvPr/>
        </p:nvPicPr>
        <p:blipFill>
          <a:blip r:embed="rId3"/>
          <a:stretch>
            <a:fillRect/>
          </a:stretch>
        </p:blipFill>
        <p:spPr>
          <a:xfrm>
            <a:off x="6959600" y="2217669"/>
            <a:ext cx="4100286" cy="3567249"/>
          </a:xfrm>
          <a:prstGeom prst="rect">
            <a:avLst/>
          </a:prstGeom>
        </p:spPr>
      </p:pic>
    </p:spTree>
    <p:extLst>
      <p:ext uri="{BB962C8B-B14F-4D97-AF65-F5344CB8AC3E}">
        <p14:creationId xmlns:p14="http://schemas.microsoft.com/office/powerpoint/2010/main" val="3723517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C9834-EEA8-6118-0FED-E1492821A34E}"/>
              </a:ext>
            </a:extLst>
          </p:cNvPr>
          <p:cNvSpPr>
            <a:spLocks noGrp="1"/>
          </p:cNvSpPr>
          <p:nvPr>
            <p:ph type="title"/>
          </p:nvPr>
        </p:nvSpPr>
        <p:spPr/>
        <p:txBody>
          <a:bodyPr>
            <a:normAutofit/>
          </a:bodyPr>
          <a:lstStyle/>
          <a:p>
            <a:r>
              <a:rPr lang="en-US" sz="5400" dirty="0"/>
              <a:t>Types of Tests</a:t>
            </a:r>
          </a:p>
        </p:txBody>
      </p:sp>
      <p:sp>
        <p:nvSpPr>
          <p:cNvPr id="5" name="TextBox 4">
            <a:extLst>
              <a:ext uri="{FF2B5EF4-FFF2-40B4-BE49-F238E27FC236}">
                <a16:creationId xmlns:a16="http://schemas.microsoft.com/office/drawing/2014/main" id="{4BA4A1DC-05C7-1EDF-6CFC-7719E1D0C60E}"/>
              </a:ext>
            </a:extLst>
          </p:cNvPr>
          <p:cNvSpPr txBox="1"/>
          <p:nvPr/>
        </p:nvSpPr>
        <p:spPr>
          <a:xfrm>
            <a:off x="838199" y="1687047"/>
            <a:ext cx="6234953" cy="4406334"/>
          </a:xfrm>
          <a:prstGeom prst="rect">
            <a:avLst/>
          </a:prstGeom>
          <a:noFill/>
        </p:spPr>
        <p:txBody>
          <a:bodyPr wrap="square">
            <a:spAutoFit/>
          </a:bodyPr>
          <a:lstStyle/>
          <a:p>
            <a:pPr marL="342900" lvl="0" indent="-342900" rtl="0" fontAlgn="base">
              <a:buFont typeface="Arial" panose="020B0604020202020204" pitchFamily="34" charset="0"/>
              <a:buChar char="•"/>
            </a:pPr>
            <a:r>
              <a:rPr lang="en-US" sz="2800" b="0" i="0" u="none" strike="noStrike" dirty="0">
                <a:solidFill>
                  <a:schemeClr val="tx1"/>
                </a:solidFill>
                <a:effectLst/>
                <a:latin typeface="+mn-lt"/>
              </a:rPr>
              <a:t>Two-sided</a:t>
            </a:r>
          </a:p>
          <a:p>
            <a:pPr marL="742950" lvl="1" indent="-285750" rtl="0" fontAlgn="base">
              <a:spcBef>
                <a:spcPts val="400"/>
              </a:spcBef>
              <a:buFont typeface="Arial" panose="020B0604020202020204" pitchFamily="34" charset="0"/>
              <a:buChar char="•"/>
            </a:pPr>
            <a:r>
              <a:rPr lang="en-US" sz="2800" b="0" i="0" u="none" strike="noStrike" dirty="0">
                <a:solidFill>
                  <a:schemeClr val="tx1"/>
                </a:solidFill>
                <a:effectLst/>
                <a:latin typeface="+mn-lt"/>
              </a:rPr>
              <a:t>H</a:t>
            </a:r>
            <a:r>
              <a:rPr lang="en-US" sz="2800" b="0" i="0" u="none" strike="noStrike" baseline="-25000" dirty="0">
                <a:solidFill>
                  <a:schemeClr val="tx1"/>
                </a:solidFill>
                <a:effectLst/>
                <a:latin typeface="+mn-lt"/>
              </a:rPr>
              <a:t>o</a:t>
            </a:r>
            <a:r>
              <a:rPr lang="en-US" sz="2800" b="0" i="0" u="none" strike="noStrike" dirty="0">
                <a:solidFill>
                  <a:schemeClr val="tx1"/>
                </a:solidFill>
                <a:effectLst/>
                <a:latin typeface="+mn-lt"/>
              </a:rPr>
              <a:t>: μ</a:t>
            </a:r>
            <a:r>
              <a:rPr lang="en-US" sz="2800" b="0" i="0" u="none" strike="noStrike" baseline="-25000" dirty="0">
                <a:solidFill>
                  <a:schemeClr val="tx1"/>
                </a:solidFill>
                <a:effectLst/>
                <a:latin typeface="+mn-lt"/>
              </a:rPr>
              <a:t>1 </a:t>
            </a:r>
            <a:r>
              <a:rPr lang="en-US" sz="2800" b="0" i="0" u="none" strike="noStrike" dirty="0">
                <a:solidFill>
                  <a:schemeClr val="tx1"/>
                </a:solidFill>
                <a:effectLst/>
                <a:latin typeface="+mn-lt"/>
              </a:rPr>
              <a:t>= μ</a:t>
            </a:r>
            <a:r>
              <a:rPr lang="en-US" sz="2800" b="0" i="0" u="none" strike="noStrike" baseline="-25000" dirty="0">
                <a:solidFill>
                  <a:schemeClr val="tx1"/>
                </a:solidFill>
                <a:effectLst/>
                <a:latin typeface="+mn-lt"/>
              </a:rPr>
              <a:t>2</a:t>
            </a:r>
            <a:endParaRPr lang="en-US" sz="2800" b="0" i="0" u="none" strike="noStrike" dirty="0">
              <a:solidFill>
                <a:schemeClr val="tx1"/>
              </a:solidFill>
              <a:effectLst/>
              <a:latin typeface="+mn-lt"/>
            </a:endParaRPr>
          </a:p>
          <a:p>
            <a:pPr marL="742950" lvl="1" indent="-285750" rtl="0" fontAlgn="base">
              <a:spcBef>
                <a:spcPts val="400"/>
              </a:spcBef>
              <a:buFont typeface="Arial" panose="020B0604020202020204" pitchFamily="34" charset="0"/>
              <a:buChar char="•"/>
            </a:pPr>
            <a:r>
              <a:rPr lang="en-US" sz="2800" b="0" i="0" u="none" strike="noStrike" dirty="0">
                <a:solidFill>
                  <a:schemeClr val="tx1"/>
                </a:solidFill>
                <a:effectLst/>
                <a:latin typeface="+mn-lt"/>
              </a:rPr>
              <a:t>H</a:t>
            </a:r>
            <a:r>
              <a:rPr lang="en-US" sz="2800" b="0" i="0" u="none" strike="noStrike" baseline="-25000" dirty="0">
                <a:solidFill>
                  <a:schemeClr val="tx1"/>
                </a:solidFill>
                <a:effectLst/>
                <a:latin typeface="+mn-lt"/>
              </a:rPr>
              <a:t>a</a:t>
            </a:r>
            <a:r>
              <a:rPr lang="en-US" sz="2800" b="0" i="0" u="none" strike="noStrike" dirty="0">
                <a:solidFill>
                  <a:schemeClr val="tx1"/>
                </a:solidFill>
                <a:effectLst/>
                <a:latin typeface="+mn-lt"/>
              </a:rPr>
              <a:t>: μ</a:t>
            </a:r>
            <a:r>
              <a:rPr lang="en-US" sz="2800" b="0" i="0" u="none" strike="noStrike" baseline="-25000" dirty="0">
                <a:solidFill>
                  <a:schemeClr val="tx1"/>
                </a:solidFill>
                <a:effectLst/>
                <a:latin typeface="+mn-lt"/>
              </a:rPr>
              <a:t>1 </a:t>
            </a:r>
            <a:r>
              <a:rPr lang="en-US" sz="2800" b="0" i="0" u="none" strike="noStrike" dirty="0">
                <a:solidFill>
                  <a:schemeClr val="tx1"/>
                </a:solidFill>
                <a:effectLst/>
                <a:latin typeface="+mn-lt"/>
              </a:rPr>
              <a:t>≠ μ</a:t>
            </a:r>
            <a:r>
              <a:rPr lang="en-US" sz="2800" b="0" i="0" u="none" strike="noStrike" baseline="-25000" dirty="0">
                <a:solidFill>
                  <a:schemeClr val="tx1"/>
                </a:solidFill>
                <a:effectLst/>
                <a:latin typeface="+mn-lt"/>
              </a:rPr>
              <a:t>2</a:t>
            </a:r>
            <a:endParaRPr lang="en-US" sz="2800" b="0" i="0" u="none" strike="noStrike" dirty="0">
              <a:solidFill>
                <a:schemeClr val="tx1"/>
              </a:solidFill>
              <a:effectLst/>
              <a:latin typeface="+mn-lt"/>
            </a:endParaRPr>
          </a:p>
          <a:p>
            <a:pPr marL="342900" lvl="0" indent="-342900" rtl="0" fontAlgn="base">
              <a:spcBef>
                <a:spcPts val="480"/>
              </a:spcBef>
              <a:buFont typeface="Arial" panose="020B0604020202020204" pitchFamily="34" charset="0"/>
              <a:buChar char="•"/>
            </a:pPr>
            <a:r>
              <a:rPr lang="en-US" sz="2800" b="0" i="0" u="none" strike="noStrike" dirty="0">
                <a:solidFill>
                  <a:schemeClr val="tx1"/>
                </a:solidFill>
                <a:effectLst/>
                <a:latin typeface="+mn-lt"/>
              </a:rPr>
              <a:t>One-sided – upper</a:t>
            </a:r>
          </a:p>
          <a:p>
            <a:pPr marL="742950" lvl="1" indent="-285750" rtl="0" fontAlgn="base">
              <a:spcBef>
                <a:spcPts val="400"/>
              </a:spcBef>
              <a:buFont typeface="Arial" panose="020B0604020202020204" pitchFamily="34" charset="0"/>
              <a:buChar char="•"/>
            </a:pPr>
            <a:r>
              <a:rPr lang="en-US" sz="2800" b="0" i="0" u="none" strike="noStrike" dirty="0">
                <a:solidFill>
                  <a:schemeClr val="tx1"/>
                </a:solidFill>
                <a:effectLst/>
                <a:latin typeface="+mn-lt"/>
              </a:rPr>
              <a:t>H</a:t>
            </a:r>
            <a:r>
              <a:rPr lang="en-US" sz="2800" b="0" i="0" u="none" strike="noStrike" baseline="-25000" dirty="0">
                <a:solidFill>
                  <a:schemeClr val="tx1"/>
                </a:solidFill>
                <a:effectLst/>
                <a:latin typeface="+mn-lt"/>
              </a:rPr>
              <a:t>o</a:t>
            </a:r>
            <a:r>
              <a:rPr lang="en-US" sz="2800" b="0" i="0" u="none" strike="noStrike" dirty="0">
                <a:solidFill>
                  <a:schemeClr val="tx1"/>
                </a:solidFill>
                <a:effectLst/>
                <a:latin typeface="+mn-lt"/>
              </a:rPr>
              <a:t>: μ</a:t>
            </a:r>
            <a:r>
              <a:rPr lang="en-US" sz="2800" b="0" i="0" u="none" strike="noStrike" baseline="-25000" dirty="0">
                <a:solidFill>
                  <a:schemeClr val="tx1"/>
                </a:solidFill>
                <a:effectLst/>
                <a:latin typeface="+mn-lt"/>
              </a:rPr>
              <a:t>1 </a:t>
            </a:r>
            <a:r>
              <a:rPr lang="en-US" sz="2800" b="0" i="0" u="none" strike="noStrike" dirty="0">
                <a:solidFill>
                  <a:schemeClr val="tx1"/>
                </a:solidFill>
                <a:effectLst/>
                <a:latin typeface="+mn-lt"/>
              </a:rPr>
              <a:t>≤ μ</a:t>
            </a:r>
            <a:r>
              <a:rPr lang="en-US" sz="2800" b="0" i="0" u="none" strike="noStrike" baseline="-25000" dirty="0">
                <a:solidFill>
                  <a:schemeClr val="tx1"/>
                </a:solidFill>
                <a:effectLst/>
                <a:latin typeface="+mn-lt"/>
              </a:rPr>
              <a:t>2</a:t>
            </a:r>
            <a:endParaRPr lang="en-US" sz="2800" b="0" i="0" u="none" strike="noStrike" dirty="0">
              <a:solidFill>
                <a:schemeClr val="tx1"/>
              </a:solidFill>
              <a:effectLst/>
              <a:latin typeface="+mn-lt"/>
            </a:endParaRPr>
          </a:p>
          <a:p>
            <a:pPr marL="742950" lvl="1" indent="-285750" rtl="0" fontAlgn="base">
              <a:spcBef>
                <a:spcPts val="400"/>
              </a:spcBef>
              <a:buFont typeface="Arial" panose="020B0604020202020204" pitchFamily="34" charset="0"/>
              <a:buChar char="•"/>
            </a:pPr>
            <a:r>
              <a:rPr lang="en-US" sz="2800" b="0" i="0" u="none" strike="noStrike" dirty="0">
                <a:solidFill>
                  <a:schemeClr val="tx1"/>
                </a:solidFill>
                <a:effectLst/>
                <a:latin typeface="+mn-lt"/>
              </a:rPr>
              <a:t>H</a:t>
            </a:r>
            <a:r>
              <a:rPr lang="en-US" sz="2800" b="0" i="0" u="none" strike="noStrike" baseline="-25000" dirty="0">
                <a:solidFill>
                  <a:schemeClr val="tx1"/>
                </a:solidFill>
                <a:effectLst/>
                <a:latin typeface="+mn-lt"/>
              </a:rPr>
              <a:t>a</a:t>
            </a:r>
            <a:r>
              <a:rPr lang="en-US" sz="2800" b="0" i="0" u="none" strike="noStrike" dirty="0">
                <a:solidFill>
                  <a:schemeClr val="tx1"/>
                </a:solidFill>
                <a:effectLst/>
                <a:latin typeface="+mn-lt"/>
              </a:rPr>
              <a:t>: μ</a:t>
            </a:r>
            <a:r>
              <a:rPr lang="en-US" sz="2800" b="0" i="0" u="none" strike="noStrike" baseline="-25000" dirty="0">
                <a:solidFill>
                  <a:schemeClr val="tx1"/>
                </a:solidFill>
                <a:effectLst/>
                <a:latin typeface="+mn-lt"/>
              </a:rPr>
              <a:t>1 </a:t>
            </a:r>
            <a:r>
              <a:rPr lang="en-US" sz="2800" b="0" i="0" u="none" strike="noStrike" dirty="0">
                <a:solidFill>
                  <a:schemeClr val="tx1"/>
                </a:solidFill>
                <a:effectLst/>
                <a:latin typeface="+mn-lt"/>
              </a:rPr>
              <a:t>&gt; μ</a:t>
            </a:r>
            <a:r>
              <a:rPr lang="en-US" sz="2800" b="0" i="0" u="none" strike="noStrike" baseline="-25000" dirty="0">
                <a:solidFill>
                  <a:schemeClr val="tx1"/>
                </a:solidFill>
                <a:effectLst/>
                <a:latin typeface="+mn-lt"/>
              </a:rPr>
              <a:t>2</a:t>
            </a:r>
            <a:endParaRPr lang="en-US" sz="2800" b="0" i="0" u="none" strike="noStrike" dirty="0">
              <a:solidFill>
                <a:schemeClr val="tx1"/>
              </a:solidFill>
              <a:effectLst/>
              <a:latin typeface="+mn-lt"/>
            </a:endParaRPr>
          </a:p>
          <a:p>
            <a:pPr marL="342900" lvl="0" indent="-342900" rtl="0" fontAlgn="base">
              <a:spcBef>
                <a:spcPts val="480"/>
              </a:spcBef>
              <a:buFont typeface="Arial" panose="020B0604020202020204" pitchFamily="34" charset="0"/>
              <a:buChar char="•"/>
            </a:pPr>
            <a:r>
              <a:rPr lang="en-US" sz="2800" b="0" i="0" u="none" strike="noStrike" dirty="0">
                <a:solidFill>
                  <a:schemeClr val="tx1"/>
                </a:solidFill>
                <a:effectLst/>
                <a:latin typeface="+mn-lt"/>
              </a:rPr>
              <a:t>One-sided – lower</a:t>
            </a:r>
          </a:p>
          <a:p>
            <a:pPr marL="742950" lvl="1" indent="-285750" rtl="0" fontAlgn="base">
              <a:spcBef>
                <a:spcPts val="400"/>
              </a:spcBef>
              <a:buFont typeface="Arial" panose="020B0604020202020204" pitchFamily="34" charset="0"/>
              <a:buChar char="•"/>
            </a:pPr>
            <a:r>
              <a:rPr lang="en-US" sz="2800" b="0" i="0" u="none" strike="noStrike" dirty="0">
                <a:solidFill>
                  <a:schemeClr val="tx1"/>
                </a:solidFill>
                <a:effectLst/>
                <a:latin typeface="+mn-lt"/>
              </a:rPr>
              <a:t>H</a:t>
            </a:r>
            <a:r>
              <a:rPr lang="en-US" sz="2800" b="0" i="0" u="none" strike="noStrike" baseline="-25000" dirty="0">
                <a:solidFill>
                  <a:schemeClr val="tx1"/>
                </a:solidFill>
                <a:effectLst/>
                <a:latin typeface="+mn-lt"/>
              </a:rPr>
              <a:t>o</a:t>
            </a:r>
            <a:r>
              <a:rPr lang="en-US" sz="2800" b="0" i="0" u="none" strike="noStrike" dirty="0">
                <a:solidFill>
                  <a:schemeClr val="tx1"/>
                </a:solidFill>
                <a:effectLst/>
                <a:latin typeface="+mn-lt"/>
              </a:rPr>
              <a:t>: μ</a:t>
            </a:r>
            <a:r>
              <a:rPr lang="en-US" sz="2800" b="0" i="0" u="none" strike="noStrike" baseline="-25000" dirty="0">
                <a:solidFill>
                  <a:schemeClr val="tx1"/>
                </a:solidFill>
                <a:effectLst/>
                <a:latin typeface="+mn-lt"/>
              </a:rPr>
              <a:t>1 </a:t>
            </a:r>
            <a:r>
              <a:rPr lang="en-US" sz="2800" b="0" i="0" u="none" strike="noStrike" dirty="0">
                <a:solidFill>
                  <a:schemeClr val="tx1"/>
                </a:solidFill>
                <a:effectLst/>
                <a:latin typeface="+mn-lt"/>
              </a:rPr>
              <a:t>≥ μ</a:t>
            </a:r>
            <a:r>
              <a:rPr lang="en-US" sz="2800" b="0" i="0" u="none" strike="noStrike" baseline="-25000" dirty="0">
                <a:solidFill>
                  <a:schemeClr val="tx1"/>
                </a:solidFill>
                <a:effectLst/>
                <a:latin typeface="+mn-lt"/>
              </a:rPr>
              <a:t>2</a:t>
            </a:r>
            <a:endParaRPr lang="en-US" sz="2800" b="0" i="0" u="none" strike="noStrike" dirty="0">
              <a:solidFill>
                <a:schemeClr val="tx1"/>
              </a:solidFill>
              <a:effectLst/>
              <a:latin typeface="+mn-lt"/>
            </a:endParaRPr>
          </a:p>
          <a:p>
            <a:pPr marL="742950" lvl="1" indent="-285750" rtl="0" fontAlgn="base">
              <a:spcBef>
                <a:spcPts val="400"/>
              </a:spcBef>
              <a:buFont typeface="Arial" panose="020B0604020202020204" pitchFamily="34" charset="0"/>
              <a:buChar char="•"/>
            </a:pPr>
            <a:r>
              <a:rPr lang="en-US" sz="2800" b="0" i="0" u="none" strike="noStrike" dirty="0">
                <a:solidFill>
                  <a:schemeClr val="tx1"/>
                </a:solidFill>
                <a:effectLst/>
                <a:latin typeface="+mn-lt"/>
              </a:rPr>
              <a:t>H</a:t>
            </a:r>
            <a:r>
              <a:rPr lang="en-US" sz="2800" b="0" i="0" u="none" strike="noStrike" baseline="-25000" dirty="0">
                <a:solidFill>
                  <a:schemeClr val="tx1"/>
                </a:solidFill>
                <a:effectLst/>
                <a:latin typeface="+mn-lt"/>
              </a:rPr>
              <a:t>a</a:t>
            </a:r>
            <a:r>
              <a:rPr lang="en-US" sz="2800" b="0" i="0" u="none" strike="noStrike" dirty="0">
                <a:solidFill>
                  <a:schemeClr val="tx1"/>
                </a:solidFill>
                <a:effectLst/>
                <a:latin typeface="+mn-lt"/>
              </a:rPr>
              <a:t>: μ</a:t>
            </a:r>
            <a:r>
              <a:rPr lang="en-US" sz="2800" b="0" i="0" u="none" strike="noStrike" baseline="-25000" dirty="0">
                <a:solidFill>
                  <a:schemeClr val="tx1"/>
                </a:solidFill>
                <a:effectLst/>
                <a:latin typeface="+mn-lt"/>
              </a:rPr>
              <a:t>1 </a:t>
            </a:r>
            <a:r>
              <a:rPr lang="en-US" sz="2800" b="0" i="0" u="none" strike="noStrike" dirty="0">
                <a:solidFill>
                  <a:schemeClr val="tx1"/>
                </a:solidFill>
                <a:effectLst/>
                <a:latin typeface="+mn-lt"/>
              </a:rPr>
              <a:t>&lt; μ</a:t>
            </a:r>
            <a:r>
              <a:rPr lang="en-US" sz="2800" b="0" i="0" u="none" strike="noStrike" baseline="-25000" dirty="0">
                <a:solidFill>
                  <a:schemeClr val="tx1"/>
                </a:solidFill>
                <a:effectLst/>
                <a:latin typeface="+mn-lt"/>
              </a:rPr>
              <a:t>2</a:t>
            </a:r>
            <a:endParaRPr lang="en-US" sz="3200" b="0" i="0" u="none" strike="noStrike" dirty="0">
              <a:solidFill>
                <a:srgbClr val="000000"/>
              </a:solidFill>
              <a:effectLst/>
              <a:latin typeface="Arial" panose="020B0604020202020204" pitchFamily="34" charset="0"/>
            </a:endParaRPr>
          </a:p>
        </p:txBody>
      </p:sp>
      <p:sp>
        <p:nvSpPr>
          <p:cNvPr id="9" name="TextBox 8">
            <a:extLst>
              <a:ext uri="{FF2B5EF4-FFF2-40B4-BE49-F238E27FC236}">
                <a16:creationId xmlns:a16="http://schemas.microsoft.com/office/drawing/2014/main" id="{884D7DFC-EE5C-AC24-EBEB-19EB2A309A59}"/>
              </a:ext>
            </a:extLst>
          </p:cNvPr>
          <p:cNvSpPr txBox="1"/>
          <p:nvPr/>
        </p:nvSpPr>
        <p:spPr>
          <a:xfrm>
            <a:off x="5607423" y="1674674"/>
            <a:ext cx="5274044" cy="4801314"/>
          </a:xfrm>
          <a:prstGeom prst="rect">
            <a:avLst/>
          </a:prstGeom>
          <a:noFill/>
        </p:spPr>
        <p:txBody>
          <a:bodyPr wrap="square" rtlCol="0">
            <a:spAutoFit/>
          </a:bodyPr>
          <a:lstStyle/>
          <a:p>
            <a:r>
              <a:rPr lang="en-US" sz="3200" dirty="0"/>
              <a:t>In a </a:t>
            </a:r>
            <a:r>
              <a:rPr lang="en-US" sz="3200" i="1" dirty="0"/>
              <a:t>one-sided </a:t>
            </a:r>
            <a:r>
              <a:rPr lang="en-US" sz="3200" dirty="0"/>
              <a:t>(or one-tailed) test, the alternative hypothesis includes parameter values on only one side of the value specified by the null hypothesis. H</a:t>
            </a:r>
            <a:r>
              <a:rPr lang="en-US" sz="3200" baseline="-25000" dirty="0"/>
              <a:t>0</a:t>
            </a:r>
            <a:r>
              <a:rPr lang="en-US" sz="3200" dirty="0"/>
              <a:t> is rejected only if the data depart from it in the direction stated by H</a:t>
            </a:r>
            <a:r>
              <a:rPr lang="en-US" sz="3200" baseline="-25000" dirty="0"/>
              <a:t>A</a:t>
            </a:r>
            <a:r>
              <a:rPr lang="en-US" sz="3200" dirty="0"/>
              <a:t>. </a:t>
            </a:r>
          </a:p>
          <a:p>
            <a:endParaRPr lang="en-US" dirty="0"/>
          </a:p>
        </p:txBody>
      </p:sp>
    </p:spTree>
    <p:extLst>
      <p:ext uri="{BB962C8B-B14F-4D97-AF65-F5344CB8AC3E}">
        <p14:creationId xmlns:p14="http://schemas.microsoft.com/office/powerpoint/2010/main" val="18186996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0ECD7-7891-F8FC-D823-D1BD92301B45}"/>
              </a:ext>
            </a:extLst>
          </p:cNvPr>
          <p:cNvSpPr>
            <a:spLocks noGrp="1"/>
          </p:cNvSpPr>
          <p:nvPr>
            <p:ph type="title"/>
          </p:nvPr>
        </p:nvSpPr>
        <p:spPr/>
        <p:txBody>
          <a:bodyPr>
            <a:normAutofit/>
          </a:bodyPr>
          <a:lstStyle/>
          <a:p>
            <a:r>
              <a:rPr lang="en-US" sz="5400" dirty="0"/>
              <a:t>Standard Two-Sample T-Test</a:t>
            </a:r>
          </a:p>
        </p:txBody>
      </p:sp>
      <p:sp>
        <p:nvSpPr>
          <p:cNvPr id="3" name="Content Placeholder 2">
            <a:extLst>
              <a:ext uri="{FF2B5EF4-FFF2-40B4-BE49-F238E27FC236}">
                <a16:creationId xmlns:a16="http://schemas.microsoft.com/office/drawing/2014/main" id="{5719F76F-B0F7-07EA-9BC9-DE18C59360C7}"/>
              </a:ext>
            </a:extLst>
          </p:cNvPr>
          <p:cNvSpPr>
            <a:spLocks noGrp="1"/>
          </p:cNvSpPr>
          <p:nvPr>
            <p:ph idx="1"/>
          </p:nvPr>
        </p:nvSpPr>
        <p:spPr>
          <a:xfrm>
            <a:off x="838200" y="1825625"/>
            <a:ext cx="6436659" cy="4351338"/>
          </a:xfrm>
        </p:spPr>
        <p:txBody>
          <a:bodyPr/>
          <a:lstStyle/>
          <a:p>
            <a:r>
              <a:rPr lang="en-US" sz="3200" dirty="0"/>
              <a:t>Somewhat complicated calculations – statistical programs and code will often take care of these for you! </a:t>
            </a:r>
          </a:p>
          <a:p>
            <a:r>
              <a:rPr lang="en-US" sz="3200" dirty="0"/>
              <a:t>By using these we assume that </a:t>
            </a:r>
          </a:p>
          <a:p>
            <a:pPr lvl="1"/>
            <a:r>
              <a:rPr lang="en-US" sz="2800" dirty="0"/>
              <a:t>Samples are random</a:t>
            </a:r>
          </a:p>
          <a:p>
            <a:pPr lvl="1"/>
            <a:r>
              <a:rPr lang="en-US" sz="2800" dirty="0"/>
              <a:t>Variable is normally distributed</a:t>
            </a:r>
          </a:p>
          <a:p>
            <a:pPr lvl="1"/>
            <a:r>
              <a:rPr lang="en-US" sz="2800" dirty="0"/>
              <a:t>Standard deviation/variance is the same in both populations</a:t>
            </a:r>
          </a:p>
          <a:p>
            <a:pPr lvl="1"/>
            <a:endParaRPr lang="en-US" dirty="0"/>
          </a:p>
        </p:txBody>
      </p:sp>
      <p:pic>
        <p:nvPicPr>
          <p:cNvPr id="4" name="Picture 3">
            <a:extLst>
              <a:ext uri="{FF2B5EF4-FFF2-40B4-BE49-F238E27FC236}">
                <a16:creationId xmlns:a16="http://schemas.microsoft.com/office/drawing/2014/main" id="{A86A6711-0891-5A4A-BC31-EE11190B78AA}"/>
              </a:ext>
            </a:extLst>
          </p:cNvPr>
          <p:cNvPicPr>
            <a:picLocks noChangeAspect="1"/>
          </p:cNvPicPr>
          <p:nvPr/>
        </p:nvPicPr>
        <p:blipFill>
          <a:blip r:embed="rId3"/>
          <a:stretch>
            <a:fillRect/>
          </a:stretch>
        </p:blipFill>
        <p:spPr>
          <a:xfrm>
            <a:off x="8020755" y="1687047"/>
            <a:ext cx="3235549" cy="1015812"/>
          </a:xfrm>
          <a:prstGeom prst="rect">
            <a:avLst/>
          </a:prstGeom>
        </p:spPr>
      </p:pic>
      <p:pic>
        <p:nvPicPr>
          <p:cNvPr id="5" name="Picture 4">
            <a:extLst>
              <a:ext uri="{FF2B5EF4-FFF2-40B4-BE49-F238E27FC236}">
                <a16:creationId xmlns:a16="http://schemas.microsoft.com/office/drawing/2014/main" id="{E3B613E9-4F6C-DACD-509C-1AC9151E81DC}"/>
              </a:ext>
            </a:extLst>
          </p:cNvPr>
          <p:cNvPicPr>
            <a:picLocks noChangeAspect="1"/>
          </p:cNvPicPr>
          <p:nvPr/>
        </p:nvPicPr>
        <p:blipFill>
          <a:blip r:embed="rId4"/>
          <a:stretch>
            <a:fillRect/>
          </a:stretch>
        </p:blipFill>
        <p:spPr>
          <a:xfrm>
            <a:off x="7893755" y="3205426"/>
            <a:ext cx="3453159" cy="1137973"/>
          </a:xfrm>
          <a:prstGeom prst="rect">
            <a:avLst/>
          </a:prstGeom>
        </p:spPr>
      </p:pic>
      <p:pic>
        <p:nvPicPr>
          <p:cNvPr id="6" name="Picture 5">
            <a:extLst>
              <a:ext uri="{FF2B5EF4-FFF2-40B4-BE49-F238E27FC236}">
                <a16:creationId xmlns:a16="http://schemas.microsoft.com/office/drawing/2014/main" id="{D5DEC252-44F4-8BBF-B523-A1FA73637CBF}"/>
              </a:ext>
            </a:extLst>
          </p:cNvPr>
          <p:cNvPicPr>
            <a:picLocks noChangeAspect="1"/>
          </p:cNvPicPr>
          <p:nvPr/>
        </p:nvPicPr>
        <p:blipFill>
          <a:blip r:embed="rId5"/>
          <a:stretch>
            <a:fillRect/>
          </a:stretch>
        </p:blipFill>
        <p:spPr>
          <a:xfrm>
            <a:off x="7893755" y="4907170"/>
            <a:ext cx="3580111" cy="950967"/>
          </a:xfrm>
          <a:prstGeom prst="rect">
            <a:avLst/>
          </a:prstGeom>
        </p:spPr>
      </p:pic>
    </p:spTree>
    <p:extLst>
      <p:ext uri="{BB962C8B-B14F-4D97-AF65-F5344CB8AC3E}">
        <p14:creationId xmlns:p14="http://schemas.microsoft.com/office/powerpoint/2010/main" val="427121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196F3-5935-48CB-BE33-8367234CBBB1}"/>
              </a:ext>
            </a:extLst>
          </p:cNvPr>
          <p:cNvSpPr>
            <a:spLocks noGrp="1"/>
          </p:cNvSpPr>
          <p:nvPr>
            <p:ph type="title"/>
          </p:nvPr>
        </p:nvSpPr>
        <p:spPr/>
        <p:txBody>
          <a:bodyPr>
            <a:normAutofit/>
          </a:bodyPr>
          <a:lstStyle/>
          <a:p>
            <a:r>
              <a:rPr lang="en-US" sz="5400" dirty="0"/>
              <a:t>Welch’s T-Test</a:t>
            </a:r>
          </a:p>
        </p:txBody>
      </p:sp>
      <p:sp>
        <p:nvSpPr>
          <p:cNvPr id="3" name="Content Placeholder 2">
            <a:extLst>
              <a:ext uri="{FF2B5EF4-FFF2-40B4-BE49-F238E27FC236}">
                <a16:creationId xmlns:a16="http://schemas.microsoft.com/office/drawing/2014/main" id="{1B906B6D-931B-2A88-A3CA-C08851C04BE7}"/>
              </a:ext>
            </a:extLst>
          </p:cNvPr>
          <p:cNvSpPr>
            <a:spLocks noGrp="1"/>
          </p:cNvSpPr>
          <p:nvPr>
            <p:ph idx="1"/>
          </p:nvPr>
        </p:nvSpPr>
        <p:spPr/>
        <p:txBody>
          <a:bodyPr/>
          <a:lstStyle/>
          <a:p>
            <a:r>
              <a:rPr lang="en-US" sz="3600" dirty="0"/>
              <a:t>If there is more than a threefold difference in standard deviations, or if the sample sizes of the two groups are very different or less than 30 with some difference in standard deviations, then the Welch’s approximate t-test </a:t>
            </a:r>
          </a:p>
          <a:p>
            <a:r>
              <a:rPr lang="en-US" sz="3600" dirty="0"/>
              <a:t>Welch’s t-test is performed just like a two-sample t-test, with some modifications:  </a:t>
            </a:r>
          </a:p>
          <a:p>
            <a:endParaRPr lang="en-US" dirty="0"/>
          </a:p>
          <a:p>
            <a:endParaRPr lang="en-US" dirty="0"/>
          </a:p>
          <a:p>
            <a:endParaRPr lang="en-US" dirty="0"/>
          </a:p>
        </p:txBody>
      </p:sp>
      <p:pic>
        <p:nvPicPr>
          <p:cNvPr id="6" name="Picture 5">
            <a:extLst>
              <a:ext uri="{FF2B5EF4-FFF2-40B4-BE49-F238E27FC236}">
                <a16:creationId xmlns:a16="http://schemas.microsoft.com/office/drawing/2014/main" id="{006E909E-D9EA-638E-2CA5-4688F6E2F025}"/>
              </a:ext>
            </a:extLst>
          </p:cNvPr>
          <p:cNvPicPr>
            <a:picLocks noChangeAspect="1"/>
          </p:cNvPicPr>
          <p:nvPr/>
        </p:nvPicPr>
        <p:blipFill>
          <a:blip r:embed="rId2"/>
          <a:stretch>
            <a:fillRect/>
          </a:stretch>
        </p:blipFill>
        <p:spPr>
          <a:xfrm>
            <a:off x="7886836" y="5194767"/>
            <a:ext cx="3466964" cy="1117133"/>
          </a:xfrm>
          <a:prstGeom prst="rect">
            <a:avLst/>
          </a:prstGeom>
          <a:ln w="28575">
            <a:solidFill>
              <a:schemeClr val="accent6">
                <a:lumMod val="75000"/>
              </a:schemeClr>
            </a:solidFill>
          </a:ln>
        </p:spPr>
      </p:pic>
      <p:pic>
        <p:nvPicPr>
          <p:cNvPr id="8" name="Picture 7">
            <a:extLst>
              <a:ext uri="{FF2B5EF4-FFF2-40B4-BE49-F238E27FC236}">
                <a16:creationId xmlns:a16="http://schemas.microsoft.com/office/drawing/2014/main" id="{77F39AF8-7E82-A4CE-D1D9-3BD929CCC039}"/>
              </a:ext>
            </a:extLst>
          </p:cNvPr>
          <p:cNvPicPr>
            <a:picLocks noChangeAspect="1"/>
          </p:cNvPicPr>
          <p:nvPr/>
        </p:nvPicPr>
        <p:blipFill>
          <a:blip r:embed="rId3">
            <a:alphaModFix amt="70000"/>
          </a:blip>
          <a:stretch>
            <a:fillRect/>
          </a:stretch>
        </p:blipFill>
        <p:spPr>
          <a:xfrm rot="19817264">
            <a:off x="9639577" y="-90025"/>
            <a:ext cx="2471234" cy="2471234"/>
          </a:xfrm>
          <a:prstGeom prst="rect">
            <a:avLst/>
          </a:prstGeom>
        </p:spPr>
      </p:pic>
    </p:spTree>
    <p:extLst>
      <p:ext uri="{BB962C8B-B14F-4D97-AF65-F5344CB8AC3E}">
        <p14:creationId xmlns:p14="http://schemas.microsoft.com/office/powerpoint/2010/main" val="1648296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232EF-CAC9-1244-F22B-993AF31CDA3E}"/>
              </a:ext>
            </a:extLst>
          </p:cNvPr>
          <p:cNvSpPr>
            <a:spLocks noGrp="1"/>
          </p:cNvSpPr>
          <p:nvPr>
            <p:ph type="title"/>
          </p:nvPr>
        </p:nvSpPr>
        <p:spPr/>
        <p:txBody>
          <a:bodyPr>
            <a:normAutofit/>
          </a:bodyPr>
          <a:lstStyle/>
          <a:p>
            <a:r>
              <a:rPr lang="en-US" sz="5400" dirty="0"/>
              <a:t>T-Tests</a:t>
            </a:r>
          </a:p>
        </p:txBody>
      </p:sp>
      <p:pic>
        <p:nvPicPr>
          <p:cNvPr id="4" name="Picture 3">
            <a:extLst>
              <a:ext uri="{FF2B5EF4-FFF2-40B4-BE49-F238E27FC236}">
                <a16:creationId xmlns:a16="http://schemas.microsoft.com/office/drawing/2014/main" id="{DBC1AAAB-95C8-3A85-D9B3-6EFCEEF2FE25}"/>
              </a:ext>
            </a:extLst>
          </p:cNvPr>
          <p:cNvPicPr>
            <a:picLocks noChangeAspect="1"/>
          </p:cNvPicPr>
          <p:nvPr/>
        </p:nvPicPr>
        <p:blipFill>
          <a:blip r:embed="rId3"/>
          <a:stretch>
            <a:fillRect/>
          </a:stretch>
        </p:blipFill>
        <p:spPr>
          <a:xfrm>
            <a:off x="8912576" y="765124"/>
            <a:ext cx="2184400" cy="685800"/>
          </a:xfrm>
          <a:prstGeom prst="rect">
            <a:avLst/>
          </a:prstGeom>
        </p:spPr>
      </p:pic>
      <p:sp>
        <p:nvSpPr>
          <p:cNvPr id="6" name="TextBox 5">
            <a:extLst>
              <a:ext uri="{FF2B5EF4-FFF2-40B4-BE49-F238E27FC236}">
                <a16:creationId xmlns:a16="http://schemas.microsoft.com/office/drawing/2014/main" id="{7E3C5C7A-66EF-D308-D8CC-16E1841E775D}"/>
              </a:ext>
            </a:extLst>
          </p:cNvPr>
          <p:cNvSpPr txBox="1"/>
          <p:nvPr/>
        </p:nvSpPr>
        <p:spPr>
          <a:xfrm>
            <a:off x="704811" y="3697693"/>
            <a:ext cx="6096000" cy="2400657"/>
          </a:xfrm>
          <a:prstGeom prst="rect">
            <a:avLst/>
          </a:prstGeom>
          <a:noFill/>
        </p:spPr>
        <p:txBody>
          <a:bodyPr wrap="square">
            <a:spAutoFit/>
          </a:bodyPr>
          <a:lstStyle/>
          <a:p>
            <a:pPr marL="342900" lvl="0" indent="-342900" rtl="0" fontAlgn="base">
              <a:buFont typeface="Arial" panose="020B0604020202020204" pitchFamily="34" charset="0"/>
              <a:buChar char="•"/>
            </a:pPr>
            <a:r>
              <a:rPr lang="en-US" sz="2800" b="0" i="0" u="none" strike="noStrike" dirty="0">
                <a:solidFill>
                  <a:schemeClr val="tx1"/>
                </a:solidFill>
                <a:effectLst/>
                <a:latin typeface="+mn-lt"/>
              </a:rPr>
              <a:t>Degrees of Freedom (</a:t>
            </a:r>
            <a:r>
              <a:rPr lang="en-US" sz="2800" b="0" i="0" u="none" strike="noStrike" dirty="0" err="1">
                <a:solidFill>
                  <a:schemeClr val="tx1"/>
                </a:solidFill>
                <a:effectLst/>
                <a:latin typeface="+mn-lt"/>
              </a:rPr>
              <a:t>df</a:t>
            </a:r>
            <a:r>
              <a:rPr lang="en-US" sz="2800" b="0" i="0" u="none" strike="noStrike" dirty="0">
                <a:solidFill>
                  <a:schemeClr val="tx1"/>
                </a:solidFill>
                <a:effectLst/>
                <a:latin typeface="+mn-lt"/>
              </a:rPr>
              <a:t>)</a:t>
            </a:r>
          </a:p>
          <a:p>
            <a:pPr marL="742950" lvl="1" indent="-285750" rtl="0" fontAlgn="base">
              <a:spcBef>
                <a:spcPts val="400"/>
              </a:spcBef>
              <a:buFont typeface="Arial" panose="020B0604020202020204" pitchFamily="34" charset="0"/>
              <a:buChar char="•"/>
            </a:pPr>
            <a:r>
              <a:rPr lang="en-US" sz="2800" b="0" i="0" u="none" strike="noStrike" dirty="0">
                <a:solidFill>
                  <a:schemeClr val="tx1"/>
                </a:solidFill>
                <a:effectLst/>
                <a:latin typeface="+mn-lt"/>
              </a:rPr>
              <a:t>Homogeneity of Variance</a:t>
            </a:r>
          </a:p>
          <a:p>
            <a:pPr marL="1143000" lvl="2" indent="-228600" rtl="0" fontAlgn="base">
              <a:spcBef>
                <a:spcPts val="360"/>
              </a:spcBef>
              <a:buFont typeface="Arial" panose="020B0604020202020204" pitchFamily="34" charset="0"/>
              <a:buChar char="•"/>
            </a:pPr>
            <a:r>
              <a:rPr lang="en-US" sz="2800" b="0" i="0" u="none" strike="noStrike" dirty="0">
                <a:solidFill>
                  <a:schemeClr val="tx1"/>
                </a:solidFill>
                <a:effectLst/>
                <a:latin typeface="+mn-lt"/>
              </a:rPr>
              <a:t>n</a:t>
            </a:r>
            <a:r>
              <a:rPr lang="en-US" sz="2800" b="0" i="0" u="none" strike="noStrike" baseline="-25000" dirty="0">
                <a:solidFill>
                  <a:schemeClr val="tx1"/>
                </a:solidFill>
                <a:effectLst/>
                <a:latin typeface="+mn-lt"/>
              </a:rPr>
              <a:t>1</a:t>
            </a:r>
            <a:r>
              <a:rPr lang="en-US" sz="2800" b="0" i="0" u="none" strike="noStrike" dirty="0">
                <a:solidFill>
                  <a:schemeClr val="tx1"/>
                </a:solidFill>
                <a:effectLst/>
                <a:latin typeface="+mn-lt"/>
              </a:rPr>
              <a:t>+n</a:t>
            </a:r>
            <a:r>
              <a:rPr lang="en-US" sz="2800" b="0" i="0" u="none" strike="noStrike" baseline="-25000" dirty="0">
                <a:solidFill>
                  <a:schemeClr val="tx1"/>
                </a:solidFill>
                <a:effectLst/>
                <a:latin typeface="+mn-lt"/>
              </a:rPr>
              <a:t>2</a:t>
            </a:r>
            <a:r>
              <a:rPr lang="en-US" sz="2800" b="0" i="0" u="none" strike="noStrike" dirty="0">
                <a:solidFill>
                  <a:schemeClr val="tx1"/>
                </a:solidFill>
                <a:effectLst/>
                <a:latin typeface="+mn-lt"/>
              </a:rPr>
              <a:t> – 2</a:t>
            </a:r>
          </a:p>
          <a:p>
            <a:pPr marL="742950" lvl="1" indent="-285750" rtl="0" fontAlgn="base">
              <a:spcBef>
                <a:spcPts val="400"/>
              </a:spcBef>
              <a:buFont typeface="Arial" panose="020B0604020202020204" pitchFamily="34" charset="0"/>
              <a:buChar char="•"/>
            </a:pPr>
            <a:r>
              <a:rPr lang="en-US" sz="2800" b="0" i="0" u="none" strike="noStrike" dirty="0">
                <a:solidFill>
                  <a:schemeClr val="tx1"/>
                </a:solidFill>
                <a:effectLst/>
                <a:latin typeface="+mn-lt"/>
              </a:rPr>
              <a:t>No homogeneity of variance (Welch)</a:t>
            </a:r>
            <a:endParaRPr lang="en-US" sz="2800" b="0" i="0" u="none" strike="noStrike" dirty="0">
              <a:solidFill>
                <a:srgbClr val="000000"/>
              </a:solidFill>
              <a:effectLst/>
              <a:latin typeface="Arial" panose="020B0604020202020204" pitchFamily="34" charset="0"/>
            </a:endParaRPr>
          </a:p>
        </p:txBody>
      </p:sp>
      <p:pic>
        <p:nvPicPr>
          <p:cNvPr id="7" name="Picture 6">
            <a:extLst>
              <a:ext uri="{FF2B5EF4-FFF2-40B4-BE49-F238E27FC236}">
                <a16:creationId xmlns:a16="http://schemas.microsoft.com/office/drawing/2014/main" id="{A785F693-1CF6-3A1A-DCA7-8A7CB4A48078}"/>
              </a:ext>
            </a:extLst>
          </p:cNvPr>
          <p:cNvPicPr>
            <a:picLocks noChangeAspect="1"/>
          </p:cNvPicPr>
          <p:nvPr/>
        </p:nvPicPr>
        <p:blipFill>
          <a:blip r:embed="rId4"/>
          <a:stretch>
            <a:fillRect/>
          </a:stretch>
        </p:blipFill>
        <p:spPr>
          <a:xfrm>
            <a:off x="5673334" y="3757110"/>
            <a:ext cx="2386935" cy="2052764"/>
          </a:xfrm>
          <a:prstGeom prst="rect">
            <a:avLst/>
          </a:prstGeom>
        </p:spPr>
      </p:pic>
      <p:sp>
        <p:nvSpPr>
          <p:cNvPr id="9" name="TextBox 8">
            <a:extLst>
              <a:ext uri="{FF2B5EF4-FFF2-40B4-BE49-F238E27FC236}">
                <a16:creationId xmlns:a16="http://schemas.microsoft.com/office/drawing/2014/main" id="{C4C269DD-42A0-BE17-8747-2801F4E4189B}"/>
              </a:ext>
            </a:extLst>
          </p:cNvPr>
          <p:cNvSpPr txBox="1"/>
          <p:nvPr/>
        </p:nvSpPr>
        <p:spPr>
          <a:xfrm>
            <a:off x="703152" y="6231265"/>
            <a:ext cx="6096000" cy="523220"/>
          </a:xfrm>
          <a:prstGeom prst="rect">
            <a:avLst/>
          </a:prstGeom>
          <a:noFill/>
        </p:spPr>
        <p:txBody>
          <a:bodyPr wrap="square">
            <a:spAutoFit/>
          </a:bodyPr>
          <a:lstStyle/>
          <a:p>
            <a:r>
              <a:rPr lang="en-US" sz="2800" b="0" i="0" u="none" strike="noStrike" dirty="0">
                <a:solidFill>
                  <a:schemeClr val="tx1"/>
                </a:solidFill>
                <a:effectLst/>
                <a:latin typeface="+mn-lt"/>
              </a:rPr>
              <a:t>If </a:t>
            </a:r>
            <a:r>
              <a:rPr lang="en-US" sz="2800" b="0" i="0" u="none" strike="noStrike" dirty="0" err="1">
                <a:solidFill>
                  <a:schemeClr val="tx1"/>
                </a:solidFill>
                <a:effectLst/>
                <a:latin typeface="+mn-lt"/>
              </a:rPr>
              <a:t>t</a:t>
            </a:r>
            <a:r>
              <a:rPr lang="en-US" sz="2800" b="0" i="0" u="none" strike="noStrike" baseline="-25000" dirty="0" err="1">
                <a:solidFill>
                  <a:schemeClr val="tx1"/>
                </a:solidFill>
                <a:effectLst/>
                <a:latin typeface="+mn-lt"/>
              </a:rPr>
              <a:t>calc</a:t>
            </a:r>
            <a:r>
              <a:rPr lang="en-US" sz="2800" b="0" i="0" u="none" strike="noStrike" dirty="0">
                <a:solidFill>
                  <a:schemeClr val="tx1"/>
                </a:solidFill>
                <a:effectLst/>
                <a:latin typeface="+mn-lt"/>
              </a:rPr>
              <a:t> &gt; t</a:t>
            </a:r>
            <a:r>
              <a:rPr lang="en-US" sz="2800" b="0" i="0" u="none" strike="noStrike" baseline="-25000" dirty="0">
                <a:solidFill>
                  <a:schemeClr val="tx1"/>
                </a:solidFill>
                <a:effectLst/>
                <a:latin typeface="+mn-lt"/>
              </a:rPr>
              <a:t>α,</a:t>
            </a:r>
            <a:r>
              <a:rPr lang="en-US" sz="2800" b="0" i="0" u="none" strike="noStrike" baseline="-25000" dirty="0" err="1">
                <a:solidFill>
                  <a:schemeClr val="tx1"/>
                </a:solidFill>
                <a:effectLst/>
                <a:latin typeface="+mn-lt"/>
              </a:rPr>
              <a:t>df</a:t>
            </a:r>
            <a:r>
              <a:rPr lang="en-US" sz="2800" b="0" i="0" u="none" strike="noStrike" baseline="-25000" dirty="0">
                <a:solidFill>
                  <a:schemeClr val="tx1"/>
                </a:solidFill>
                <a:effectLst/>
                <a:latin typeface="+mn-lt"/>
              </a:rPr>
              <a:t>, </a:t>
            </a:r>
            <a:r>
              <a:rPr lang="en-US" sz="2800" b="0" i="0" u="none" strike="noStrike" dirty="0">
                <a:solidFill>
                  <a:schemeClr val="tx1"/>
                </a:solidFill>
                <a:effectLst/>
                <a:latin typeface="+mn-lt"/>
              </a:rPr>
              <a:t>then reject null</a:t>
            </a:r>
            <a:endParaRPr lang="en-US" sz="2800" dirty="0"/>
          </a:p>
        </p:txBody>
      </p:sp>
      <p:pic>
        <p:nvPicPr>
          <p:cNvPr id="10" name="Picture 9">
            <a:extLst>
              <a:ext uri="{FF2B5EF4-FFF2-40B4-BE49-F238E27FC236}">
                <a16:creationId xmlns:a16="http://schemas.microsoft.com/office/drawing/2014/main" id="{B90D3F1D-CB94-DCE2-D622-2D6FE555EA46}"/>
              </a:ext>
            </a:extLst>
          </p:cNvPr>
          <p:cNvPicPr>
            <a:picLocks noChangeAspect="1"/>
          </p:cNvPicPr>
          <p:nvPr/>
        </p:nvPicPr>
        <p:blipFill>
          <a:blip r:embed="rId5"/>
          <a:stretch>
            <a:fillRect/>
          </a:stretch>
        </p:blipFill>
        <p:spPr>
          <a:xfrm>
            <a:off x="8373200" y="1896960"/>
            <a:ext cx="3263153" cy="4826747"/>
          </a:xfrm>
          <a:prstGeom prst="rect">
            <a:avLst/>
          </a:prstGeom>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9C142B26-5AE5-0ED6-1B09-8CEE56D8A7FE}"/>
                  </a:ext>
                </a:extLst>
              </p:cNvPr>
              <p:cNvSpPr txBox="1"/>
              <p:nvPr/>
            </p:nvSpPr>
            <p:spPr>
              <a:xfrm>
                <a:off x="704811" y="1450924"/>
                <a:ext cx="6653932" cy="2246769"/>
              </a:xfrm>
              <a:prstGeom prst="rect">
                <a:avLst/>
              </a:prstGeom>
              <a:noFill/>
            </p:spPr>
            <p:txBody>
              <a:bodyPr wrap="square" rtlCol="0">
                <a:spAutoFit/>
              </a:bodyPr>
              <a:lstStyle/>
              <a:p>
                <a:r>
                  <a:rPr lang="en-US" sz="2800" dirty="0"/>
                  <a:t>You’ve calculated your test statistic– now come to a t-distribution chart and take a look under your degrees of freedom and the value of </a:t>
                </a:r>
                <a14:m>
                  <m:oMath xmlns:m="http://schemas.openxmlformats.org/officeDocument/2006/math">
                    <m:r>
                      <a:rPr lang="en-US" sz="2800" i="1" smtClean="0">
                        <a:latin typeface="Cambria Math" panose="02040503050406030204" pitchFamily="18" charset="0"/>
                        <a:ea typeface="Cambria Math" panose="02040503050406030204" pitchFamily="18" charset="0"/>
                      </a:rPr>
                      <m:t>𝛼</m:t>
                    </m:r>
                  </m:oMath>
                </a14:m>
                <a:r>
                  <a:rPr lang="en-US" sz="2800" dirty="0"/>
                  <a:t> that you previously determined (it’s usually 0.05)</a:t>
                </a:r>
              </a:p>
            </p:txBody>
          </p:sp>
        </mc:Choice>
        <mc:Fallback>
          <p:sp>
            <p:nvSpPr>
              <p:cNvPr id="11" name="TextBox 10">
                <a:extLst>
                  <a:ext uri="{FF2B5EF4-FFF2-40B4-BE49-F238E27FC236}">
                    <a16:creationId xmlns:a16="http://schemas.microsoft.com/office/drawing/2014/main" id="{9C142B26-5AE5-0ED6-1B09-8CEE56D8A7FE}"/>
                  </a:ext>
                </a:extLst>
              </p:cNvPr>
              <p:cNvSpPr txBox="1">
                <a:spLocks noRot="1" noChangeAspect="1" noMove="1" noResize="1" noEditPoints="1" noAdjustHandles="1" noChangeArrowheads="1" noChangeShapeType="1" noTextEdit="1"/>
              </p:cNvSpPr>
              <p:nvPr/>
            </p:nvSpPr>
            <p:spPr>
              <a:xfrm>
                <a:off x="704811" y="1450924"/>
                <a:ext cx="6653932" cy="2246769"/>
              </a:xfrm>
              <a:prstGeom prst="rect">
                <a:avLst/>
              </a:prstGeom>
              <a:blipFill>
                <a:blip r:embed="rId6"/>
                <a:stretch>
                  <a:fillRect l="-1905" t="-3371" r="-190" b="-6180"/>
                </a:stretch>
              </a:blipFill>
            </p:spPr>
            <p:txBody>
              <a:bodyPr/>
              <a:lstStyle/>
              <a:p>
                <a:r>
                  <a:rPr lang="en-US">
                    <a:noFill/>
                  </a:rPr>
                  <a:t> </a:t>
                </a:r>
              </a:p>
            </p:txBody>
          </p:sp>
        </mc:Fallback>
      </mc:AlternateContent>
      <p:sp>
        <p:nvSpPr>
          <p:cNvPr id="14" name="Curved Up Arrow 13">
            <a:extLst>
              <a:ext uri="{FF2B5EF4-FFF2-40B4-BE49-F238E27FC236}">
                <a16:creationId xmlns:a16="http://schemas.microsoft.com/office/drawing/2014/main" id="{3DAE4BB8-4FF8-A69C-1D58-EE1F5119A2A3}"/>
              </a:ext>
            </a:extLst>
          </p:cNvPr>
          <p:cNvSpPr/>
          <p:nvPr/>
        </p:nvSpPr>
        <p:spPr>
          <a:xfrm rot="20764674">
            <a:off x="3444817" y="5420281"/>
            <a:ext cx="3016624" cy="779185"/>
          </a:xfrm>
          <a:prstGeom prst="curvedUp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51052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4038B-FFC6-1583-1832-58213039CE23}"/>
              </a:ext>
            </a:extLst>
          </p:cNvPr>
          <p:cNvSpPr>
            <a:spLocks noGrp="1"/>
          </p:cNvSpPr>
          <p:nvPr>
            <p:ph type="title"/>
          </p:nvPr>
        </p:nvSpPr>
        <p:spPr/>
        <p:txBody>
          <a:bodyPr>
            <a:normAutofit/>
          </a:bodyPr>
          <a:lstStyle/>
          <a:p>
            <a:r>
              <a:rPr lang="en-US" sz="5400" dirty="0"/>
              <a:t>Errors in Hypothesis Testing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94AF999-625D-5066-A186-F7832191DC2C}"/>
                  </a:ext>
                </a:extLst>
              </p:cNvPr>
              <p:cNvSpPr>
                <a:spLocks noGrp="1"/>
              </p:cNvSpPr>
              <p:nvPr>
                <p:ph idx="1"/>
              </p:nvPr>
            </p:nvSpPr>
            <p:spPr/>
            <p:txBody>
              <a:bodyPr>
                <a:normAutofit fontScale="92500" lnSpcReduction="20000"/>
              </a:bodyPr>
              <a:lstStyle/>
              <a:p>
                <a:pPr marL="0" lvl="0" indent="0" fontAlgn="base">
                  <a:buNone/>
                </a:pPr>
                <a:r>
                  <a:rPr lang="en-US" sz="3200" dirty="0"/>
                  <a:t>We are using estimates to infer about a population – we can be wrong!</a:t>
                </a:r>
              </a:p>
              <a:p>
                <a:pPr marL="0" lvl="0" indent="0" fontAlgn="base">
                  <a:buNone/>
                </a:pPr>
                <a:r>
                  <a:rPr lang="en-US" sz="3200" b="1" dirty="0"/>
                  <a:t>Type I Error: </a:t>
                </a:r>
                <a:r>
                  <a:rPr lang="en-US" sz="3200" dirty="0"/>
                  <a:t>rejecting a null when it is true</a:t>
                </a:r>
              </a:p>
              <a:p>
                <a:pPr lvl="1" fontAlgn="base"/>
                <a:r>
                  <a:rPr lang="en-US" sz="2800" dirty="0"/>
                  <a:t> </a:t>
                </a:r>
                <a14:m>
                  <m:oMath xmlns:m="http://schemas.openxmlformats.org/officeDocument/2006/math">
                    <m:r>
                      <a:rPr lang="en-US" sz="2800" i="1" smtClean="0">
                        <a:latin typeface="Cambria Math" panose="02040503050406030204" pitchFamily="18" charset="0"/>
                        <a:ea typeface="Cambria Math" panose="02040503050406030204" pitchFamily="18" charset="0"/>
                      </a:rPr>
                      <m:t>𝛼</m:t>
                    </m:r>
                  </m:oMath>
                </a14:m>
                <a:r>
                  <a:rPr lang="en-US" sz="2800" dirty="0"/>
                  <a:t> = P(Type I Error)</a:t>
                </a:r>
              </a:p>
              <a:p>
                <a:r>
                  <a:rPr lang="en-US" sz="3200" dirty="0"/>
                  <a:t>The significance level, α, gives us the probability of committing a Type I error. </a:t>
                </a:r>
              </a:p>
              <a:p>
                <a:r>
                  <a:rPr lang="en-US" sz="3200" dirty="0"/>
                  <a:t>If we use a significance level of α=0.05, then we reject H</a:t>
                </a:r>
                <a:r>
                  <a:rPr lang="en-US" sz="3200" baseline="-25000" dirty="0"/>
                  <a:t>0</a:t>
                </a:r>
                <a:r>
                  <a:rPr lang="en-US" sz="3200" dirty="0"/>
                  <a:t> whenever P is less than or equal to 0.05 </a:t>
                </a:r>
              </a:p>
              <a:p>
                <a:r>
                  <a:rPr lang="en-US" sz="3200" dirty="0"/>
                  <a:t>This means that, if the null hypothesis were true, we would reject it mistakenly one time in 20. </a:t>
                </a:r>
              </a:p>
              <a:p>
                <a:pPr lvl="1"/>
                <a:r>
                  <a:rPr lang="en-US" sz="2800" dirty="0"/>
                  <a:t>an acceptable error rate </a:t>
                </a:r>
              </a:p>
            </p:txBody>
          </p:sp>
        </mc:Choice>
        <mc:Fallback>
          <p:sp>
            <p:nvSpPr>
              <p:cNvPr id="3" name="Content Placeholder 2">
                <a:extLst>
                  <a:ext uri="{FF2B5EF4-FFF2-40B4-BE49-F238E27FC236}">
                    <a16:creationId xmlns:a16="http://schemas.microsoft.com/office/drawing/2014/main" id="{A94AF999-625D-5066-A186-F7832191DC2C}"/>
                  </a:ext>
                </a:extLst>
              </p:cNvPr>
              <p:cNvSpPr>
                <a:spLocks noGrp="1" noRot="1" noChangeAspect="1" noMove="1" noResize="1" noEditPoints="1" noAdjustHandles="1" noChangeArrowheads="1" noChangeShapeType="1" noTextEdit="1"/>
              </p:cNvSpPr>
              <p:nvPr>
                <p:ph idx="1"/>
              </p:nvPr>
            </p:nvSpPr>
            <p:spPr>
              <a:blipFill>
                <a:blip r:embed="rId2"/>
                <a:stretch>
                  <a:fillRect l="-1327" t="-4070" r="-724"/>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F502F390-CCE7-8936-B6E1-34282D36F718}"/>
              </a:ext>
            </a:extLst>
          </p:cNvPr>
          <p:cNvPicPr>
            <a:picLocks noChangeAspect="1"/>
          </p:cNvPicPr>
          <p:nvPr/>
        </p:nvPicPr>
        <p:blipFill>
          <a:blip r:embed="rId3"/>
          <a:stretch>
            <a:fillRect/>
          </a:stretch>
        </p:blipFill>
        <p:spPr>
          <a:xfrm>
            <a:off x="10515600" y="75406"/>
            <a:ext cx="1676400" cy="1905000"/>
          </a:xfrm>
          <a:prstGeom prst="rect">
            <a:avLst/>
          </a:prstGeom>
        </p:spPr>
      </p:pic>
    </p:spTree>
    <p:extLst>
      <p:ext uri="{BB962C8B-B14F-4D97-AF65-F5344CB8AC3E}">
        <p14:creationId xmlns:p14="http://schemas.microsoft.com/office/powerpoint/2010/main" val="2226878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3F546-850D-0953-DBEF-8ED63B6C63AF}"/>
              </a:ext>
            </a:extLst>
          </p:cNvPr>
          <p:cNvSpPr>
            <a:spLocks noGrp="1"/>
          </p:cNvSpPr>
          <p:nvPr>
            <p:ph type="title"/>
          </p:nvPr>
        </p:nvSpPr>
        <p:spPr/>
        <p:txBody>
          <a:bodyPr>
            <a:normAutofit/>
          </a:bodyPr>
          <a:lstStyle/>
          <a:p>
            <a:r>
              <a:rPr lang="en-US" sz="5400" dirty="0"/>
              <a:t>Errors in Hypothesis Testing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B8FE82F-B835-3C89-9B35-E1CA4828A56F}"/>
                  </a:ext>
                </a:extLst>
              </p:cNvPr>
              <p:cNvSpPr>
                <a:spLocks noGrp="1"/>
              </p:cNvSpPr>
              <p:nvPr>
                <p:ph idx="1"/>
              </p:nvPr>
            </p:nvSpPr>
            <p:spPr/>
            <p:txBody>
              <a:bodyPr>
                <a:normAutofit fontScale="92500"/>
              </a:bodyPr>
              <a:lstStyle/>
              <a:p>
                <a:pPr fontAlgn="base"/>
                <a:r>
                  <a:rPr lang="en-US" sz="3200" dirty="0"/>
                  <a:t>We could reduce our Type I error rate if we wanted to, simply by using a smaller significance level than 0.05. </a:t>
                </a:r>
              </a:p>
              <a:p>
                <a:pPr fontAlgn="base"/>
                <a:r>
                  <a:rPr lang="en-US" sz="3200" dirty="0"/>
                  <a:t>Unfortunately, this has the side effect of increasing the chance of committing a Type II error. makes the null hypothesis more difficult to reject when true, but it also makes the null hypothesis more difficult to reject when </a:t>
                </a:r>
                <a:r>
                  <a:rPr lang="en-US" sz="3200" i="1" dirty="0"/>
                  <a:t>false. </a:t>
                </a:r>
                <a:endParaRPr lang="en-US" sz="3200" dirty="0"/>
              </a:p>
              <a:p>
                <a:pPr lvl="0" fontAlgn="base"/>
                <a:r>
                  <a:rPr lang="en-US" sz="3200" b="1" dirty="0"/>
                  <a:t>Type II Error: </a:t>
                </a:r>
                <a:r>
                  <a:rPr lang="en-US" sz="3200" dirty="0"/>
                  <a:t>not rejecting a false null when we should</a:t>
                </a:r>
              </a:p>
              <a:p>
                <a:pPr lvl="1" fontAlgn="base"/>
                <a:r>
                  <a:rPr lang="en-US" sz="2800" dirty="0"/>
                  <a:t> </a:t>
                </a:r>
                <a14:m>
                  <m:oMath xmlns:m="http://schemas.openxmlformats.org/officeDocument/2006/math">
                    <m:r>
                      <a:rPr lang="en-US" sz="2800" i="1" smtClean="0">
                        <a:latin typeface="Cambria Math" panose="02040503050406030204" pitchFamily="18" charset="0"/>
                        <a:ea typeface="Cambria Math" panose="02040503050406030204" pitchFamily="18" charset="0"/>
                      </a:rPr>
                      <m:t>𝛽</m:t>
                    </m:r>
                  </m:oMath>
                </a14:m>
                <a:r>
                  <a:rPr lang="en-US" sz="2800" dirty="0"/>
                  <a:t> = P(Type II Error)</a:t>
                </a:r>
              </a:p>
              <a:p>
                <a:pPr lvl="0" fontAlgn="base"/>
                <a:r>
                  <a:rPr lang="en-US" sz="3200" dirty="0"/>
                  <a:t>In general, as </a:t>
                </a:r>
                <a14:m>
                  <m:oMath xmlns:m="http://schemas.openxmlformats.org/officeDocument/2006/math">
                    <m:r>
                      <a:rPr lang="en-US" sz="3200" i="1">
                        <a:latin typeface="Cambria Math" panose="02040503050406030204" pitchFamily="18" charset="0"/>
                        <a:ea typeface="Cambria Math" panose="02040503050406030204" pitchFamily="18" charset="0"/>
                      </a:rPr>
                      <m:t>𝛼</m:t>
                    </m:r>
                  </m:oMath>
                </a14:m>
                <a:r>
                  <a:rPr lang="en-US" sz="3200" dirty="0"/>
                  <a:t> goes down, </a:t>
                </a:r>
                <a14:m>
                  <m:oMath xmlns:m="http://schemas.openxmlformats.org/officeDocument/2006/math">
                    <m:r>
                      <a:rPr lang="en-US" sz="3200" i="1">
                        <a:latin typeface="Cambria Math" panose="02040503050406030204" pitchFamily="18" charset="0"/>
                        <a:ea typeface="Cambria Math" panose="02040503050406030204" pitchFamily="18" charset="0"/>
                      </a:rPr>
                      <m:t>𝛽</m:t>
                    </m:r>
                    <m:r>
                      <a:rPr lang="en-US" sz="3200" i="1">
                        <a:latin typeface="Cambria Math" panose="02040503050406030204" pitchFamily="18" charset="0"/>
                        <a:ea typeface="Cambria Math" panose="02040503050406030204" pitchFamily="18" charset="0"/>
                      </a:rPr>
                      <m:t> </m:t>
                    </m:r>
                  </m:oMath>
                </a14:m>
                <a:r>
                  <a:rPr lang="en-US" sz="3200" dirty="0"/>
                  <a:t>goes up, but not predictably</a:t>
                </a:r>
              </a:p>
              <a:p>
                <a:endParaRPr lang="en-US" dirty="0"/>
              </a:p>
            </p:txBody>
          </p:sp>
        </mc:Choice>
        <mc:Fallback>
          <p:sp>
            <p:nvSpPr>
              <p:cNvPr id="3" name="Content Placeholder 2">
                <a:extLst>
                  <a:ext uri="{FF2B5EF4-FFF2-40B4-BE49-F238E27FC236}">
                    <a16:creationId xmlns:a16="http://schemas.microsoft.com/office/drawing/2014/main" id="{AB8FE82F-B835-3C89-9B35-E1CA4828A56F}"/>
                  </a:ext>
                </a:extLst>
              </p:cNvPr>
              <p:cNvSpPr>
                <a:spLocks noGrp="1" noRot="1" noChangeAspect="1" noMove="1" noResize="1" noEditPoints="1" noAdjustHandles="1" noChangeArrowheads="1" noChangeShapeType="1" noTextEdit="1"/>
              </p:cNvSpPr>
              <p:nvPr>
                <p:ph idx="1"/>
              </p:nvPr>
            </p:nvSpPr>
            <p:spPr>
              <a:blipFill>
                <a:blip r:embed="rId2"/>
                <a:stretch>
                  <a:fillRect l="-1206" t="-2907" r="-241" b="-29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B5E61B69-1CD0-8575-06DB-4CC467C5EF20}"/>
              </a:ext>
            </a:extLst>
          </p:cNvPr>
          <p:cNvPicPr>
            <a:picLocks noChangeAspect="1"/>
          </p:cNvPicPr>
          <p:nvPr/>
        </p:nvPicPr>
        <p:blipFill>
          <a:blip r:embed="rId3"/>
          <a:stretch>
            <a:fillRect/>
          </a:stretch>
        </p:blipFill>
        <p:spPr>
          <a:xfrm>
            <a:off x="10515600" y="75406"/>
            <a:ext cx="1676400" cy="1905000"/>
          </a:xfrm>
          <a:prstGeom prst="rect">
            <a:avLst/>
          </a:prstGeom>
        </p:spPr>
      </p:pic>
    </p:spTree>
    <p:extLst>
      <p:ext uri="{BB962C8B-B14F-4D97-AF65-F5344CB8AC3E}">
        <p14:creationId xmlns:p14="http://schemas.microsoft.com/office/powerpoint/2010/main" val="34672195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7AF1B-6D49-3460-1B6B-ACE345149FEE}"/>
              </a:ext>
            </a:extLst>
          </p:cNvPr>
          <p:cNvSpPr>
            <a:spLocks noGrp="1"/>
          </p:cNvSpPr>
          <p:nvPr>
            <p:ph type="title"/>
          </p:nvPr>
        </p:nvSpPr>
        <p:spPr/>
        <p:txBody>
          <a:bodyPr>
            <a:normAutofit/>
          </a:bodyPr>
          <a:lstStyle/>
          <a:p>
            <a:r>
              <a:rPr lang="en-US" sz="5400" dirty="0"/>
              <a:t>Power</a:t>
            </a:r>
          </a:p>
        </p:txBody>
      </p:sp>
      <p:sp>
        <p:nvSpPr>
          <p:cNvPr id="3" name="Content Placeholder 2">
            <a:extLst>
              <a:ext uri="{FF2B5EF4-FFF2-40B4-BE49-F238E27FC236}">
                <a16:creationId xmlns:a16="http://schemas.microsoft.com/office/drawing/2014/main" id="{682BD0BA-5A78-39F3-0E3C-07EF6A39AE35}"/>
              </a:ext>
            </a:extLst>
          </p:cNvPr>
          <p:cNvSpPr>
            <a:spLocks noGrp="1"/>
          </p:cNvSpPr>
          <p:nvPr>
            <p:ph idx="1"/>
          </p:nvPr>
        </p:nvSpPr>
        <p:spPr/>
        <p:txBody>
          <a:bodyPr>
            <a:normAutofit lnSpcReduction="10000"/>
          </a:bodyPr>
          <a:lstStyle/>
          <a:p>
            <a:pPr marL="0" indent="0">
              <a:buNone/>
            </a:pPr>
            <a:r>
              <a:rPr lang="en-US" dirty="0"/>
              <a:t>A study that has a low probability of Type II error is said to have high power</a:t>
            </a:r>
          </a:p>
          <a:p>
            <a:r>
              <a:rPr lang="en-US" dirty="0"/>
              <a:t>Power is the probability that a random sample taken from a population will, when analyzed, lead to rejection of a false null hypothesis. All else being equal, a study is better if it has more power. </a:t>
            </a:r>
          </a:p>
          <a:p>
            <a:r>
              <a:rPr lang="en-US" dirty="0"/>
              <a:t>If we can guess the magnitude of the deviation from the null hypothesis, however, we can usually estimate the power of a study before it is carried out. A study has more power if the sample size is large, if the true discrepancy from the null hypothesis is large, or if the variability in the population is low. </a:t>
            </a:r>
          </a:p>
          <a:p>
            <a:endParaRPr lang="en-US" dirty="0"/>
          </a:p>
        </p:txBody>
      </p:sp>
    </p:spTree>
    <p:extLst>
      <p:ext uri="{BB962C8B-B14F-4D97-AF65-F5344CB8AC3E}">
        <p14:creationId xmlns:p14="http://schemas.microsoft.com/office/powerpoint/2010/main" val="9284139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49414-8243-5B53-0E09-5515629178D8}"/>
              </a:ext>
            </a:extLst>
          </p:cNvPr>
          <p:cNvSpPr>
            <a:spLocks noGrp="1"/>
          </p:cNvSpPr>
          <p:nvPr>
            <p:ph type="title"/>
          </p:nvPr>
        </p:nvSpPr>
        <p:spPr/>
        <p:txBody>
          <a:bodyPr>
            <a:normAutofit/>
          </a:bodyPr>
          <a:lstStyle/>
          <a:p>
            <a:r>
              <a:rPr lang="en-US" sz="5400" dirty="0"/>
              <a:t>Error Summarized:</a:t>
            </a:r>
          </a:p>
        </p:txBody>
      </p:sp>
      <p:pic>
        <p:nvPicPr>
          <p:cNvPr id="6" name="Content Placeholder 5">
            <a:extLst>
              <a:ext uri="{FF2B5EF4-FFF2-40B4-BE49-F238E27FC236}">
                <a16:creationId xmlns:a16="http://schemas.microsoft.com/office/drawing/2014/main" id="{95B0B1C0-66A8-49E5-4434-B2B4CD445A31}"/>
              </a:ext>
            </a:extLst>
          </p:cNvPr>
          <p:cNvPicPr>
            <a:picLocks noGrp="1" noChangeAspect="1"/>
          </p:cNvPicPr>
          <p:nvPr>
            <p:ph idx="1"/>
          </p:nvPr>
        </p:nvPicPr>
        <p:blipFill>
          <a:blip r:embed="rId3"/>
          <a:stretch>
            <a:fillRect/>
          </a:stretch>
        </p:blipFill>
        <p:spPr>
          <a:xfrm>
            <a:off x="1423570" y="1492065"/>
            <a:ext cx="9344860" cy="3293269"/>
          </a:xfrm>
          <a:prstGeom prst="rect">
            <a:avLst/>
          </a:prstGeom>
          <a:ln w="28575">
            <a:solidFill>
              <a:schemeClr val="accent6">
                <a:lumMod val="75000"/>
              </a:schemeClr>
            </a:solidFill>
          </a:ln>
        </p:spPr>
      </p:pic>
      <p:sp>
        <p:nvSpPr>
          <p:cNvPr id="7" name="TextBox 6">
            <a:extLst>
              <a:ext uri="{FF2B5EF4-FFF2-40B4-BE49-F238E27FC236}">
                <a16:creationId xmlns:a16="http://schemas.microsoft.com/office/drawing/2014/main" id="{7CB3B4BE-94A0-C890-C4F4-C89E72209073}"/>
              </a:ext>
            </a:extLst>
          </p:cNvPr>
          <p:cNvSpPr txBox="1"/>
          <p:nvPr/>
        </p:nvSpPr>
        <p:spPr>
          <a:xfrm>
            <a:off x="513443" y="5054874"/>
            <a:ext cx="11165114" cy="1569660"/>
          </a:xfrm>
          <a:prstGeom prst="rect">
            <a:avLst/>
          </a:prstGeom>
          <a:noFill/>
        </p:spPr>
        <p:txBody>
          <a:bodyPr wrap="square" rtlCol="0">
            <a:spAutoFit/>
          </a:bodyPr>
          <a:lstStyle/>
          <a:p>
            <a:r>
              <a:rPr lang="en-US" sz="2400" dirty="0"/>
              <a:t>When I was studying my dolphins and drift nets, I rejected my null hypothesis, but in reality there was no difference in the density of dolphins in the two types of areas.</a:t>
            </a:r>
          </a:p>
          <a:p>
            <a:r>
              <a:rPr lang="en-US" sz="2400" dirty="0"/>
              <a:t>What type of error did I commit?</a:t>
            </a:r>
          </a:p>
          <a:p>
            <a:r>
              <a:rPr lang="en-US" sz="2400" dirty="0"/>
              <a:t>What would the scenario be instead if I was to commit the opposite type of error ?</a:t>
            </a:r>
          </a:p>
        </p:txBody>
      </p:sp>
    </p:spTree>
    <p:extLst>
      <p:ext uri="{BB962C8B-B14F-4D97-AF65-F5344CB8AC3E}">
        <p14:creationId xmlns:p14="http://schemas.microsoft.com/office/powerpoint/2010/main" val="42607911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4E06F-D69B-F6F6-87C2-155FD8C97243}"/>
              </a:ext>
            </a:extLst>
          </p:cNvPr>
          <p:cNvSpPr>
            <a:spLocks noGrp="1"/>
          </p:cNvSpPr>
          <p:nvPr>
            <p:ph type="title"/>
          </p:nvPr>
        </p:nvSpPr>
        <p:spPr>
          <a:xfrm>
            <a:off x="838200" y="365125"/>
            <a:ext cx="5257800" cy="6293224"/>
          </a:xfrm>
        </p:spPr>
        <p:txBody>
          <a:bodyPr/>
          <a:lstStyle/>
          <a:p>
            <a:r>
              <a:rPr lang="en-US" dirty="0"/>
              <a:t>Lecture Exercise: Do a hypothesis test! </a:t>
            </a:r>
            <a:br>
              <a:rPr lang="en-US" dirty="0"/>
            </a:br>
            <a:r>
              <a:rPr lang="en-US" dirty="0"/>
              <a:t>The exercise is available on Blackboard using Google Sheets - </a:t>
            </a:r>
            <a:br>
              <a:rPr lang="en-US" dirty="0"/>
            </a:br>
            <a:r>
              <a:rPr lang="en-US" dirty="0"/>
              <a:t>Due 09/13 at 11:59 PM</a:t>
            </a:r>
          </a:p>
        </p:txBody>
      </p:sp>
      <p:pic>
        <p:nvPicPr>
          <p:cNvPr id="5" name="Picture 4">
            <a:extLst>
              <a:ext uri="{FF2B5EF4-FFF2-40B4-BE49-F238E27FC236}">
                <a16:creationId xmlns:a16="http://schemas.microsoft.com/office/drawing/2014/main" id="{09D3B77E-2C6C-08E9-71F6-08B6CF9F8520}"/>
              </a:ext>
            </a:extLst>
          </p:cNvPr>
          <p:cNvPicPr>
            <a:picLocks noChangeAspect="1"/>
          </p:cNvPicPr>
          <p:nvPr/>
        </p:nvPicPr>
        <p:blipFill>
          <a:blip r:embed="rId2"/>
          <a:stretch>
            <a:fillRect/>
          </a:stretch>
        </p:blipFill>
        <p:spPr>
          <a:xfrm>
            <a:off x="6922550" y="282388"/>
            <a:ext cx="4183957" cy="6293224"/>
          </a:xfrm>
          <a:prstGeom prst="rect">
            <a:avLst/>
          </a:prstGeom>
        </p:spPr>
      </p:pic>
    </p:spTree>
    <p:extLst>
      <p:ext uri="{BB962C8B-B14F-4D97-AF65-F5344CB8AC3E}">
        <p14:creationId xmlns:p14="http://schemas.microsoft.com/office/powerpoint/2010/main" val="14047503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2249</TotalTime>
  <Words>3017</Words>
  <Application>Microsoft Macintosh PowerPoint</Application>
  <PresentationFormat>Widescreen</PresentationFormat>
  <Paragraphs>277</Paragraphs>
  <Slides>32</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Aptos Display</vt:lpstr>
      <vt:lpstr>Arial</vt:lpstr>
      <vt:lpstr>Cambria Math</vt:lpstr>
      <vt:lpstr>Office Theme</vt:lpstr>
      <vt:lpstr>QFE Week 3-Hypothesis Testing </vt:lpstr>
      <vt:lpstr>Hypothesis Testing</vt:lpstr>
      <vt:lpstr>To test our hypotheses, we need to take samples!</vt:lpstr>
      <vt:lpstr>PowerPoint Presentation</vt:lpstr>
      <vt:lpstr>Selecting Samples</vt:lpstr>
      <vt:lpstr>PowerPoint Presentation</vt:lpstr>
      <vt:lpstr>Replication</vt:lpstr>
      <vt:lpstr>How do you know if you have enough samples?</vt:lpstr>
      <vt:lpstr>Accuracy vs. Precision</vt:lpstr>
      <vt:lpstr>Accurate, Precise, Both, or Neither?</vt:lpstr>
      <vt:lpstr>Statistical Analysis </vt:lpstr>
      <vt:lpstr>Statistical Hypotheses</vt:lpstr>
      <vt:lpstr>Hypotheses: Example</vt:lpstr>
      <vt:lpstr>Hypotheses: Another Example</vt:lpstr>
      <vt:lpstr>The P-Value</vt:lpstr>
      <vt:lpstr>Statistical Significance and P-Values</vt:lpstr>
      <vt:lpstr>Statistical Significance and P-Values</vt:lpstr>
      <vt:lpstr>Statistical Significance and P-Values: Summary</vt:lpstr>
      <vt:lpstr>P-Value Calculation</vt:lpstr>
      <vt:lpstr>Test Statistic?</vt:lpstr>
      <vt:lpstr>Parametric Analysis - FYI</vt:lpstr>
      <vt:lpstr>Parametric Analysis - FYI </vt:lpstr>
      <vt:lpstr>Types of Tests</vt:lpstr>
      <vt:lpstr>Types of Tests</vt:lpstr>
      <vt:lpstr>Standard Two-Sample T-Test</vt:lpstr>
      <vt:lpstr>Welch’s T-Test</vt:lpstr>
      <vt:lpstr>T-Tests</vt:lpstr>
      <vt:lpstr>Errors in Hypothesis Testing</vt:lpstr>
      <vt:lpstr>Errors in Hypothesis Testing</vt:lpstr>
      <vt:lpstr>Power</vt:lpstr>
      <vt:lpstr>Error Summarized:</vt:lpstr>
      <vt:lpstr>Lecture Exercise: Do a hypothesis test!  The exercise is available on Blackboard using Google Sheets -  Due 09/13 at 11:59 PM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Mothersole</dc:creator>
  <cp:lastModifiedBy>Anna Mothersole</cp:lastModifiedBy>
  <cp:revision>17</cp:revision>
  <dcterms:created xsi:type="dcterms:W3CDTF">2026-08-28T15:30:05Z</dcterms:created>
  <dcterms:modified xsi:type="dcterms:W3CDTF">2026-09-01T02:37:10Z</dcterms:modified>
</cp:coreProperties>
</file>