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1" r:id="rId6"/>
    <p:sldId id="275" r:id="rId7"/>
    <p:sldId id="276" r:id="rId8"/>
    <p:sldId id="277" r:id="rId9"/>
    <p:sldId id="274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3" r:id="rId21"/>
    <p:sldId id="278" r:id="rId22"/>
    <p:sldId id="279" r:id="rId23"/>
    <p:sldId id="270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B7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79028"/>
  </p:normalViewPr>
  <p:slideViewPr>
    <p:cSldViewPr snapToGrid="0">
      <p:cViewPr varScale="1">
        <p:scale>
          <a:sx n="93" d="100"/>
          <a:sy n="93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74B0A5-A36E-CA4C-A51C-0D4C00C9D630}" type="doc">
      <dgm:prSet loTypeId="urn:microsoft.com/office/officeart/2005/8/layout/h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F2713D-533A-1245-B71A-F8EB5737B46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Context</a:t>
          </a:r>
          <a:endParaRPr lang="en-US" dirty="0">
            <a:solidFill>
              <a:schemeClr val="bg1"/>
            </a:solidFill>
          </a:endParaRPr>
        </a:p>
      </dgm:t>
    </dgm:pt>
    <dgm:pt modelId="{6EFD4AEC-CC41-9443-86AC-4CC955ECC1A4}" type="parTrans" cxnId="{0981385C-59A5-994C-A938-6C05ACDB3CB5}">
      <dgm:prSet/>
      <dgm:spPr/>
      <dgm:t>
        <a:bodyPr/>
        <a:lstStyle/>
        <a:p>
          <a:endParaRPr lang="en-US"/>
        </a:p>
      </dgm:t>
    </dgm:pt>
    <dgm:pt modelId="{B22DBA80-7273-9741-A82D-7D9595162181}" type="sibTrans" cxnId="{0981385C-59A5-994C-A938-6C05ACDB3CB5}">
      <dgm:prSet/>
      <dgm:spPr>
        <a:solidFill>
          <a:srgbClr val="A5B7A1"/>
        </a:solidFill>
      </dgm:spPr>
      <dgm:t>
        <a:bodyPr/>
        <a:lstStyle/>
        <a:p>
          <a:endParaRPr lang="en-US"/>
        </a:p>
      </dgm:t>
    </dgm:pt>
    <dgm:pt modelId="{98809839-9A74-104B-A973-F56094FE85AF}">
      <dgm:prSet phldrT="[Text]" custT="1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sz="1400" b="0" i="0" u="none" strike="noStrike" dirty="0">
              <a:solidFill>
                <a:schemeClr val="tx1"/>
              </a:solidFill>
              <a:effectLst/>
              <a:latin typeface="+mn-lt"/>
            </a:rPr>
            <a:t>Measure the height of 15 frogs in a pond to see if their average height is different from 10 cm (the known average).</a:t>
          </a:r>
          <a:endParaRPr lang="en-US" sz="1400" dirty="0"/>
        </a:p>
      </dgm:t>
    </dgm:pt>
    <dgm:pt modelId="{0D56F018-D20B-F84E-9307-B67F23365D40}" type="parTrans" cxnId="{D414536F-5828-3A43-B534-8A120DAA6D8F}">
      <dgm:prSet/>
      <dgm:spPr/>
      <dgm:t>
        <a:bodyPr/>
        <a:lstStyle/>
        <a:p>
          <a:endParaRPr lang="en-US"/>
        </a:p>
      </dgm:t>
    </dgm:pt>
    <dgm:pt modelId="{95A233DB-6FBE-BA4D-B93B-49139187F9F7}" type="sibTrans" cxnId="{D414536F-5828-3A43-B534-8A120DAA6D8F}">
      <dgm:prSet/>
      <dgm:spPr/>
      <dgm:t>
        <a:bodyPr/>
        <a:lstStyle/>
        <a:p>
          <a:endParaRPr lang="en-US"/>
        </a:p>
      </dgm:t>
    </dgm:pt>
    <dgm:pt modelId="{305C7D2C-77AB-AF40-846F-E29D820DC9B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Calculate Mean</a:t>
          </a:r>
          <a:endParaRPr lang="en-US" dirty="0">
            <a:solidFill>
              <a:schemeClr val="bg1"/>
            </a:solidFill>
          </a:endParaRPr>
        </a:p>
      </dgm:t>
    </dgm:pt>
    <dgm:pt modelId="{E360D84A-249C-6E44-9265-D28D49A33E53}" type="parTrans" cxnId="{271501B9-85EE-1948-8E1F-BC23C68CFDBB}">
      <dgm:prSet/>
      <dgm:spPr/>
      <dgm:t>
        <a:bodyPr/>
        <a:lstStyle/>
        <a:p>
          <a:endParaRPr lang="en-US"/>
        </a:p>
      </dgm:t>
    </dgm:pt>
    <dgm:pt modelId="{ADE5CA97-1D23-A64F-A026-0456051C6FF1}" type="sibTrans" cxnId="{271501B9-85EE-1948-8E1F-BC23C68CFDBB}">
      <dgm:prSet/>
      <dgm:spPr>
        <a:solidFill>
          <a:srgbClr val="A5B7A1"/>
        </a:solidFill>
      </dgm:spPr>
      <dgm:t>
        <a:bodyPr/>
        <a:lstStyle/>
        <a:p>
          <a:endParaRPr lang="en-US"/>
        </a:p>
      </dgm:t>
    </dgm:pt>
    <dgm:pt modelId="{07818B4E-7929-D14B-89B1-D604B57B0BAF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Use T-Test Formula</a:t>
          </a:r>
          <a:endParaRPr lang="en-US" dirty="0">
            <a:solidFill>
              <a:schemeClr val="bg1"/>
            </a:solidFill>
          </a:endParaRPr>
        </a:p>
      </dgm:t>
    </dgm:pt>
    <dgm:pt modelId="{8A255F9D-08EB-2C46-8618-8DDA69B5B187}" type="parTrans" cxnId="{A63F0EC8-01F3-C74D-951A-274095255FAC}">
      <dgm:prSet/>
      <dgm:spPr/>
      <dgm:t>
        <a:bodyPr/>
        <a:lstStyle/>
        <a:p>
          <a:endParaRPr lang="en-US"/>
        </a:p>
      </dgm:t>
    </dgm:pt>
    <dgm:pt modelId="{F380E6D8-6340-6548-8D7A-A70DBB28AE57}" type="sibTrans" cxnId="{A63F0EC8-01F3-C74D-951A-274095255FAC}">
      <dgm:prSet/>
      <dgm:spPr>
        <a:solidFill>
          <a:srgbClr val="A5B7A1"/>
        </a:solidFill>
      </dgm:spPr>
      <dgm:t>
        <a:bodyPr/>
        <a:lstStyle/>
        <a:p>
          <a:endParaRPr lang="en-US"/>
        </a:p>
      </dgm:t>
    </dgm:pt>
    <dgm:pt modelId="{BB131BB0-71C8-AD42-91A2-A0DE0861D9AD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 dirty="0">
              <a:solidFill>
                <a:schemeClr val="tx1"/>
              </a:solidFill>
              <a:effectLst/>
              <a:latin typeface="+mn-lt"/>
            </a:rPr>
            <a:t>Apply the one-sample t-test formula: t = (X̄ - </a:t>
          </a:r>
          <a:r>
            <a:rPr lang="en-US" b="0" i="0" u="none" strike="noStrike" dirty="0" err="1">
              <a:solidFill>
                <a:schemeClr val="tx1"/>
              </a:solidFill>
              <a:effectLst/>
              <a:latin typeface="+mn-lt"/>
            </a:rPr>
            <a:t>μ</a:t>
          </a:r>
          <a:r>
            <a:rPr lang="en-US" b="0" i="0" u="none" strike="noStrike" dirty="0">
              <a:solidFill>
                <a:schemeClr val="tx1"/>
              </a:solidFill>
              <a:effectLst/>
              <a:latin typeface="+mn-lt"/>
            </a:rPr>
            <a:t>) / (s / √n), where X̄ = sample mean, </a:t>
          </a:r>
          <a:r>
            <a:rPr lang="en-US" b="0" i="0" u="none" strike="noStrike" dirty="0" err="1">
              <a:solidFill>
                <a:schemeClr val="tx1"/>
              </a:solidFill>
              <a:effectLst/>
              <a:latin typeface="+mn-lt"/>
            </a:rPr>
            <a:t>μ</a:t>
          </a:r>
          <a:r>
            <a:rPr lang="en-US" b="0" i="0" u="none" strike="noStrike" dirty="0">
              <a:solidFill>
                <a:schemeClr val="tx1"/>
              </a:solidFill>
              <a:effectLst/>
              <a:latin typeface="+mn-lt"/>
            </a:rPr>
            <a:t> = population mean, s = sample SD, n = sample size.</a:t>
          </a:r>
          <a:endParaRPr lang="en-US" dirty="0"/>
        </a:p>
      </dgm:t>
    </dgm:pt>
    <dgm:pt modelId="{B6B3B566-C036-2E4F-A147-2DB32D3B0CB7}" type="parTrans" cxnId="{386F6890-C725-154E-9211-3300BFF3210A}">
      <dgm:prSet/>
      <dgm:spPr/>
      <dgm:t>
        <a:bodyPr/>
        <a:lstStyle/>
        <a:p>
          <a:endParaRPr lang="en-US"/>
        </a:p>
      </dgm:t>
    </dgm:pt>
    <dgm:pt modelId="{17DEC95B-0284-F04E-BE50-CEC57E5B5F4B}" type="sibTrans" cxnId="{386F6890-C725-154E-9211-3300BFF3210A}">
      <dgm:prSet/>
      <dgm:spPr/>
      <dgm:t>
        <a:bodyPr/>
        <a:lstStyle/>
        <a:p>
          <a:endParaRPr lang="en-US"/>
        </a:p>
      </dgm:t>
    </dgm:pt>
    <dgm:pt modelId="{512B70DA-1461-0642-8160-7E9759A9A1D5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Interpret p-value</a:t>
          </a:r>
          <a:endParaRPr lang="en-US" dirty="0">
            <a:solidFill>
              <a:schemeClr val="bg1"/>
            </a:solidFill>
          </a:endParaRPr>
        </a:p>
      </dgm:t>
    </dgm:pt>
    <dgm:pt modelId="{AEEBD29C-18A6-0B4A-BC92-B3A646FABC29}" type="parTrans" cxnId="{08059479-A26D-D941-9528-8963DFDA60E7}">
      <dgm:prSet/>
      <dgm:spPr/>
      <dgm:t>
        <a:bodyPr/>
        <a:lstStyle/>
        <a:p>
          <a:endParaRPr lang="en-US"/>
        </a:p>
      </dgm:t>
    </dgm:pt>
    <dgm:pt modelId="{FB75C82C-B97F-9749-809B-83CFB8DCB1A5}" type="sibTrans" cxnId="{08059479-A26D-D941-9528-8963DFDA60E7}">
      <dgm:prSet/>
      <dgm:spPr/>
      <dgm:t>
        <a:bodyPr/>
        <a:lstStyle/>
        <a:p>
          <a:endParaRPr lang="en-US"/>
        </a:p>
      </dgm:t>
    </dgm:pt>
    <dgm:pt modelId="{57C8CE19-ACCB-A843-8134-683D3B3E0917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 dirty="0">
              <a:solidFill>
                <a:schemeClr val="tx1"/>
              </a:solidFill>
              <a:effectLst/>
              <a:latin typeface="+mn-lt"/>
            </a:rPr>
            <a:t>Calculate the sample mean and standard deviation of the frog heights by summing the heights and dividing by 15.</a:t>
          </a:r>
          <a:endParaRPr lang="en-US" dirty="0"/>
        </a:p>
      </dgm:t>
    </dgm:pt>
    <dgm:pt modelId="{6CF0EF17-8E4A-5742-9B1D-5031D45D30B0}" type="parTrans" cxnId="{A25CBDD1-0414-D640-AAEF-7714CA1C6165}">
      <dgm:prSet/>
      <dgm:spPr/>
      <dgm:t>
        <a:bodyPr/>
        <a:lstStyle/>
        <a:p>
          <a:endParaRPr lang="en-US"/>
        </a:p>
      </dgm:t>
    </dgm:pt>
    <dgm:pt modelId="{62C60289-7F83-1A4A-BD1D-04ED4AEB25CD}" type="sibTrans" cxnId="{A25CBDD1-0414-D640-AAEF-7714CA1C6165}">
      <dgm:prSet/>
      <dgm:spPr/>
      <dgm:t>
        <a:bodyPr/>
        <a:lstStyle/>
        <a:p>
          <a:endParaRPr lang="en-US"/>
        </a:p>
      </dgm:t>
    </dgm:pt>
    <dgm:pt modelId="{5797A4E4-96E8-8943-9013-0BA18BC758C6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>
              <a:solidFill>
                <a:schemeClr val="tx1"/>
              </a:solidFill>
              <a:effectLst/>
              <a:latin typeface="+mn-lt"/>
            </a:rPr>
            <a:t>Compare the calculated t-value with the critical t-value (df = n - 1). If p &lt; 0.05, reject the null hypothesis.</a:t>
          </a:r>
          <a:endParaRPr lang="en-US" dirty="0"/>
        </a:p>
      </dgm:t>
    </dgm:pt>
    <dgm:pt modelId="{51AFFEC6-25FE-1941-A321-627688CD355F}" type="parTrans" cxnId="{14E35173-4EE1-8D47-920A-CB4C310B1829}">
      <dgm:prSet/>
      <dgm:spPr/>
      <dgm:t>
        <a:bodyPr/>
        <a:lstStyle/>
        <a:p>
          <a:endParaRPr lang="en-US"/>
        </a:p>
      </dgm:t>
    </dgm:pt>
    <dgm:pt modelId="{DF065149-06B0-FD4B-983E-416FC7F51A45}" type="sibTrans" cxnId="{14E35173-4EE1-8D47-920A-CB4C310B1829}">
      <dgm:prSet/>
      <dgm:spPr/>
      <dgm:t>
        <a:bodyPr/>
        <a:lstStyle/>
        <a:p>
          <a:endParaRPr lang="en-US"/>
        </a:p>
      </dgm:t>
    </dgm:pt>
    <dgm:pt modelId="{8961CB14-2032-3442-9C1F-C0E8DA4FE1A9}" type="pres">
      <dgm:prSet presAssocID="{D474B0A5-A36E-CA4C-A51C-0D4C00C9D630}" presName="Name0" presStyleCnt="0">
        <dgm:presLayoutVars>
          <dgm:dir/>
          <dgm:animLvl val="lvl"/>
          <dgm:resizeHandles val="exact"/>
        </dgm:presLayoutVars>
      </dgm:prSet>
      <dgm:spPr/>
    </dgm:pt>
    <dgm:pt modelId="{A23EF03E-C171-AA4D-884B-32B959E72EBF}" type="pres">
      <dgm:prSet presAssocID="{D474B0A5-A36E-CA4C-A51C-0D4C00C9D630}" presName="tSp" presStyleCnt="0"/>
      <dgm:spPr/>
    </dgm:pt>
    <dgm:pt modelId="{40B7E117-D15E-4C49-B708-582CFE28DB03}" type="pres">
      <dgm:prSet presAssocID="{D474B0A5-A36E-CA4C-A51C-0D4C00C9D630}" presName="bSp" presStyleCnt="0"/>
      <dgm:spPr/>
    </dgm:pt>
    <dgm:pt modelId="{B8C42621-67A1-E64F-8C12-5951C709361B}" type="pres">
      <dgm:prSet presAssocID="{D474B0A5-A36E-CA4C-A51C-0D4C00C9D630}" presName="process" presStyleCnt="0"/>
      <dgm:spPr/>
    </dgm:pt>
    <dgm:pt modelId="{CB02CB0F-72FD-294F-A180-751F4535731C}" type="pres">
      <dgm:prSet presAssocID="{BBF2713D-533A-1245-B71A-F8EB5737B469}" presName="composite1" presStyleCnt="0"/>
      <dgm:spPr/>
    </dgm:pt>
    <dgm:pt modelId="{C6E1C1CF-0531-6B4F-B951-F5FA99ADAA07}" type="pres">
      <dgm:prSet presAssocID="{BBF2713D-533A-1245-B71A-F8EB5737B469}" presName="dummyNode1" presStyleLbl="node1" presStyleIdx="0" presStyleCnt="4"/>
      <dgm:spPr/>
    </dgm:pt>
    <dgm:pt modelId="{2F292B26-5B1B-184E-A5E1-1AD1709A3560}" type="pres">
      <dgm:prSet presAssocID="{BBF2713D-533A-1245-B71A-F8EB5737B469}" presName="childNode1" presStyleLbl="bgAcc1" presStyleIdx="0" presStyleCnt="4">
        <dgm:presLayoutVars>
          <dgm:bulletEnabled val="1"/>
        </dgm:presLayoutVars>
      </dgm:prSet>
      <dgm:spPr/>
    </dgm:pt>
    <dgm:pt modelId="{92B805C9-7242-E34C-9772-DF1D06133167}" type="pres">
      <dgm:prSet presAssocID="{BBF2713D-533A-1245-B71A-F8EB5737B469}" presName="childNode1tx" presStyleLbl="bgAcc1" presStyleIdx="0" presStyleCnt="4">
        <dgm:presLayoutVars>
          <dgm:bulletEnabled val="1"/>
        </dgm:presLayoutVars>
      </dgm:prSet>
      <dgm:spPr/>
    </dgm:pt>
    <dgm:pt modelId="{8009CB11-CCF4-EF45-AEE2-C2F1B6AA3EE9}" type="pres">
      <dgm:prSet presAssocID="{BBF2713D-533A-1245-B71A-F8EB5737B469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C83C7E4F-2590-574F-9EDA-086610C04BE4}" type="pres">
      <dgm:prSet presAssocID="{BBF2713D-533A-1245-B71A-F8EB5737B469}" presName="connSite1" presStyleCnt="0"/>
      <dgm:spPr/>
    </dgm:pt>
    <dgm:pt modelId="{6E792D05-F3A8-8B4F-8635-AC561FBDFB6E}" type="pres">
      <dgm:prSet presAssocID="{B22DBA80-7273-9741-A82D-7D9595162181}" presName="Name9" presStyleLbl="sibTrans2D1" presStyleIdx="0" presStyleCnt="3"/>
      <dgm:spPr/>
    </dgm:pt>
    <dgm:pt modelId="{A26B302A-29F4-BC43-A54E-D0A8943F4DF2}" type="pres">
      <dgm:prSet presAssocID="{305C7D2C-77AB-AF40-846F-E29D820DC9B9}" presName="composite2" presStyleCnt="0"/>
      <dgm:spPr/>
    </dgm:pt>
    <dgm:pt modelId="{E6DD5530-B543-9042-A4AB-9996B97E897F}" type="pres">
      <dgm:prSet presAssocID="{305C7D2C-77AB-AF40-846F-E29D820DC9B9}" presName="dummyNode2" presStyleLbl="node1" presStyleIdx="0" presStyleCnt="4"/>
      <dgm:spPr/>
    </dgm:pt>
    <dgm:pt modelId="{EE171CCA-15D4-9E4D-B424-B89662CFFAA7}" type="pres">
      <dgm:prSet presAssocID="{305C7D2C-77AB-AF40-846F-E29D820DC9B9}" presName="childNode2" presStyleLbl="bgAcc1" presStyleIdx="1" presStyleCnt="4">
        <dgm:presLayoutVars>
          <dgm:bulletEnabled val="1"/>
        </dgm:presLayoutVars>
      </dgm:prSet>
      <dgm:spPr/>
    </dgm:pt>
    <dgm:pt modelId="{E13AED92-2C1F-9242-8111-1A2F5B04774A}" type="pres">
      <dgm:prSet presAssocID="{305C7D2C-77AB-AF40-846F-E29D820DC9B9}" presName="childNode2tx" presStyleLbl="bgAcc1" presStyleIdx="1" presStyleCnt="4">
        <dgm:presLayoutVars>
          <dgm:bulletEnabled val="1"/>
        </dgm:presLayoutVars>
      </dgm:prSet>
      <dgm:spPr/>
    </dgm:pt>
    <dgm:pt modelId="{51ECA820-9A34-804A-9F4E-461A8BB360BA}" type="pres">
      <dgm:prSet presAssocID="{305C7D2C-77AB-AF40-846F-E29D820DC9B9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32A5E083-30B0-EB46-946C-508E06BEBF85}" type="pres">
      <dgm:prSet presAssocID="{305C7D2C-77AB-AF40-846F-E29D820DC9B9}" presName="connSite2" presStyleCnt="0"/>
      <dgm:spPr/>
    </dgm:pt>
    <dgm:pt modelId="{36DCD278-446C-7046-BB0D-5C7C79C2C799}" type="pres">
      <dgm:prSet presAssocID="{ADE5CA97-1D23-A64F-A026-0456051C6FF1}" presName="Name18" presStyleLbl="sibTrans2D1" presStyleIdx="1" presStyleCnt="3"/>
      <dgm:spPr/>
    </dgm:pt>
    <dgm:pt modelId="{B706D576-2B32-4A4B-9472-1ABB33E4EEFC}" type="pres">
      <dgm:prSet presAssocID="{07818B4E-7929-D14B-89B1-D604B57B0BAF}" presName="composite1" presStyleCnt="0"/>
      <dgm:spPr/>
    </dgm:pt>
    <dgm:pt modelId="{8773EFD5-77FD-DD43-9DEF-DDA7737E8ACE}" type="pres">
      <dgm:prSet presAssocID="{07818B4E-7929-D14B-89B1-D604B57B0BAF}" presName="dummyNode1" presStyleLbl="node1" presStyleIdx="1" presStyleCnt="4"/>
      <dgm:spPr/>
    </dgm:pt>
    <dgm:pt modelId="{CEAC6003-DF43-B94E-8368-34E680DC28FD}" type="pres">
      <dgm:prSet presAssocID="{07818B4E-7929-D14B-89B1-D604B57B0BAF}" presName="childNode1" presStyleLbl="bgAcc1" presStyleIdx="2" presStyleCnt="4">
        <dgm:presLayoutVars>
          <dgm:bulletEnabled val="1"/>
        </dgm:presLayoutVars>
      </dgm:prSet>
      <dgm:spPr/>
    </dgm:pt>
    <dgm:pt modelId="{E3D17D9D-5483-E64F-AA4C-23CE7BF2B4B4}" type="pres">
      <dgm:prSet presAssocID="{07818B4E-7929-D14B-89B1-D604B57B0BAF}" presName="childNode1tx" presStyleLbl="bgAcc1" presStyleIdx="2" presStyleCnt="4">
        <dgm:presLayoutVars>
          <dgm:bulletEnabled val="1"/>
        </dgm:presLayoutVars>
      </dgm:prSet>
      <dgm:spPr/>
    </dgm:pt>
    <dgm:pt modelId="{5C37E891-5C86-4F4F-972F-31A8588F7198}" type="pres">
      <dgm:prSet presAssocID="{07818B4E-7929-D14B-89B1-D604B57B0BAF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D1917254-3F39-2449-A49E-CCB028F84646}" type="pres">
      <dgm:prSet presAssocID="{07818B4E-7929-D14B-89B1-D604B57B0BAF}" presName="connSite1" presStyleCnt="0"/>
      <dgm:spPr/>
    </dgm:pt>
    <dgm:pt modelId="{A0F4E4A8-3D3D-C448-8AA2-44AEA85BDD7E}" type="pres">
      <dgm:prSet presAssocID="{F380E6D8-6340-6548-8D7A-A70DBB28AE57}" presName="Name9" presStyleLbl="sibTrans2D1" presStyleIdx="2" presStyleCnt="3"/>
      <dgm:spPr/>
    </dgm:pt>
    <dgm:pt modelId="{F591FE99-C4EE-FE4D-ABFC-D3D92934974F}" type="pres">
      <dgm:prSet presAssocID="{512B70DA-1461-0642-8160-7E9759A9A1D5}" presName="composite2" presStyleCnt="0"/>
      <dgm:spPr/>
    </dgm:pt>
    <dgm:pt modelId="{0365D267-E2E3-9C4E-96D4-D2658D50AE9A}" type="pres">
      <dgm:prSet presAssocID="{512B70DA-1461-0642-8160-7E9759A9A1D5}" presName="dummyNode2" presStyleLbl="node1" presStyleIdx="2" presStyleCnt="4"/>
      <dgm:spPr/>
    </dgm:pt>
    <dgm:pt modelId="{0B2D8CA8-4DCD-3946-A512-E8EBEE34391F}" type="pres">
      <dgm:prSet presAssocID="{512B70DA-1461-0642-8160-7E9759A9A1D5}" presName="childNode2" presStyleLbl="bgAcc1" presStyleIdx="3" presStyleCnt="4">
        <dgm:presLayoutVars>
          <dgm:bulletEnabled val="1"/>
        </dgm:presLayoutVars>
      </dgm:prSet>
      <dgm:spPr/>
    </dgm:pt>
    <dgm:pt modelId="{18A45F69-C5BD-5E4F-8F28-1FC972612BF5}" type="pres">
      <dgm:prSet presAssocID="{512B70DA-1461-0642-8160-7E9759A9A1D5}" presName="childNode2tx" presStyleLbl="bgAcc1" presStyleIdx="3" presStyleCnt="4">
        <dgm:presLayoutVars>
          <dgm:bulletEnabled val="1"/>
        </dgm:presLayoutVars>
      </dgm:prSet>
      <dgm:spPr/>
    </dgm:pt>
    <dgm:pt modelId="{898A8CFF-9FA4-3548-A0C7-553163816474}" type="pres">
      <dgm:prSet presAssocID="{512B70DA-1461-0642-8160-7E9759A9A1D5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E80B26F5-1D1A-1F49-9AAF-8B51B40C42F1}" type="pres">
      <dgm:prSet presAssocID="{512B70DA-1461-0642-8160-7E9759A9A1D5}" presName="connSite2" presStyleCnt="0"/>
      <dgm:spPr/>
    </dgm:pt>
  </dgm:ptLst>
  <dgm:cxnLst>
    <dgm:cxn modelId="{0A439D06-9A47-744F-AC4E-2DAE81629EC7}" type="presOf" srcId="{57C8CE19-ACCB-A843-8134-683D3B3E0917}" destId="{E13AED92-2C1F-9242-8111-1A2F5B04774A}" srcOrd="1" destOrd="0" presId="urn:microsoft.com/office/officeart/2005/8/layout/hProcess4"/>
    <dgm:cxn modelId="{FC9E0B10-FEFB-E141-A7B7-CAC4973FE202}" type="presOf" srcId="{57C8CE19-ACCB-A843-8134-683D3B3E0917}" destId="{EE171CCA-15D4-9E4D-B424-B89662CFFAA7}" srcOrd="0" destOrd="0" presId="urn:microsoft.com/office/officeart/2005/8/layout/hProcess4"/>
    <dgm:cxn modelId="{F780512E-D56E-3D4A-9C36-5082B9EEB123}" type="presOf" srcId="{98809839-9A74-104B-A973-F56094FE85AF}" destId="{2F292B26-5B1B-184E-A5E1-1AD1709A3560}" srcOrd="0" destOrd="0" presId="urn:microsoft.com/office/officeart/2005/8/layout/hProcess4"/>
    <dgm:cxn modelId="{F9EB6039-7933-D64C-A6FD-4296E68EE865}" type="presOf" srcId="{B22DBA80-7273-9741-A82D-7D9595162181}" destId="{6E792D05-F3A8-8B4F-8635-AC561FBDFB6E}" srcOrd="0" destOrd="0" presId="urn:microsoft.com/office/officeart/2005/8/layout/hProcess4"/>
    <dgm:cxn modelId="{6EF6EC3D-867B-9B43-9687-8DC609158F5C}" type="presOf" srcId="{ADE5CA97-1D23-A64F-A026-0456051C6FF1}" destId="{36DCD278-446C-7046-BB0D-5C7C79C2C799}" srcOrd="0" destOrd="0" presId="urn:microsoft.com/office/officeart/2005/8/layout/hProcess4"/>
    <dgm:cxn modelId="{0981385C-59A5-994C-A938-6C05ACDB3CB5}" srcId="{D474B0A5-A36E-CA4C-A51C-0D4C00C9D630}" destId="{BBF2713D-533A-1245-B71A-F8EB5737B469}" srcOrd="0" destOrd="0" parTransId="{6EFD4AEC-CC41-9443-86AC-4CC955ECC1A4}" sibTransId="{B22DBA80-7273-9741-A82D-7D9595162181}"/>
    <dgm:cxn modelId="{D414536F-5828-3A43-B534-8A120DAA6D8F}" srcId="{BBF2713D-533A-1245-B71A-F8EB5737B469}" destId="{98809839-9A74-104B-A973-F56094FE85AF}" srcOrd="0" destOrd="0" parTransId="{0D56F018-D20B-F84E-9307-B67F23365D40}" sibTransId="{95A233DB-6FBE-BA4D-B93B-49139187F9F7}"/>
    <dgm:cxn modelId="{14E35173-4EE1-8D47-920A-CB4C310B1829}" srcId="{512B70DA-1461-0642-8160-7E9759A9A1D5}" destId="{5797A4E4-96E8-8943-9013-0BA18BC758C6}" srcOrd="0" destOrd="0" parTransId="{51AFFEC6-25FE-1941-A321-627688CD355F}" sibTransId="{DF065149-06B0-FD4B-983E-416FC7F51A45}"/>
    <dgm:cxn modelId="{08059479-A26D-D941-9528-8963DFDA60E7}" srcId="{D474B0A5-A36E-CA4C-A51C-0D4C00C9D630}" destId="{512B70DA-1461-0642-8160-7E9759A9A1D5}" srcOrd="3" destOrd="0" parTransId="{AEEBD29C-18A6-0B4A-BC92-B3A646FABC29}" sibTransId="{FB75C82C-B97F-9749-809B-83CFB8DCB1A5}"/>
    <dgm:cxn modelId="{80F4F57D-588C-C44F-95E5-E880454F4A0C}" type="presOf" srcId="{512B70DA-1461-0642-8160-7E9759A9A1D5}" destId="{898A8CFF-9FA4-3548-A0C7-553163816474}" srcOrd="0" destOrd="0" presId="urn:microsoft.com/office/officeart/2005/8/layout/hProcess4"/>
    <dgm:cxn modelId="{386F6890-C725-154E-9211-3300BFF3210A}" srcId="{07818B4E-7929-D14B-89B1-D604B57B0BAF}" destId="{BB131BB0-71C8-AD42-91A2-A0DE0861D9AD}" srcOrd="0" destOrd="0" parTransId="{B6B3B566-C036-2E4F-A147-2DB32D3B0CB7}" sibTransId="{17DEC95B-0284-F04E-BE50-CEC57E5B5F4B}"/>
    <dgm:cxn modelId="{71809595-C372-AF4B-9FA7-447D8CE05780}" type="presOf" srcId="{07818B4E-7929-D14B-89B1-D604B57B0BAF}" destId="{5C37E891-5C86-4F4F-972F-31A8588F7198}" srcOrd="0" destOrd="0" presId="urn:microsoft.com/office/officeart/2005/8/layout/hProcess4"/>
    <dgm:cxn modelId="{B11D1AB0-94E6-D24C-B407-1F752ED69BA9}" type="presOf" srcId="{5797A4E4-96E8-8943-9013-0BA18BC758C6}" destId="{0B2D8CA8-4DCD-3946-A512-E8EBEE34391F}" srcOrd="0" destOrd="0" presId="urn:microsoft.com/office/officeart/2005/8/layout/hProcess4"/>
    <dgm:cxn modelId="{271501B9-85EE-1948-8E1F-BC23C68CFDBB}" srcId="{D474B0A5-A36E-CA4C-A51C-0D4C00C9D630}" destId="{305C7D2C-77AB-AF40-846F-E29D820DC9B9}" srcOrd="1" destOrd="0" parTransId="{E360D84A-249C-6E44-9265-D28D49A33E53}" sibTransId="{ADE5CA97-1D23-A64F-A026-0456051C6FF1}"/>
    <dgm:cxn modelId="{54BC0DC3-2E71-9240-A53B-E2CC8FBB50EE}" type="presOf" srcId="{F380E6D8-6340-6548-8D7A-A70DBB28AE57}" destId="{A0F4E4A8-3D3D-C448-8AA2-44AEA85BDD7E}" srcOrd="0" destOrd="0" presId="urn:microsoft.com/office/officeart/2005/8/layout/hProcess4"/>
    <dgm:cxn modelId="{DA74C3C6-E77C-C94E-8C99-0E2F971ACF3F}" type="presOf" srcId="{BBF2713D-533A-1245-B71A-F8EB5737B469}" destId="{8009CB11-CCF4-EF45-AEE2-C2F1B6AA3EE9}" srcOrd="0" destOrd="0" presId="urn:microsoft.com/office/officeart/2005/8/layout/hProcess4"/>
    <dgm:cxn modelId="{A63F0EC8-01F3-C74D-951A-274095255FAC}" srcId="{D474B0A5-A36E-CA4C-A51C-0D4C00C9D630}" destId="{07818B4E-7929-D14B-89B1-D604B57B0BAF}" srcOrd="2" destOrd="0" parTransId="{8A255F9D-08EB-2C46-8618-8DDA69B5B187}" sibTransId="{F380E6D8-6340-6548-8D7A-A70DBB28AE57}"/>
    <dgm:cxn modelId="{524255CA-CB3D-7B46-A01E-C9749C1A0B19}" type="presOf" srcId="{305C7D2C-77AB-AF40-846F-E29D820DC9B9}" destId="{51ECA820-9A34-804A-9F4E-461A8BB360BA}" srcOrd="0" destOrd="0" presId="urn:microsoft.com/office/officeart/2005/8/layout/hProcess4"/>
    <dgm:cxn modelId="{A25CBDD1-0414-D640-AAEF-7714CA1C6165}" srcId="{305C7D2C-77AB-AF40-846F-E29D820DC9B9}" destId="{57C8CE19-ACCB-A843-8134-683D3B3E0917}" srcOrd="0" destOrd="0" parTransId="{6CF0EF17-8E4A-5742-9B1D-5031D45D30B0}" sibTransId="{62C60289-7F83-1A4A-BD1D-04ED4AEB25CD}"/>
    <dgm:cxn modelId="{B94FFDD5-59CB-B34E-9F55-F140D800FF41}" type="presOf" srcId="{BB131BB0-71C8-AD42-91A2-A0DE0861D9AD}" destId="{E3D17D9D-5483-E64F-AA4C-23CE7BF2B4B4}" srcOrd="1" destOrd="0" presId="urn:microsoft.com/office/officeart/2005/8/layout/hProcess4"/>
    <dgm:cxn modelId="{78E080DE-E677-6647-BBED-4F3B2A52327D}" type="presOf" srcId="{BB131BB0-71C8-AD42-91A2-A0DE0861D9AD}" destId="{CEAC6003-DF43-B94E-8368-34E680DC28FD}" srcOrd="0" destOrd="0" presId="urn:microsoft.com/office/officeart/2005/8/layout/hProcess4"/>
    <dgm:cxn modelId="{0C3F33EC-EEC8-6547-AF32-13804F6925BE}" type="presOf" srcId="{D474B0A5-A36E-CA4C-A51C-0D4C00C9D630}" destId="{8961CB14-2032-3442-9C1F-C0E8DA4FE1A9}" srcOrd="0" destOrd="0" presId="urn:microsoft.com/office/officeart/2005/8/layout/hProcess4"/>
    <dgm:cxn modelId="{D426BAF3-7E68-1545-8B19-195C2CE66E05}" type="presOf" srcId="{98809839-9A74-104B-A973-F56094FE85AF}" destId="{92B805C9-7242-E34C-9772-DF1D06133167}" srcOrd="1" destOrd="0" presId="urn:microsoft.com/office/officeart/2005/8/layout/hProcess4"/>
    <dgm:cxn modelId="{E0EDB8F8-B8FC-7B4F-A8C0-084FD801E58C}" type="presOf" srcId="{5797A4E4-96E8-8943-9013-0BA18BC758C6}" destId="{18A45F69-C5BD-5E4F-8F28-1FC972612BF5}" srcOrd="1" destOrd="0" presId="urn:microsoft.com/office/officeart/2005/8/layout/hProcess4"/>
    <dgm:cxn modelId="{E1BD2A1C-AB7A-5A4D-ABB3-FCA8D4FCB28B}" type="presParOf" srcId="{8961CB14-2032-3442-9C1F-C0E8DA4FE1A9}" destId="{A23EF03E-C171-AA4D-884B-32B959E72EBF}" srcOrd="0" destOrd="0" presId="urn:microsoft.com/office/officeart/2005/8/layout/hProcess4"/>
    <dgm:cxn modelId="{452C61D8-201C-D14B-AEA0-62CD11633B43}" type="presParOf" srcId="{8961CB14-2032-3442-9C1F-C0E8DA4FE1A9}" destId="{40B7E117-D15E-4C49-B708-582CFE28DB03}" srcOrd="1" destOrd="0" presId="urn:microsoft.com/office/officeart/2005/8/layout/hProcess4"/>
    <dgm:cxn modelId="{B2750254-05A8-064E-AFF3-CF0CFE8FEB94}" type="presParOf" srcId="{8961CB14-2032-3442-9C1F-C0E8DA4FE1A9}" destId="{B8C42621-67A1-E64F-8C12-5951C709361B}" srcOrd="2" destOrd="0" presId="urn:microsoft.com/office/officeart/2005/8/layout/hProcess4"/>
    <dgm:cxn modelId="{E2E1E3C4-CE2E-EB4A-9198-ADC49DBCF8C2}" type="presParOf" srcId="{B8C42621-67A1-E64F-8C12-5951C709361B}" destId="{CB02CB0F-72FD-294F-A180-751F4535731C}" srcOrd="0" destOrd="0" presId="urn:microsoft.com/office/officeart/2005/8/layout/hProcess4"/>
    <dgm:cxn modelId="{DC8FBE99-9059-CD4D-877A-CC974A6CBCCA}" type="presParOf" srcId="{CB02CB0F-72FD-294F-A180-751F4535731C}" destId="{C6E1C1CF-0531-6B4F-B951-F5FA99ADAA07}" srcOrd="0" destOrd="0" presId="urn:microsoft.com/office/officeart/2005/8/layout/hProcess4"/>
    <dgm:cxn modelId="{02E4DC78-2E2F-7E4C-89BE-719A448A9FCA}" type="presParOf" srcId="{CB02CB0F-72FD-294F-A180-751F4535731C}" destId="{2F292B26-5B1B-184E-A5E1-1AD1709A3560}" srcOrd="1" destOrd="0" presId="urn:microsoft.com/office/officeart/2005/8/layout/hProcess4"/>
    <dgm:cxn modelId="{3D5C3C3F-DEDD-8141-891E-EC757A0B3278}" type="presParOf" srcId="{CB02CB0F-72FD-294F-A180-751F4535731C}" destId="{92B805C9-7242-E34C-9772-DF1D06133167}" srcOrd="2" destOrd="0" presId="urn:microsoft.com/office/officeart/2005/8/layout/hProcess4"/>
    <dgm:cxn modelId="{3D2B7A23-B3C7-2440-827C-C56378DDBF1E}" type="presParOf" srcId="{CB02CB0F-72FD-294F-A180-751F4535731C}" destId="{8009CB11-CCF4-EF45-AEE2-C2F1B6AA3EE9}" srcOrd="3" destOrd="0" presId="urn:microsoft.com/office/officeart/2005/8/layout/hProcess4"/>
    <dgm:cxn modelId="{A6A936F3-0B7C-2546-B9AD-ECA377CBDB66}" type="presParOf" srcId="{CB02CB0F-72FD-294F-A180-751F4535731C}" destId="{C83C7E4F-2590-574F-9EDA-086610C04BE4}" srcOrd="4" destOrd="0" presId="urn:microsoft.com/office/officeart/2005/8/layout/hProcess4"/>
    <dgm:cxn modelId="{DA444FA0-9378-CB4F-BB50-A3748E01F9DA}" type="presParOf" srcId="{B8C42621-67A1-E64F-8C12-5951C709361B}" destId="{6E792D05-F3A8-8B4F-8635-AC561FBDFB6E}" srcOrd="1" destOrd="0" presId="urn:microsoft.com/office/officeart/2005/8/layout/hProcess4"/>
    <dgm:cxn modelId="{FAF277E0-EBDA-EA48-A35B-9DA6EF2C054B}" type="presParOf" srcId="{B8C42621-67A1-E64F-8C12-5951C709361B}" destId="{A26B302A-29F4-BC43-A54E-D0A8943F4DF2}" srcOrd="2" destOrd="0" presId="urn:microsoft.com/office/officeart/2005/8/layout/hProcess4"/>
    <dgm:cxn modelId="{0E9CED8F-902B-4C49-95ED-D6DB8757A3E3}" type="presParOf" srcId="{A26B302A-29F4-BC43-A54E-D0A8943F4DF2}" destId="{E6DD5530-B543-9042-A4AB-9996B97E897F}" srcOrd="0" destOrd="0" presId="urn:microsoft.com/office/officeart/2005/8/layout/hProcess4"/>
    <dgm:cxn modelId="{CECFCD04-F545-0644-98AB-6F59C455CBA4}" type="presParOf" srcId="{A26B302A-29F4-BC43-A54E-D0A8943F4DF2}" destId="{EE171CCA-15D4-9E4D-B424-B89662CFFAA7}" srcOrd="1" destOrd="0" presId="urn:microsoft.com/office/officeart/2005/8/layout/hProcess4"/>
    <dgm:cxn modelId="{668390B5-463D-294D-841F-446377D81132}" type="presParOf" srcId="{A26B302A-29F4-BC43-A54E-D0A8943F4DF2}" destId="{E13AED92-2C1F-9242-8111-1A2F5B04774A}" srcOrd="2" destOrd="0" presId="urn:microsoft.com/office/officeart/2005/8/layout/hProcess4"/>
    <dgm:cxn modelId="{C7966A92-7ADA-4044-ABD0-53282E3A3FCC}" type="presParOf" srcId="{A26B302A-29F4-BC43-A54E-D0A8943F4DF2}" destId="{51ECA820-9A34-804A-9F4E-461A8BB360BA}" srcOrd="3" destOrd="0" presId="urn:microsoft.com/office/officeart/2005/8/layout/hProcess4"/>
    <dgm:cxn modelId="{3BFE9234-CED1-0C4F-8BA0-3A801124BE50}" type="presParOf" srcId="{A26B302A-29F4-BC43-A54E-D0A8943F4DF2}" destId="{32A5E083-30B0-EB46-946C-508E06BEBF85}" srcOrd="4" destOrd="0" presId="urn:microsoft.com/office/officeart/2005/8/layout/hProcess4"/>
    <dgm:cxn modelId="{A755F017-4CA5-EF4A-A210-D2561BCDAC98}" type="presParOf" srcId="{B8C42621-67A1-E64F-8C12-5951C709361B}" destId="{36DCD278-446C-7046-BB0D-5C7C79C2C799}" srcOrd="3" destOrd="0" presId="urn:microsoft.com/office/officeart/2005/8/layout/hProcess4"/>
    <dgm:cxn modelId="{6909C06A-790F-BB40-A7FD-9EFFC0D7A364}" type="presParOf" srcId="{B8C42621-67A1-E64F-8C12-5951C709361B}" destId="{B706D576-2B32-4A4B-9472-1ABB33E4EEFC}" srcOrd="4" destOrd="0" presId="urn:microsoft.com/office/officeart/2005/8/layout/hProcess4"/>
    <dgm:cxn modelId="{E1826304-13D2-8546-AD8A-2EEDAC0F8A5D}" type="presParOf" srcId="{B706D576-2B32-4A4B-9472-1ABB33E4EEFC}" destId="{8773EFD5-77FD-DD43-9DEF-DDA7737E8ACE}" srcOrd="0" destOrd="0" presId="urn:microsoft.com/office/officeart/2005/8/layout/hProcess4"/>
    <dgm:cxn modelId="{A273627F-2794-EA47-AC91-26C563C404EC}" type="presParOf" srcId="{B706D576-2B32-4A4B-9472-1ABB33E4EEFC}" destId="{CEAC6003-DF43-B94E-8368-34E680DC28FD}" srcOrd="1" destOrd="0" presId="urn:microsoft.com/office/officeart/2005/8/layout/hProcess4"/>
    <dgm:cxn modelId="{5DDC6193-B2F9-E141-B360-3566B7D0DAAA}" type="presParOf" srcId="{B706D576-2B32-4A4B-9472-1ABB33E4EEFC}" destId="{E3D17D9D-5483-E64F-AA4C-23CE7BF2B4B4}" srcOrd="2" destOrd="0" presId="urn:microsoft.com/office/officeart/2005/8/layout/hProcess4"/>
    <dgm:cxn modelId="{F74DC19D-7B85-814D-96E7-555500704DA3}" type="presParOf" srcId="{B706D576-2B32-4A4B-9472-1ABB33E4EEFC}" destId="{5C37E891-5C86-4F4F-972F-31A8588F7198}" srcOrd="3" destOrd="0" presId="urn:microsoft.com/office/officeart/2005/8/layout/hProcess4"/>
    <dgm:cxn modelId="{A9580478-FAE8-2741-9D7A-94ECD17E8294}" type="presParOf" srcId="{B706D576-2B32-4A4B-9472-1ABB33E4EEFC}" destId="{D1917254-3F39-2449-A49E-CCB028F84646}" srcOrd="4" destOrd="0" presId="urn:microsoft.com/office/officeart/2005/8/layout/hProcess4"/>
    <dgm:cxn modelId="{B9AD7084-3C37-554A-88B9-AF40CBF3019F}" type="presParOf" srcId="{B8C42621-67A1-E64F-8C12-5951C709361B}" destId="{A0F4E4A8-3D3D-C448-8AA2-44AEA85BDD7E}" srcOrd="5" destOrd="0" presId="urn:microsoft.com/office/officeart/2005/8/layout/hProcess4"/>
    <dgm:cxn modelId="{7168648B-56D6-C74F-B79E-A6F701D81151}" type="presParOf" srcId="{B8C42621-67A1-E64F-8C12-5951C709361B}" destId="{F591FE99-C4EE-FE4D-ABFC-D3D92934974F}" srcOrd="6" destOrd="0" presId="urn:microsoft.com/office/officeart/2005/8/layout/hProcess4"/>
    <dgm:cxn modelId="{DA39E6C2-D62B-FE44-BD12-EFA8DB5A6232}" type="presParOf" srcId="{F591FE99-C4EE-FE4D-ABFC-D3D92934974F}" destId="{0365D267-E2E3-9C4E-96D4-D2658D50AE9A}" srcOrd="0" destOrd="0" presId="urn:microsoft.com/office/officeart/2005/8/layout/hProcess4"/>
    <dgm:cxn modelId="{99DF4D9C-6670-2941-9B60-24D161348633}" type="presParOf" srcId="{F591FE99-C4EE-FE4D-ABFC-D3D92934974F}" destId="{0B2D8CA8-4DCD-3946-A512-E8EBEE34391F}" srcOrd="1" destOrd="0" presId="urn:microsoft.com/office/officeart/2005/8/layout/hProcess4"/>
    <dgm:cxn modelId="{CA78BA2E-B614-034F-9B94-F9E60D8CA1E9}" type="presParOf" srcId="{F591FE99-C4EE-FE4D-ABFC-D3D92934974F}" destId="{18A45F69-C5BD-5E4F-8F28-1FC972612BF5}" srcOrd="2" destOrd="0" presId="urn:microsoft.com/office/officeart/2005/8/layout/hProcess4"/>
    <dgm:cxn modelId="{7F1C1D34-BC3F-424A-97DF-91B58263EF1C}" type="presParOf" srcId="{F591FE99-C4EE-FE4D-ABFC-D3D92934974F}" destId="{898A8CFF-9FA4-3548-A0C7-553163816474}" srcOrd="3" destOrd="0" presId="urn:microsoft.com/office/officeart/2005/8/layout/hProcess4"/>
    <dgm:cxn modelId="{B850FE7E-B352-D647-BBDF-0DD928AE4C63}" type="presParOf" srcId="{F591FE99-C4EE-FE4D-ABFC-D3D92934974F}" destId="{E80B26F5-1D1A-1F49-9AAF-8B51B40C42F1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3C2AD6-5EB6-2447-A806-96A9E45F8196}" type="doc">
      <dgm:prSet loTypeId="urn:microsoft.com/office/officeart/2005/8/layout/h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EE0199-093A-F549-A4E1-E5A5208CC9E0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Context</a:t>
          </a:r>
          <a:endParaRPr lang="en-US" dirty="0">
            <a:solidFill>
              <a:schemeClr val="bg1"/>
            </a:solidFill>
          </a:endParaRPr>
        </a:p>
      </dgm:t>
    </dgm:pt>
    <dgm:pt modelId="{2BF0C6E6-A20D-1A4C-8CF6-D09A7DE9DA0D}" type="parTrans" cxnId="{36FA2444-EFE2-7341-849D-AD774ACE73DA}">
      <dgm:prSet/>
      <dgm:spPr/>
      <dgm:t>
        <a:bodyPr/>
        <a:lstStyle/>
        <a:p>
          <a:endParaRPr lang="en-US"/>
        </a:p>
      </dgm:t>
    </dgm:pt>
    <dgm:pt modelId="{6E789E80-506F-004B-A5FC-75B4B6CF8246}" type="sibTrans" cxnId="{36FA2444-EFE2-7341-849D-AD774ACE73DA}">
      <dgm:prSet/>
      <dgm:spPr>
        <a:solidFill>
          <a:srgbClr val="A5B7A1"/>
        </a:solidFill>
      </dgm:spPr>
      <dgm:t>
        <a:bodyPr/>
        <a:lstStyle/>
        <a:p>
          <a:endParaRPr lang="en-US"/>
        </a:p>
      </dgm:t>
    </dgm:pt>
    <dgm:pt modelId="{05912CDB-EDB7-2747-9258-0C75ED9F41FE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 dirty="0">
              <a:solidFill>
                <a:schemeClr val="tx1"/>
              </a:solidFill>
              <a:effectLst/>
              <a:latin typeface="+mn-lt"/>
            </a:rPr>
            <a:t>Comparing average leaf area of two plant species—birch &amp; maple.</a:t>
          </a:r>
          <a:endParaRPr lang="en-US" dirty="0"/>
        </a:p>
      </dgm:t>
    </dgm:pt>
    <dgm:pt modelId="{5261E5A5-0517-2B48-9D99-90F913F680D2}" type="parTrans" cxnId="{2CB4A9D5-EAB3-464D-98AA-EB5427AB1BE4}">
      <dgm:prSet/>
      <dgm:spPr/>
      <dgm:t>
        <a:bodyPr/>
        <a:lstStyle/>
        <a:p>
          <a:endParaRPr lang="en-US"/>
        </a:p>
      </dgm:t>
    </dgm:pt>
    <dgm:pt modelId="{40FC7F8D-46B2-3440-9FAB-0F104372BC3C}" type="sibTrans" cxnId="{2CB4A9D5-EAB3-464D-98AA-EB5427AB1BE4}">
      <dgm:prSet/>
      <dgm:spPr/>
      <dgm:t>
        <a:bodyPr/>
        <a:lstStyle/>
        <a:p>
          <a:endParaRPr lang="en-US"/>
        </a:p>
      </dgm:t>
    </dgm:pt>
    <dgm:pt modelId="{28A5BA6E-5EFD-0F49-93A9-CA5F526D0B8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Calculate Means</a:t>
          </a:r>
          <a:endParaRPr lang="en-US" dirty="0">
            <a:solidFill>
              <a:schemeClr val="bg1"/>
            </a:solidFill>
          </a:endParaRPr>
        </a:p>
      </dgm:t>
    </dgm:pt>
    <dgm:pt modelId="{6E90FA95-089F-4940-B2CF-10BFDFDAB583}" type="parTrans" cxnId="{5ABC17D0-F6AF-394D-9F20-D26B8B27045C}">
      <dgm:prSet/>
      <dgm:spPr/>
      <dgm:t>
        <a:bodyPr/>
        <a:lstStyle/>
        <a:p>
          <a:endParaRPr lang="en-US"/>
        </a:p>
      </dgm:t>
    </dgm:pt>
    <dgm:pt modelId="{888FB5B0-A894-7D49-92C7-28337D079529}" type="sibTrans" cxnId="{5ABC17D0-F6AF-394D-9F20-D26B8B27045C}">
      <dgm:prSet/>
      <dgm:spPr>
        <a:solidFill>
          <a:srgbClr val="A5B7A1"/>
        </a:solidFill>
      </dgm:spPr>
      <dgm:t>
        <a:bodyPr/>
        <a:lstStyle/>
        <a:p>
          <a:endParaRPr lang="en-US"/>
        </a:p>
      </dgm:t>
    </dgm:pt>
    <dgm:pt modelId="{D032D815-0A26-494D-906C-A207CABD05E7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 dirty="0">
              <a:solidFill>
                <a:schemeClr val="tx1"/>
              </a:solidFill>
              <a:effectLst/>
              <a:latin typeface="+mn-lt"/>
            </a:rPr>
            <a:t>Calculate means, standard deviations, and variances of each group.</a:t>
          </a:r>
          <a:endParaRPr lang="en-US" dirty="0"/>
        </a:p>
      </dgm:t>
    </dgm:pt>
    <dgm:pt modelId="{7CAEB853-5B4A-6440-BBDF-DEFDA4C0856C}" type="parTrans" cxnId="{9352AD3A-13CC-094E-9137-00E1586C5D5E}">
      <dgm:prSet/>
      <dgm:spPr/>
      <dgm:t>
        <a:bodyPr/>
        <a:lstStyle/>
        <a:p>
          <a:endParaRPr lang="en-US"/>
        </a:p>
      </dgm:t>
    </dgm:pt>
    <dgm:pt modelId="{E01687D4-849E-C140-833B-6934CC154A2D}" type="sibTrans" cxnId="{9352AD3A-13CC-094E-9137-00E1586C5D5E}">
      <dgm:prSet/>
      <dgm:spPr/>
      <dgm:t>
        <a:bodyPr/>
        <a:lstStyle/>
        <a:p>
          <a:endParaRPr lang="en-US"/>
        </a:p>
      </dgm:t>
    </dgm:pt>
    <dgm:pt modelId="{7E6E875D-AFEE-164B-B1EF-2869A9453CEB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Apply T-Test Formula</a:t>
          </a:r>
          <a:endParaRPr lang="en-US" dirty="0">
            <a:solidFill>
              <a:schemeClr val="bg1"/>
            </a:solidFill>
          </a:endParaRPr>
        </a:p>
      </dgm:t>
    </dgm:pt>
    <dgm:pt modelId="{01AEF312-51C7-FC46-A1FD-5F85266801C0}" type="parTrans" cxnId="{D6D2854E-0AE1-104A-95AD-2756EAC2DF31}">
      <dgm:prSet/>
      <dgm:spPr/>
      <dgm:t>
        <a:bodyPr/>
        <a:lstStyle/>
        <a:p>
          <a:endParaRPr lang="en-US"/>
        </a:p>
      </dgm:t>
    </dgm:pt>
    <dgm:pt modelId="{4B4E39A1-86B9-F344-8D60-664759F42371}" type="sibTrans" cxnId="{D6D2854E-0AE1-104A-95AD-2756EAC2DF31}">
      <dgm:prSet/>
      <dgm:spPr>
        <a:solidFill>
          <a:srgbClr val="A5B7A1"/>
        </a:solidFill>
      </dgm:spPr>
      <dgm:t>
        <a:bodyPr/>
        <a:lstStyle/>
        <a:p>
          <a:endParaRPr lang="en-US"/>
        </a:p>
      </dgm:t>
    </dgm:pt>
    <dgm:pt modelId="{9DF54E50-E805-FC40-B129-5DF7DF464D95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>
              <a:solidFill>
                <a:schemeClr val="tx1"/>
              </a:solidFill>
              <a:effectLst/>
              <a:latin typeface="+mn-lt"/>
            </a:rPr>
            <a:t>Use the formula, and calculate t-value.</a:t>
          </a:r>
          <a:endParaRPr lang="en-US" dirty="0"/>
        </a:p>
      </dgm:t>
    </dgm:pt>
    <dgm:pt modelId="{4C870C75-84A8-C74F-B1C2-5291BF2D43C4}" type="parTrans" cxnId="{3903A5A4-316C-DA40-96E7-D4B28CE22A19}">
      <dgm:prSet/>
      <dgm:spPr/>
      <dgm:t>
        <a:bodyPr/>
        <a:lstStyle/>
        <a:p>
          <a:endParaRPr lang="en-US"/>
        </a:p>
      </dgm:t>
    </dgm:pt>
    <dgm:pt modelId="{4DDDF663-41C8-7944-A63E-B0015100C987}" type="sibTrans" cxnId="{3903A5A4-316C-DA40-96E7-D4B28CE22A19}">
      <dgm:prSet/>
      <dgm:spPr/>
      <dgm:t>
        <a:bodyPr/>
        <a:lstStyle/>
        <a:p>
          <a:endParaRPr lang="en-US"/>
        </a:p>
      </dgm:t>
    </dgm:pt>
    <dgm:pt modelId="{928D9E3C-7662-8149-B846-7403DD0A7872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Interpret Results</a:t>
          </a:r>
          <a:endParaRPr lang="en-US" dirty="0">
            <a:solidFill>
              <a:schemeClr val="bg1"/>
            </a:solidFill>
          </a:endParaRPr>
        </a:p>
      </dgm:t>
    </dgm:pt>
    <dgm:pt modelId="{D6AC4196-D369-7B4D-ABF6-59E5DE70771D}" type="parTrans" cxnId="{FE0F1441-B2A2-F641-814C-A8268C4A55F8}">
      <dgm:prSet/>
      <dgm:spPr/>
      <dgm:t>
        <a:bodyPr/>
        <a:lstStyle/>
        <a:p>
          <a:endParaRPr lang="en-US"/>
        </a:p>
      </dgm:t>
    </dgm:pt>
    <dgm:pt modelId="{2862FE42-D207-9A40-92D0-15D1517B66A6}" type="sibTrans" cxnId="{FE0F1441-B2A2-F641-814C-A8268C4A55F8}">
      <dgm:prSet/>
      <dgm:spPr/>
      <dgm:t>
        <a:bodyPr/>
        <a:lstStyle/>
        <a:p>
          <a:endParaRPr lang="en-US"/>
        </a:p>
      </dgm:t>
    </dgm:pt>
    <dgm:pt modelId="{3147595C-DF59-C54F-8828-5B242B7C112E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 dirty="0">
              <a:solidFill>
                <a:schemeClr val="tx1"/>
              </a:solidFill>
              <a:effectLst/>
              <a:latin typeface="+mn-lt"/>
            </a:rPr>
            <a:t>Interpret t-value &amp; degrees of freedom. Compare p-value to 0.05. If p &lt; 0.05, reject null hypothesis; leaf areas are significantly different.</a:t>
          </a:r>
          <a:endParaRPr lang="en-US" dirty="0"/>
        </a:p>
      </dgm:t>
    </dgm:pt>
    <dgm:pt modelId="{51FEBBF6-DC07-0343-B028-71576C98293A}" type="parTrans" cxnId="{25AA1437-CDF2-9745-A68F-80742727063C}">
      <dgm:prSet/>
      <dgm:spPr/>
      <dgm:t>
        <a:bodyPr/>
        <a:lstStyle/>
        <a:p>
          <a:endParaRPr lang="en-US"/>
        </a:p>
      </dgm:t>
    </dgm:pt>
    <dgm:pt modelId="{6A20F483-8581-CD42-82F1-633903E9C128}" type="sibTrans" cxnId="{25AA1437-CDF2-9745-A68F-80742727063C}">
      <dgm:prSet/>
      <dgm:spPr/>
      <dgm:t>
        <a:bodyPr/>
        <a:lstStyle/>
        <a:p>
          <a:endParaRPr lang="en-US"/>
        </a:p>
      </dgm:t>
    </dgm:pt>
    <dgm:pt modelId="{27CEBBA4-8F74-AB48-8CF9-EA46F5285160}" type="pres">
      <dgm:prSet presAssocID="{3E3C2AD6-5EB6-2447-A806-96A9E45F8196}" presName="Name0" presStyleCnt="0">
        <dgm:presLayoutVars>
          <dgm:dir/>
          <dgm:animLvl val="lvl"/>
          <dgm:resizeHandles val="exact"/>
        </dgm:presLayoutVars>
      </dgm:prSet>
      <dgm:spPr/>
    </dgm:pt>
    <dgm:pt modelId="{B8DCCF59-AC19-654D-806E-0F6674704FE2}" type="pres">
      <dgm:prSet presAssocID="{3E3C2AD6-5EB6-2447-A806-96A9E45F8196}" presName="tSp" presStyleCnt="0"/>
      <dgm:spPr/>
    </dgm:pt>
    <dgm:pt modelId="{7C257F3A-39D2-5647-8553-D5C3A1CBFC8D}" type="pres">
      <dgm:prSet presAssocID="{3E3C2AD6-5EB6-2447-A806-96A9E45F8196}" presName="bSp" presStyleCnt="0"/>
      <dgm:spPr/>
    </dgm:pt>
    <dgm:pt modelId="{4197F046-5628-654D-BF3D-036C687F29FD}" type="pres">
      <dgm:prSet presAssocID="{3E3C2AD6-5EB6-2447-A806-96A9E45F8196}" presName="process" presStyleCnt="0"/>
      <dgm:spPr/>
    </dgm:pt>
    <dgm:pt modelId="{05C64F6A-76F7-AC42-AB4B-51677C515662}" type="pres">
      <dgm:prSet presAssocID="{61EE0199-093A-F549-A4E1-E5A5208CC9E0}" presName="composite1" presStyleCnt="0"/>
      <dgm:spPr/>
    </dgm:pt>
    <dgm:pt modelId="{D76A1D98-13EC-7640-AA24-5A34CA796B39}" type="pres">
      <dgm:prSet presAssocID="{61EE0199-093A-F549-A4E1-E5A5208CC9E0}" presName="dummyNode1" presStyleLbl="node1" presStyleIdx="0" presStyleCnt="4"/>
      <dgm:spPr/>
    </dgm:pt>
    <dgm:pt modelId="{CD04EC70-7793-A444-8184-B87AE30EA0FE}" type="pres">
      <dgm:prSet presAssocID="{61EE0199-093A-F549-A4E1-E5A5208CC9E0}" presName="childNode1" presStyleLbl="bgAcc1" presStyleIdx="0" presStyleCnt="4">
        <dgm:presLayoutVars>
          <dgm:bulletEnabled val="1"/>
        </dgm:presLayoutVars>
      </dgm:prSet>
      <dgm:spPr/>
    </dgm:pt>
    <dgm:pt modelId="{DFBBB473-E076-BA4C-8DA5-83C7A86EABFB}" type="pres">
      <dgm:prSet presAssocID="{61EE0199-093A-F549-A4E1-E5A5208CC9E0}" presName="childNode1tx" presStyleLbl="bgAcc1" presStyleIdx="0" presStyleCnt="4">
        <dgm:presLayoutVars>
          <dgm:bulletEnabled val="1"/>
        </dgm:presLayoutVars>
      </dgm:prSet>
      <dgm:spPr/>
    </dgm:pt>
    <dgm:pt modelId="{3FEA0126-CD94-614B-B710-CB7AF5261EFB}" type="pres">
      <dgm:prSet presAssocID="{61EE0199-093A-F549-A4E1-E5A5208CC9E0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DFB7A58F-CDDA-EC4C-86DC-B2B2AE1CE4A0}" type="pres">
      <dgm:prSet presAssocID="{61EE0199-093A-F549-A4E1-E5A5208CC9E0}" presName="connSite1" presStyleCnt="0"/>
      <dgm:spPr/>
    </dgm:pt>
    <dgm:pt modelId="{A2A7FF79-48FD-4843-B204-0A34E1CC973D}" type="pres">
      <dgm:prSet presAssocID="{6E789E80-506F-004B-A5FC-75B4B6CF8246}" presName="Name9" presStyleLbl="sibTrans2D1" presStyleIdx="0" presStyleCnt="3"/>
      <dgm:spPr/>
    </dgm:pt>
    <dgm:pt modelId="{7EDEA6DB-1027-4747-9EBD-8A598DB6100A}" type="pres">
      <dgm:prSet presAssocID="{28A5BA6E-5EFD-0F49-93A9-CA5F526D0B81}" presName="composite2" presStyleCnt="0"/>
      <dgm:spPr/>
    </dgm:pt>
    <dgm:pt modelId="{17C3B72D-CAEF-DE4B-A7F0-58D989803AFB}" type="pres">
      <dgm:prSet presAssocID="{28A5BA6E-5EFD-0F49-93A9-CA5F526D0B81}" presName="dummyNode2" presStyleLbl="node1" presStyleIdx="0" presStyleCnt="4"/>
      <dgm:spPr/>
    </dgm:pt>
    <dgm:pt modelId="{22BC723C-83B0-5245-9967-6712D0644DA1}" type="pres">
      <dgm:prSet presAssocID="{28A5BA6E-5EFD-0F49-93A9-CA5F526D0B81}" presName="childNode2" presStyleLbl="bgAcc1" presStyleIdx="1" presStyleCnt="4">
        <dgm:presLayoutVars>
          <dgm:bulletEnabled val="1"/>
        </dgm:presLayoutVars>
      </dgm:prSet>
      <dgm:spPr/>
    </dgm:pt>
    <dgm:pt modelId="{CCD814A9-89A1-C445-9EAD-6D5D80E556E0}" type="pres">
      <dgm:prSet presAssocID="{28A5BA6E-5EFD-0F49-93A9-CA5F526D0B81}" presName="childNode2tx" presStyleLbl="bgAcc1" presStyleIdx="1" presStyleCnt="4">
        <dgm:presLayoutVars>
          <dgm:bulletEnabled val="1"/>
        </dgm:presLayoutVars>
      </dgm:prSet>
      <dgm:spPr/>
    </dgm:pt>
    <dgm:pt modelId="{C95F7958-17FC-4B41-B057-3CB3524E0107}" type="pres">
      <dgm:prSet presAssocID="{28A5BA6E-5EFD-0F49-93A9-CA5F526D0B81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827ED00C-2630-C54D-A560-A8A696DD2300}" type="pres">
      <dgm:prSet presAssocID="{28A5BA6E-5EFD-0F49-93A9-CA5F526D0B81}" presName="connSite2" presStyleCnt="0"/>
      <dgm:spPr/>
    </dgm:pt>
    <dgm:pt modelId="{B9F81A6A-BCE7-344C-AA05-A34EC3B07FCA}" type="pres">
      <dgm:prSet presAssocID="{888FB5B0-A894-7D49-92C7-28337D079529}" presName="Name18" presStyleLbl="sibTrans2D1" presStyleIdx="1" presStyleCnt="3"/>
      <dgm:spPr/>
    </dgm:pt>
    <dgm:pt modelId="{3968BE1C-AE6C-D842-8FDA-3FA4841149D5}" type="pres">
      <dgm:prSet presAssocID="{7E6E875D-AFEE-164B-B1EF-2869A9453CEB}" presName="composite1" presStyleCnt="0"/>
      <dgm:spPr/>
    </dgm:pt>
    <dgm:pt modelId="{AD02AF9F-28F8-AC49-8A3D-5CB1DC7AE538}" type="pres">
      <dgm:prSet presAssocID="{7E6E875D-AFEE-164B-B1EF-2869A9453CEB}" presName="dummyNode1" presStyleLbl="node1" presStyleIdx="1" presStyleCnt="4"/>
      <dgm:spPr/>
    </dgm:pt>
    <dgm:pt modelId="{F86A58D3-0B81-AB4F-A829-C7D10FDCBCC7}" type="pres">
      <dgm:prSet presAssocID="{7E6E875D-AFEE-164B-B1EF-2869A9453CEB}" presName="childNode1" presStyleLbl="bgAcc1" presStyleIdx="2" presStyleCnt="4">
        <dgm:presLayoutVars>
          <dgm:bulletEnabled val="1"/>
        </dgm:presLayoutVars>
      </dgm:prSet>
      <dgm:spPr/>
    </dgm:pt>
    <dgm:pt modelId="{CAC14D0D-48E4-5544-9395-C8D2827533B9}" type="pres">
      <dgm:prSet presAssocID="{7E6E875D-AFEE-164B-B1EF-2869A9453CEB}" presName="childNode1tx" presStyleLbl="bgAcc1" presStyleIdx="2" presStyleCnt="4">
        <dgm:presLayoutVars>
          <dgm:bulletEnabled val="1"/>
        </dgm:presLayoutVars>
      </dgm:prSet>
      <dgm:spPr/>
    </dgm:pt>
    <dgm:pt modelId="{BD25D17B-2177-5D47-8EFB-2F74186DF530}" type="pres">
      <dgm:prSet presAssocID="{7E6E875D-AFEE-164B-B1EF-2869A9453CEB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91A41DC1-CC5C-1243-9501-EAFFF53D499D}" type="pres">
      <dgm:prSet presAssocID="{7E6E875D-AFEE-164B-B1EF-2869A9453CEB}" presName="connSite1" presStyleCnt="0"/>
      <dgm:spPr/>
    </dgm:pt>
    <dgm:pt modelId="{5C183EE2-6C55-EA48-9B79-A84C096082FF}" type="pres">
      <dgm:prSet presAssocID="{4B4E39A1-86B9-F344-8D60-664759F42371}" presName="Name9" presStyleLbl="sibTrans2D1" presStyleIdx="2" presStyleCnt="3"/>
      <dgm:spPr/>
    </dgm:pt>
    <dgm:pt modelId="{4D1641B6-8CF0-6F47-A1D2-CDE792945EF9}" type="pres">
      <dgm:prSet presAssocID="{928D9E3C-7662-8149-B846-7403DD0A7872}" presName="composite2" presStyleCnt="0"/>
      <dgm:spPr/>
    </dgm:pt>
    <dgm:pt modelId="{93FC0953-45ED-0A40-BF6E-BA713EAE5D20}" type="pres">
      <dgm:prSet presAssocID="{928D9E3C-7662-8149-B846-7403DD0A7872}" presName="dummyNode2" presStyleLbl="node1" presStyleIdx="2" presStyleCnt="4"/>
      <dgm:spPr/>
    </dgm:pt>
    <dgm:pt modelId="{0B384224-7470-8341-A437-B8110845C458}" type="pres">
      <dgm:prSet presAssocID="{928D9E3C-7662-8149-B846-7403DD0A7872}" presName="childNode2" presStyleLbl="bgAcc1" presStyleIdx="3" presStyleCnt="4">
        <dgm:presLayoutVars>
          <dgm:bulletEnabled val="1"/>
        </dgm:presLayoutVars>
      </dgm:prSet>
      <dgm:spPr/>
    </dgm:pt>
    <dgm:pt modelId="{AE28EDDE-0550-604D-AFA4-4755191603F1}" type="pres">
      <dgm:prSet presAssocID="{928D9E3C-7662-8149-B846-7403DD0A7872}" presName="childNode2tx" presStyleLbl="bgAcc1" presStyleIdx="3" presStyleCnt="4">
        <dgm:presLayoutVars>
          <dgm:bulletEnabled val="1"/>
        </dgm:presLayoutVars>
      </dgm:prSet>
      <dgm:spPr/>
    </dgm:pt>
    <dgm:pt modelId="{EA5CB553-AD44-0742-BB50-CE97C648A55F}" type="pres">
      <dgm:prSet presAssocID="{928D9E3C-7662-8149-B846-7403DD0A7872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3B0BC6F5-2B7F-0747-BAAE-969C53F22265}" type="pres">
      <dgm:prSet presAssocID="{928D9E3C-7662-8149-B846-7403DD0A7872}" presName="connSite2" presStyleCnt="0"/>
      <dgm:spPr/>
    </dgm:pt>
  </dgm:ptLst>
  <dgm:cxnLst>
    <dgm:cxn modelId="{A9FB4032-39CA-8F45-8BFF-1170264D6F76}" type="presOf" srcId="{928D9E3C-7662-8149-B846-7403DD0A7872}" destId="{EA5CB553-AD44-0742-BB50-CE97C648A55F}" srcOrd="0" destOrd="0" presId="urn:microsoft.com/office/officeart/2005/8/layout/hProcess4"/>
    <dgm:cxn modelId="{25AA1437-CDF2-9745-A68F-80742727063C}" srcId="{928D9E3C-7662-8149-B846-7403DD0A7872}" destId="{3147595C-DF59-C54F-8828-5B242B7C112E}" srcOrd="0" destOrd="0" parTransId="{51FEBBF6-DC07-0343-B028-71576C98293A}" sibTransId="{6A20F483-8581-CD42-82F1-633903E9C128}"/>
    <dgm:cxn modelId="{9352AD3A-13CC-094E-9137-00E1586C5D5E}" srcId="{28A5BA6E-5EFD-0F49-93A9-CA5F526D0B81}" destId="{D032D815-0A26-494D-906C-A207CABD05E7}" srcOrd="0" destOrd="0" parTransId="{7CAEB853-5B4A-6440-BBDF-DEFDA4C0856C}" sibTransId="{E01687D4-849E-C140-833B-6934CC154A2D}"/>
    <dgm:cxn modelId="{FE0F1441-B2A2-F641-814C-A8268C4A55F8}" srcId="{3E3C2AD6-5EB6-2447-A806-96A9E45F8196}" destId="{928D9E3C-7662-8149-B846-7403DD0A7872}" srcOrd="3" destOrd="0" parTransId="{D6AC4196-D369-7B4D-ABF6-59E5DE70771D}" sibTransId="{2862FE42-D207-9A40-92D0-15D1517B66A6}"/>
    <dgm:cxn modelId="{36FA2444-EFE2-7341-849D-AD774ACE73DA}" srcId="{3E3C2AD6-5EB6-2447-A806-96A9E45F8196}" destId="{61EE0199-093A-F549-A4E1-E5A5208CC9E0}" srcOrd="0" destOrd="0" parTransId="{2BF0C6E6-A20D-1A4C-8CF6-D09A7DE9DA0D}" sibTransId="{6E789E80-506F-004B-A5FC-75B4B6CF8246}"/>
    <dgm:cxn modelId="{EAC69245-D597-8246-A96F-522B0CD8C915}" type="presOf" srcId="{9DF54E50-E805-FC40-B129-5DF7DF464D95}" destId="{CAC14D0D-48E4-5544-9395-C8D2827533B9}" srcOrd="1" destOrd="0" presId="urn:microsoft.com/office/officeart/2005/8/layout/hProcess4"/>
    <dgm:cxn modelId="{ECF25646-4D50-4E49-A7D4-1C7A7A0870C5}" type="presOf" srcId="{3147595C-DF59-C54F-8828-5B242B7C112E}" destId="{0B384224-7470-8341-A437-B8110845C458}" srcOrd="0" destOrd="0" presId="urn:microsoft.com/office/officeart/2005/8/layout/hProcess4"/>
    <dgm:cxn modelId="{E306B246-4483-C74A-B8B2-83212BAF22A9}" type="presOf" srcId="{4B4E39A1-86B9-F344-8D60-664759F42371}" destId="{5C183EE2-6C55-EA48-9B79-A84C096082FF}" srcOrd="0" destOrd="0" presId="urn:microsoft.com/office/officeart/2005/8/layout/hProcess4"/>
    <dgm:cxn modelId="{BA9D0B48-7DF7-2D4E-AF61-4FC1AFC6309B}" type="presOf" srcId="{61EE0199-093A-F549-A4E1-E5A5208CC9E0}" destId="{3FEA0126-CD94-614B-B710-CB7AF5261EFB}" srcOrd="0" destOrd="0" presId="urn:microsoft.com/office/officeart/2005/8/layout/hProcess4"/>
    <dgm:cxn modelId="{D6D2854E-0AE1-104A-95AD-2756EAC2DF31}" srcId="{3E3C2AD6-5EB6-2447-A806-96A9E45F8196}" destId="{7E6E875D-AFEE-164B-B1EF-2869A9453CEB}" srcOrd="2" destOrd="0" parTransId="{01AEF312-51C7-FC46-A1FD-5F85266801C0}" sibTransId="{4B4E39A1-86B9-F344-8D60-664759F42371}"/>
    <dgm:cxn modelId="{8CBB0750-6EC8-B240-90CB-FFE4D0D1E23E}" type="presOf" srcId="{7E6E875D-AFEE-164B-B1EF-2869A9453CEB}" destId="{BD25D17B-2177-5D47-8EFB-2F74186DF530}" srcOrd="0" destOrd="0" presId="urn:microsoft.com/office/officeart/2005/8/layout/hProcess4"/>
    <dgm:cxn modelId="{484F595E-2CB0-D74B-8D9A-335BA6526FC4}" type="presOf" srcId="{3147595C-DF59-C54F-8828-5B242B7C112E}" destId="{AE28EDDE-0550-604D-AFA4-4755191603F1}" srcOrd="1" destOrd="0" presId="urn:microsoft.com/office/officeart/2005/8/layout/hProcess4"/>
    <dgm:cxn modelId="{EA6B1876-2C54-2A40-B39D-04EEF86D19D6}" type="presOf" srcId="{D032D815-0A26-494D-906C-A207CABD05E7}" destId="{22BC723C-83B0-5245-9967-6712D0644DA1}" srcOrd="0" destOrd="0" presId="urn:microsoft.com/office/officeart/2005/8/layout/hProcess4"/>
    <dgm:cxn modelId="{B57B8C92-1A98-2A4F-AF7E-33087B74CD16}" type="presOf" srcId="{28A5BA6E-5EFD-0F49-93A9-CA5F526D0B81}" destId="{C95F7958-17FC-4B41-B057-3CB3524E0107}" srcOrd="0" destOrd="0" presId="urn:microsoft.com/office/officeart/2005/8/layout/hProcess4"/>
    <dgm:cxn modelId="{859940A0-5AD1-0941-95CD-14BF8EC1096C}" type="presOf" srcId="{05912CDB-EDB7-2747-9258-0C75ED9F41FE}" destId="{DFBBB473-E076-BA4C-8DA5-83C7A86EABFB}" srcOrd="1" destOrd="0" presId="urn:microsoft.com/office/officeart/2005/8/layout/hProcess4"/>
    <dgm:cxn modelId="{3903A5A4-316C-DA40-96E7-D4B28CE22A19}" srcId="{7E6E875D-AFEE-164B-B1EF-2869A9453CEB}" destId="{9DF54E50-E805-FC40-B129-5DF7DF464D95}" srcOrd="0" destOrd="0" parTransId="{4C870C75-84A8-C74F-B1C2-5291BF2D43C4}" sibTransId="{4DDDF663-41C8-7944-A63E-B0015100C987}"/>
    <dgm:cxn modelId="{2395A9B6-B2BE-3143-A854-2CCE18A3B6EA}" type="presOf" srcId="{05912CDB-EDB7-2747-9258-0C75ED9F41FE}" destId="{CD04EC70-7793-A444-8184-B87AE30EA0FE}" srcOrd="0" destOrd="0" presId="urn:microsoft.com/office/officeart/2005/8/layout/hProcess4"/>
    <dgm:cxn modelId="{0380A2BB-9639-2948-8000-214446522B97}" type="presOf" srcId="{888FB5B0-A894-7D49-92C7-28337D079529}" destId="{B9F81A6A-BCE7-344C-AA05-A34EC3B07FCA}" srcOrd="0" destOrd="0" presId="urn:microsoft.com/office/officeart/2005/8/layout/hProcess4"/>
    <dgm:cxn modelId="{61F3CEC2-A8AC-DE4D-96EC-9F8B71F72E8B}" type="presOf" srcId="{6E789E80-506F-004B-A5FC-75B4B6CF8246}" destId="{A2A7FF79-48FD-4843-B204-0A34E1CC973D}" srcOrd="0" destOrd="0" presId="urn:microsoft.com/office/officeart/2005/8/layout/hProcess4"/>
    <dgm:cxn modelId="{742ED9CD-ADF2-3947-AD9A-AF72A306A5D2}" type="presOf" srcId="{3E3C2AD6-5EB6-2447-A806-96A9E45F8196}" destId="{27CEBBA4-8F74-AB48-8CF9-EA46F5285160}" srcOrd="0" destOrd="0" presId="urn:microsoft.com/office/officeart/2005/8/layout/hProcess4"/>
    <dgm:cxn modelId="{5ABC17D0-F6AF-394D-9F20-D26B8B27045C}" srcId="{3E3C2AD6-5EB6-2447-A806-96A9E45F8196}" destId="{28A5BA6E-5EFD-0F49-93A9-CA5F526D0B81}" srcOrd="1" destOrd="0" parTransId="{6E90FA95-089F-4940-B2CF-10BFDFDAB583}" sibTransId="{888FB5B0-A894-7D49-92C7-28337D079529}"/>
    <dgm:cxn modelId="{53066ED0-C565-D841-85A5-9F132F7017A7}" type="presOf" srcId="{9DF54E50-E805-FC40-B129-5DF7DF464D95}" destId="{F86A58D3-0B81-AB4F-A829-C7D10FDCBCC7}" srcOrd="0" destOrd="0" presId="urn:microsoft.com/office/officeart/2005/8/layout/hProcess4"/>
    <dgm:cxn modelId="{2CB4A9D5-EAB3-464D-98AA-EB5427AB1BE4}" srcId="{61EE0199-093A-F549-A4E1-E5A5208CC9E0}" destId="{05912CDB-EDB7-2747-9258-0C75ED9F41FE}" srcOrd="0" destOrd="0" parTransId="{5261E5A5-0517-2B48-9D99-90F913F680D2}" sibTransId="{40FC7F8D-46B2-3440-9FAB-0F104372BC3C}"/>
    <dgm:cxn modelId="{8977F5DC-4503-144B-9BBF-FB8B090F4196}" type="presOf" srcId="{D032D815-0A26-494D-906C-A207CABD05E7}" destId="{CCD814A9-89A1-C445-9EAD-6D5D80E556E0}" srcOrd="1" destOrd="0" presId="urn:microsoft.com/office/officeart/2005/8/layout/hProcess4"/>
    <dgm:cxn modelId="{DA556731-F88F-5644-A9B2-D72940476AB7}" type="presParOf" srcId="{27CEBBA4-8F74-AB48-8CF9-EA46F5285160}" destId="{B8DCCF59-AC19-654D-806E-0F6674704FE2}" srcOrd="0" destOrd="0" presId="urn:microsoft.com/office/officeart/2005/8/layout/hProcess4"/>
    <dgm:cxn modelId="{6E04A14B-79ED-7F44-A0CB-9419088DB2AF}" type="presParOf" srcId="{27CEBBA4-8F74-AB48-8CF9-EA46F5285160}" destId="{7C257F3A-39D2-5647-8553-D5C3A1CBFC8D}" srcOrd="1" destOrd="0" presId="urn:microsoft.com/office/officeart/2005/8/layout/hProcess4"/>
    <dgm:cxn modelId="{1D948BFE-B3A4-2C40-B04C-6CAD96FFAA90}" type="presParOf" srcId="{27CEBBA4-8F74-AB48-8CF9-EA46F5285160}" destId="{4197F046-5628-654D-BF3D-036C687F29FD}" srcOrd="2" destOrd="0" presId="urn:microsoft.com/office/officeart/2005/8/layout/hProcess4"/>
    <dgm:cxn modelId="{AB2917D8-D428-8E4D-9A9C-04E06554592F}" type="presParOf" srcId="{4197F046-5628-654D-BF3D-036C687F29FD}" destId="{05C64F6A-76F7-AC42-AB4B-51677C515662}" srcOrd="0" destOrd="0" presId="urn:microsoft.com/office/officeart/2005/8/layout/hProcess4"/>
    <dgm:cxn modelId="{1106C89D-4471-7548-960C-9B0ACBCBFD47}" type="presParOf" srcId="{05C64F6A-76F7-AC42-AB4B-51677C515662}" destId="{D76A1D98-13EC-7640-AA24-5A34CA796B39}" srcOrd="0" destOrd="0" presId="urn:microsoft.com/office/officeart/2005/8/layout/hProcess4"/>
    <dgm:cxn modelId="{D536E9B3-0D77-2D40-9777-029E3791CEB1}" type="presParOf" srcId="{05C64F6A-76F7-AC42-AB4B-51677C515662}" destId="{CD04EC70-7793-A444-8184-B87AE30EA0FE}" srcOrd="1" destOrd="0" presId="urn:microsoft.com/office/officeart/2005/8/layout/hProcess4"/>
    <dgm:cxn modelId="{A5DCC115-B9AC-8746-A786-290DCDFC7F82}" type="presParOf" srcId="{05C64F6A-76F7-AC42-AB4B-51677C515662}" destId="{DFBBB473-E076-BA4C-8DA5-83C7A86EABFB}" srcOrd="2" destOrd="0" presId="urn:microsoft.com/office/officeart/2005/8/layout/hProcess4"/>
    <dgm:cxn modelId="{BC0F18ED-D6CB-2F46-8D5D-3F8BC71ED38D}" type="presParOf" srcId="{05C64F6A-76F7-AC42-AB4B-51677C515662}" destId="{3FEA0126-CD94-614B-B710-CB7AF5261EFB}" srcOrd="3" destOrd="0" presId="urn:microsoft.com/office/officeart/2005/8/layout/hProcess4"/>
    <dgm:cxn modelId="{48D75F10-416F-FC4A-BC34-FCE64F46DFEA}" type="presParOf" srcId="{05C64F6A-76F7-AC42-AB4B-51677C515662}" destId="{DFB7A58F-CDDA-EC4C-86DC-B2B2AE1CE4A0}" srcOrd="4" destOrd="0" presId="urn:microsoft.com/office/officeart/2005/8/layout/hProcess4"/>
    <dgm:cxn modelId="{90461C5B-9570-244B-90E2-E5E9AA162958}" type="presParOf" srcId="{4197F046-5628-654D-BF3D-036C687F29FD}" destId="{A2A7FF79-48FD-4843-B204-0A34E1CC973D}" srcOrd="1" destOrd="0" presId="urn:microsoft.com/office/officeart/2005/8/layout/hProcess4"/>
    <dgm:cxn modelId="{41AB56E4-41ED-3544-97B8-FBBCE06D1194}" type="presParOf" srcId="{4197F046-5628-654D-BF3D-036C687F29FD}" destId="{7EDEA6DB-1027-4747-9EBD-8A598DB6100A}" srcOrd="2" destOrd="0" presId="urn:microsoft.com/office/officeart/2005/8/layout/hProcess4"/>
    <dgm:cxn modelId="{FDB94987-4364-784F-9041-A1EAA0FD60D3}" type="presParOf" srcId="{7EDEA6DB-1027-4747-9EBD-8A598DB6100A}" destId="{17C3B72D-CAEF-DE4B-A7F0-58D989803AFB}" srcOrd="0" destOrd="0" presId="urn:microsoft.com/office/officeart/2005/8/layout/hProcess4"/>
    <dgm:cxn modelId="{39AEE1AA-864F-1E47-98B2-D175060D079C}" type="presParOf" srcId="{7EDEA6DB-1027-4747-9EBD-8A598DB6100A}" destId="{22BC723C-83B0-5245-9967-6712D0644DA1}" srcOrd="1" destOrd="0" presId="urn:microsoft.com/office/officeart/2005/8/layout/hProcess4"/>
    <dgm:cxn modelId="{B053F19F-DF98-184C-A57B-C0AA7DAD105B}" type="presParOf" srcId="{7EDEA6DB-1027-4747-9EBD-8A598DB6100A}" destId="{CCD814A9-89A1-C445-9EAD-6D5D80E556E0}" srcOrd="2" destOrd="0" presId="urn:microsoft.com/office/officeart/2005/8/layout/hProcess4"/>
    <dgm:cxn modelId="{B055C1BA-CEF9-024A-B7F3-01E871E3351F}" type="presParOf" srcId="{7EDEA6DB-1027-4747-9EBD-8A598DB6100A}" destId="{C95F7958-17FC-4B41-B057-3CB3524E0107}" srcOrd="3" destOrd="0" presId="urn:microsoft.com/office/officeart/2005/8/layout/hProcess4"/>
    <dgm:cxn modelId="{8AB85922-A0BE-EC4A-AA24-B2FFDC0EB089}" type="presParOf" srcId="{7EDEA6DB-1027-4747-9EBD-8A598DB6100A}" destId="{827ED00C-2630-C54D-A560-A8A696DD2300}" srcOrd="4" destOrd="0" presId="urn:microsoft.com/office/officeart/2005/8/layout/hProcess4"/>
    <dgm:cxn modelId="{881E2453-6D8A-DE47-BCD9-EFEEA53D4368}" type="presParOf" srcId="{4197F046-5628-654D-BF3D-036C687F29FD}" destId="{B9F81A6A-BCE7-344C-AA05-A34EC3B07FCA}" srcOrd="3" destOrd="0" presId="urn:microsoft.com/office/officeart/2005/8/layout/hProcess4"/>
    <dgm:cxn modelId="{1133A91B-247A-E643-B27A-73ECC3089281}" type="presParOf" srcId="{4197F046-5628-654D-BF3D-036C687F29FD}" destId="{3968BE1C-AE6C-D842-8FDA-3FA4841149D5}" srcOrd="4" destOrd="0" presId="urn:microsoft.com/office/officeart/2005/8/layout/hProcess4"/>
    <dgm:cxn modelId="{02091CE2-D07B-2C44-B3D7-8A39934B1C44}" type="presParOf" srcId="{3968BE1C-AE6C-D842-8FDA-3FA4841149D5}" destId="{AD02AF9F-28F8-AC49-8A3D-5CB1DC7AE538}" srcOrd="0" destOrd="0" presId="urn:microsoft.com/office/officeart/2005/8/layout/hProcess4"/>
    <dgm:cxn modelId="{5EF960ED-E63E-4F43-815E-4B6596888BE6}" type="presParOf" srcId="{3968BE1C-AE6C-D842-8FDA-3FA4841149D5}" destId="{F86A58D3-0B81-AB4F-A829-C7D10FDCBCC7}" srcOrd="1" destOrd="0" presId="urn:microsoft.com/office/officeart/2005/8/layout/hProcess4"/>
    <dgm:cxn modelId="{C1740C10-40C4-0C4F-9784-AC3AA4A5893F}" type="presParOf" srcId="{3968BE1C-AE6C-D842-8FDA-3FA4841149D5}" destId="{CAC14D0D-48E4-5544-9395-C8D2827533B9}" srcOrd="2" destOrd="0" presId="urn:microsoft.com/office/officeart/2005/8/layout/hProcess4"/>
    <dgm:cxn modelId="{8B45968A-9022-8749-956F-D78E9EC9991D}" type="presParOf" srcId="{3968BE1C-AE6C-D842-8FDA-3FA4841149D5}" destId="{BD25D17B-2177-5D47-8EFB-2F74186DF530}" srcOrd="3" destOrd="0" presId="urn:microsoft.com/office/officeart/2005/8/layout/hProcess4"/>
    <dgm:cxn modelId="{F9F86FF9-ED5A-CE49-8586-EA9AD5551472}" type="presParOf" srcId="{3968BE1C-AE6C-D842-8FDA-3FA4841149D5}" destId="{91A41DC1-CC5C-1243-9501-EAFFF53D499D}" srcOrd="4" destOrd="0" presId="urn:microsoft.com/office/officeart/2005/8/layout/hProcess4"/>
    <dgm:cxn modelId="{4A97865C-22CB-C140-8880-5D210818E2C9}" type="presParOf" srcId="{4197F046-5628-654D-BF3D-036C687F29FD}" destId="{5C183EE2-6C55-EA48-9B79-A84C096082FF}" srcOrd="5" destOrd="0" presId="urn:microsoft.com/office/officeart/2005/8/layout/hProcess4"/>
    <dgm:cxn modelId="{A3DF8055-F024-8448-AFCA-40E739684C27}" type="presParOf" srcId="{4197F046-5628-654D-BF3D-036C687F29FD}" destId="{4D1641B6-8CF0-6F47-A1D2-CDE792945EF9}" srcOrd="6" destOrd="0" presId="urn:microsoft.com/office/officeart/2005/8/layout/hProcess4"/>
    <dgm:cxn modelId="{CABA5CBA-5048-8447-AD64-280DA6C4F3DE}" type="presParOf" srcId="{4D1641B6-8CF0-6F47-A1D2-CDE792945EF9}" destId="{93FC0953-45ED-0A40-BF6E-BA713EAE5D20}" srcOrd="0" destOrd="0" presId="urn:microsoft.com/office/officeart/2005/8/layout/hProcess4"/>
    <dgm:cxn modelId="{01CB4F55-5C81-0244-8DF1-090CCDEA35C0}" type="presParOf" srcId="{4D1641B6-8CF0-6F47-A1D2-CDE792945EF9}" destId="{0B384224-7470-8341-A437-B8110845C458}" srcOrd="1" destOrd="0" presId="urn:microsoft.com/office/officeart/2005/8/layout/hProcess4"/>
    <dgm:cxn modelId="{93DBE5BE-45EC-AA48-B430-F6CF5DC1DE1A}" type="presParOf" srcId="{4D1641B6-8CF0-6F47-A1D2-CDE792945EF9}" destId="{AE28EDDE-0550-604D-AFA4-4755191603F1}" srcOrd="2" destOrd="0" presId="urn:microsoft.com/office/officeart/2005/8/layout/hProcess4"/>
    <dgm:cxn modelId="{A591BF38-0334-E548-A61D-6EB7E15F267D}" type="presParOf" srcId="{4D1641B6-8CF0-6F47-A1D2-CDE792945EF9}" destId="{EA5CB553-AD44-0742-BB50-CE97C648A55F}" srcOrd="3" destOrd="0" presId="urn:microsoft.com/office/officeart/2005/8/layout/hProcess4"/>
    <dgm:cxn modelId="{A756F62B-8DDB-EB47-9661-CD84DC44D73D}" type="presParOf" srcId="{4D1641B6-8CF0-6F47-A1D2-CDE792945EF9}" destId="{3B0BC6F5-2B7F-0747-BAAE-969C53F2226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320DAC-032E-BC45-BE87-0ABA774DD955}" type="doc">
      <dgm:prSet loTypeId="urn:microsoft.com/office/officeart/2005/8/layout/h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85549-4DD0-0E4E-AC8A-6D00138139FC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Context</a:t>
          </a:r>
          <a:endParaRPr lang="en-US" dirty="0">
            <a:solidFill>
              <a:schemeClr val="bg1"/>
            </a:solidFill>
          </a:endParaRPr>
        </a:p>
      </dgm:t>
    </dgm:pt>
    <dgm:pt modelId="{2FAEF075-E163-8B44-B083-08950347E3FA}" type="parTrans" cxnId="{47F93F61-D162-9544-9419-6E2406A015BA}">
      <dgm:prSet/>
      <dgm:spPr/>
      <dgm:t>
        <a:bodyPr/>
        <a:lstStyle/>
        <a:p>
          <a:endParaRPr lang="en-US"/>
        </a:p>
      </dgm:t>
    </dgm:pt>
    <dgm:pt modelId="{5407B587-1A20-DA4E-A41E-7AB167324369}" type="sibTrans" cxnId="{47F93F61-D162-9544-9419-6E2406A015BA}">
      <dgm:prSet/>
      <dgm:spPr>
        <a:solidFill>
          <a:srgbClr val="A5B7A1"/>
        </a:solidFill>
      </dgm:spPr>
      <dgm:t>
        <a:bodyPr/>
        <a:lstStyle/>
        <a:p>
          <a:endParaRPr lang="en-US"/>
        </a:p>
      </dgm:t>
    </dgm:pt>
    <dgm:pt modelId="{245BE78A-35CC-B544-AF19-F1B65CBF81BA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 dirty="0">
              <a:solidFill>
                <a:schemeClr val="tx1"/>
              </a:solidFill>
              <a:effectLst/>
              <a:latin typeface="+mn-lt"/>
            </a:rPr>
            <a:t>Measuring the height of plants before and after applying fertilizer.</a:t>
          </a:r>
          <a:endParaRPr lang="en-US" dirty="0"/>
        </a:p>
      </dgm:t>
    </dgm:pt>
    <dgm:pt modelId="{6D02BEE8-57B6-4B46-9C06-1274C3469DB1}" type="parTrans" cxnId="{C7AAC67A-1FCE-6644-9A1D-90301FF2F014}">
      <dgm:prSet/>
      <dgm:spPr/>
      <dgm:t>
        <a:bodyPr/>
        <a:lstStyle/>
        <a:p>
          <a:endParaRPr lang="en-US"/>
        </a:p>
      </dgm:t>
    </dgm:pt>
    <dgm:pt modelId="{B936EF5E-81AE-0441-AD57-8B071C24D8F2}" type="sibTrans" cxnId="{C7AAC67A-1FCE-6644-9A1D-90301FF2F014}">
      <dgm:prSet/>
      <dgm:spPr/>
      <dgm:t>
        <a:bodyPr/>
        <a:lstStyle/>
        <a:p>
          <a:endParaRPr lang="en-US"/>
        </a:p>
      </dgm:t>
    </dgm:pt>
    <dgm:pt modelId="{8331CE5A-7916-6C4D-B7BA-45DFA8B5B48C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Calculate Differences</a:t>
          </a:r>
          <a:endParaRPr lang="en-US" dirty="0">
            <a:solidFill>
              <a:schemeClr val="bg1"/>
            </a:solidFill>
          </a:endParaRPr>
        </a:p>
      </dgm:t>
    </dgm:pt>
    <dgm:pt modelId="{CB130ADD-47BB-8A4A-B510-AA8D14921A7B}" type="parTrans" cxnId="{51AA6B7F-60DC-1741-A013-E6A0413CB04E}">
      <dgm:prSet/>
      <dgm:spPr/>
      <dgm:t>
        <a:bodyPr/>
        <a:lstStyle/>
        <a:p>
          <a:endParaRPr lang="en-US"/>
        </a:p>
      </dgm:t>
    </dgm:pt>
    <dgm:pt modelId="{C6C5E403-8B97-A342-B09E-EAE9A15E801F}" type="sibTrans" cxnId="{51AA6B7F-60DC-1741-A013-E6A0413CB04E}">
      <dgm:prSet/>
      <dgm:spPr>
        <a:solidFill>
          <a:srgbClr val="A5B7A1"/>
        </a:solidFill>
      </dgm:spPr>
      <dgm:t>
        <a:bodyPr/>
        <a:lstStyle/>
        <a:p>
          <a:endParaRPr lang="en-US"/>
        </a:p>
      </dgm:t>
    </dgm:pt>
    <dgm:pt modelId="{2B94BB7D-5D7B-1C4B-AEE9-BD92B63948A9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>
              <a:solidFill>
                <a:schemeClr val="tx1"/>
              </a:solidFill>
              <a:effectLst/>
              <a:latin typeface="+mn-lt"/>
            </a:rPr>
            <a:t>Find the difference between pre-treatment and post-treatment heights for each plant.</a:t>
          </a:r>
          <a:endParaRPr lang="en-US" dirty="0"/>
        </a:p>
      </dgm:t>
    </dgm:pt>
    <dgm:pt modelId="{20A379AD-25CE-CD4A-AB36-5AEA66B99554}" type="parTrans" cxnId="{3393902B-390A-AF4D-92AB-5B33C01795C2}">
      <dgm:prSet/>
      <dgm:spPr/>
      <dgm:t>
        <a:bodyPr/>
        <a:lstStyle/>
        <a:p>
          <a:endParaRPr lang="en-US"/>
        </a:p>
      </dgm:t>
    </dgm:pt>
    <dgm:pt modelId="{6D74EF06-0284-0349-A746-0AE608B8528B}" type="sibTrans" cxnId="{3393902B-390A-AF4D-92AB-5B33C01795C2}">
      <dgm:prSet/>
      <dgm:spPr/>
      <dgm:t>
        <a:bodyPr/>
        <a:lstStyle/>
        <a:p>
          <a:endParaRPr lang="en-US"/>
        </a:p>
      </dgm:t>
    </dgm:pt>
    <dgm:pt modelId="{DF10F053-C4F4-F648-9E64-D0ADA8754452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Apply T-Test Formula</a:t>
          </a:r>
          <a:endParaRPr lang="en-US" dirty="0">
            <a:solidFill>
              <a:schemeClr val="bg1"/>
            </a:solidFill>
          </a:endParaRPr>
        </a:p>
      </dgm:t>
    </dgm:pt>
    <dgm:pt modelId="{8C6A3D7A-198B-A845-A0BC-93D862650CC5}" type="parTrans" cxnId="{6FCEE54E-B8B3-9445-BDAC-D898D4C21F68}">
      <dgm:prSet/>
      <dgm:spPr/>
      <dgm:t>
        <a:bodyPr/>
        <a:lstStyle/>
        <a:p>
          <a:endParaRPr lang="en-US"/>
        </a:p>
      </dgm:t>
    </dgm:pt>
    <dgm:pt modelId="{ADC44B78-E43F-284F-B44C-9306987C1A0C}" type="sibTrans" cxnId="{6FCEE54E-B8B3-9445-BDAC-D898D4C21F68}">
      <dgm:prSet/>
      <dgm:spPr>
        <a:solidFill>
          <a:srgbClr val="A5B7A1"/>
        </a:solidFill>
      </dgm:spPr>
      <dgm:t>
        <a:bodyPr/>
        <a:lstStyle/>
        <a:p>
          <a:endParaRPr lang="en-US"/>
        </a:p>
      </dgm:t>
    </dgm:pt>
    <dgm:pt modelId="{0821847D-EF52-7D48-97C5-F7E553D3F2D0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 dirty="0">
              <a:solidFill>
                <a:schemeClr val="tx1"/>
              </a:solidFill>
              <a:effectLst/>
              <a:latin typeface="+mn-lt"/>
            </a:rPr>
            <a:t>Use the formula.</a:t>
          </a:r>
          <a:endParaRPr lang="en-US" dirty="0"/>
        </a:p>
      </dgm:t>
    </dgm:pt>
    <dgm:pt modelId="{A024DBBB-20C5-D345-B7D9-2B15F1B19269}" type="parTrans" cxnId="{4359F73E-A93B-1947-9E8D-ADE466F7F34D}">
      <dgm:prSet/>
      <dgm:spPr/>
      <dgm:t>
        <a:bodyPr/>
        <a:lstStyle/>
        <a:p>
          <a:endParaRPr lang="en-US"/>
        </a:p>
      </dgm:t>
    </dgm:pt>
    <dgm:pt modelId="{4E3522DE-D4ED-0642-8E03-845C1BB28348}" type="sibTrans" cxnId="{4359F73E-A93B-1947-9E8D-ADE466F7F34D}">
      <dgm:prSet/>
      <dgm:spPr/>
      <dgm:t>
        <a:bodyPr/>
        <a:lstStyle/>
        <a:p>
          <a:endParaRPr lang="en-US"/>
        </a:p>
      </dgm:t>
    </dgm:pt>
    <dgm:pt modelId="{DF5D2843-44B7-A245-A913-7E5E089EAFEC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i="0" u="none" strike="noStrike" dirty="0">
              <a:solidFill>
                <a:schemeClr val="bg1"/>
              </a:solidFill>
              <a:effectLst/>
              <a:latin typeface="+mn-lt"/>
            </a:rPr>
            <a:t>Interpret Results</a:t>
          </a:r>
          <a:endParaRPr lang="en-US" dirty="0">
            <a:solidFill>
              <a:schemeClr val="bg1"/>
            </a:solidFill>
          </a:endParaRPr>
        </a:p>
      </dgm:t>
    </dgm:pt>
    <dgm:pt modelId="{E51EB7C1-6E0C-4043-8C97-AFC2E3B3E434}" type="parTrans" cxnId="{79849127-AD5D-0A4A-A793-1954F8EDD0F0}">
      <dgm:prSet/>
      <dgm:spPr/>
      <dgm:t>
        <a:bodyPr/>
        <a:lstStyle/>
        <a:p>
          <a:endParaRPr lang="en-US"/>
        </a:p>
      </dgm:t>
    </dgm:pt>
    <dgm:pt modelId="{443CCD4C-092F-7849-A324-1F9B6A3218F7}" type="sibTrans" cxnId="{79849127-AD5D-0A4A-A793-1954F8EDD0F0}">
      <dgm:prSet/>
      <dgm:spPr/>
      <dgm:t>
        <a:bodyPr/>
        <a:lstStyle/>
        <a:p>
          <a:endParaRPr lang="en-US"/>
        </a:p>
      </dgm:t>
    </dgm:pt>
    <dgm:pt modelId="{DFF6883F-3C8D-864E-8C5C-463624D0ED1E}">
      <dgm:prSet phldrT="[Text]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b="0" i="0" u="none" strike="noStrike">
              <a:solidFill>
                <a:schemeClr val="tx1"/>
              </a:solidFill>
              <a:effectLst/>
              <a:latin typeface="+mn-lt"/>
            </a:rPr>
            <a:t>Interpret the t-value and p-value to determine if there is a significant difference in heights before and after treatment.</a:t>
          </a:r>
          <a:endParaRPr lang="en-US" dirty="0"/>
        </a:p>
      </dgm:t>
    </dgm:pt>
    <dgm:pt modelId="{261CE7B4-6787-D444-B924-A5CFD77237A6}" type="parTrans" cxnId="{BBF9669B-F033-364C-A95F-FFDEBD09262D}">
      <dgm:prSet/>
      <dgm:spPr/>
      <dgm:t>
        <a:bodyPr/>
        <a:lstStyle/>
        <a:p>
          <a:endParaRPr lang="en-US"/>
        </a:p>
      </dgm:t>
    </dgm:pt>
    <dgm:pt modelId="{4D85B48A-CF62-3744-B91A-571A49C7692B}" type="sibTrans" cxnId="{BBF9669B-F033-364C-A95F-FFDEBD09262D}">
      <dgm:prSet/>
      <dgm:spPr/>
      <dgm:t>
        <a:bodyPr/>
        <a:lstStyle/>
        <a:p>
          <a:endParaRPr lang="en-US"/>
        </a:p>
      </dgm:t>
    </dgm:pt>
    <dgm:pt modelId="{71E0AE6E-7D2D-C04F-B4C1-041C6E32D3EE}" type="pres">
      <dgm:prSet presAssocID="{34320DAC-032E-BC45-BE87-0ABA774DD955}" presName="Name0" presStyleCnt="0">
        <dgm:presLayoutVars>
          <dgm:dir/>
          <dgm:animLvl val="lvl"/>
          <dgm:resizeHandles val="exact"/>
        </dgm:presLayoutVars>
      </dgm:prSet>
      <dgm:spPr/>
    </dgm:pt>
    <dgm:pt modelId="{8CC7A15A-BD7F-6A4E-B9B3-C69547650E35}" type="pres">
      <dgm:prSet presAssocID="{34320DAC-032E-BC45-BE87-0ABA774DD955}" presName="tSp" presStyleCnt="0"/>
      <dgm:spPr/>
    </dgm:pt>
    <dgm:pt modelId="{C790F604-1165-A24A-A8BA-C0BFF027E6B5}" type="pres">
      <dgm:prSet presAssocID="{34320DAC-032E-BC45-BE87-0ABA774DD955}" presName="bSp" presStyleCnt="0"/>
      <dgm:spPr/>
    </dgm:pt>
    <dgm:pt modelId="{45353D67-9146-D341-9103-9E1C42E36BB7}" type="pres">
      <dgm:prSet presAssocID="{34320DAC-032E-BC45-BE87-0ABA774DD955}" presName="process" presStyleCnt="0"/>
      <dgm:spPr/>
    </dgm:pt>
    <dgm:pt modelId="{70ADD783-53C0-7240-85BA-F11F6A71027B}" type="pres">
      <dgm:prSet presAssocID="{C9185549-4DD0-0E4E-AC8A-6D00138139FC}" presName="composite1" presStyleCnt="0"/>
      <dgm:spPr/>
    </dgm:pt>
    <dgm:pt modelId="{C8B041D9-3C28-E847-9B83-9E295A0E3E49}" type="pres">
      <dgm:prSet presAssocID="{C9185549-4DD0-0E4E-AC8A-6D00138139FC}" presName="dummyNode1" presStyleLbl="node1" presStyleIdx="0" presStyleCnt="4"/>
      <dgm:spPr/>
    </dgm:pt>
    <dgm:pt modelId="{23CAAB81-B5FA-3C4C-B9B7-DCD8F3AB488D}" type="pres">
      <dgm:prSet presAssocID="{C9185549-4DD0-0E4E-AC8A-6D00138139FC}" presName="childNode1" presStyleLbl="bgAcc1" presStyleIdx="0" presStyleCnt="4">
        <dgm:presLayoutVars>
          <dgm:bulletEnabled val="1"/>
        </dgm:presLayoutVars>
      </dgm:prSet>
      <dgm:spPr/>
    </dgm:pt>
    <dgm:pt modelId="{5B6C67A1-497E-D240-9086-FE67943FD27A}" type="pres">
      <dgm:prSet presAssocID="{C9185549-4DD0-0E4E-AC8A-6D00138139FC}" presName="childNode1tx" presStyleLbl="bgAcc1" presStyleIdx="0" presStyleCnt="4">
        <dgm:presLayoutVars>
          <dgm:bulletEnabled val="1"/>
        </dgm:presLayoutVars>
      </dgm:prSet>
      <dgm:spPr/>
    </dgm:pt>
    <dgm:pt modelId="{4800FBEA-8F46-6346-96AA-0039A7CAC507}" type="pres">
      <dgm:prSet presAssocID="{C9185549-4DD0-0E4E-AC8A-6D00138139FC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6B9EBBA9-86DA-B64A-AB74-C90B532E7742}" type="pres">
      <dgm:prSet presAssocID="{C9185549-4DD0-0E4E-AC8A-6D00138139FC}" presName="connSite1" presStyleCnt="0"/>
      <dgm:spPr/>
    </dgm:pt>
    <dgm:pt modelId="{4B67E405-8E37-5843-82B9-FA686F2B2982}" type="pres">
      <dgm:prSet presAssocID="{5407B587-1A20-DA4E-A41E-7AB167324369}" presName="Name9" presStyleLbl="sibTrans2D1" presStyleIdx="0" presStyleCnt="3"/>
      <dgm:spPr/>
    </dgm:pt>
    <dgm:pt modelId="{1E769C19-B573-BE4B-91DC-BCE3BC058A48}" type="pres">
      <dgm:prSet presAssocID="{8331CE5A-7916-6C4D-B7BA-45DFA8B5B48C}" presName="composite2" presStyleCnt="0"/>
      <dgm:spPr/>
    </dgm:pt>
    <dgm:pt modelId="{553EEB0C-741C-A347-88FC-4076AD1D7957}" type="pres">
      <dgm:prSet presAssocID="{8331CE5A-7916-6C4D-B7BA-45DFA8B5B48C}" presName="dummyNode2" presStyleLbl="node1" presStyleIdx="0" presStyleCnt="4"/>
      <dgm:spPr/>
    </dgm:pt>
    <dgm:pt modelId="{550F1A33-50F5-3C4E-9138-FACEBBD6883D}" type="pres">
      <dgm:prSet presAssocID="{8331CE5A-7916-6C4D-B7BA-45DFA8B5B48C}" presName="childNode2" presStyleLbl="bgAcc1" presStyleIdx="1" presStyleCnt="4">
        <dgm:presLayoutVars>
          <dgm:bulletEnabled val="1"/>
        </dgm:presLayoutVars>
      </dgm:prSet>
      <dgm:spPr/>
    </dgm:pt>
    <dgm:pt modelId="{5BA51D02-D887-654D-AB42-F0983EEDFD7A}" type="pres">
      <dgm:prSet presAssocID="{8331CE5A-7916-6C4D-B7BA-45DFA8B5B48C}" presName="childNode2tx" presStyleLbl="bgAcc1" presStyleIdx="1" presStyleCnt="4">
        <dgm:presLayoutVars>
          <dgm:bulletEnabled val="1"/>
        </dgm:presLayoutVars>
      </dgm:prSet>
      <dgm:spPr/>
    </dgm:pt>
    <dgm:pt modelId="{13052198-2BBA-5744-A11B-BD4717B8AA86}" type="pres">
      <dgm:prSet presAssocID="{8331CE5A-7916-6C4D-B7BA-45DFA8B5B48C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3A82CFC9-6492-2E4F-9A76-D0677D7B8EAC}" type="pres">
      <dgm:prSet presAssocID="{8331CE5A-7916-6C4D-B7BA-45DFA8B5B48C}" presName="connSite2" presStyleCnt="0"/>
      <dgm:spPr/>
    </dgm:pt>
    <dgm:pt modelId="{E9EBD16F-0B10-B340-B052-CE7E7E1D8281}" type="pres">
      <dgm:prSet presAssocID="{C6C5E403-8B97-A342-B09E-EAE9A15E801F}" presName="Name18" presStyleLbl="sibTrans2D1" presStyleIdx="1" presStyleCnt="3"/>
      <dgm:spPr/>
    </dgm:pt>
    <dgm:pt modelId="{D18A1BC3-FCC8-1448-B0C7-61C195AED027}" type="pres">
      <dgm:prSet presAssocID="{DF10F053-C4F4-F648-9E64-D0ADA8754452}" presName="composite1" presStyleCnt="0"/>
      <dgm:spPr/>
    </dgm:pt>
    <dgm:pt modelId="{D0C2A8BD-14D5-4D4F-ABF9-0BAD2D5FEAF7}" type="pres">
      <dgm:prSet presAssocID="{DF10F053-C4F4-F648-9E64-D0ADA8754452}" presName="dummyNode1" presStyleLbl="node1" presStyleIdx="1" presStyleCnt="4"/>
      <dgm:spPr/>
    </dgm:pt>
    <dgm:pt modelId="{F431DDB3-2372-A44F-802E-820ADF54FF9A}" type="pres">
      <dgm:prSet presAssocID="{DF10F053-C4F4-F648-9E64-D0ADA8754452}" presName="childNode1" presStyleLbl="bgAcc1" presStyleIdx="2" presStyleCnt="4">
        <dgm:presLayoutVars>
          <dgm:bulletEnabled val="1"/>
        </dgm:presLayoutVars>
      </dgm:prSet>
      <dgm:spPr/>
    </dgm:pt>
    <dgm:pt modelId="{EA87F9F7-FDF4-3448-A9AC-9E844C38406B}" type="pres">
      <dgm:prSet presAssocID="{DF10F053-C4F4-F648-9E64-D0ADA8754452}" presName="childNode1tx" presStyleLbl="bgAcc1" presStyleIdx="2" presStyleCnt="4">
        <dgm:presLayoutVars>
          <dgm:bulletEnabled val="1"/>
        </dgm:presLayoutVars>
      </dgm:prSet>
      <dgm:spPr/>
    </dgm:pt>
    <dgm:pt modelId="{F9F436F9-76E8-EF4B-8A9C-CB9EE68D9EA2}" type="pres">
      <dgm:prSet presAssocID="{DF10F053-C4F4-F648-9E64-D0ADA8754452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E517A3FE-EAFC-D340-9B01-A9F4C001D6D4}" type="pres">
      <dgm:prSet presAssocID="{DF10F053-C4F4-F648-9E64-D0ADA8754452}" presName="connSite1" presStyleCnt="0"/>
      <dgm:spPr/>
    </dgm:pt>
    <dgm:pt modelId="{07DC75FF-AB7A-7645-BF51-C695EBBCF390}" type="pres">
      <dgm:prSet presAssocID="{ADC44B78-E43F-284F-B44C-9306987C1A0C}" presName="Name9" presStyleLbl="sibTrans2D1" presStyleIdx="2" presStyleCnt="3"/>
      <dgm:spPr/>
    </dgm:pt>
    <dgm:pt modelId="{856070CA-1C58-EA47-A896-6E1029B87661}" type="pres">
      <dgm:prSet presAssocID="{DF5D2843-44B7-A245-A913-7E5E089EAFEC}" presName="composite2" presStyleCnt="0"/>
      <dgm:spPr/>
    </dgm:pt>
    <dgm:pt modelId="{A1B3DB78-AE15-B742-8991-3F6A0AE04701}" type="pres">
      <dgm:prSet presAssocID="{DF5D2843-44B7-A245-A913-7E5E089EAFEC}" presName="dummyNode2" presStyleLbl="node1" presStyleIdx="2" presStyleCnt="4"/>
      <dgm:spPr/>
    </dgm:pt>
    <dgm:pt modelId="{283F6956-7F66-AD4A-B4E5-044A343474F2}" type="pres">
      <dgm:prSet presAssocID="{DF5D2843-44B7-A245-A913-7E5E089EAFEC}" presName="childNode2" presStyleLbl="bgAcc1" presStyleIdx="3" presStyleCnt="4">
        <dgm:presLayoutVars>
          <dgm:bulletEnabled val="1"/>
        </dgm:presLayoutVars>
      </dgm:prSet>
      <dgm:spPr/>
    </dgm:pt>
    <dgm:pt modelId="{4BD81E3C-EE15-A341-8727-0661068B3D0B}" type="pres">
      <dgm:prSet presAssocID="{DF5D2843-44B7-A245-A913-7E5E089EAFEC}" presName="childNode2tx" presStyleLbl="bgAcc1" presStyleIdx="3" presStyleCnt="4">
        <dgm:presLayoutVars>
          <dgm:bulletEnabled val="1"/>
        </dgm:presLayoutVars>
      </dgm:prSet>
      <dgm:spPr/>
    </dgm:pt>
    <dgm:pt modelId="{DD8E5CFD-0A45-044B-AC01-A620B4F11025}" type="pres">
      <dgm:prSet presAssocID="{DF5D2843-44B7-A245-A913-7E5E089EAFEC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019DB587-36D4-9C49-ADBA-912C254B3C0A}" type="pres">
      <dgm:prSet presAssocID="{DF5D2843-44B7-A245-A913-7E5E089EAFEC}" presName="connSite2" presStyleCnt="0"/>
      <dgm:spPr/>
    </dgm:pt>
  </dgm:ptLst>
  <dgm:cxnLst>
    <dgm:cxn modelId="{6DD4050A-BD51-5D4A-AE75-FF6E05BFF9F2}" type="presOf" srcId="{DF5D2843-44B7-A245-A913-7E5E089EAFEC}" destId="{DD8E5CFD-0A45-044B-AC01-A620B4F11025}" srcOrd="0" destOrd="0" presId="urn:microsoft.com/office/officeart/2005/8/layout/hProcess4"/>
    <dgm:cxn modelId="{A7850C26-117D-C847-8371-B2CF615094F0}" type="presOf" srcId="{245BE78A-35CC-B544-AF19-F1B65CBF81BA}" destId="{5B6C67A1-497E-D240-9086-FE67943FD27A}" srcOrd="1" destOrd="0" presId="urn:microsoft.com/office/officeart/2005/8/layout/hProcess4"/>
    <dgm:cxn modelId="{79849127-AD5D-0A4A-A793-1954F8EDD0F0}" srcId="{34320DAC-032E-BC45-BE87-0ABA774DD955}" destId="{DF5D2843-44B7-A245-A913-7E5E089EAFEC}" srcOrd="3" destOrd="0" parTransId="{E51EB7C1-6E0C-4043-8C97-AFC2E3B3E434}" sibTransId="{443CCD4C-092F-7849-A324-1F9B6A3218F7}"/>
    <dgm:cxn modelId="{3393902B-390A-AF4D-92AB-5B33C01795C2}" srcId="{8331CE5A-7916-6C4D-B7BA-45DFA8B5B48C}" destId="{2B94BB7D-5D7B-1C4B-AEE9-BD92B63948A9}" srcOrd="0" destOrd="0" parTransId="{20A379AD-25CE-CD4A-AB36-5AEA66B99554}" sibTransId="{6D74EF06-0284-0349-A746-0AE608B8528B}"/>
    <dgm:cxn modelId="{972F903C-8335-EC4D-A3D9-CDB16C229EF7}" type="presOf" srcId="{0821847D-EF52-7D48-97C5-F7E553D3F2D0}" destId="{EA87F9F7-FDF4-3448-A9AC-9E844C38406B}" srcOrd="1" destOrd="0" presId="urn:microsoft.com/office/officeart/2005/8/layout/hProcess4"/>
    <dgm:cxn modelId="{4359F73E-A93B-1947-9E8D-ADE466F7F34D}" srcId="{DF10F053-C4F4-F648-9E64-D0ADA8754452}" destId="{0821847D-EF52-7D48-97C5-F7E553D3F2D0}" srcOrd="0" destOrd="0" parTransId="{A024DBBB-20C5-D345-B7D9-2B15F1B19269}" sibTransId="{4E3522DE-D4ED-0642-8E03-845C1BB28348}"/>
    <dgm:cxn modelId="{D66C4546-9B7B-724E-BC40-3FF122E6C732}" type="presOf" srcId="{DFF6883F-3C8D-864E-8C5C-463624D0ED1E}" destId="{283F6956-7F66-AD4A-B4E5-044A343474F2}" srcOrd="0" destOrd="0" presId="urn:microsoft.com/office/officeart/2005/8/layout/hProcess4"/>
    <dgm:cxn modelId="{3F0CF44D-7DDB-AA47-BF96-42B24A280BC5}" type="presOf" srcId="{2B94BB7D-5D7B-1C4B-AEE9-BD92B63948A9}" destId="{550F1A33-50F5-3C4E-9138-FACEBBD6883D}" srcOrd="0" destOrd="0" presId="urn:microsoft.com/office/officeart/2005/8/layout/hProcess4"/>
    <dgm:cxn modelId="{6FCEE54E-B8B3-9445-BDAC-D898D4C21F68}" srcId="{34320DAC-032E-BC45-BE87-0ABA774DD955}" destId="{DF10F053-C4F4-F648-9E64-D0ADA8754452}" srcOrd="2" destOrd="0" parTransId="{8C6A3D7A-198B-A845-A0BC-93D862650CC5}" sibTransId="{ADC44B78-E43F-284F-B44C-9306987C1A0C}"/>
    <dgm:cxn modelId="{23B1935E-FE83-E549-A12F-E7A582CDEE06}" type="presOf" srcId="{DFF6883F-3C8D-864E-8C5C-463624D0ED1E}" destId="{4BD81E3C-EE15-A341-8727-0661068B3D0B}" srcOrd="1" destOrd="0" presId="urn:microsoft.com/office/officeart/2005/8/layout/hProcess4"/>
    <dgm:cxn modelId="{47F93F61-D162-9544-9419-6E2406A015BA}" srcId="{34320DAC-032E-BC45-BE87-0ABA774DD955}" destId="{C9185549-4DD0-0E4E-AC8A-6D00138139FC}" srcOrd="0" destOrd="0" parTransId="{2FAEF075-E163-8B44-B083-08950347E3FA}" sibTransId="{5407B587-1A20-DA4E-A41E-7AB167324369}"/>
    <dgm:cxn modelId="{FAB0B161-468B-DB45-A264-2128DF97A6C7}" type="presOf" srcId="{34320DAC-032E-BC45-BE87-0ABA774DD955}" destId="{71E0AE6E-7D2D-C04F-B4C1-041C6E32D3EE}" srcOrd="0" destOrd="0" presId="urn:microsoft.com/office/officeart/2005/8/layout/hProcess4"/>
    <dgm:cxn modelId="{C7AAC67A-1FCE-6644-9A1D-90301FF2F014}" srcId="{C9185549-4DD0-0E4E-AC8A-6D00138139FC}" destId="{245BE78A-35CC-B544-AF19-F1B65CBF81BA}" srcOrd="0" destOrd="0" parTransId="{6D02BEE8-57B6-4B46-9C06-1274C3469DB1}" sibTransId="{B936EF5E-81AE-0441-AD57-8B071C24D8F2}"/>
    <dgm:cxn modelId="{51AA6B7F-60DC-1741-A013-E6A0413CB04E}" srcId="{34320DAC-032E-BC45-BE87-0ABA774DD955}" destId="{8331CE5A-7916-6C4D-B7BA-45DFA8B5B48C}" srcOrd="1" destOrd="0" parTransId="{CB130ADD-47BB-8A4A-B510-AA8D14921A7B}" sibTransId="{C6C5E403-8B97-A342-B09E-EAE9A15E801F}"/>
    <dgm:cxn modelId="{B9CE0686-926D-A340-A595-1B4CA3966487}" type="presOf" srcId="{C9185549-4DD0-0E4E-AC8A-6D00138139FC}" destId="{4800FBEA-8F46-6346-96AA-0039A7CAC507}" srcOrd="0" destOrd="0" presId="urn:microsoft.com/office/officeart/2005/8/layout/hProcess4"/>
    <dgm:cxn modelId="{92FC3487-117A-C44C-B3A1-91EE7DE1F0ED}" type="presOf" srcId="{DF10F053-C4F4-F648-9E64-D0ADA8754452}" destId="{F9F436F9-76E8-EF4B-8A9C-CB9EE68D9EA2}" srcOrd="0" destOrd="0" presId="urn:microsoft.com/office/officeart/2005/8/layout/hProcess4"/>
    <dgm:cxn modelId="{BBF9669B-F033-364C-A95F-FFDEBD09262D}" srcId="{DF5D2843-44B7-A245-A913-7E5E089EAFEC}" destId="{DFF6883F-3C8D-864E-8C5C-463624D0ED1E}" srcOrd="0" destOrd="0" parTransId="{261CE7B4-6787-D444-B924-A5CFD77237A6}" sibTransId="{4D85B48A-CF62-3744-B91A-571A49C7692B}"/>
    <dgm:cxn modelId="{CBBEC3A7-0DB6-2145-9494-4F62C6936A42}" type="presOf" srcId="{0821847D-EF52-7D48-97C5-F7E553D3F2D0}" destId="{F431DDB3-2372-A44F-802E-820ADF54FF9A}" srcOrd="0" destOrd="0" presId="urn:microsoft.com/office/officeart/2005/8/layout/hProcess4"/>
    <dgm:cxn modelId="{DC6B7CBF-9341-2F41-A677-C891AC29E73F}" type="presOf" srcId="{8331CE5A-7916-6C4D-B7BA-45DFA8B5B48C}" destId="{13052198-2BBA-5744-A11B-BD4717B8AA86}" srcOrd="0" destOrd="0" presId="urn:microsoft.com/office/officeart/2005/8/layout/hProcess4"/>
    <dgm:cxn modelId="{1DDF8AC2-8D4E-F14A-99E9-9F36DE38ED20}" type="presOf" srcId="{2B94BB7D-5D7B-1C4B-AEE9-BD92B63948A9}" destId="{5BA51D02-D887-654D-AB42-F0983EEDFD7A}" srcOrd="1" destOrd="0" presId="urn:microsoft.com/office/officeart/2005/8/layout/hProcess4"/>
    <dgm:cxn modelId="{8372CCE2-F935-274E-9625-1A1FB83267EF}" type="presOf" srcId="{245BE78A-35CC-B544-AF19-F1B65CBF81BA}" destId="{23CAAB81-B5FA-3C4C-B9B7-DCD8F3AB488D}" srcOrd="0" destOrd="0" presId="urn:microsoft.com/office/officeart/2005/8/layout/hProcess4"/>
    <dgm:cxn modelId="{295836E6-92D1-6241-9712-792E44F85506}" type="presOf" srcId="{5407B587-1A20-DA4E-A41E-7AB167324369}" destId="{4B67E405-8E37-5843-82B9-FA686F2B2982}" srcOrd="0" destOrd="0" presId="urn:microsoft.com/office/officeart/2005/8/layout/hProcess4"/>
    <dgm:cxn modelId="{93B9EEED-6D02-FF42-B216-77C09F9570D4}" type="presOf" srcId="{C6C5E403-8B97-A342-B09E-EAE9A15E801F}" destId="{E9EBD16F-0B10-B340-B052-CE7E7E1D8281}" srcOrd="0" destOrd="0" presId="urn:microsoft.com/office/officeart/2005/8/layout/hProcess4"/>
    <dgm:cxn modelId="{84271CF2-7E19-F24E-90F4-33C9F9FF4430}" type="presOf" srcId="{ADC44B78-E43F-284F-B44C-9306987C1A0C}" destId="{07DC75FF-AB7A-7645-BF51-C695EBBCF390}" srcOrd="0" destOrd="0" presId="urn:microsoft.com/office/officeart/2005/8/layout/hProcess4"/>
    <dgm:cxn modelId="{3B4C476C-CDF7-CF49-9C91-F65225FDF742}" type="presParOf" srcId="{71E0AE6E-7D2D-C04F-B4C1-041C6E32D3EE}" destId="{8CC7A15A-BD7F-6A4E-B9B3-C69547650E35}" srcOrd="0" destOrd="0" presId="urn:microsoft.com/office/officeart/2005/8/layout/hProcess4"/>
    <dgm:cxn modelId="{EE7B82AB-55E3-3F48-8FFA-FF63E596ED91}" type="presParOf" srcId="{71E0AE6E-7D2D-C04F-B4C1-041C6E32D3EE}" destId="{C790F604-1165-A24A-A8BA-C0BFF027E6B5}" srcOrd="1" destOrd="0" presId="urn:microsoft.com/office/officeart/2005/8/layout/hProcess4"/>
    <dgm:cxn modelId="{004400AA-AE67-FE43-8814-F0EA75B1CC9C}" type="presParOf" srcId="{71E0AE6E-7D2D-C04F-B4C1-041C6E32D3EE}" destId="{45353D67-9146-D341-9103-9E1C42E36BB7}" srcOrd="2" destOrd="0" presId="urn:microsoft.com/office/officeart/2005/8/layout/hProcess4"/>
    <dgm:cxn modelId="{77AB53B8-DDF4-0746-9A6F-2902460461A4}" type="presParOf" srcId="{45353D67-9146-D341-9103-9E1C42E36BB7}" destId="{70ADD783-53C0-7240-85BA-F11F6A71027B}" srcOrd="0" destOrd="0" presId="urn:microsoft.com/office/officeart/2005/8/layout/hProcess4"/>
    <dgm:cxn modelId="{52ACA8E8-4655-564F-AC70-D5A83763219A}" type="presParOf" srcId="{70ADD783-53C0-7240-85BA-F11F6A71027B}" destId="{C8B041D9-3C28-E847-9B83-9E295A0E3E49}" srcOrd="0" destOrd="0" presId="urn:microsoft.com/office/officeart/2005/8/layout/hProcess4"/>
    <dgm:cxn modelId="{D159FB2E-C205-2749-BD64-683EB842B0A1}" type="presParOf" srcId="{70ADD783-53C0-7240-85BA-F11F6A71027B}" destId="{23CAAB81-B5FA-3C4C-B9B7-DCD8F3AB488D}" srcOrd="1" destOrd="0" presId="urn:microsoft.com/office/officeart/2005/8/layout/hProcess4"/>
    <dgm:cxn modelId="{9E5C84FD-770E-7348-8308-0AA42136F0B9}" type="presParOf" srcId="{70ADD783-53C0-7240-85BA-F11F6A71027B}" destId="{5B6C67A1-497E-D240-9086-FE67943FD27A}" srcOrd="2" destOrd="0" presId="urn:microsoft.com/office/officeart/2005/8/layout/hProcess4"/>
    <dgm:cxn modelId="{514D9A52-60F3-C348-B95B-A4EC753A04FD}" type="presParOf" srcId="{70ADD783-53C0-7240-85BA-F11F6A71027B}" destId="{4800FBEA-8F46-6346-96AA-0039A7CAC507}" srcOrd="3" destOrd="0" presId="urn:microsoft.com/office/officeart/2005/8/layout/hProcess4"/>
    <dgm:cxn modelId="{EEAFE3C5-672C-334A-9CE4-44BD878F1019}" type="presParOf" srcId="{70ADD783-53C0-7240-85BA-F11F6A71027B}" destId="{6B9EBBA9-86DA-B64A-AB74-C90B532E7742}" srcOrd="4" destOrd="0" presId="urn:microsoft.com/office/officeart/2005/8/layout/hProcess4"/>
    <dgm:cxn modelId="{F12C2E06-3674-6E42-AB0A-A78E41C6EAA5}" type="presParOf" srcId="{45353D67-9146-D341-9103-9E1C42E36BB7}" destId="{4B67E405-8E37-5843-82B9-FA686F2B2982}" srcOrd="1" destOrd="0" presId="urn:microsoft.com/office/officeart/2005/8/layout/hProcess4"/>
    <dgm:cxn modelId="{C2AF1E7D-25F7-5942-9287-D0A140FA2E5A}" type="presParOf" srcId="{45353D67-9146-D341-9103-9E1C42E36BB7}" destId="{1E769C19-B573-BE4B-91DC-BCE3BC058A48}" srcOrd="2" destOrd="0" presId="urn:microsoft.com/office/officeart/2005/8/layout/hProcess4"/>
    <dgm:cxn modelId="{BAD17556-03DD-DD4F-94FF-2D5184D1CEBD}" type="presParOf" srcId="{1E769C19-B573-BE4B-91DC-BCE3BC058A48}" destId="{553EEB0C-741C-A347-88FC-4076AD1D7957}" srcOrd="0" destOrd="0" presId="urn:microsoft.com/office/officeart/2005/8/layout/hProcess4"/>
    <dgm:cxn modelId="{7618E104-1D71-6E41-9958-1CA69A15B023}" type="presParOf" srcId="{1E769C19-B573-BE4B-91DC-BCE3BC058A48}" destId="{550F1A33-50F5-3C4E-9138-FACEBBD6883D}" srcOrd="1" destOrd="0" presId="urn:microsoft.com/office/officeart/2005/8/layout/hProcess4"/>
    <dgm:cxn modelId="{4AF14208-171B-6543-964F-5FD85D0255CB}" type="presParOf" srcId="{1E769C19-B573-BE4B-91DC-BCE3BC058A48}" destId="{5BA51D02-D887-654D-AB42-F0983EEDFD7A}" srcOrd="2" destOrd="0" presId="urn:microsoft.com/office/officeart/2005/8/layout/hProcess4"/>
    <dgm:cxn modelId="{B83F59FF-1201-A341-BFA9-848F4249875A}" type="presParOf" srcId="{1E769C19-B573-BE4B-91DC-BCE3BC058A48}" destId="{13052198-2BBA-5744-A11B-BD4717B8AA86}" srcOrd="3" destOrd="0" presId="urn:microsoft.com/office/officeart/2005/8/layout/hProcess4"/>
    <dgm:cxn modelId="{5E375717-0063-134C-9B08-0C346A2E7472}" type="presParOf" srcId="{1E769C19-B573-BE4B-91DC-BCE3BC058A48}" destId="{3A82CFC9-6492-2E4F-9A76-D0677D7B8EAC}" srcOrd="4" destOrd="0" presId="urn:microsoft.com/office/officeart/2005/8/layout/hProcess4"/>
    <dgm:cxn modelId="{5A3A4283-A6B0-5243-95DD-713040834D0B}" type="presParOf" srcId="{45353D67-9146-D341-9103-9E1C42E36BB7}" destId="{E9EBD16F-0B10-B340-B052-CE7E7E1D8281}" srcOrd="3" destOrd="0" presId="urn:microsoft.com/office/officeart/2005/8/layout/hProcess4"/>
    <dgm:cxn modelId="{CBD3B7C8-05DC-1A44-BE59-E5709B06DF2E}" type="presParOf" srcId="{45353D67-9146-D341-9103-9E1C42E36BB7}" destId="{D18A1BC3-FCC8-1448-B0C7-61C195AED027}" srcOrd="4" destOrd="0" presId="urn:microsoft.com/office/officeart/2005/8/layout/hProcess4"/>
    <dgm:cxn modelId="{5484C910-E987-CE40-BABF-E88CF3AF70D6}" type="presParOf" srcId="{D18A1BC3-FCC8-1448-B0C7-61C195AED027}" destId="{D0C2A8BD-14D5-4D4F-ABF9-0BAD2D5FEAF7}" srcOrd="0" destOrd="0" presId="urn:microsoft.com/office/officeart/2005/8/layout/hProcess4"/>
    <dgm:cxn modelId="{9B8F4D9C-E1CA-564C-8E8A-406A8973399A}" type="presParOf" srcId="{D18A1BC3-FCC8-1448-B0C7-61C195AED027}" destId="{F431DDB3-2372-A44F-802E-820ADF54FF9A}" srcOrd="1" destOrd="0" presId="urn:microsoft.com/office/officeart/2005/8/layout/hProcess4"/>
    <dgm:cxn modelId="{B8B2E7B1-3A54-2648-B62F-85BD415AFBB0}" type="presParOf" srcId="{D18A1BC3-FCC8-1448-B0C7-61C195AED027}" destId="{EA87F9F7-FDF4-3448-A9AC-9E844C38406B}" srcOrd="2" destOrd="0" presId="urn:microsoft.com/office/officeart/2005/8/layout/hProcess4"/>
    <dgm:cxn modelId="{6AF48A5F-FC91-CF4B-A345-012B56681361}" type="presParOf" srcId="{D18A1BC3-FCC8-1448-B0C7-61C195AED027}" destId="{F9F436F9-76E8-EF4B-8A9C-CB9EE68D9EA2}" srcOrd="3" destOrd="0" presId="urn:microsoft.com/office/officeart/2005/8/layout/hProcess4"/>
    <dgm:cxn modelId="{EE87F92C-E75C-C946-BAC6-923C4D6B1922}" type="presParOf" srcId="{D18A1BC3-FCC8-1448-B0C7-61C195AED027}" destId="{E517A3FE-EAFC-D340-9B01-A9F4C001D6D4}" srcOrd="4" destOrd="0" presId="urn:microsoft.com/office/officeart/2005/8/layout/hProcess4"/>
    <dgm:cxn modelId="{8BE81A86-E8B8-A948-A2E3-21FC0D958FB3}" type="presParOf" srcId="{45353D67-9146-D341-9103-9E1C42E36BB7}" destId="{07DC75FF-AB7A-7645-BF51-C695EBBCF390}" srcOrd="5" destOrd="0" presId="urn:microsoft.com/office/officeart/2005/8/layout/hProcess4"/>
    <dgm:cxn modelId="{6E732E96-81B6-D742-B6B8-260052590717}" type="presParOf" srcId="{45353D67-9146-D341-9103-9E1C42E36BB7}" destId="{856070CA-1C58-EA47-A896-6E1029B87661}" srcOrd="6" destOrd="0" presId="urn:microsoft.com/office/officeart/2005/8/layout/hProcess4"/>
    <dgm:cxn modelId="{BCD7DA81-3C8D-DE42-AD84-AAE4F0E601E1}" type="presParOf" srcId="{856070CA-1C58-EA47-A896-6E1029B87661}" destId="{A1B3DB78-AE15-B742-8991-3F6A0AE04701}" srcOrd="0" destOrd="0" presId="urn:microsoft.com/office/officeart/2005/8/layout/hProcess4"/>
    <dgm:cxn modelId="{191CC39C-CD76-E446-9066-34BF1E761CF8}" type="presParOf" srcId="{856070CA-1C58-EA47-A896-6E1029B87661}" destId="{283F6956-7F66-AD4A-B4E5-044A343474F2}" srcOrd="1" destOrd="0" presId="urn:microsoft.com/office/officeart/2005/8/layout/hProcess4"/>
    <dgm:cxn modelId="{A314F9D0-CB5F-234A-B6DC-27135AF483AD}" type="presParOf" srcId="{856070CA-1C58-EA47-A896-6E1029B87661}" destId="{4BD81E3C-EE15-A341-8727-0661068B3D0B}" srcOrd="2" destOrd="0" presId="urn:microsoft.com/office/officeart/2005/8/layout/hProcess4"/>
    <dgm:cxn modelId="{40061DD9-2B6E-F943-A5F2-840ED2AE48C4}" type="presParOf" srcId="{856070CA-1C58-EA47-A896-6E1029B87661}" destId="{DD8E5CFD-0A45-044B-AC01-A620B4F11025}" srcOrd="3" destOrd="0" presId="urn:microsoft.com/office/officeart/2005/8/layout/hProcess4"/>
    <dgm:cxn modelId="{AA69E6ED-4741-9148-8FA5-73FAFDDF9C64}" type="presParOf" srcId="{856070CA-1C58-EA47-A896-6E1029B87661}" destId="{019DB587-36D4-9C49-ADBA-912C254B3C0A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92B26-5B1B-184E-A5E1-1AD1709A3560}">
      <dsp:nvSpPr>
        <dsp:cNvPr id="0" name=""/>
        <dsp:cNvSpPr/>
      </dsp:nvSpPr>
      <dsp:spPr>
        <a:xfrm>
          <a:off x="4311" y="1595626"/>
          <a:ext cx="2225039" cy="1835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u="none" strike="noStrike" kern="1200" dirty="0">
              <a:solidFill>
                <a:schemeClr val="tx1"/>
              </a:solidFill>
              <a:effectLst/>
              <a:latin typeface="+mn-lt"/>
            </a:rPr>
            <a:t>Measure the height of 15 frogs in a pond to see if their average height is different from 10 cm (the known average).</a:t>
          </a:r>
          <a:endParaRPr lang="en-US" sz="1400" kern="1200" dirty="0"/>
        </a:p>
      </dsp:txBody>
      <dsp:txXfrm>
        <a:off x="46544" y="1637859"/>
        <a:ext cx="2140573" cy="1357470"/>
      </dsp:txXfrm>
    </dsp:sp>
    <dsp:sp modelId="{6E792D05-F3A8-8B4F-8635-AC561FBDFB6E}">
      <dsp:nvSpPr>
        <dsp:cNvPr id="0" name=""/>
        <dsp:cNvSpPr/>
      </dsp:nvSpPr>
      <dsp:spPr>
        <a:xfrm>
          <a:off x="1240639" y="1982119"/>
          <a:ext cx="2528545" cy="2528545"/>
        </a:xfrm>
        <a:prstGeom prst="leftCircularArrow">
          <a:avLst>
            <a:gd name="adj1" fmla="val 3448"/>
            <a:gd name="adj2" fmla="val 427269"/>
            <a:gd name="adj3" fmla="val 2202780"/>
            <a:gd name="adj4" fmla="val 9024489"/>
            <a:gd name="adj5" fmla="val 4023"/>
          </a:avLst>
        </a:prstGeom>
        <a:solidFill>
          <a:srgbClr val="A5B7A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09CB11-CCF4-EF45-AEE2-C2F1B6AA3EE9}">
      <dsp:nvSpPr>
        <dsp:cNvPr id="0" name=""/>
        <dsp:cNvSpPr/>
      </dsp:nvSpPr>
      <dsp:spPr>
        <a:xfrm>
          <a:off x="498764" y="3037563"/>
          <a:ext cx="1977813" cy="786511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Context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521800" y="3060599"/>
        <a:ext cx="1931741" cy="740439"/>
      </dsp:txXfrm>
    </dsp:sp>
    <dsp:sp modelId="{EE171CCA-15D4-9E4D-B424-B89662CFFAA7}">
      <dsp:nvSpPr>
        <dsp:cNvPr id="0" name=""/>
        <dsp:cNvSpPr/>
      </dsp:nvSpPr>
      <dsp:spPr>
        <a:xfrm>
          <a:off x="2891724" y="1595626"/>
          <a:ext cx="2225039" cy="1835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u="none" strike="noStrike" kern="1200" dirty="0">
              <a:solidFill>
                <a:schemeClr val="tx1"/>
              </a:solidFill>
              <a:effectLst/>
              <a:latin typeface="+mn-lt"/>
            </a:rPr>
            <a:t>Calculate the sample mean and standard deviation of the frog heights by summing the heights and dividing by 15.</a:t>
          </a:r>
          <a:endParaRPr lang="en-US" sz="1400" kern="1200" dirty="0"/>
        </a:p>
      </dsp:txBody>
      <dsp:txXfrm>
        <a:off x="2933957" y="2031114"/>
        <a:ext cx="2140573" cy="1357470"/>
      </dsp:txXfrm>
    </dsp:sp>
    <dsp:sp modelId="{36DCD278-446C-7046-BB0D-5C7C79C2C799}">
      <dsp:nvSpPr>
        <dsp:cNvPr id="0" name=""/>
        <dsp:cNvSpPr/>
      </dsp:nvSpPr>
      <dsp:spPr>
        <a:xfrm>
          <a:off x="4109510" y="443823"/>
          <a:ext cx="2812855" cy="2812855"/>
        </a:xfrm>
        <a:prstGeom prst="circularArrow">
          <a:avLst>
            <a:gd name="adj1" fmla="val 3099"/>
            <a:gd name="adj2" fmla="val 380924"/>
            <a:gd name="adj3" fmla="val 19443566"/>
            <a:gd name="adj4" fmla="val 12575511"/>
            <a:gd name="adj5" fmla="val 3616"/>
          </a:avLst>
        </a:prstGeom>
        <a:solidFill>
          <a:srgbClr val="A5B7A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CA820-9A34-804A-9F4E-461A8BB360BA}">
      <dsp:nvSpPr>
        <dsp:cNvPr id="0" name=""/>
        <dsp:cNvSpPr/>
      </dsp:nvSpPr>
      <dsp:spPr>
        <a:xfrm>
          <a:off x="3386178" y="1202370"/>
          <a:ext cx="1977813" cy="786511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Calculate Mean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3409214" y="1225406"/>
        <a:ext cx="1931741" cy="740439"/>
      </dsp:txXfrm>
    </dsp:sp>
    <dsp:sp modelId="{CEAC6003-DF43-B94E-8368-34E680DC28FD}">
      <dsp:nvSpPr>
        <dsp:cNvPr id="0" name=""/>
        <dsp:cNvSpPr/>
      </dsp:nvSpPr>
      <dsp:spPr>
        <a:xfrm>
          <a:off x="5779137" y="1595626"/>
          <a:ext cx="2225039" cy="1835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u="none" strike="noStrike" kern="1200" dirty="0">
              <a:solidFill>
                <a:schemeClr val="tx1"/>
              </a:solidFill>
              <a:effectLst/>
              <a:latin typeface="+mn-lt"/>
            </a:rPr>
            <a:t>Apply the one-sample t-test formula: t = (X̄ - </a:t>
          </a:r>
          <a:r>
            <a:rPr lang="en-US" sz="1400" b="0" i="0" u="none" strike="noStrike" kern="1200" dirty="0" err="1">
              <a:solidFill>
                <a:schemeClr val="tx1"/>
              </a:solidFill>
              <a:effectLst/>
              <a:latin typeface="+mn-lt"/>
            </a:rPr>
            <a:t>μ</a:t>
          </a:r>
          <a:r>
            <a:rPr lang="en-US" sz="1400" b="0" i="0" u="none" strike="noStrike" kern="1200" dirty="0">
              <a:solidFill>
                <a:schemeClr val="tx1"/>
              </a:solidFill>
              <a:effectLst/>
              <a:latin typeface="+mn-lt"/>
            </a:rPr>
            <a:t>) / (s / √n), where X̄ = sample mean, </a:t>
          </a:r>
          <a:r>
            <a:rPr lang="en-US" sz="1400" b="0" i="0" u="none" strike="noStrike" kern="1200" dirty="0" err="1">
              <a:solidFill>
                <a:schemeClr val="tx1"/>
              </a:solidFill>
              <a:effectLst/>
              <a:latin typeface="+mn-lt"/>
            </a:rPr>
            <a:t>μ</a:t>
          </a:r>
          <a:r>
            <a:rPr lang="en-US" sz="1400" b="0" i="0" u="none" strike="noStrike" kern="1200" dirty="0">
              <a:solidFill>
                <a:schemeClr val="tx1"/>
              </a:solidFill>
              <a:effectLst/>
              <a:latin typeface="+mn-lt"/>
            </a:rPr>
            <a:t> = population mean, s = sample SD, n = sample size.</a:t>
          </a:r>
          <a:endParaRPr lang="en-US" sz="1400" kern="1200" dirty="0"/>
        </a:p>
      </dsp:txBody>
      <dsp:txXfrm>
        <a:off x="5821370" y="1637859"/>
        <a:ext cx="2140573" cy="1357470"/>
      </dsp:txXfrm>
    </dsp:sp>
    <dsp:sp modelId="{A0F4E4A8-3D3D-C448-8AA2-44AEA85BDD7E}">
      <dsp:nvSpPr>
        <dsp:cNvPr id="0" name=""/>
        <dsp:cNvSpPr/>
      </dsp:nvSpPr>
      <dsp:spPr>
        <a:xfrm>
          <a:off x="7015465" y="1982119"/>
          <a:ext cx="2528545" cy="2528545"/>
        </a:xfrm>
        <a:prstGeom prst="leftCircularArrow">
          <a:avLst>
            <a:gd name="adj1" fmla="val 3448"/>
            <a:gd name="adj2" fmla="val 427269"/>
            <a:gd name="adj3" fmla="val 2202780"/>
            <a:gd name="adj4" fmla="val 9024489"/>
            <a:gd name="adj5" fmla="val 4023"/>
          </a:avLst>
        </a:prstGeom>
        <a:solidFill>
          <a:srgbClr val="A5B7A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7E891-5C86-4F4F-972F-31A8588F7198}">
      <dsp:nvSpPr>
        <dsp:cNvPr id="0" name=""/>
        <dsp:cNvSpPr/>
      </dsp:nvSpPr>
      <dsp:spPr>
        <a:xfrm>
          <a:off x="6273591" y="3037563"/>
          <a:ext cx="1977813" cy="786511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Use T-Test Formula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6296627" y="3060599"/>
        <a:ext cx="1931741" cy="740439"/>
      </dsp:txXfrm>
    </dsp:sp>
    <dsp:sp modelId="{0B2D8CA8-4DCD-3946-A512-E8EBEE34391F}">
      <dsp:nvSpPr>
        <dsp:cNvPr id="0" name=""/>
        <dsp:cNvSpPr/>
      </dsp:nvSpPr>
      <dsp:spPr>
        <a:xfrm>
          <a:off x="8666551" y="1595626"/>
          <a:ext cx="2225039" cy="1835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u="none" strike="noStrike" kern="1200">
              <a:solidFill>
                <a:schemeClr val="tx1"/>
              </a:solidFill>
              <a:effectLst/>
              <a:latin typeface="+mn-lt"/>
            </a:rPr>
            <a:t>Compare the calculated t-value with the critical t-value (df = n - 1). If p &lt; 0.05, reject the null hypothesis.</a:t>
          </a:r>
          <a:endParaRPr lang="en-US" sz="1400" kern="1200" dirty="0"/>
        </a:p>
      </dsp:txBody>
      <dsp:txXfrm>
        <a:off x="8708784" y="2031114"/>
        <a:ext cx="2140573" cy="1357470"/>
      </dsp:txXfrm>
    </dsp:sp>
    <dsp:sp modelId="{898A8CFF-9FA4-3548-A0C7-553163816474}">
      <dsp:nvSpPr>
        <dsp:cNvPr id="0" name=""/>
        <dsp:cNvSpPr/>
      </dsp:nvSpPr>
      <dsp:spPr>
        <a:xfrm>
          <a:off x="9161004" y="1202370"/>
          <a:ext cx="1977813" cy="786511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Interpret p-value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9184040" y="1225406"/>
        <a:ext cx="1931741" cy="7404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4EC70-7793-A444-8184-B87AE30EA0FE}">
      <dsp:nvSpPr>
        <dsp:cNvPr id="0" name=""/>
        <dsp:cNvSpPr/>
      </dsp:nvSpPr>
      <dsp:spPr>
        <a:xfrm>
          <a:off x="4417" y="1573788"/>
          <a:ext cx="2221893" cy="18325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u="none" strike="noStrike" kern="1200" dirty="0">
              <a:solidFill>
                <a:schemeClr val="tx1"/>
              </a:solidFill>
              <a:effectLst/>
              <a:latin typeface="+mn-lt"/>
            </a:rPr>
            <a:t>Comparing average leaf area of two plant species—birch &amp; maple.</a:t>
          </a:r>
          <a:endParaRPr lang="en-US" sz="1400" kern="1200" dirty="0"/>
        </a:p>
      </dsp:txBody>
      <dsp:txXfrm>
        <a:off x="46590" y="1615961"/>
        <a:ext cx="2137547" cy="1355551"/>
      </dsp:txXfrm>
    </dsp:sp>
    <dsp:sp modelId="{A2A7FF79-48FD-4843-B204-0A34E1CC973D}">
      <dsp:nvSpPr>
        <dsp:cNvPr id="0" name=""/>
        <dsp:cNvSpPr/>
      </dsp:nvSpPr>
      <dsp:spPr>
        <a:xfrm>
          <a:off x="1237883" y="1955734"/>
          <a:ext cx="2530881" cy="2530881"/>
        </a:xfrm>
        <a:prstGeom prst="leftCircularArrow">
          <a:avLst>
            <a:gd name="adj1" fmla="val 3470"/>
            <a:gd name="adj2" fmla="val 430289"/>
            <a:gd name="adj3" fmla="val 2205800"/>
            <a:gd name="adj4" fmla="val 9024489"/>
            <a:gd name="adj5" fmla="val 4049"/>
          </a:avLst>
        </a:prstGeom>
        <a:solidFill>
          <a:srgbClr val="A5B7A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A0126-CD94-614B-B710-CB7AF5261EFB}">
      <dsp:nvSpPr>
        <dsp:cNvPr id="0" name=""/>
        <dsp:cNvSpPr/>
      </dsp:nvSpPr>
      <dsp:spPr>
        <a:xfrm>
          <a:off x="498171" y="3013686"/>
          <a:ext cx="1975016" cy="785398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Context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521175" y="3036690"/>
        <a:ext cx="1929008" cy="739390"/>
      </dsp:txXfrm>
    </dsp:sp>
    <dsp:sp modelId="{22BC723C-83B0-5245-9967-6712D0644DA1}">
      <dsp:nvSpPr>
        <dsp:cNvPr id="0" name=""/>
        <dsp:cNvSpPr/>
      </dsp:nvSpPr>
      <dsp:spPr>
        <a:xfrm>
          <a:off x="2891431" y="1573788"/>
          <a:ext cx="2221893" cy="18325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u="none" strike="noStrike" kern="1200" dirty="0">
              <a:solidFill>
                <a:schemeClr val="tx1"/>
              </a:solidFill>
              <a:effectLst/>
              <a:latin typeface="+mn-lt"/>
            </a:rPr>
            <a:t>Calculate means, standard deviations, and variances of each group.</a:t>
          </a:r>
          <a:endParaRPr lang="en-US" sz="1400" kern="1200" dirty="0"/>
        </a:p>
      </dsp:txBody>
      <dsp:txXfrm>
        <a:off x="2933604" y="2008661"/>
        <a:ext cx="2137547" cy="1355551"/>
      </dsp:txXfrm>
    </dsp:sp>
    <dsp:sp modelId="{B9F81A6A-BCE7-344C-AA05-A34EC3B07FCA}">
      <dsp:nvSpPr>
        <dsp:cNvPr id="0" name=""/>
        <dsp:cNvSpPr/>
      </dsp:nvSpPr>
      <dsp:spPr>
        <a:xfrm>
          <a:off x="4106381" y="421704"/>
          <a:ext cx="2814790" cy="2814790"/>
        </a:xfrm>
        <a:prstGeom prst="circularArrow">
          <a:avLst>
            <a:gd name="adj1" fmla="val 3120"/>
            <a:gd name="adj2" fmla="val 383691"/>
            <a:gd name="adj3" fmla="val 19440798"/>
            <a:gd name="adj4" fmla="val 12575511"/>
            <a:gd name="adj5" fmla="val 3640"/>
          </a:avLst>
        </a:prstGeom>
        <a:solidFill>
          <a:srgbClr val="A5B7A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F7958-17FC-4B41-B057-3CB3524E0107}">
      <dsp:nvSpPr>
        <dsp:cNvPr id="0" name=""/>
        <dsp:cNvSpPr/>
      </dsp:nvSpPr>
      <dsp:spPr>
        <a:xfrm>
          <a:off x="3385185" y="1181089"/>
          <a:ext cx="1975016" cy="785398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Calculate Means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3408189" y="1204093"/>
        <a:ext cx="1929008" cy="739390"/>
      </dsp:txXfrm>
    </dsp:sp>
    <dsp:sp modelId="{F86A58D3-0B81-AB4F-A829-C7D10FDCBCC7}">
      <dsp:nvSpPr>
        <dsp:cNvPr id="0" name=""/>
        <dsp:cNvSpPr/>
      </dsp:nvSpPr>
      <dsp:spPr>
        <a:xfrm>
          <a:off x="5778445" y="1573788"/>
          <a:ext cx="2221893" cy="18325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u="none" strike="noStrike" kern="1200">
              <a:solidFill>
                <a:schemeClr val="tx1"/>
              </a:solidFill>
              <a:effectLst/>
              <a:latin typeface="+mn-lt"/>
            </a:rPr>
            <a:t>Use the formula, and calculate t-value.</a:t>
          </a:r>
          <a:endParaRPr lang="en-US" sz="1400" kern="1200" dirty="0"/>
        </a:p>
      </dsp:txBody>
      <dsp:txXfrm>
        <a:off x="5820618" y="1615961"/>
        <a:ext cx="2137547" cy="1355551"/>
      </dsp:txXfrm>
    </dsp:sp>
    <dsp:sp modelId="{5C183EE2-6C55-EA48-9B79-A84C096082FF}">
      <dsp:nvSpPr>
        <dsp:cNvPr id="0" name=""/>
        <dsp:cNvSpPr/>
      </dsp:nvSpPr>
      <dsp:spPr>
        <a:xfrm>
          <a:off x="7011910" y="1955734"/>
          <a:ext cx="2530881" cy="2530881"/>
        </a:xfrm>
        <a:prstGeom prst="leftCircularArrow">
          <a:avLst>
            <a:gd name="adj1" fmla="val 3470"/>
            <a:gd name="adj2" fmla="val 430289"/>
            <a:gd name="adj3" fmla="val 2205800"/>
            <a:gd name="adj4" fmla="val 9024489"/>
            <a:gd name="adj5" fmla="val 4049"/>
          </a:avLst>
        </a:prstGeom>
        <a:solidFill>
          <a:srgbClr val="A5B7A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5D17B-2177-5D47-8EFB-2F74186DF530}">
      <dsp:nvSpPr>
        <dsp:cNvPr id="0" name=""/>
        <dsp:cNvSpPr/>
      </dsp:nvSpPr>
      <dsp:spPr>
        <a:xfrm>
          <a:off x="6272199" y="3013686"/>
          <a:ext cx="1975016" cy="785398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Apply T-Test Formula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6295203" y="3036690"/>
        <a:ext cx="1929008" cy="739390"/>
      </dsp:txXfrm>
    </dsp:sp>
    <dsp:sp modelId="{0B384224-7470-8341-A437-B8110845C458}">
      <dsp:nvSpPr>
        <dsp:cNvPr id="0" name=""/>
        <dsp:cNvSpPr/>
      </dsp:nvSpPr>
      <dsp:spPr>
        <a:xfrm>
          <a:off x="8665458" y="1573788"/>
          <a:ext cx="2221893" cy="18325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u="none" strike="noStrike" kern="1200" dirty="0">
              <a:solidFill>
                <a:schemeClr val="tx1"/>
              </a:solidFill>
              <a:effectLst/>
              <a:latin typeface="+mn-lt"/>
            </a:rPr>
            <a:t>Interpret t-value &amp; degrees of freedom. Compare p-value to 0.05. If p &lt; 0.05, reject null hypothesis; leaf areas are significantly different.</a:t>
          </a:r>
          <a:endParaRPr lang="en-US" sz="1400" kern="1200" dirty="0"/>
        </a:p>
      </dsp:txBody>
      <dsp:txXfrm>
        <a:off x="8707631" y="2008661"/>
        <a:ext cx="2137547" cy="1355551"/>
      </dsp:txXfrm>
    </dsp:sp>
    <dsp:sp modelId="{EA5CB553-AD44-0742-BB50-CE97C648A55F}">
      <dsp:nvSpPr>
        <dsp:cNvPr id="0" name=""/>
        <dsp:cNvSpPr/>
      </dsp:nvSpPr>
      <dsp:spPr>
        <a:xfrm>
          <a:off x="9159212" y="1181089"/>
          <a:ext cx="1975016" cy="785398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Interpret Results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9182216" y="1204093"/>
        <a:ext cx="1929008" cy="7393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CAAB81-B5FA-3C4C-B9B7-DCD8F3AB488D}">
      <dsp:nvSpPr>
        <dsp:cNvPr id="0" name=""/>
        <dsp:cNvSpPr/>
      </dsp:nvSpPr>
      <dsp:spPr>
        <a:xfrm>
          <a:off x="6902" y="1503982"/>
          <a:ext cx="2252879" cy="18581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0" i="0" u="none" strike="noStrike" kern="1200" dirty="0">
              <a:solidFill>
                <a:schemeClr val="tx1"/>
              </a:solidFill>
              <a:effectLst/>
              <a:latin typeface="+mn-lt"/>
            </a:rPr>
            <a:t>Measuring the height of plants before and after applying fertilizer.</a:t>
          </a:r>
          <a:endParaRPr lang="en-US" sz="1500" kern="1200" dirty="0"/>
        </a:p>
      </dsp:txBody>
      <dsp:txXfrm>
        <a:off x="49663" y="1546743"/>
        <a:ext cx="2167357" cy="1374456"/>
      </dsp:txXfrm>
    </dsp:sp>
    <dsp:sp modelId="{4B67E405-8E37-5843-82B9-FA686F2B2982}">
      <dsp:nvSpPr>
        <dsp:cNvPr id="0" name=""/>
        <dsp:cNvSpPr/>
      </dsp:nvSpPr>
      <dsp:spPr>
        <a:xfrm>
          <a:off x="1252026" y="1871347"/>
          <a:ext cx="2595585" cy="2595585"/>
        </a:xfrm>
        <a:prstGeom prst="leftCircularArrow">
          <a:avLst>
            <a:gd name="adj1" fmla="val 3579"/>
            <a:gd name="adj2" fmla="val 444951"/>
            <a:gd name="adj3" fmla="val 2220461"/>
            <a:gd name="adj4" fmla="val 9024489"/>
            <a:gd name="adj5" fmla="val 4176"/>
          </a:avLst>
        </a:prstGeom>
        <a:solidFill>
          <a:srgbClr val="A5B7A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0FBEA-8F46-6346-96AA-0039A7CAC507}">
      <dsp:nvSpPr>
        <dsp:cNvPr id="0" name=""/>
        <dsp:cNvSpPr/>
      </dsp:nvSpPr>
      <dsp:spPr>
        <a:xfrm>
          <a:off x="507542" y="2963961"/>
          <a:ext cx="2002559" cy="796351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Context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530866" y="2987285"/>
        <a:ext cx="1955911" cy="749703"/>
      </dsp:txXfrm>
    </dsp:sp>
    <dsp:sp modelId="{550F1A33-50F5-3C4E-9138-FACEBBD6883D}">
      <dsp:nvSpPr>
        <dsp:cNvPr id="0" name=""/>
        <dsp:cNvSpPr/>
      </dsp:nvSpPr>
      <dsp:spPr>
        <a:xfrm>
          <a:off x="2952500" y="1503982"/>
          <a:ext cx="2252879" cy="18581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0" i="0" u="none" strike="noStrike" kern="1200">
              <a:solidFill>
                <a:schemeClr val="tx1"/>
              </a:solidFill>
              <a:effectLst/>
              <a:latin typeface="+mn-lt"/>
            </a:rPr>
            <a:t>Find the difference between pre-treatment and post-treatment heights for each plant.</a:t>
          </a:r>
          <a:endParaRPr lang="en-US" sz="1500" kern="1200" dirty="0"/>
        </a:p>
      </dsp:txBody>
      <dsp:txXfrm>
        <a:off x="2995261" y="1944919"/>
        <a:ext cx="2167357" cy="1374456"/>
      </dsp:txXfrm>
    </dsp:sp>
    <dsp:sp modelId="{E9EBD16F-0B10-B340-B052-CE7E7E1D8281}">
      <dsp:nvSpPr>
        <dsp:cNvPr id="0" name=""/>
        <dsp:cNvSpPr/>
      </dsp:nvSpPr>
      <dsp:spPr>
        <a:xfrm>
          <a:off x="4178851" y="326330"/>
          <a:ext cx="2883453" cy="2883453"/>
        </a:xfrm>
        <a:prstGeom prst="circularArrow">
          <a:avLst>
            <a:gd name="adj1" fmla="val 3222"/>
            <a:gd name="adj2" fmla="val 397139"/>
            <a:gd name="adj3" fmla="val 19427350"/>
            <a:gd name="adj4" fmla="val 12575511"/>
            <a:gd name="adj5" fmla="val 3759"/>
          </a:avLst>
        </a:prstGeom>
        <a:solidFill>
          <a:srgbClr val="A5B7A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052198-2BBA-5744-A11B-BD4717B8AA86}">
      <dsp:nvSpPr>
        <dsp:cNvPr id="0" name=""/>
        <dsp:cNvSpPr/>
      </dsp:nvSpPr>
      <dsp:spPr>
        <a:xfrm>
          <a:off x="3453140" y="1105806"/>
          <a:ext cx="2002559" cy="796351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Calculate Differences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3476464" y="1129130"/>
        <a:ext cx="1955911" cy="749703"/>
      </dsp:txXfrm>
    </dsp:sp>
    <dsp:sp modelId="{F431DDB3-2372-A44F-802E-820ADF54FF9A}">
      <dsp:nvSpPr>
        <dsp:cNvPr id="0" name=""/>
        <dsp:cNvSpPr/>
      </dsp:nvSpPr>
      <dsp:spPr>
        <a:xfrm>
          <a:off x="5898099" y="1503982"/>
          <a:ext cx="2252879" cy="18581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0" i="0" u="none" strike="noStrike" kern="1200" dirty="0">
              <a:solidFill>
                <a:schemeClr val="tx1"/>
              </a:solidFill>
              <a:effectLst/>
              <a:latin typeface="+mn-lt"/>
            </a:rPr>
            <a:t>Use the formula.</a:t>
          </a:r>
          <a:endParaRPr lang="en-US" sz="1500" kern="1200" dirty="0"/>
        </a:p>
      </dsp:txBody>
      <dsp:txXfrm>
        <a:off x="5940860" y="1546743"/>
        <a:ext cx="2167357" cy="1374456"/>
      </dsp:txXfrm>
    </dsp:sp>
    <dsp:sp modelId="{07DC75FF-AB7A-7645-BF51-C695EBBCF390}">
      <dsp:nvSpPr>
        <dsp:cNvPr id="0" name=""/>
        <dsp:cNvSpPr/>
      </dsp:nvSpPr>
      <dsp:spPr>
        <a:xfrm>
          <a:off x="7143223" y="1871347"/>
          <a:ext cx="2595585" cy="2595585"/>
        </a:xfrm>
        <a:prstGeom prst="leftCircularArrow">
          <a:avLst>
            <a:gd name="adj1" fmla="val 3579"/>
            <a:gd name="adj2" fmla="val 444951"/>
            <a:gd name="adj3" fmla="val 2220461"/>
            <a:gd name="adj4" fmla="val 9024489"/>
            <a:gd name="adj5" fmla="val 4176"/>
          </a:avLst>
        </a:prstGeom>
        <a:solidFill>
          <a:srgbClr val="A5B7A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F436F9-76E8-EF4B-8A9C-CB9EE68D9EA2}">
      <dsp:nvSpPr>
        <dsp:cNvPr id="0" name=""/>
        <dsp:cNvSpPr/>
      </dsp:nvSpPr>
      <dsp:spPr>
        <a:xfrm>
          <a:off x="6398739" y="2963961"/>
          <a:ext cx="2002559" cy="796351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Apply T-Test Formula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6422063" y="2987285"/>
        <a:ext cx="1955911" cy="749703"/>
      </dsp:txXfrm>
    </dsp:sp>
    <dsp:sp modelId="{283F6956-7F66-AD4A-B4E5-044A343474F2}">
      <dsp:nvSpPr>
        <dsp:cNvPr id="0" name=""/>
        <dsp:cNvSpPr/>
      </dsp:nvSpPr>
      <dsp:spPr>
        <a:xfrm>
          <a:off x="8843698" y="1503982"/>
          <a:ext cx="2252879" cy="18581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0" i="0" u="none" strike="noStrike" kern="1200">
              <a:solidFill>
                <a:schemeClr val="tx1"/>
              </a:solidFill>
              <a:effectLst/>
              <a:latin typeface="+mn-lt"/>
            </a:rPr>
            <a:t>Interpret the t-value and p-value to determine if there is a significant difference in heights before and after treatment.</a:t>
          </a:r>
          <a:endParaRPr lang="en-US" sz="1500" kern="1200" dirty="0"/>
        </a:p>
      </dsp:txBody>
      <dsp:txXfrm>
        <a:off x="8886459" y="1944919"/>
        <a:ext cx="2167357" cy="1374456"/>
      </dsp:txXfrm>
    </dsp:sp>
    <dsp:sp modelId="{DD8E5CFD-0A45-044B-AC01-A620B4F11025}">
      <dsp:nvSpPr>
        <dsp:cNvPr id="0" name=""/>
        <dsp:cNvSpPr/>
      </dsp:nvSpPr>
      <dsp:spPr>
        <a:xfrm>
          <a:off x="9344338" y="1105806"/>
          <a:ext cx="2002559" cy="796351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u="none" strike="noStrike" kern="1200" dirty="0">
              <a:solidFill>
                <a:schemeClr val="bg1"/>
              </a:solidFill>
              <a:effectLst/>
              <a:latin typeface="+mn-lt"/>
            </a:rPr>
            <a:t>Interpret Results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9367662" y="1129130"/>
        <a:ext cx="1955911" cy="749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1EBB8-1B04-9748-A594-4A4B5B1570CD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B8D4F-17E7-F54B-A12E-523FDB504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3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probably got the gist of this from our hypothesis testing 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57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activity was with the independent samples t-test (also called the… two sample t test! </a:t>
            </a:r>
            <a:r>
              <a:rPr lang="en-US" dirty="0" err="1"/>
              <a:t>Theyre</a:t>
            </a:r>
            <a:r>
              <a:rPr lang="en-US" dirty="0"/>
              <a:t> the same thing lol)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2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61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H0: The data are sampled from a population having a normal distribution. </a:t>
            </a:r>
            <a:endParaRPr lang="en-US" dirty="0">
              <a:effectLst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HA: The data are sampled from a population not having a normal distribution. 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65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you’re using a statistics program, such as our friend JASP, then all you have to do is literally click a button.</a:t>
            </a:r>
          </a:p>
          <a:p>
            <a:r>
              <a:rPr lang="en-US" dirty="0"/>
              <a:t>ASK: Does it looks like there is a deviation from normality?</a:t>
            </a:r>
          </a:p>
          <a:p>
            <a:r>
              <a:rPr lang="en-US" dirty="0"/>
              <a:t>No, the p-value is not significant. I wouldn’t reject the null that the data are sampled from a population having a normal distribution.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44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data are proportions, you can use the arcsine transformation, and when your data are counts, you can use the square root transformation (take each observation, add 1/2 to it, and take the square root of all that). </a:t>
            </a:r>
          </a:p>
          <a:p>
            <a:endParaRPr lang="en-US" dirty="0"/>
          </a:p>
          <a:p>
            <a:r>
              <a:rPr lang="en-US" dirty="0"/>
              <a:t>After all that, you may have to use a non-parametric test instead! I’ll talk about those in a few minutes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39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variable of interest, in this case the mean – difference between that and the known population mean, what you want to compare it to</a:t>
            </a:r>
          </a:p>
          <a:p>
            <a:r>
              <a:rPr lang="en-US" dirty="0"/>
              <a:t>Divided by the standard error (remember, the sample standard deviation divided by the square root of the sample size)</a:t>
            </a:r>
          </a:p>
          <a:p>
            <a:r>
              <a:rPr lang="en-US" dirty="0"/>
              <a:t>Gives us our calculated t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59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Sample data: Heights of 15 frogs: 9.8, 10.1, 9.7, 10.3, 9.9, 10.0...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Sample mean and standard deviation.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Calculated t-value.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Conclusion based on p-value.</a:t>
            </a:r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90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if there is homogeneity of variance, and the sample sizes are the same, etc., then use the degrees of freedom n1+n2 - 2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56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Group 1 (Birch): Leaf areas (cm²): 12, 14, 11, 13, 15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Group 2 (Maple): Leaf areas (cm²): 17, 19, 18, 16, 20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Means and variances calculated.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Calculated t-value.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Conclusion on significance.</a:t>
            </a:r>
            <a:endParaRPr lang="en-U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08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is the mean difference between the two observations</a:t>
            </a:r>
          </a:p>
          <a:p>
            <a:r>
              <a:rPr lang="en-US" dirty="0"/>
              <a:t>Standard deviation is calculated based on the differences, and then sample size.</a:t>
            </a:r>
          </a:p>
          <a:p>
            <a:r>
              <a:rPr lang="en-US" dirty="0"/>
              <a:t>Denominator is also sample standard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14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Before Treatment: Heights (cm): 10, 12, 11, 13, 14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After Treatment: Heights (cm): 12, 13, 13, 15, 16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Differences: 2, 1, 2, 2, 2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Mean difference: 1.8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Standard deviation: Calculate based on differences.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If p &lt; 0.05, reject the null hypothesis, suggesting that the fertilizer has a significant effect on plant height.</a:t>
            </a:r>
          </a:p>
          <a:p>
            <a:pPr>
              <a:buNone/>
            </a:pPr>
            <a:endParaRPr lang="en-US" sz="12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KEEP IN MIND – sample size n is the number of PAIRS not the number of measurements. Aka the number of difference calculations. If I measured the heights of 5 plants before and after adding fertilizer, I made 10 measurements, but I only have 5 pairs of measurements. </a:t>
            </a:r>
            <a:endParaRPr lang="en-U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77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en-US" dirty="0" err="1"/>
              <a:t>dist</a:t>
            </a:r>
            <a:r>
              <a:rPr lang="en-US" dirty="0"/>
              <a:t> curve: larger differences give you a more unusual t-value, which in turn means there’s a lower probability of getting your results from random chance (rather than some sort of biological/ecological process taking place)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74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ONE SAMPLE OR PAIRED T TESTS!</a:t>
            </a:r>
          </a:p>
          <a:p>
            <a:r>
              <a:rPr lang="en-US" dirty="0"/>
              <a:t>Sign test is basically a binomial test (you can look up how to do it) and computer programs will carry out  Wilcoxon test for you, it just usually won’t tell you about this limitation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TWO SAMPLE/INDIVIDUAL t test</a:t>
            </a:r>
          </a:p>
          <a:p>
            <a:endParaRPr lang="en-US" dirty="0"/>
          </a:p>
          <a:p>
            <a:r>
              <a:rPr lang="en-US" dirty="0"/>
              <a:t>Statistics </a:t>
            </a:r>
            <a:r>
              <a:rPr lang="en-US" dirty="0" err="1"/>
              <a:t>prpgrams</a:t>
            </a:r>
            <a:r>
              <a:rPr lang="en-US" dirty="0"/>
              <a:t> will just be able to do the </a:t>
            </a:r>
            <a:r>
              <a:rPr lang="en-US" dirty="0" err="1"/>
              <a:t>mann-whitney</a:t>
            </a:r>
            <a:r>
              <a:rPr lang="en-US" dirty="0"/>
              <a:t> test and give you your p value.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62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Nonparametric tests are typically less powerful than parametric tests.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There’s also permutation tests but I don’t super have time to talk about it here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8D4F-17E7-F54B-A12E-523FDB504ED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54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09C0-1037-1F9D-F956-6F910B0E5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8BA0D-F955-5F19-8025-005EEBE75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98F87-3011-6D25-DA6F-56D97CEB8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2CCAF-9641-1C24-EAAB-07D9A3EA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B1258-532A-AE7C-52B6-5A83A410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3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D8FC-D14C-EE47-2392-BFCDE8F9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1D2B-58E8-56FD-621A-8E982D99D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3CA47-FB07-B648-DEDB-FEC5BF3B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64531-3A11-E8D3-3DB9-B12CF17B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749BB-A786-94BB-AB0E-1B721449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9F40-BC0F-E540-EA57-BF402D9F9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11C18-5197-0F8E-CD53-00A74D9B3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AB1C8-346B-70E9-F8AA-2A6E17B8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A7A15-549A-83C0-4AEC-D4CE47189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2EE85-F378-3AC6-A109-FF106990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9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AE11-8A40-B924-DDEF-33BC682C6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7AFD-3D03-C0FC-1DB9-FCE610B2D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5559D-54D3-2A1E-C04D-5D9BE5819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34341-4373-E220-B16B-E2770F5F8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932C7-9451-2F8E-5E67-0CE57433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66E34-1708-CC13-B940-CC5BEE68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D29D-BF00-92E4-9839-54873AEB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947DC-0AB4-B5DA-4F1C-DBDD90B9D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75DA0-6C30-C848-62A4-1043CD74B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5EBC4F-4761-BECF-219C-B9EE85C60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3F2F1-2992-14B1-86EA-C4652CD8B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258B43-599D-BB05-8527-52D96DE8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44A204-D4AC-847E-54E7-8EF3DFF6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DDDFCF-793E-37B3-421D-7C80EA48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7E86-8280-842B-8C28-B63635C0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934D43-4520-5B41-683D-F0174271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4B788-D996-324B-3850-E44768EC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47141-26F7-6848-3D01-15E69581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85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E8B90-7910-1D01-0E48-EE5F6C85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B49B5-73D3-F2E3-0DF1-0C38A9C60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C852E-4219-62BB-5B18-0BF995FF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0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5750-02B9-479C-749D-63C931FC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F18D2-32D3-DDA0-F5E6-46AC0ED7F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2CD53-46E7-D87F-C6E1-38D17A658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0C7CE-AAF2-D9F1-F33D-736B0B26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CEFF7-C4D6-EB6F-492C-B999CDE5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77D82-0659-8269-554E-4D2B8264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7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0BA9-4839-803D-857A-5A2FCCAC8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C2352-A3F8-18BB-AC0D-F59AA96F0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A9B43-8FFA-CB3D-D34E-9DF13396E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80934-10A6-24E2-0972-36D77197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AD8BB-3BA7-D1FF-B677-C10B06214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73305-00DC-53E7-1E43-78672713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20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9994-8A60-A59D-616F-0BF4F988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9B512-4E92-1F7A-0F66-B00953B63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7A690-14F8-B2AA-3458-04F82D35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40BBC-D359-5DB4-3A7F-B2B4430B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50F07-EDC7-1C30-1AC0-FB7E5B95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1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771D5-D9B9-2250-BE32-CB46B57A3D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228CB-5AF1-02AD-7478-795B64DF8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4601C-67B8-78EB-C549-C3C14C71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8D3E4-4D2D-AEE0-F9D2-F53D12EE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96B0F-EF1D-4913-8A78-626A0E3B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0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4F0C7A-FFC8-F63E-795E-5D4EF2CD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A55E8-CDA5-15F1-FF74-415E51E53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68F84-F2AF-CD39-4BE0-56AC87981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64FF2-7AB2-EF44-BAF4-1C618CC004B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34A47-E0EE-AA8C-32ED-C8D868403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167B3-259A-C515-F44F-8E704D612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FB91C-B9D4-B841-AC78-D720BF19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4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4AFA-598E-BF9B-C301-EB4607BF8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051" y="1691409"/>
            <a:ext cx="5261949" cy="3475182"/>
          </a:xfrm>
        </p:spPr>
        <p:txBody>
          <a:bodyPr/>
          <a:lstStyle/>
          <a:p>
            <a:r>
              <a:rPr lang="en-US" dirty="0"/>
              <a:t>Quantitative Field Ecology – More About T-Tests!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E695A-B593-4FE5-009B-40BE1F294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52053">
            <a:off x="6966616" y="1098610"/>
            <a:ext cx="4194703" cy="466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11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A77216-2C12-6D2A-D442-8C795B907C41}"/>
              </a:ext>
            </a:extLst>
          </p:cNvPr>
          <p:cNvSpPr/>
          <p:nvPr/>
        </p:nvSpPr>
        <p:spPr>
          <a:xfrm>
            <a:off x="8382718" y="1825625"/>
            <a:ext cx="2971082" cy="4131422"/>
          </a:xfrm>
          <a:prstGeom prst="rect">
            <a:avLst/>
          </a:prstGeom>
          <a:solidFill>
            <a:srgbClr val="A5B7A1">
              <a:alpha val="72000"/>
            </a:srgbClr>
          </a:solidFill>
          <a:ln>
            <a:solidFill>
              <a:srgbClr val="A5B7A1">
                <a:alpha val="7221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574FA-9070-ED73-BE55-3EABC455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Review: Student’s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47AD-6881-69CF-9FD2-CA1774E95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0268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t-test is a statistical method used to compare the means of one or more groups to a known value or each other.</a:t>
            </a:r>
            <a:endParaRPr lang="en-US" b="0" dirty="0">
              <a:effectLst/>
            </a:endParaRPr>
          </a:p>
          <a:p>
            <a:r>
              <a:rPr lang="en-US" dirty="0"/>
              <a:t>It is particularly useful when sample sizes are small, and the population variance is unknown.</a:t>
            </a:r>
            <a:endParaRPr lang="en-US" b="0" dirty="0">
              <a:effectLst/>
            </a:endParaRPr>
          </a:p>
          <a:p>
            <a:r>
              <a:rPr lang="en-US" dirty="0"/>
              <a:t>In biology, the t-test is applied to compare traits between species or treatment effects, such as measuring differences in growth rates or physiological responses.</a:t>
            </a:r>
            <a:endParaRPr lang="en-US" b="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2750A-8B3A-2A16-922A-66DFDF017F26}"/>
              </a:ext>
            </a:extLst>
          </p:cNvPr>
          <p:cNvSpPr txBox="1"/>
          <p:nvPr/>
        </p:nvSpPr>
        <p:spPr>
          <a:xfrm>
            <a:off x="8671471" y="2029333"/>
            <a:ext cx="239357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Fun Fact: The t-test was developed by William Gosset under the pseudonym 'Student' in 1908 while working for Guinness brewery.</a:t>
            </a:r>
            <a:endParaRPr lang="en-US" sz="2400" b="0" dirty="0">
              <a:effectLst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A7A8E5-83C2-820B-0EAB-A6A179DF7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06816">
            <a:off x="9776692" y="4918363"/>
            <a:ext cx="2329465" cy="178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2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6715-50B5-7E29-9746-805B1A48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Overview of T-Test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EA486-3DA4-16F8-FDB2-0910EC181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000"/>
              </a:spcAft>
              <a:buNone/>
            </a:pPr>
            <a:r>
              <a:rPr lang="en-US" b="1" dirty="0"/>
              <a:t>One-Sample T-Test:</a:t>
            </a:r>
            <a:endParaRPr lang="en-US" dirty="0"/>
          </a:p>
          <a:p>
            <a:pPr>
              <a:spcAft>
                <a:spcPts val="1000"/>
              </a:spcAft>
              <a:buNone/>
            </a:pPr>
            <a:r>
              <a:rPr lang="en-US" dirty="0"/>
              <a:t>Compares the mean of a single sample to a known value.</a:t>
            </a:r>
            <a:endParaRPr lang="en-US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r>
              <a:rPr lang="en-US" b="1" dirty="0"/>
              <a:t>Independent Samples T-Test:</a:t>
            </a:r>
            <a:endParaRPr lang="en-US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r>
              <a:rPr lang="en-US" dirty="0"/>
              <a:t>Compares the means of two independent groups (e.g., two species or treatment vs. control).</a:t>
            </a:r>
            <a:endParaRPr lang="en-US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r>
              <a:rPr lang="en-US" b="1" dirty="0"/>
              <a:t>Paired Samples T-Test:</a:t>
            </a:r>
            <a:endParaRPr lang="en-US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r>
              <a:rPr lang="en-US" dirty="0"/>
              <a:t>Compares means of two related groups (e.g., measurements from the same individuals before and after a treatment).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2514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FA2C-8D49-847E-E71F-016F074A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Assumptions of the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659DA-0B8B-D868-484F-04AC7F27F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  <a:buNone/>
            </a:pPr>
            <a:r>
              <a:rPr lang="en-US" b="1" dirty="0"/>
              <a:t>Normality: </a:t>
            </a:r>
            <a:r>
              <a:rPr lang="en-US" dirty="0"/>
              <a:t>The data should be approximately normally distributed, especially for small samples.</a:t>
            </a:r>
            <a:endParaRPr lang="en-US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r>
              <a:rPr lang="en-US" b="1" dirty="0"/>
              <a:t>Independence: </a:t>
            </a:r>
            <a:r>
              <a:rPr lang="en-US" dirty="0"/>
              <a:t>Observations must be independent of each other, applicable for independent and one-sample t-tests.</a:t>
            </a:r>
            <a:endParaRPr lang="en-US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r>
              <a:rPr lang="en-US" b="1" dirty="0"/>
              <a:t>Homogeneity of Variances: </a:t>
            </a:r>
            <a:r>
              <a:rPr lang="en-US" dirty="0"/>
              <a:t>The variances of the groups being compared should be equal, specifically for the independent t-test.</a:t>
            </a:r>
            <a:endParaRPr lang="en-US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r>
              <a:rPr lang="en-US" b="1" dirty="0"/>
              <a:t>Testing Assumptions: </a:t>
            </a:r>
            <a:r>
              <a:rPr lang="en-US" dirty="0"/>
              <a:t>Methods like the Shapiro-Wilk test can be used for normality, and Levene’s test can test for equal variances.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133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3AD5-7C42-5292-B8E7-2230E52B9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Shapiro-Wilk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FF29C-DBCA-CB07-FD0B-1CCA2878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Evaluates the goodness of fit of a normal distribution to a set of data randomly sampled from a population. </a:t>
            </a:r>
          </a:p>
          <a:p>
            <a:pPr marL="0" indent="0">
              <a:buNone/>
            </a:pPr>
            <a:r>
              <a:rPr lang="en-US" u="sng" dirty="0">
                <a:effectLst/>
              </a:rPr>
              <a:t>Caution: </a:t>
            </a:r>
          </a:p>
          <a:p>
            <a:r>
              <a:rPr lang="en-US" dirty="0"/>
              <a:t>A small sample size might not yield enough power to reject the null hypothesis of normality, even when data are drawn from a population without a normal distribution. </a:t>
            </a:r>
            <a:endParaRPr lang="en-US" dirty="0">
              <a:effectLst/>
            </a:endParaRPr>
          </a:p>
          <a:p>
            <a:r>
              <a:rPr lang="en-US" dirty="0"/>
              <a:t>With large enough samples, therefore, the sampling distribution of means behaves roughly as assumed by methods based on the t-distribution even when the data are not from a normally distributed population, provided that the violation of normality is not too drastic 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86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3AC0C6-D69D-F73B-2B90-A108E84B3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7981" y="365124"/>
            <a:ext cx="4047764" cy="6044481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BFECA0-2B6E-B729-0947-7A8E4BE5C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326" y="365124"/>
            <a:ext cx="5905500" cy="598170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530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97F13-19DA-43B4-8AB0-894C3C0A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What if it’s not normal?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153E6-6BC8-AFDD-C70D-49786F50F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the data show strong departures from normality, such as outliers, or if the frequency distributions in different groups are markedly different, then it is best to adopt another option.</a:t>
            </a:r>
            <a:endParaRPr lang="en-US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B9FA2-39F5-A90F-9685-73E77A073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274" y="1537855"/>
            <a:ext cx="6583452" cy="34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6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8F78-1BE9-B09F-B582-4E7B0F38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79A0-21BC-DA48-1EE0-B25765402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most common data transformation in biology is the </a:t>
            </a:r>
            <a:r>
              <a:rPr lang="en-US" b="1" dirty="0"/>
              <a:t>log transformation</a:t>
            </a:r>
            <a:r>
              <a:rPr lang="en-US" dirty="0"/>
              <a:t>. Typically, the data are converted by taking the natural log (ln) of each measurement. </a:t>
            </a:r>
          </a:p>
          <a:p>
            <a:r>
              <a:rPr lang="en-US" dirty="0"/>
              <a:t>If the data include zeros, then Y′=ln[ Y+1 ] can be tried instead. </a:t>
            </a:r>
            <a:endParaRPr lang="en-US" dirty="0">
              <a:effectLst/>
            </a:endParaRPr>
          </a:p>
          <a:p>
            <a:r>
              <a:rPr lang="en-US" dirty="0"/>
              <a:t>Body measurements such as mass and length often show right-skewed frequency distributions that become more normally distributed after being log-transformed. </a:t>
            </a:r>
          </a:p>
          <a:p>
            <a:r>
              <a:rPr lang="en-US" dirty="0"/>
              <a:t>Log transformation is worth a try. Just be sure to check the distribution of the transformed data to determine whether it fits the assumptions of the desired method. 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644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187E-39B1-FA58-D68A-E72DCE01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Levene’s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1FBB-FF7D-E583-B6B0-DCDF51781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Tests the null hypothesis that the variances of two or more groups are equal. </a:t>
            </a:r>
          </a:p>
          <a:p>
            <a:pPr marL="0" indent="0">
              <a:buNone/>
            </a:pPr>
            <a:r>
              <a:rPr lang="en-US" sz="3200" dirty="0"/>
              <a:t>Assumes that the frequency distribution of measurements is roughly symmetrical within all groups. </a:t>
            </a:r>
            <a:endParaRPr lang="en-US" sz="3200" dirty="0">
              <a:effectLst/>
            </a:endParaRPr>
          </a:p>
          <a:p>
            <a:pPr marL="0" indent="0">
              <a:buNone/>
            </a:pPr>
            <a:r>
              <a:rPr lang="en-US" sz="3200" dirty="0"/>
              <a:t>Bonus: it can be applied to more than two groups; in fact, it can test the null hypothesis that multiple groups all have equal variances. </a:t>
            </a:r>
            <a:endParaRPr lang="en-US" sz="3200" dirty="0">
              <a:effectLst/>
            </a:endParaRP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2400" dirty="0"/>
              <a:t>The formula is very intense so just use a statistical program to do it!</a:t>
            </a:r>
          </a:p>
        </p:txBody>
      </p:sp>
    </p:spTree>
    <p:extLst>
      <p:ext uri="{BB962C8B-B14F-4D97-AF65-F5344CB8AC3E}">
        <p14:creationId xmlns:p14="http://schemas.microsoft.com/office/powerpoint/2010/main" val="312586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DA0A-45B9-4DED-961C-FFFAE572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One-Sample T-Test: Concept and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C334-F1C3-068D-E716-63EF5C0CD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  <a:buNone/>
            </a:pPr>
            <a:r>
              <a:rPr lang="en-US" sz="3200" dirty="0"/>
              <a:t>Use when comparing the mean of your sample to a known population mean.</a:t>
            </a:r>
            <a:endParaRPr lang="en-US" sz="3200" b="0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26C3C2-3E4E-DB72-213C-F367669F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532" y="3429000"/>
            <a:ext cx="2414094" cy="1414318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91BE34-DB25-07D8-19F0-1CA016D4F208}"/>
              </a:ext>
            </a:extLst>
          </p:cNvPr>
          <p:cNvSpPr txBox="1"/>
          <p:nvPr/>
        </p:nvSpPr>
        <p:spPr>
          <a:xfrm>
            <a:off x="6380587" y="3294713"/>
            <a:ext cx="49732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Real-world example: Testing if the average leaf size in a population of trees differs from the national average.</a:t>
            </a:r>
            <a:endParaRPr lang="en-US" sz="2800" b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776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382E-8848-B502-D9E5-5C6A5568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One-Sample T-Test Example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C3A804E-1BEC-2DC0-5D75-E7020B5B1F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185545"/>
              </p:ext>
            </p:extLst>
          </p:nvPr>
        </p:nvGraphicFramePr>
        <p:xfrm>
          <a:off x="524435" y="1350636"/>
          <a:ext cx="11143129" cy="5026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72123A0-CF95-0B84-F6C0-C35127A3BA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1133" y="280777"/>
            <a:ext cx="1861554" cy="213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88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51028-D758-D471-2D92-0D268FD97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Independent Samples T-Test: Concept and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71D8-018A-C159-A1B9-D0EFC9607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  <a:buNone/>
            </a:pPr>
            <a:r>
              <a:rPr lang="en-US" sz="3600" dirty="0"/>
              <a:t>Use when comparing means of two independent groups (e.g., comparing plant growth under two different treatments).</a:t>
            </a:r>
            <a:endParaRPr lang="en-US" sz="3600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r>
              <a:rPr lang="en-US" dirty="0"/>
              <a:t> </a:t>
            </a:r>
            <a:endParaRPr lang="en-US" b="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15643B-C62A-70EC-5224-E81E7432E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66" y="3606805"/>
            <a:ext cx="2799822" cy="1533236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9B9B81-9735-4773-A585-C15FD5768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435" y="4373784"/>
            <a:ext cx="3339489" cy="703912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0DB9C7-2FEF-59D0-7887-BBDF7CAD2C6A}"/>
              </a:ext>
            </a:extLst>
          </p:cNvPr>
          <p:cNvSpPr txBox="1"/>
          <p:nvPr/>
        </p:nvSpPr>
        <p:spPr>
          <a:xfrm>
            <a:off x="8211421" y="3354963"/>
            <a:ext cx="33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Degrees of freedom for this test is calculated using: 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60DB205-EF07-D07F-F0C7-48A7EDC0E357}"/>
              </a:ext>
            </a:extLst>
          </p:cNvPr>
          <p:cNvSpPr/>
          <p:nvPr/>
        </p:nvSpPr>
        <p:spPr>
          <a:xfrm>
            <a:off x="3450708" y="3877943"/>
            <a:ext cx="692727" cy="1330036"/>
          </a:xfrm>
          <a:prstGeom prst="lef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651CF0-7C17-D9B4-2FAC-F1AB7B7A4635}"/>
              </a:ext>
            </a:extLst>
          </p:cNvPr>
          <p:cNvSpPr txBox="1"/>
          <p:nvPr/>
        </p:nvSpPr>
        <p:spPr>
          <a:xfrm>
            <a:off x="3863768" y="3991998"/>
            <a:ext cx="3898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another way to write the denominator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1B6E90-37FC-DADC-E9AC-E8CDF5906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319" y="4068203"/>
            <a:ext cx="2767020" cy="1502097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919985-0A57-197C-6307-2FEEE8E0AB89}"/>
              </a:ext>
            </a:extLst>
          </p:cNvPr>
          <p:cNvSpPr txBox="1"/>
          <p:nvPr/>
        </p:nvSpPr>
        <p:spPr>
          <a:xfrm>
            <a:off x="8211421" y="5665569"/>
            <a:ext cx="33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there’s no homogeneity of variance!</a:t>
            </a:r>
          </a:p>
        </p:txBody>
      </p:sp>
    </p:spTree>
    <p:extLst>
      <p:ext uri="{BB962C8B-B14F-4D97-AF65-F5344CB8AC3E}">
        <p14:creationId xmlns:p14="http://schemas.microsoft.com/office/powerpoint/2010/main" val="253211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828F-DAD6-9BD3-96AA-0BDDB099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Independent Samples T-Test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A413400-AFCB-2A76-BC93-D6CE1C929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766513"/>
              </p:ext>
            </p:extLst>
          </p:nvPr>
        </p:nvGraphicFramePr>
        <p:xfrm>
          <a:off x="526676" y="1512700"/>
          <a:ext cx="11138647" cy="4980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0CD04C7-9E64-238D-DE77-B8A779BAEA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3605068"/>
            <a:ext cx="1378213" cy="842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A36F9A-D44C-7ADE-91E8-0DC67971A3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021664">
            <a:off x="5156836" y="5121563"/>
            <a:ext cx="1231900" cy="127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8BA393-A3F1-5D2A-00E9-8E3357093A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84452">
            <a:off x="1053894" y="1519599"/>
            <a:ext cx="977900" cy="127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6C3D28-6FE9-868A-F605-FF20186AA9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9223024">
            <a:off x="2346066" y="1856623"/>
            <a:ext cx="977900" cy="127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660410-4FA9-16C7-93FA-ADB065D18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7573683">
            <a:off x="1053894" y="5432608"/>
            <a:ext cx="977900" cy="127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5BEEE8-29AB-DFDF-E6DC-554CC01C1E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329635">
            <a:off x="7761489" y="1565520"/>
            <a:ext cx="1231900" cy="127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BCDD77-D630-FD93-B213-636C699840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3001281">
            <a:off x="10679815" y="5121563"/>
            <a:ext cx="1231900" cy="127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41999D-F5AA-1FF9-1A9E-91C65FC875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4128515">
            <a:off x="10449875" y="1295990"/>
            <a:ext cx="9779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21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F353-75CA-3F52-B45A-56732A0D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Paired Samples T-Test: Concept and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1B277-9BB1-28B2-E60D-13764BF05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8329" cy="4351338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buNone/>
            </a:pPr>
            <a:r>
              <a:rPr lang="en-US" dirty="0"/>
              <a:t>Use when comparing the means of two related groups, such as pre- and post-treatment measurements of the same subjects.</a:t>
            </a:r>
            <a:endParaRPr lang="en-US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r>
              <a:rPr lang="en-US" dirty="0"/>
              <a:t>The formula for the Paired Samples T-Test is: </a:t>
            </a:r>
            <a:endParaRPr lang="en-US" b="0" dirty="0">
              <a:effectLst/>
            </a:endParaRPr>
          </a:p>
          <a:p>
            <a:pPr>
              <a:spcAft>
                <a:spcPts val="1000"/>
              </a:spcAft>
              <a:buNone/>
            </a:pPr>
            <a:endParaRPr lang="en-US" dirty="0"/>
          </a:p>
          <a:p>
            <a:pPr>
              <a:spcAft>
                <a:spcPts val="1000"/>
              </a:spcAft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51305-5718-992C-2C0F-1B74ED0264A2}"/>
              </a:ext>
            </a:extLst>
          </p:cNvPr>
          <p:cNvSpPr txBox="1"/>
          <p:nvPr/>
        </p:nvSpPr>
        <p:spPr>
          <a:xfrm>
            <a:off x="8766668" y="2227407"/>
            <a:ext cx="289563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Applications include studies measuring the effect of treatments, such as comparing plant heights before and after applying fertilizer.</a:t>
            </a:r>
            <a:endParaRPr lang="en-US" sz="2400" b="0" dirty="0">
              <a:effectLst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FCB83D-EEC8-F87F-BEF5-8846A5A45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305" y="4475163"/>
            <a:ext cx="2862118" cy="170180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136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D0C68-3024-D675-C09F-9628BC6B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Paired Samples T-Test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C6D5E73-4CE7-B81C-6DC7-D01DE5CDE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383322"/>
              </p:ext>
            </p:extLst>
          </p:nvPr>
        </p:nvGraphicFramePr>
        <p:xfrm>
          <a:off x="419100" y="1368425"/>
          <a:ext cx="11353800" cy="4866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F60DF46-4A3A-35C9-F136-DB880C8B34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7182" y="3398517"/>
            <a:ext cx="1355436" cy="8059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BE2D1B-FD04-9C47-2024-98FCE2A00C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9781" y="1551710"/>
            <a:ext cx="1257241" cy="15147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9C54F5-0E31-F350-BB63-4A90A99F30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8066897" y="2447868"/>
            <a:ext cx="1257241" cy="151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41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DE295-3DDB-B963-40B7-3DC6A2AD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Choosing the Right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42033-F5C8-2D48-BDC0-555A5F3AE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356273" cy="4351338"/>
          </a:xfrm>
        </p:spPr>
        <p:txBody>
          <a:bodyPr>
            <a:noAutofit/>
          </a:bodyPr>
          <a:lstStyle/>
          <a:p>
            <a:pPr marL="0" lvl="0" indent="0" fontAlgn="base">
              <a:lnSpc>
                <a:spcPct val="120000"/>
              </a:lnSpc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Are the groups related or independent? </a:t>
            </a:r>
          </a:p>
          <a:p>
            <a:pPr lvl="1" fontAlgn="base">
              <a:lnSpc>
                <a:spcPct val="120000"/>
              </a:lnSpc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If related, use a Paired Samples T-Test. If independent, consider the next question.</a:t>
            </a:r>
            <a:endParaRPr lang="en-US" b="1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pPr marL="0" lvl="0" indent="0" fontAlgn="base">
              <a:lnSpc>
                <a:spcPct val="120000"/>
              </a:lnSpc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Do you have a known population value or two groups to compare? </a:t>
            </a:r>
          </a:p>
          <a:p>
            <a:pPr lvl="1" fontAlgn="base">
              <a:lnSpc>
                <a:spcPct val="120000"/>
              </a:lnSpc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If a known value, use a One-Sample T-Test; if two groups, proceed to the next step.</a:t>
            </a:r>
            <a:endParaRPr lang="en-US" b="1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pPr marL="0" lvl="0" indent="0" fontAlgn="base">
              <a:lnSpc>
                <a:spcPct val="120000"/>
              </a:lnSpc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Do the variances seem equal between groups? </a:t>
            </a:r>
          </a:p>
          <a:p>
            <a:pPr lvl="1" fontAlgn="base">
              <a:lnSpc>
                <a:spcPct val="120000"/>
              </a:lnSpc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+mn-lt"/>
              </a:rPr>
              <a:t>If yes, use Independent Samples T-Test; if no, consider using a variant that accommodates unequal variances.</a:t>
            </a:r>
            <a:endParaRPr lang="en-US" b="1" i="0" u="none" strike="noStrike" dirty="0">
              <a:solidFill>
                <a:srgbClr val="7765E3"/>
              </a:solidFill>
              <a:effectLst/>
              <a:latin typeface="Hanken Grotes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F6A19F-B4DD-69CC-A543-11EC5B8A5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606" y="254288"/>
            <a:ext cx="1402354" cy="192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95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455C-F8F7-4D4B-12EE-169740A4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Interpreting T-Test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A66A3-F2E2-3831-1FDF-5A05C4E71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The </a:t>
            </a:r>
            <a:r>
              <a:rPr lang="en-US" u="sng" dirty="0"/>
              <a:t>t-value</a:t>
            </a:r>
            <a:r>
              <a:rPr lang="en-US" dirty="0"/>
              <a:t> indicates how far the sample mean is from the population mean or the difference between group means.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u="sng" dirty="0"/>
              <a:t>Degrees of freedom</a:t>
            </a:r>
            <a:r>
              <a:rPr lang="en-US" dirty="0"/>
              <a:t> is a function of sample size, used to adjust the t-distribution.</a:t>
            </a:r>
            <a:endParaRPr lang="en-US" b="0" dirty="0">
              <a:effectLst/>
            </a:endParaRPr>
          </a:p>
          <a:p>
            <a:pPr>
              <a:buNone/>
            </a:pPr>
            <a:r>
              <a:rPr lang="en-US" dirty="0"/>
              <a:t>The </a:t>
            </a:r>
            <a:r>
              <a:rPr lang="en-US" u="sng" dirty="0"/>
              <a:t>p-value</a:t>
            </a:r>
            <a:r>
              <a:rPr lang="en-US" dirty="0"/>
              <a:t> represents the probability that the observed difference is due to chance.</a:t>
            </a:r>
            <a:endParaRPr lang="en-US" b="0" dirty="0">
              <a:effectLst/>
            </a:endParaRPr>
          </a:p>
          <a:p>
            <a:pPr lvl="1"/>
            <a:r>
              <a:rPr lang="en-US" dirty="0"/>
              <a:t>For example, if p &lt; 0.05, we reject the null hypothesis, suggesting that the group means are significantly different.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8C160-361B-2839-AC7D-08A826888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196" y="365125"/>
            <a:ext cx="1426440" cy="195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66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981A-2353-393E-B309-7276487A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Visualizing T-Test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4AB0B-30E5-2DC3-D582-306AA685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91" y="2365939"/>
            <a:ext cx="2451100" cy="240030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28A1E4-97C4-E3DC-0003-68FC1D1C4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139" y="2298398"/>
            <a:ext cx="2679069" cy="2535382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C598BC-C816-F778-E5AD-49D473E3EAA9}"/>
              </a:ext>
            </a:extLst>
          </p:cNvPr>
          <p:cNvSpPr txBox="1"/>
          <p:nvPr/>
        </p:nvSpPr>
        <p:spPr>
          <a:xfrm>
            <a:off x="1136073" y="1640366"/>
            <a:ext cx="1700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Box Plots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3571C-82E9-B8CF-C7D2-DB3C0785AF50}"/>
              </a:ext>
            </a:extLst>
          </p:cNvPr>
          <p:cNvSpPr txBox="1"/>
          <p:nvPr/>
        </p:nvSpPr>
        <p:spPr>
          <a:xfrm>
            <a:off x="4901493" y="1634852"/>
            <a:ext cx="1790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Line Plots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096F64-6EB6-2614-0600-57FEA895CEF7}"/>
              </a:ext>
            </a:extLst>
          </p:cNvPr>
          <p:cNvSpPr txBox="1"/>
          <p:nvPr/>
        </p:nvSpPr>
        <p:spPr>
          <a:xfrm>
            <a:off x="8185339" y="1634852"/>
            <a:ext cx="3466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T-Distribution Curve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9B6536-AE0B-4B60-AA0F-696EC6C5A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311" y="2391637"/>
            <a:ext cx="3888389" cy="2348904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4DC069-4ADC-42C2-281F-F9125B5502F2}"/>
              </a:ext>
            </a:extLst>
          </p:cNvPr>
          <p:cNvSpPr txBox="1"/>
          <p:nvPr/>
        </p:nvSpPr>
        <p:spPr>
          <a:xfrm>
            <a:off x="502974" y="4989420"/>
            <a:ext cx="3283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Box plots visually represent the distribution of data, highlighting medians, quartiles, and outliers, which help in comparing group distributions.</a:t>
            </a:r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66AA12-565C-E3B8-47E4-15C8ADBD09C6}"/>
              </a:ext>
            </a:extLst>
          </p:cNvPr>
          <p:cNvSpPr txBox="1"/>
          <p:nvPr/>
        </p:nvSpPr>
        <p:spPr>
          <a:xfrm>
            <a:off x="4329400" y="4989420"/>
            <a:ext cx="3533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n-US" dirty="0"/>
              <a:t>Line plots are effective for displaying changes in paired data over time or treatment, making it easier to see trends and differences between groups.</a:t>
            </a:r>
            <a:endParaRPr lang="en-US" b="0" dirty="0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18895C-3B50-678B-4FB2-0A4C716383EF}"/>
              </a:ext>
            </a:extLst>
          </p:cNvPr>
          <p:cNvSpPr txBox="1"/>
          <p:nvPr/>
        </p:nvSpPr>
        <p:spPr>
          <a:xfrm>
            <a:off x="8063149" y="4989420"/>
            <a:ext cx="37995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T-distribution curves illustrate the significance levels and critical regions, essential for understanding the context of t-test results and p-values.</a:t>
            </a:r>
            <a:endParaRPr lang="en-US" b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213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6F08-BBD8-1DB9-9457-80E7F5117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Common Mistakes and Misinterpretations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36E56-DE25-F574-0E69-42762D90F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900" u="sng" dirty="0"/>
              <a:t>Assuming normality </a:t>
            </a:r>
            <a:r>
              <a:rPr lang="en-US" sz="3900" dirty="0"/>
              <a:t>when data is skewed, which can lead to incorrect conclusions about the significance of results.</a:t>
            </a:r>
            <a:endParaRPr lang="en-US" sz="3900" b="0" dirty="0">
              <a:effectLst/>
            </a:endParaRPr>
          </a:p>
          <a:p>
            <a:pPr>
              <a:buNone/>
            </a:pPr>
            <a:r>
              <a:rPr lang="en-US" sz="3900" u="sng" dirty="0"/>
              <a:t>Misinterpreting p-values </a:t>
            </a:r>
            <a:r>
              <a:rPr lang="en-US" sz="3900" dirty="0"/>
              <a:t>as the probability that the null hypothesis is true, rather than the probability of observing the data given that the null hypothesis is true.</a:t>
            </a:r>
            <a:endParaRPr lang="en-US" sz="3900" b="0" dirty="0">
              <a:effectLst/>
            </a:endParaRPr>
          </a:p>
          <a:p>
            <a:pPr>
              <a:buNone/>
            </a:pPr>
            <a:r>
              <a:rPr lang="en-US" sz="3900" dirty="0"/>
              <a:t>Using a t-test for </a:t>
            </a:r>
            <a:r>
              <a:rPr lang="en-US" sz="3900" u="sng" dirty="0"/>
              <a:t>non-parametric dat</a:t>
            </a:r>
            <a:r>
              <a:rPr lang="en-US" sz="3900" dirty="0"/>
              <a:t>a when another test (like the Mann-Whitney U test) might be more appropriate.</a:t>
            </a:r>
            <a:endParaRPr lang="en-US" sz="3900" b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631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5897-453C-1E71-FA26-B84602C5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Sign Test and Wilcoxon Signed-Rank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95770-04AD-03BB-09BD-71C1600EC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500" dirty="0"/>
              <a:t>The </a:t>
            </a:r>
            <a:r>
              <a:rPr lang="en-US" sz="3500" b="1" dirty="0"/>
              <a:t>sign test </a:t>
            </a:r>
            <a:r>
              <a:rPr lang="en-US" sz="3500" dirty="0"/>
              <a:t>compares the median of a sample to a constant specified in the null hypothesis. It makes no assumptions about the distribution of the measurement in the population. </a:t>
            </a:r>
          </a:p>
          <a:p>
            <a:r>
              <a:rPr lang="en-US" dirty="0"/>
              <a:t>Has low power compared with the one-sample or paired t-test because it discards most of the information in the data. </a:t>
            </a:r>
          </a:p>
          <a:p>
            <a:r>
              <a:rPr lang="en-US" dirty="0">
                <a:effectLst/>
              </a:rPr>
              <a:t>Sometimes, no other test is possible</a:t>
            </a:r>
          </a:p>
          <a:p>
            <a:pPr marL="0" indent="0">
              <a:buNone/>
            </a:pPr>
            <a:r>
              <a:rPr lang="en-US" sz="3800" dirty="0"/>
              <a:t>The </a:t>
            </a:r>
            <a:r>
              <a:rPr lang="en-US" sz="3800" b="1" dirty="0"/>
              <a:t>Wilcoxon signed-rank test </a:t>
            </a:r>
            <a:r>
              <a:rPr lang="en-US" sz="3800" dirty="0"/>
              <a:t>is an improvement on the sign test for evaluating whether the median of a population is equal to a null-hypothesized constant.</a:t>
            </a:r>
          </a:p>
          <a:p>
            <a:r>
              <a:rPr lang="en-US" dirty="0"/>
              <a:t>Unfortunately, it assumes that the distribution of measurements in the population is symmetric around the median—in other words, that no skew is present.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12762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99F4-161B-9733-0431-4F86F9A9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Mann-Whitney U-Test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BF446-4031-29AF-6C85-98F2D6386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/>
              <a:t>Tests whether the frequency distributions of two groups are the same. If the distributions of the two groups have the same shape, then the Mann–Whitney U-test compares the locations (medians or means) of the two groups. </a:t>
            </a:r>
            <a:endParaRPr lang="en-US" sz="3200" dirty="0">
              <a:effectLst/>
            </a:endParaRPr>
          </a:p>
          <a:p>
            <a:r>
              <a:rPr lang="en-US" sz="3200" dirty="0"/>
              <a:t>Calculation is complicated because it requires ordering the data and assigning ranks to them – unrealistic to do by hand unless you have a small sample size.</a:t>
            </a:r>
          </a:p>
          <a:p>
            <a:r>
              <a:rPr lang="en-US" sz="3200" dirty="0"/>
              <a:t>You get a U value, and find a critical value (similar to your t-test) with an associated p-value, so if your u value is less than the critical value, your p value is not significant and you cannot reject the null!</a:t>
            </a:r>
          </a:p>
        </p:txBody>
      </p:sp>
    </p:spTree>
    <p:extLst>
      <p:ext uri="{BB962C8B-B14F-4D97-AF65-F5344CB8AC3E}">
        <p14:creationId xmlns:p14="http://schemas.microsoft.com/office/powerpoint/2010/main" val="3626261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0D3A-F72D-39FA-73F0-9C51A07A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Mann-Whitney U-Test: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E7466-489C-7198-0EF8-C4A052743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null hypothesis H</a:t>
            </a:r>
            <a:r>
              <a:rPr lang="en-US" baseline="-25000" dirty="0"/>
              <a:t>0</a:t>
            </a:r>
            <a:r>
              <a:rPr lang="en-US" dirty="0"/>
              <a:t> is that the distributions are the same. Rejecting H</a:t>
            </a:r>
            <a:r>
              <a:rPr lang="en-US" baseline="-25000" dirty="0"/>
              <a:t>0</a:t>
            </a:r>
            <a:r>
              <a:rPr lang="en-US" dirty="0"/>
              <a:t> therefore implies that the distributions are not the same. However, rejecting the null hypothesis does not necessarily imply that the two distributions have different locations (means or medians). </a:t>
            </a:r>
            <a:endParaRPr lang="en-US" dirty="0">
              <a:effectLst/>
            </a:endParaRPr>
          </a:p>
          <a:p>
            <a:r>
              <a:rPr lang="en-US" dirty="0"/>
              <a:t>Very sensitive to differences between distributions in their shapes caused by unequal variances or different skews! </a:t>
            </a:r>
            <a:endParaRPr lang="en-US" dirty="0">
              <a:effectLst/>
            </a:endParaRPr>
          </a:p>
          <a:p>
            <a:r>
              <a:rPr lang="en-US" dirty="0"/>
              <a:t>Should be used to test the null hypothesis that the distributions are the same, rather than testing the null hypothesis that the locations (means or medians) are the same.  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94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8CDA-6ECA-1A92-E31E-37914AED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Recap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B76AB-2F28-9584-711F-9504CFD0C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85800" indent="-457200">
              <a:spcAft>
                <a:spcPts val="1000"/>
              </a:spcAft>
            </a:pPr>
            <a:r>
              <a:rPr lang="en-US" sz="3600" dirty="0"/>
              <a:t>One-sample t-test compares the mean of a sample to a known population mean. </a:t>
            </a:r>
          </a:p>
          <a:p>
            <a:pPr marL="685800" indent="-457200">
              <a:spcAft>
                <a:spcPts val="1000"/>
              </a:spcAft>
            </a:pPr>
            <a:r>
              <a:rPr lang="en-US" sz="3600" dirty="0"/>
              <a:t>Independent samples t-test compares the means of two independent groups. </a:t>
            </a:r>
          </a:p>
          <a:p>
            <a:pPr marL="685800" indent="-457200">
              <a:spcAft>
                <a:spcPts val="1000"/>
              </a:spcAft>
            </a:pPr>
            <a:r>
              <a:rPr lang="en-US" sz="3600" dirty="0"/>
              <a:t>Paired samples t-test compares the means of two related groups, such as pre- and post-treatment.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661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2C256-B8D1-801D-B23F-57C311567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4636" cy="4351338"/>
          </a:xfrm>
        </p:spPr>
        <p:txBody>
          <a:bodyPr>
            <a:normAutofit/>
          </a:bodyPr>
          <a:lstStyle/>
          <a:p>
            <a:r>
              <a:rPr lang="en-US" dirty="0"/>
              <a:t>General formula for t-test: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Key concepts include t-value, which indicates how far the sample mean is from the population mean, and p-value, representing the probability that the observed difference is due to chance. </a:t>
            </a:r>
          </a:p>
          <a:p>
            <a:r>
              <a:rPr lang="en-US" dirty="0"/>
              <a:t>T-tests are fundamental tools for comparing means in biological research, but they must be applied with care!</a:t>
            </a:r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17AEDE-507D-9F8B-D9A5-0DA31A44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Recap &amp; 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C6BE2-32D1-CD1F-27F3-EFAA8F569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661" y="544657"/>
            <a:ext cx="3709139" cy="2066925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9D416B-B4EB-C067-AE15-F323DA370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9" y="3165762"/>
            <a:ext cx="2067098" cy="258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65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2412</Words>
  <Application>Microsoft Macintosh PowerPoint</Application>
  <PresentationFormat>Widescreen</PresentationFormat>
  <Paragraphs>188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Hanken Grotesk</vt:lpstr>
      <vt:lpstr>Aptos</vt:lpstr>
      <vt:lpstr>Aptos Display</vt:lpstr>
      <vt:lpstr>Arial</vt:lpstr>
      <vt:lpstr>Office Theme</vt:lpstr>
      <vt:lpstr>Quantitative Field Ecology – More About T-Tests!</vt:lpstr>
      <vt:lpstr>Review: Student’s T-Test</vt:lpstr>
      <vt:lpstr>Overview of T-Test Types</vt:lpstr>
      <vt:lpstr>Assumptions of the T-Test</vt:lpstr>
      <vt:lpstr>Shapiro-Wilk Test</vt:lpstr>
      <vt:lpstr>PowerPoint Presentation</vt:lpstr>
      <vt:lpstr>What if it’s not normal?</vt:lpstr>
      <vt:lpstr>Data Transformations</vt:lpstr>
      <vt:lpstr>Levene’s Test</vt:lpstr>
      <vt:lpstr>One-Sample T-Test: Concept and Formula</vt:lpstr>
      <vt:lpstr>One-Sample T-Test Example</vt:lpstr>
      <vt:lpstr>Independent Samples T-Test: Concept and Formula</vt:lpstr>
      <vt:lpstr>Independent Samples T-Test Example</vt:lpstr>
      <vt:lpstr>Paired Samples T-Test: Concept and Formula</vt:lpstr>
      <vt:lpstr>Paired Samples T-Test Example</vt:lpstr>
      <vt:lpstr>Choosing the Right T-Test</vt:lpstr>
      <vt:lpstr>Interpreting T-Test Results</vt:lpstr>
      <vt:lpstr>Visualizing T-Test Results</vt:lpstr>
      <vt:lpstr>Common Mistakes and Misinterpretations</vt:lpstr>
      <vt:lpstr>Sign Test and Wilcoxon Signed-Rank Test</vt:lpstr>
      <vt:lpstr>Mann-Whitney U-Test</vt:lpstr>
      <vt:lpstr>Mann-Whitney U-Test: Considerations</vt:lpstr>
      <vt:lpstr>Recap &amp; Summary</vt:lpstr>
      <vt:lpstr>Recap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Mothersole</dc:creator>
  <cp:lastModifiedBy>Anna Mothersole</cp:lastModifiedBy>
  <cp:revision>16</cp:revision>
  <dcterms:created xsi:type="dcterms:W3CDTF">2026-09-01T20:35:49Z</dcterms:created>
  <dcterms:modified xsi:type="dcterms:W3CDTF">2026-09-02T17:41:58Z</dcterms:modified>
</cp:coreProperties>
</file>