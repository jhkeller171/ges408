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73" r:id="rId3"/>
    <p:sldId id="274" r:id="rId4"/>
    <p:sldId id="275" r:id="rId5"/>
    <p:sldId id="297" r:id="rId6"/>
    <p:sldId id="276" r:id="rId7"/>
    <p:sldId id="277" r:id="rId8"/>
    <p:sldId id="278" r:id="rId9"/>
    <p:sldId id="279" r:id="rId10"/>
    <p:sldId id="280" r:id="rId11"/>
    <p:sldId id="281" r:id="rId12"/>
    <p:sldId id="282" r:id="rId13"/>
    <p:sldId id="283" r:id="rId14"/>
    <p:sldId id="284" r:id="rId15"/>
    <p:sldId id="285" r:id="rId16"/>
    <p:sldId id="286" r:id="rId17"/>
    <p:sldId id="287" r:id="rId18"/>
    <p:sldId id="258" r:id="rId19"/>
    <p:sldId id="261" r:id="rId20"/>
    <p:sldId id="262" r:id="rId21"/>
    <p:sldId id="264" r:id="rId22"/>
    <p:sldId id="289" r:id="rId23"/>
    <p:sldId id="260" r:id="rId24"/>
    <p:sldId id="263" r:id="rId25"/>
    <p:sldId id="290" r:id="rId26"/>
    <p:sldId id="265" r:id="rId27"/>
    <p:sldId id="296" r:id="rId28"/>
    <p:sldId id="266" r:id="rId29"/>
    <p:sldId id="267" r:id="rId30"/>
    <p:sldId id="291" r:id="rId31"/>
    <p:sldId id="268" r:id="rId32"/>
    <p:sldId id="292" r:id="rId33"/>
    <p:sldId id="293" r:id="rId34"/>
    <p:sldId id="294" r:id="rId35"/>
    <p:sldId id="298" r:id="rId36"/>
    <p:sldId id="29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65"/>
    <p:restoredTop sz="79155"/>
  </p:normalViewPr>
  <p:slideViewPr>
    <p:cSldViewPr snapToGrid="0">
      <p:cViewPr varScale="1">
        <p:scale>
          <a:sx n="94" d="100"/>
          <a:sy n="94" d="100"/>
        </p:scale>
        <p:origin x="113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3B4FDE-C93E-E446-9372-F58CD6A963C8}" type="datetimeFigureOut">
              <a:rPr lang="en-US" smtClean="0"/>
              <a:t>9/15/26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30C2E-4299-9C49-AEAD-B8D451020CBE}" type="slidenum">
              <a:rPr lang="en-US" smtClean="0"/>
              <a:t>‹#›</a:t>
            </a:fld>
            <a:endParaRPr lang="en-US"/>
          </a:p>
        </p:txBody>
      </p:sp>
    </p:spTree>
    <p:extLst>
      <p:ext uri="{BB962C8B-B14F-4D97-AF65-F5344CB8AC3E}">
        <p14:creationId xmlns:p14="http://schemas.microsoft.com/office/powerpoint/2010/main" val="102333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Does correlation mean causation? NO! give example on the next slide.</a:t>
            </a:r>
          </a:p>
        </p:txBody>
      </p:sp>
      <p:sp>
        <p:nvSpPr>
          <p:cNvPr id="4" name="Slide Number Placeholder 3"/>
          <p:cNvSpPr>
            <a:spLocks noGrp="1"/>
          </p:cNvSpPr>
          <p:nvPr>
            <p:ph type="sldNum" sz="quarter" idx="5"/>
          </p:nvPr>
        </p:nvSpPr>
        <p:spPr/>
        <p:txBody>
          <a:bodyPr/>
          <a:lstStyle/>
          <a:p>
            <a:fld id="{93330C2E-4299-9C49-AEAD-B8D451020CBE}" type="slidenum">
              <a:rPr lang="en-US" smtClean="0"/>
              <a:t>2</a:t>
            </a:fld>
            <a:endParaRPr lang="en-US"/>
          </a:p>
        </p:txBody>
      </p:sp>
    </p:spTree>
    <p:extLst>
      <p:ext uri="{BB962C8B-B14F-4D97-AF65-F5344CB8AC3E}">
        <p14:creationId xmlns:p14="http://schemas.microsoft.com/office/powerpoint/2010/main" val="2637670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of what this could look like. </a:t>
            </a:r>
          </a:p>
          <a:p>
            <a:endParaRPr lang="en-US" dirty="0"/>
          </a:p>
          <a:p>
            <a:r>
              <a:rPr lang="en-US" dirty="0"/>
              <a:t>As the body of a mammal gets bigger, their brain also gets bigger.</a:t>
            </a:r>
          </a:p>
        </p:txBody>
      </p:sp>
      <p:sp>
        <p:nvSpPr>
          <p:cNvPr id="4" name="Slide Number Placeholder 3"/>
          <p:cNvSpPr>
            <a:spLocks noGrp="1"/>
          </p:cNvSpPr>
          <p:nvPr>
            <p:ph type="sldNum" sz="quarter" idx="5"/>
          </p:nvPr>
        </p:nvSpPr>
        <p:spPr/>
        <p:txBody>
          <a:bodyPr/>
          <a:lstStyle/>
          <a:p>
            <a:fld id="{93330C2E-4299-9C49-AEAD-B8D451020CBE}" type="slidenum">
              <a:rPr lang="en-US" smtClean="0"/>
              <a:t>3</a:t>
            </a:fld>
            <a:endParaRPr lang="en-US"/>
          </a:p>
        </p:txBody>
      </p:sp>
    </p:spTree>
    <p:extLst>
      <p:ext uri="{BB962C8B-B14F-4D97-AF65-F5344CB8AC3E}">
        <p14:creationId xmlns:p14="http://schemas.microsoft.com/office/powerpoint/2010/main" val="1154477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Not affected by linear</a:t>
            </a:r>
          </a:p>
          <a:p>
            <a:r>
              <a:rPr lang="en-US" dirty="0"/>
              <a:t>transformations of y or x</a:t>
            </a:r>
          </a:p>
          <a:p>
            <a:r>
              <a:rPr lang="en-US" dirty="0"/>
              <a:t>• Does not distinguish between</a:t>
            </a:r>
          </a:p>
          <a:p>
            <a:r>
              <a:rPr lang="en-US" dirty="0"/>
              <a:t>dependent and independent</a:t>
            </a:r>
          </a:p>
          <a:p>
            <a:r>
              <a:rPr lang="en-US" dirty="0"/>
              <a:t>variable (e.g. height and weight)</a:t>
            </a:r>
          </a:p>
          <a:p>
            <a:r>
              <a:rPr lang="en-US" dirty="0"/>
              <a:t>• Population Parameter – rho (Greek lowercase p)</a:t>
            </a:r>
          </a:p>
          <a:p>
            <a:endParaRPr lang="en-US" dirty="0"/>
          </a:p>
          <a:p>
            <a:r>
              <a:rPr lang="en-US" dirty="0"/>
              <a:t>This does not provide you any information about the slope, only the degree to which points are linear</a:t>
            </a: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6</a:t>
            </a:fld>
            <a:endParaRPr lang="en-US"/>
          </a:p>
        </p:txBody>
      </p:sp>
    </p:spTree>
    <p:extLst>
      <p:ext uri="{BB962C8B-B14F-4D97-AF65-F5344CB8AC3E}">
        <p14:creationId xmlns:p14="http://schemas.microsoft.com/office/powerpoint/2010/main" val="458041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negative correlation means that one variable decreases as the other increases, whereas a positive correlation means that both variables increase and decrease together.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strongest correlations (i.e., r=1.0 or r=−1.0 ) occur when all points lie along a straight line that is not horizontal, which is why we refer to the correlation as linear.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ASK: are these two variables associated? Yes. Do they align with the idea of linear correlation? No.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Two variables might be strongly associated yet have no correlation (i.e., r=0 ) if the relationship between them is nonlinear </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7</a:t>
            </a:fld>
            <a:endParaRPr lang="en-US"/>
          </a:p>
        </p:txBody>
      </p:sp>
    </p:spTree>
    <p:extLst>
      <p:ext uri="{BB962C8B-B14F-4D97-AF65-F5344CB8AC3E}">
        <p14:creationId xmlns:p14="http://schemas.microsoft.com/office/powerpoint/2010/main" val="3617625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of this slide: there is standard error. You can also calculate a CI for the correlation coefficient. However, my exec. Decision is that that is not super important compared to other things so lets move on</a:t>
            </a:r>
          </a:p>
        </p:txBody>
      </p:sp>
      <p:sp>
        <p:nvSpPr>
          <p:cNvPr id="4" name="Slide Number Placeholder 3"/>
          <p:cNvSpPr>
            <a:spLocks noGrp="1"/>
          </p:cNvSpPr>
          <p:nvPr>
            <p:ph type="sldNum" sz="quarter" idx="5"/>
          </p:nvPr>
        </p:nvSpPr>
        <p:spPr/>
        <p:txBody>
          <a:bodyPr/>
          <a:lstStyle/>
          <a:p>
            <a:fld id="{93330C2E-4299-9C49-AEAD-B8D451020CBE}" type="slidenum">
              <a:rPr lang="en-US" smtClean="0"/>
              <a:t>8</a:t>
            </a:fld>
            <a:endParaRPr lang="en-US"/>
          </a:p>
        </p:txBody>
      </p:sp>
    </p:spTree>
    <p:extLst>
      <p:ext uri="{BB962C8B-B14F-4D97-AF65-F5344CB8AC3E}">
        <p14:creationId xmlns:p14="http://schemas.microsoft.com/office/powerpoint/2010/main" val="1170249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know the drill here! </a:t>
            </a:r>
            <a:r>
              <a:rPr lang="en-US" dirty="0">
                <a:sym typeface="Wingdings" pitchFamily="2" charset="2"/>
              </a:rPr>
              <a:t></a:t>
            </a:r>
          </a:p>
          <a:p>
            <a:endParaRPr lang="en-US" dirty="0">
              <a:sym typeface="Wingdings" pitchFamily="2" charset="2"/>
            </a:endParaRPr>
          </a:p>
          <a:p>
            <a:r>
              <a:rPr lang="en-US" dirty="0">
                <a:sym typeface="Wingdings" pitchFamily="2" charset="2"/>
              </a:rPr>
              <a:t>Formulas are the same</a:t>
            </a:r>
          </a:p>
          <a:p>
            <a:endParaRPr lang="en-US" dirty="0">
              <a:sym typeface="Wingdings" pitchFamily="2" charset="2"/>
            </a:endParaRPr>
          </a:p>
          <a:p>
            <a:r>
              <a:rPr lang="en-US" dirty="0">
                <a:sym typeface="Wingdings" pitchFamily="2" charset="2"/>
              </a:rPr>
              <a:t>Notice: with higher n you can get a higher t – if you have a humongous sample size, even if the correlation is weak it might still register here (SPURIOUS correlation)</a:t>
            </a:r>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9</a:t>
            </a:fld>
            <a:endParaRPr lang="en-US"/>
          </a:p>
        </p:txBody>
      </p:sp>
    </p:spTree>
    <p:extLst>
      <p:ext uri="{BB962C8B-B14F-4D97-AF65-F5344CB8AC3E}">
        <p14:creationId xmlns:p14="http://schemas.microsoft.com/office/powerpoint/2010/main" val="421537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Bivariate normal distribution</a:t>
            </a:r>
          </a:p>
          <a:p>
            <a:r>
              <a:rPr lang="en-US" sz="1200" kern="1200" dirty="0">
                <a:solidFill>
                  <a:schemeClr val="tx1"/>
                </a:solidFill>
                <a:effectLst/>
                <a:latin typeface="+mn-lt"/>
                <a:ea typeface="+mn-ea"/>
                <a:cs typeface="+mn-cs"/>
              </a:rPr>
              <a:t>- The relationship between X and Y is linear.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The cloud of points in a scatter plot of X and Y has a circular or elliptical shape.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The frequency distributions of X and Y separately are normal.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10</a:t>
            </a:fld>
            <a:endParaRPr lang="en-US"/>
          </a:p>
        </p:txBody>
      </p:sp>
    </p:spTree>
    <p:extLst>
      <p:ext uri="{BB962C8B-B14F-4D97-AF65-F5344CB8AC3E}">
        <p14:creationId xmlns:p14="http://schemas.microsoft.com/office/powerpoint/2010/main" val="3372486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are the most frequent types of departures from bivariate normality. (These are also the types of departures that most seriously affect correlation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try data transformations or </a:t>
            </a:r>
            <a:r>
              <a:rPr lang="en-US" sz="1200" kern="1200" dirty="0">
                <a:solidFill>
                  <a:schemeClr val="tx1"/>
                </a:solidFill>
                <a:effectLst/>
                <a:latin typeface="+mn-lt"/>
                <a:ea typeface="+mn-ea"/>
                <a:cs typeface="+mn-cs"/>
              </a:rPr>
              <a:t>use a nonparametric method instead, such as Spearman’s rank correlation.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Spearman’s rank correlation uses the ranks of both the X and Y variables to calculate a measure of correlation. </a:t>
            </a:r>
            <a:endParaRPr lang="en-US" dirty="0">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assumes that observations are a random sample from the population.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assumes that the relationship between the two numerical variables is monotonic. That is, as one variable increases, the other variable either (1) increases or does not change; or (2) decreases or does not change.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relationship between the ranks of the two numerical variables is linear. </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11</a:t>
            </a:fld>
            <a:endParaRPr lang="en-US"/>
          </a:p>
        </p:txBody>
      </p:sp>
    </p:spTree>
    <p:extLst>
      <p:ext uri="{BB962C8B-B14F-4D97-AF65-F5344CB8AC3E}">
        <p14:creationId xmlns:p14="http://schemas.microsoft.com/office/powerpoint/2010/main" val="63223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ASK: thumbs up/thumbs down: on the top, would you say these variables are correlated strongly? What about the bottom?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 top, correlation is weaker, because the amount of scatter relative to total variation is increased. Range is different!!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Also think about: </a:t>
            </a:r>
            <a:r>
              <a:rPr lang="en-US" sz="1200" i="1" kern="1200" dirty="0">
                <a:solidFill>
                  <a:schemeClr val="tx1"/>
                </a:solidFill>
                <a:effectLst/>
                <a:latin typeface="+mn-lt"/>
                <a:ea typeface="+mn-ea"/>
                <a:cs typeface="+mn-cs"/>
              </a:rPr>
              <a:t>Measurement error - </a:t>
            </a:r>
            <a:r>
              <a:rPr lang="en-US" sz="1200" kern="1200" dirty="0">
                <a:solidFill>
                  <a:schemeClr val="tx1"/>
                </a:solidFill>
                <a:effectLst/>
                <a:latin typeface="+mn-lt"/>
                <a:ea typeface="+mn-ea"/>
                <a:cs typeface="+mn-cs"/>
              </a:rPr>
              <a:t>the difference between the true value of a variable for an individual and its measured value. </a:t>
            </a:r>
            <a:endParaRPr lang="en-US" dirty="0">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Weakens observed correlation between variables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With measurement error, r will tend to underestimate the magnitude of </a:t>
            </a:r>
            <a:r>
              <a:rPr lang="en-US" sz="1200" kern="1200" dirty="0" err="1">
                <a:solidFill>
                  <a:schemeClr val="tx1"/>
                </a:solidFill>
                <a:effectLst/>
                <a:latin typeface="+mn-lt"/>
                <a:ea typeface="+mn-ea"/>
                <a:cs typeface="+mn-cs"/>
              </a:rPr>
              <a:t>ρ</a:t>
            </a:r>
            <a:r>
              <a:rPr lang="en-US" sz="1200" kern="1200" dirty="0">
                <a:solidFill>
                  <a:schemeClr val="tx1"/>
                </a:solidFill>
                <a:effectLst/>
                <a:latin typeface="+mn-lt"/>
                <a:ea typeface="+mn-ea"/>
                <a:cs typeface="+mn-cs"/>
              </a:rPr>
              <a:t> (it will tend to be closer to zero on average than the true correlation), a bias called </a:t>
            </a:r>
            <a:r>
              <a:rPr lang="en-US" sz="1200" b="1" kern="1200" dirty="0">
                <a:solidFill>
                  <a:schemeClr val="tx1"/>
                </a:solidFill>
                <a:effectLst/>
                <a:latin typeface="+mn-lt"/>
                <a:ea typeface="+mn-ea"/>
                <a:cs typeface="+mn-cs"/>
              </a:rPr>
              <a:t>attenuation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In general, measurement error can be reduced by taking precise measurements. If this is not possible, then it is best to measure each individual multiple times and use the average measurement in subsequent analysis. </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12</a:t>
            </a:fld>
            <a:endParaRPr lang="en-US"/>
          </a:p>
        </p:txBody>
      </p:sp>
    </p:spTree>
    <p:extLst>
      <p:ext uri="{BB962C8B-B14F-4D97-AF65-F5344CB8AC3E}">
        <p14:creationId xmlns:p14="http://schemas.microsoft.com/office/powerpoint/2010/main" val="1798820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Example on the slide: genetic diversity in a local contemporary human population is predicted by its dispersal distance from East Africa by fitting a straight line to the data points.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Modern humans emerged from Africa around 60,000 years ago, and our ancestors lost some genetic variation at each step as they spread to new lands.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13</a:t>
            </a:fld>
            <a:endParaRPr lang="en-US"/>
          </a:p>
        </p:txBody>
      </p:sp>
    </p:spTree>
    <p:extLst>
      <p:ext uri="{BB962C8B-B14F-4D97-AF65-F5344CB8AC3E}">
        <p14:creationId xmlns:p14="http://schemas.microsoft.com/office/powerpoint/2010/main" val="506689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Regression fits a line through the data to predict one variable from another and to measure how steeply one variable changes with changes in the other. Correlation does none of these things. It measures strength of association between two variables, reflecting the amount of scatter in the data.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14</a:t>
            </a:fld>
            <a:endParaRPr lang="en-US"/>
          </a:p>
        </p:txBody>
      </p:sp>
    </p:spTree>
    <p:extLst>
      <p:ext uri="{BB962C8B-B14F-4D97-AF65-F5344CB8AC3E}">
        <p14:creationId xmlns:p14="http://schemas.microsoft.com/office/powerpoint/2010/main" val="3798972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Only the first design matches the assumptions of correlation, but both scenarios are suitable for regression.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ASK: hold up your hand – if I was measuring like “amount plant grew with amount of fertilizer given” which would that be? And then if I had my Chesapeake bay dolphins and I was taking them and measuring like ”body length and lung capacity” which would that be?</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15</a:t>
            </a:fld>
            <a:endParaRPr lang="en-US"/>
          </a:p>
        </p:txBody>
      </p:sp>
    </p:spTree>
    <p:extLst>
      <p:ext uri="{BB962C8B-B14F-4D97-AF65-F5344CB8AC3E}">
        <p14:creationId xmlns:p14="http://schemas.microsoft.com/office/powerpoint/2010/main" val="36761035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One important assumption of the linear regression method is that the relationship between the two variables really is linear </a:t>
            </a:r>
            <a:endParaRPr lang="en-US" dirty="0">
              <a:effectLst/>
            </a:endParaRPr>
          </a:p>
          <a:p>
            <a:endParaRPr lang="en-US" dirty="0"/>
          </a:p>
          <a:p>
            <a:r>
              <a:rPr lang="en-US" dirty="0"/>
              <a:t>The response variables are a function of the explanatory variables</a:t>
            </a:r>
          </a:p>
        </p:txBody>
      </p:sp>
      <p:sp>
        <p:nvSpPr>
          <p:cNvPr id="4" name="Slide Number Placeholder 3"/>
          <p:cNvSpPr>
            <a:spLocks noGrp="1"/>
          </p:cNvSpPr>
          <p:nvPr>
            <p:ph type="sldNum" sz="quarter" idx="5"/>
          </p:nvPr>
        </p:nvSpPr>
        <p:spPr/>
        <p:txBody>
          <a:bodyPr/>
          <a:lstStyle/>
          <a:p>
            <a:fld id="{93330C2E-4299-9C49-AEAD-B8D451020CBE}" type="slidenum">
              <a:rPr lang="en-US" smtClean="0"/>
              <a:t>16</a:t>
            </a:fld>
            <a:endParaRPr lang="en-US"/>
          </a:p>
        </p:txBody>
      </p:sp>
    </p:spTree>
    <p:extLst>
      <p:ext uri="{BB962C8B-B14F-4D97-AF65-F5344CB8AC3E}">
        <p14:creationId xmlns:p14="http://schemas.microsoft.com/office/powerpoint/2010/main" val="2144328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symbol Y is the response variable (displayed on the vertical axis in a scatter plot), and X is the explanatory variable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coefficient Bo is the Y-intercept , or just the </a:t>
            </a:r>
            <a:r>
              <a:rPr lang="en-US" sz="1200" b="1" kern="1200" dirty="0">
                <a:solidFill>
                  <a:schemeClr val="tx1"/>
                </a:solidFill>
                <a:effectLst/>
                <a:latin typeface="+mn-lt"/>
                <a:ea typeface="+mn-ea"/>
                <a:cs typeface="+mn-cs"/>
              </a:rPr>
              <a:t>intercept</a:t>
            </a:r>
            <a:r>
              <a:rPr lang="en-US" sz="1200" kern="1200" dirty="0">
                <a:solidFill>
                  <a:schemeClr val="tx1"/>
                </a:solidFill>
                <a:effectLst/>
                <a:latin typeface="+mn-lt"/>
                <a:ea typeface="+mn-ea"/>
                <a:cs typeface="+mn-cs"/>
              </a:rPr>
              <a:t>. Mathematically, Bo is the value of Y when X is zero (hence, it is the Y-value where the regression line “intercepts” the y-axis ). Its units are the same as the units of Y.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coefficient B1 is the </a:t>
            </a:r>
            <a:r>
              <a:rPr lang="en-US" sz="1200" b="1" kern="1200" dirty="0">
                <a:solidFill>
                  <a:schemeClr val="tx1"/>
                </a:solidFill>
                <a:effectLst/>
                <a:latin typeface="+mn-lt"/>
                <a:ea typeface="+mn-ea"/>
                <a:cs typeface="+mn-cs"/>
              </a:rPr>
              <a:t>slope </a:t>
            </a:r>
            <a:r>
              <a:rPr lang="en-US" sz="1200" kern="1200" dirty="0">
                <a:solidFill>
                  <a:schemeClr val="tx1"/>
                </a:solidFill>
                <a:effectLst/>
                <a:latin typeface="+mn-lt"/>
                <a:ea typeface="+mn-ea"/>
                <a:cs typeface="+mn-cs"/>
              </a:rPr>
              <a:t>of the regression line. It measures how much Y changes per unit change in X. Its units are the ratio of the units of Y and X. If B1 is positive, then larger values of X predict larger values of Y. If B1 is negative, then larger values of X predict smaller values of Y.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e is error term. Will explain how to calculate that. It is assumed to be normal with a mean of 0 and a variance of (lowercase) sigma squared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DO Y=MX+B on the board!!!</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17</a:t>
            </a:fld>
            <a:endParaRPr lang="en-US"/>
          </a:p>
        </p:txBody>
      </p:sp>
    </p:spTree>
    <p:extLst>
      <p:ext uri="{BB962C8B-B14F-4D97-AF65-F5344CB8AC3E}">
        <p14:creationId xmlns:p14="http://schemas.microsoft.com/office/powerpoint/2010/main" val="28685358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get there but b1 being zero is your null hypothesis</a:t>
            </a:r>
          </a:p>
          <a:p>
            <a:endParaRPr lang="en-US" dirty="0"/>
          </a:p>
          <a:p>
            <a:r>
              <a:rPr lang="en-US" dirty="0"/>
              <a:t>Also just wanted to have this graph on the board here to show you that just because something is numeric doesn’t mean it has to be continuous – this is useful when you’re assigning treatments (giving 1 vs. 2 vs. 3 grams of fertilizer to a plant)</a:t>
            </a:r>
          </a:p>
        </p:txBody>
      </p:sp>
      <p:sp>
        <p:nvSpPr>
          <p:cNvPr id="4" name="Slide Number Placeholder 3"/>
          <p:cNvSpPr>
            <a:spLocks noGrp="1"/>
          </p:cNvSpPr>
          <p:nvPr>
            <p:ph type="sldNum" sz="quarter" idx="5"/>
          </p:nvPr>
        </p:nvSpPr>
        <p:spPr/>
        <p:txBody>
          <a:bodyPr/>
          <a:lstStyle/>
          <a:p>
            <a:fld id="{93330C2E-4299-9C49-AEAD-B8D451020CBE}" type="slidenum">
              <a:rPr lang="en-US" smtClean="0"/>
              <a:t>18</a:t>
            </a:fld>
            <a:endParaRPr lang="en-US"/>
          </a:p>
        </p:txBody>
      </p:sp>
    </p:spTree>
    <p:extLst>
      <p:ext uri="{BB962C8B-B14F-4D97-AF65-F5344CB8AC3E}">
        <p14:creationId xmlns:p14="http://schemas.microsoft.com/office/powerpoint/2010/main" val="7015964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Estimators meaning not parameters (the things you measure yourself and calculate yourself</a:t>
            </a:r>
          </a:p>
          <a:p>
            <a:endParaRPr lang="en-US" dirty="0"/>
          </a:p>
          <a:p>
            <a:r>
              <a:rPr lang="en-US" dirty="0"/>
              <a:t>The formulas on the right are the first thing you need to do for calculations (the last one cross product is for every pair of data points)</a:t>
            </a:r>
          </a:p>
          <a:p>
            <a:endParaRPr lang="en-US" dirty="0"/>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19</a:t>
            </a:fld>
            <a:endParaRPr lang="en-US"/>
          </a:p>
        </p:txBody>
      </p:sp>
    </p:spTree>
    <p:extLst>
      <p:ext uri="{BB962C8B-B14F-4D97-AF65-F5344CB8AC3E}">
        <p14:creationId xmlns:p14="http://schemas.microsoft.com/office/powerpoint/2010/main" val="23016590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little hats mean estimators</a:t>
            </a:r>
          </a:p>
          <a:p>
            <a:endParaRPr lang="en-US" dirty="0"/>
          </a:p>
          <a:p>
            <a:r>
              <a:rPr lang="en-US" dirty="0"/>
              <a:t>Slope is cross product standardized by sum of squares x</a:t>
            </a:r>
          </a:p>
          <a:p>
            <a:endParaRPr lang="en-US" dirty="0"/>
          </a:p>
          <a:p>
            <a:r>
              <a:rPr lang="en-US" dirty="0"/>
              <a:t>Intercept you plug in the means!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Once we have the slope b , getting the intercept is relatively straightforward, because the least squares regression line always goes through the point (X ̄, Y ̄) </a:t>
            </a:r>
            <a:endParaRPr lang="en-US" dirty="0">
              <a:effectLst/>
            </a:endParaRPr>
          </a:p>
          <a:p>
            <a:endParaRPr lang="en-US" dirty="0"/>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20</a:t>
            </a:fld>
            <a:endParaRPr lang="en-US"/>
          </a:p>
        </p:txBody>
      </p:sp>
    </p:spTree>
    <p:extLst>
      <p:ext uri="{BB962C8B-B14F-4D97-AF65-F5344CB8AC3E}">
        <p14:creationId xmlns:p14="http://schemas.microsoft.com/office/powerpoint/2010/main" val="1940278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we are looking at lions in the Serengeti. Male lions’ noses turn black over the course of their life. So we can use the proportion of their nose that’s black as the explanatory variable and their age as the response variable. </a:t>
            </a:r>
          </a:p>
          <a:p>
            <a:r>
              <a:rPr lang="en-US" dirty="0"/>
              <a:t>We take a bunch of data points finding a bunch of male lions and photographing them to figure out the proportion of their nose that’s black, and working with park rangers to figure out how old they are. </a:t>
            </a:r>
          </a:p>
          <a:p>
            <a:r>
              <a:rPr lang="en-US" dirty="0"/>
              <a:t>The mean age of all of the lion individuals we sampled is y-bar.</a:t>
            </a:r>
          </a:p>
          <a:p>
            <a:r>
              <a:rPr lang="en-US" dirty="0"/>
              <a:t>An individual data point is </a:t>
            </a:r>
            <a:r>
              <a:rPr lang="en-US" dirty="0" err="1"/>
              <a:t>yi</a:t>
            </a:r>
            <a:r>
              <a:rPr lang="en-US" dirty="0"/>
              <a:t>.</a:t>
            </a:r>
          </a:p>
          <a:p>
            <a:r>
              <a:rPr lang="en-US" dirty="0"/>
              <a:t>Y-hat is the predicted y based off of a specific value of x. so if his nose was 60% black the predicted age would be like 5 years or something like that.</a:t>
            </a:r>
          </a:p>
        </p:txBody>
      </p:sp>
      <p:sp>
        <p:nvSpPr>
          <p:cNvPr id="4" name="Slide Number Placeholder 3"/>
          <p:cNvSpPr>
            <a:spLocks noGrp="1"/>
          </p:cNvSpPr>
          <p:nvPr>
            <p:ph type="sldNum" sz="quarter" idx="5"/>
          </p:nvPr>
        </p:nvSpPr>
        <p:spPr/>
        <p:txBody>
          <a:bodyPr/>
          <a:lstStyle/>
          <a:p>
            <a:fld id="{93330C2E-4299-9C49-AEAD-B8D451020CBE}" type="slidenum">
              <a:rPr lang="en-US" smtClean="0"/>
              <a:t>23</a:t>
            </a:fld>
            <a:endParaRPr lang="en-US"/>
          </a:p>
        </p:txBody>
      </p:sp>
    </p:spTree>
    <p:extLst>
      <p:ext uri="{BB962C8B-B14F-4D97-AF65-F5344CB8AC3E}">
        <p14:creationId xmlns:p14="http://schemas.microsoft.com/office/powerpoint/2010/main" val="35012071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here stands for error</a:t>
            </a:r>
          </a:p>
          <a:p>
            <a:r>
              <a:rPr lang="en-US" dirty="0"/>
              <a:t>If all the points are on the line you have no error, if the points are farther from the line there’s more error</a:t>
            </a:r>
          </a:p>
          <a:p>
            <a:r>
              <a:rPr lang="en-US" dirty="0"/>
              <a:t>Remember: y-hat is your predictions</a:t>
            </a:r>
          </a:p>
          <a:p>
            <a:r>
              <a:rPr lang="en-US" dirty="0"/>
              <a:t>Explain using graph</a:t>
            </a:r>
          </a:p>
          <a:p>
            <a:endParaRPr lang="en-US" dirty="0"/>
          </a:p>
          <a:p>
            <a:r>
              <a:rPr lang="en-US" dirty="0"/>
              <a:t>Make a residual plot on the board – remember if you plot the residuals, it’s best if they are randomly scattered about pretty evenly above/below the line (indicates good fit to linear model)</a:t>
            </a: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24</a:t>
            </a:fld>
            <a:endParaRPr lang="en-US"/>
          </a:p>
        </p:txBody>
      </p:sp>
    </p:spTree>
    <p:extLst>
      <p:ext uri="{BB962C8B-B14F-4D97-AF65-F5344CB8AC3E}">
        <p14:creationId xmlns:p14="http://schemas.microsoft.com/office/powerpoint/2010/main" val="17374038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line: the difference is what’s explained by regression (ss y minus residual ss)</a:t>
            </a:r>
          </a:p>
        </p:txBody>
      </p:sp>
      <p:sp>
        <p:nvSpPr>
          <p:cNvPr id="4" name="Slide Number Placeholder 3"/>
          <p:cNvSpPr>
            <a:spLocks noGrp="1"/>
          </p:cNvSpPr>
          <p:nvPr>
            <p:ph type="sldNum" sz="quarter" idx="5"/>
          </p:nvPr>
        </p:nvSpPr>
        <p:spPr/>
        <p:txBody>
          <a:bodyPr/>
          <a:lstStyle/>
          <a:p>
            <a:fld id="{93330C2E-4299-9C49-AEAD-B8D451020CBE}" type="slidenum">
              <a:rPr lang="en-US" smtClean="0"/>
              <a:t>26</a:t>
            </a:fld>
            <a:endParaRPr lang="en-US"/>
          </a:p>
        </p:txBody>
      </p:sp>
    </p:spTree>
    <p:extLst>
      <p:ext uri="{BB962C8B-B14F-4D97-AF65-F5344CB8AC3E}">
        <p14:creationId xmlns:p14="http://schemas.microsoft.com/office/powerpoint/2010/main" val="22148067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my linear regression model of lion noses had an r2 of 0.85, would you say the proportion of their nose that’s black “explains” their age well?</a:t>
            </a:r>
          </a:p>
          <a:p>
            <a:r>
              <a:rPr lang="en-US" dirty="0"/>
              <a:t>What if the r2 was 0.19? Would their nose predict their age well?</a:t>
            </a:r>
          </a:p>
        </p:txBody>
      </p:sp>
      <p:sp>
        <p:nvSpPr>
          <p:cNvPr id="4" name="Slide Number Placeholder 3"/>
          <p:cNvSpPr>
            <a:spLocks noGrp="1"/>
          </p:cNvSpPr>
          <p:nvPr>
            <p:ph type="sldNum" sz="quarter" idx="5"/>
          </p:nvPr>
        </p:nvSpPr>
        <p:spPr/>
        <p:txBody>
          <a:bodyPr/>
          <a:lstStyle/>
          <a:p>
            <a:fld id="{93330C2E-4299-9C49-AEAD-B8D451020CBE}" type="slidenum">
              <a:rPr lang="en-US" smtClean="0"/>
              <a:t>27</a:t>
            </a:fld>
            <a:endParaRPr lang="en-US"/>
          </a:p>
        </p:txBody>
      </p:sp>
    </p:spTree>
    <p:extLst>
      <p:ext uri="{BB962C8B-B14F-4D97-AF65-F5344CB8AC3E}">
        <p14:creationId xmlns:p14="http://schemas.microsoft.com/office/powerpoint/2010/main" val="11254071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Alternative is that some kind of relationship exists!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H0 : The slope of the regression of proportion of nose black on male lion age is zero (β=0).</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HA : The slope of the regression of  “” is not zero (β≠0).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28</a:t>
            </a:fld>
            <a:endParaRPr lang="en-US"/>
          </a:p>
        </p:txBody>
      </p:sp>
    </p:spTree>
    <p:extLst>
      <p:ext uri="{BB962C8B-B14F-4D97-AF65-F5344CB8AC3E}">
        <p14:creationId xmlns:p14="http://schemas.microsoft.com/office/powerpoint/2010/main" val="2216018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Essentially is the slope minus the null hypothesized value of the slope (0) over the error. </a:t>
            </a:r>
          </a:p>
          <a:p>
            <a:r>
              <a:rPr lang="en-US" dirty="0"/>
              <a:t>this test statistic has a t-distribution with n-2 </a:t>
            </a:r>
            <a:r>
              <a:rPr lang="en-US" dirty="0" err="1"/>
              <a:t>df</a:t>
            </a:r>
            <a:endParaRPr lang="en-US" dirty="0"/>
          </a:p>
          <a:p>
            <a:endParaRPr lang="en-US" dirty="0"/>
          </a:p>
          <a:p>
            <a:r>
              <a:rPr lang="en-US" dirty="0">
                <a:effectLst/>
              </a:rPr>
              <a:t>Calculate your test statistic</a:t>
            </a:r>
            <a:r>
              <a:rPr lang="en-US" dirty="0"/>
              <a:t>, find corresponding p value, and decide whether to reject your null or not!</a:t>
            </a:r>
          </a:p>
          <a:p>
            <a:endParaRPr lang="en-US" dirty="0">
              <a:effectLst/>
            </a:endParaRPr>
          </a:p>
          <a:p>
            <a:r>
              <a:rPr lang="en-US" dirty="0">
                <a:effectLst/>
              </a:rPr>
              <a:t>KEY: When you do a 2 sided test, it doesn’t matter if the slope is + or -</a:t>
            </a:r>
          </a:p>
          <a:p>
            <a:r>
              <a:rPr lang="en-US" dirty="0">
                <a:effectLst/>
              </a:rPr>
              <a:t>If you do the 1 sided test expecting a + slope but you get a -, your p value is greater than 0.05 because it’s on the opposite side of the distribution and you just have to reject the null!!</a:t>
            </a: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29</a:t>
            </a:fld>
            <a:endParaRPr lang="en-US"/>
          </a:p>
        </p:txBody>
      </p:sp>
    </p:spTree>
    <p:extLst>
      <p:ext uri="{BB962C8B-B14F-4D97-AF65-F5344CB8AC3E}">
        <p14:creationId xmlns:p14="http://schemas.microsoft.com/office/powerpoint/2010/main" val="26536963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will help you with the formula on the last slide</a:t>
            </a:r>
          </a:p>
          <a:p>
            <a:endParaRPr lang="en-US" dirty="0"/>
          </a:p>
          <a:p>
            <a:r>
              <a:rPr lang="en-US" dirty="0"/>
              <a:t>This is the also the reason why I discussed </a:t>
            </a:r>
            <a:r>
              <a:rPr lang="en-US" dirty="0" err="1"/>
              <a:t>ms</a:t>
            </a:r>
            <a:r>
              <a:rPr lang="en-US" dirty="0"/>
              <a:t> residuals</a:t>
            </a:r>
          </a:p>
        </p:txBody>
      </p:sp>
      <p:sp>
        <p:nvSpPr>
          <p:cNvPr id="4" name="Slide Number Placeholder 3"/>
          <p:cNvSpPr>
            <a:spLocks noGrp="1"/>
          </p:cNvSpPr>
          <p:nvPr>
            <p:ph type="sldNum" sz="quarter" idx="5"/>
          </p:nvPr>
        </p:nvSpPr>
        <p:spPr/>
        <p:txBody>
          <a:bodyPr/>
          <a:lstStyle/>
          <a:p>
            <a:fld id="{93330C2E-4299-9C49-AEAD-B8D451020CBE}" type="slidenum">
              <a:rPr lang="en-US" smtClean="0"/>
              <a:t>30</a:t>
            </a:fld>
            <a:endParaRPr lang="en-US"/>
          </a:p>
        </p:txBody>
      </p:sp>
    </p:spTree>
    <p:extLst>
      <p:ext uri="{BB962C8B-B14F-4D97-AF65-F5344CB8AC3E}">
        <p14:creationId xmlns:p14="http://schemas.microsoft.com/office/powerpoint/2010/main" val="14220463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formulas are the same thing!! You can flip through the slides and write it out yourself if needed</a:t>
            </a:r>
          </a:p>
          <a:p>
            <a:endParaRPr lang="en-US" dirty="0"/>
          </a:p>
          <a:p>
            <a:r>
              <a:rPr lang="en-US" dirty="0"/>
              <a:t>N-2 DF</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is a modest range of most-plausible values for the slope. The mean age of lions increases by as little as 7.6 years per unit proportion of black on the nose, or by as much as 13.7 years.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31</a:t>
            </a:fld>
            <a:endParaRPr lang="en-US"/>
          </a:p>
        </p:txBody>
      </p:sp>
    </p:spTree>
    <p:extLst>
      <p:ext uri="{BB962C8B-B14F-4D97-AF65-F5344CB8AC3E}">
        <p14:creationId xmlns:p14="http://schemas.microsoft.com/office/powerpoint/2010/main" val="26293503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What, for example, is the mean age of all male lions in the population whose noses are 60% black </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how old is that lion over there, given that 60% of its nose is black?)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32</a:t>
            </a:fld>
            <a:endParaRPr lang="en-US"/>
          </a:p>
        </p:txBody>
      </p:sp>
    </p:spTree>
    <p:extLst>
      <p:ext uri="{BB962C8B-B14F-4D97-AF65-F5344CB8AC3E}">
        <p14:creationId xmlns:p14="http://schemas.microsoft.com/office/powerpoint/2010/main" val="7375000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Left shows the 95% confidence intervals for the predicted mean lion age at every X. The upper curve connects the upper bounds of all of the 95% confidence intervals for the predicted mean Y-values , one for every X between the smallest and largest X in the data. The lower curve connects the lower bounds of these same confidence intervals. Together the upper and lower curves showing the confidence intervals for the mean Y are called the 95% </a:t>
            </a:r>
            <a:r>
              <a:rPr lang="en-US" sz="1200" b="1" kern="1200" dirty="0">
                <a:solidFill>
                  <a:schemeClr val="tx1"/>
                </a:solidFill>
                <a:effectLst/>
                <a:latin typeface="+mn-lt"/>
                <a:ea typeface="+mn-ea"/>
                <a:cs typeface="+mn-cs"/>
              </a:rPr>
              <a:t>confidence bands</a:t>
            </a:r>
            <a:r>
              <a:rPr lang="en-US" sz="1200" kern="1200" dirty="0">
                <a:solidFill>
                  <a:schemeClr val="tx1"/>
                </a:solidFill>
                <a:effectLst/>
                <a:latin typeface="+mn-lt"/>
                <a:ea typeface="+mn-ea"/>
                <a:cs typeface="+mn-cs"/>
              </a:rPr>
              <a:t>. The uncertainty of predictions always increases the farther the X-value is from the mean X in the data. In 95% of samples, the confidence bands will bracket the true regression line in the population. </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Right, the upper and lower curves connect the upper and lower limits of the 95% prediction intervals for a </a:t>
            </a:r>
            <a:r>
              <a:rPr lang="en-US" sz="1200" i="1" kern="1200" dirty="0">
                <a:solidFill>
                  <a:schemeClr val="tx1"/>
                </a:solidFill>
                <a:effectLst/>
                <a:latin typeface="+mn-lt"/>
                <a:ea typeface="+mn-ea"/>
                <a:cs typeface="+mn-cs"/>
              </a:rPr>
              <a:t>single </a:t>
            </a:r>
            <a:r>
              <a:rPr lang="en-US" sz="1200" kern="1200" dirty="0">
                <a:solidFill>
                  <a:schemeClr val="tx1"/>
                </a:solidFill>
                <a:effectLst/>
                <a:latin typeface="+mn-lt"/>
                <a:ea typeface="+mn-ea"/>
                <a:cs typeface="+mn-cs"/>
              </a:rPr>
              <a:t>Y over the range of X-values in the data. These are much wider than the confidence bands because predicting an individual lion’s age from the color of its nose is more uncertain than predicting the mean age of all lions having the same proportion of black on their noses. Prediction intervals bracket most of the individual data points in the sample, because they incorporate the variability in Y from individual to individual at a given X. </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33</a:t>
            </a:fld>
            <a:endParaRPr lang="en-US"/>
          </a:p>
        </p:txBody>
      </p:sp>
    </p:spTree>
    <p:extLst>
      <p:ext uri="{BB962C8B-B14F-4D97-AF65-F5344CB8AC3E}">
        <p14:creationId xmlns:p14="http://schemas.microsoft.com/office/powerpoint/2010/main" val="12538510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34</a:t>
            </a:fld>
            <a:endParaRPr lang="en-US"/>
          </a:p>
        </p:txBody>
      </p:sp>
    </p:spTree>
    <p:extLst>
      <p:ext uri="{BB962C8B-B14F-4D97-AF65-F5344CB8AC3E}">
        <p14:creationId xmlns:p14="http://schemas.microsoft.com/office/powerpoint/2010/main" val="2561047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intercept of this equation, which predicts the ear length at birth (i.e., when age is zero), is 56 mm. This makes no sense, though. To quote the authors of the study (Altman and Bland 1998), “A baby with ears 5.6 cm long would look like Dumbo.” The relationship between ear length and age is not linear from birth, but we wouldn’t know this unless we took measurements over the complete range of ages.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Danger! You want to only predict things within the range of your data. Outside of that, things could get wonky!</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93330C2E-4299-9C49-AEAD-B8D451020CBE}" type="slidenum">
              <a:rPr lang="en-US" smtClean="0"/>
              <a:t>35</a:t>
            </a:fld>
            <a:endParaRPr lang="en-US"/>
          </a:p>
        </p:txBody>
      </p:sp>
    </p:spTree>
    <p:extLst>
      <p:ext uri="{BB962C8B-B14F-4D97-AF65-F5344CB8AC3E}">
        <p14:creationId xmlns:p14="http://schemas.microsoft.com/office/powerpoint/2010/main" val="747393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EFB5-4882-09E2-8D06-1C8C5B3B68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E08A81-1018-0680-CEE4-A6D128C82D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9F9AF0-B981-5A3C-958E-0DB8F25FACF8}"/>
              </a:ext>
            </a:extLst>
          </p:cNvPr>
          <p:cNvSpPr>
            <a:spLocks noGrp="1"/>
          </p:cNvSpPr>
          <p:nvPr>
            <p:ph type="dt" sz="half" idx="10"/>
          </p:nvPr>
        </p:nvSpPr>
        <p:spPr/>
        <p:txBody>
          <a:bodyPr/>
          <a:lstStyle/>
          <a:p>
            <a:fld id="{0F87B250-D81F-EA47-BBAE-0133A176F97F}" type="datetimeFigureOut">
              <a:rPr lang="en-US" smtClean="0"/>
              <a:t>9/15/26</a:t>
            </a:fld>
            <a:endParaRPr lang="en-US"/>
          </a:p>
        </p:txBody>
      </p:sp>
      <p:sp>
        <p:nvSpPr>
          <p:cNvPr id="5" name="Footer Placeholder 4">
            <a:extLst>
              <a:ext uri="{FF2B5EF4-FFF2-40B4-BE49-F238E27FC236}">
                <a16:creationId xmlns:a16="http://schemas.microsoft.com/office/drawing/2014/main" id="{4E400274-66BB-07D9-E5C7-08A5609962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D3ECC4-BD6C-48A6-778C-4DB24B3F4926}"/>
              </a:ext>
            </a:extLst>
          </p:cNvPr>
          <p:cNvSpPr>
            <a:spLocks noGrp="1"/>
          </p:cNvSpPr>
          <p:nvPr>
            <p:ph type="sldNum" sz="quarter" idx="12"/>
          </p:nvPr>
        </p:nvSpPr>
        <p:spPr/>
        <p:txBody>
          <a:bodyPr/>
          <a:lstStyle/>
          <a:p>
            <a:fld id="{2D267B68-1E1F-C345-BBEA-19D7E3374868}" type="slidenum">
              <a:rPr lang="en-US" smtClean="0"/>
              <a:t>‹#›</a:t>
            </a:fld>
            <a:endParaRPr lang="en-US"/>
          </a:p>
        </p:txBody>
      </p:sp>
    </p:spTree>
    <p:extLst>
      <p:ext uri="{BB962C8B-B14F-4D97-AF65-F5344CB8AC3E}">
        <p14:creationId xmlns:p14="http://schemas.microsoft.com/office/powerpoint/2010/main" val="3785271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81849-F831-46C8-5DF1-18E8C26C3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EB3B67-0532-5F81-B5B5-A3328A6C8A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14BFE8-BB1C-08D5-8A6C-31D77CD70FDB}"/>
              </a:ext>
            </a:extLst>
          </p:cNvPr>
          <p:cNvSpPr>
            <a:spLocks noGrp="1"/>
          </p:cNvSpPr>
          <p:nvPr>
            <p:ph type="dt" sz="half" idx="10"/>
          </p:nvPr>
        </p:nvSpPr>
        <p:spPr/>
        <p:txBody>
          <a:bodyPr/>
          <a:lstStyle/>
          <a:p>
            <a:fld id="{0F87B250-D81F-EA47-BBAE-0133A176F97F}" type="datetimeFigureOut">
              <a:rPr lang="en-US" smtClean="0"/>
              <a:t>9/15/26</a:t>
            </a:fld>
            <a:endParaRPr lang="en-US"/>
          </a:p>
        </p:txBody>
      </p:sp>
      <p:sp>
        <p:nvSpPr>
          <p:cNvPr id="5" name="Footer Placeholder 4">
            <a:extLst>
              <a:ext uri="{FF2B5EF4-FFF2-40B4-BE49-F238E27FC236}">
                <a16:creationId xmlns:a16="http://schemas.microsoft.com/office/drawing/2014/main" id="{767696B3-F040-EDC8-976D-5608693463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CC310F-600E-5891-10D4-188AA1280A4A}"/>
              </a:ext>
            </a:extLst>
          </p:cNvPr>
          <p:cNvSpPr>
            <a:spLocks noGrp="1"/>
          </p:cNvSpPr>
          <p:nvPr>
            <p:ph type="sldNum" sz="quarter" idx="12"/>
          </p:nvPr>
        </p:nvSpPr>
        <p:spPr/>
        <p:txBody>
          <a:bodyPr/>
          <a:lstStyle/>
          <a:p>
            <a:fld id="{2D267B68-1E1F-C345-BBEA-19D7E3374868}" type="slidenum">
              <a:rPr lang="en-US" smtClean="0"/>
              <a:t>‹#›</a:t>
            </a:fld>
            <a:endParaRPr lang="en-US"/>
          </a:p>
        </p:txBody>
      </p:sp>
    </p:spTree>
    <p:extLst>
      <p:ext uri="{BB962C8B-B14F-4D97-AF65-F5344CB8AC3E}">
        <p14:creationId xmlns:p14="http://schemas.microsoft.com/office/powerpoint/2010/main" val="1630580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62577-1035-510E-D8FE-FC40AEAFCE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649E55-9159-319F-B1AF-2EADDF3D61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6AF7A9-E03E-F71D-BEF1-7191BBF3D390}"/>
              </a:ext>
            </a:extLst>
          </p:cNvPr>
          <p:cNvSpPr>
            <a:spLocks noGrp="1"/>
          </p:cNvSpPr>
          <p:nvPr>
            <p:ph type="dt" sz="half" idx="10"/>
          </p:nvPr>
        </p:nvSpPr>
        <p:spPr/>
        <p:txBody>
          <a:bodyPr/>
          <a:lstStyle/>
          <a:p>
            <a:fld id="{0F87B250-D81F-EA47-BBAE-0133A176F97F}" type="datetimeFigureOut">
              <a:rPr lang="en-US" smtClean="0"/>
              <a:t>9/15/26</a:t>
            </a:fld>
            <a:endParaRPr lang="en-US"/>
          </a:p>
        </p:txBody>
      </p:sp>
      <p:sp>
        <p:nvSpPr>
          <p:cNvPr id="5" name="Footer Placeholder 4">
            <a:extLst>
              <a:ext uri="{FF2B5EF4-FFF2-40B4-BE49-F238E27FC236}">
                <a16:creationId xmlns:a16="http://schemas.microsoft.com/office/drawing/2014/main" id="{DD6359FF-4F99-1F3F-02AD-15F3AF3508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67052D-6105-989A-ED12-98C36479E64A}"/>
              </a:ext>
            </a:extLst>
          </p:cNvPr>
          <p:cNvSpPr>
            <a:spLocks noGrp="1"/>
          </p:cNvSpPr>
          <p:nvPr>
            <p:ph type="sldNum" sz="quarter" idx="12"/>
          </p:nvPr>
        </p:nvSpPr>
        <p:spPr/>
        <p:txBody>
          <a:bodyPr/>
          <a:lstStyle/>
          <a:p>
            <a:fld id="{2D267B68-1E1F-C345-BBEA-19D7E3374868}" type="slidenum">
              <a:rPr lang="en-US" smtClean="0"/>
              <a:t>‹#›</a:t>
            </a:fld>
            <a:endParaRPr lang="en-US"/>
          </a:p>
        </p:txBody>
      </p:sp>
    </p:spTree>
    <p:extLst>
      <p:ext uri="{BB962C8B-B14F-4D97-AF65-F5344CB8AC3E}">
        <p14:creationId xmlns:p14="http://schemas.microsoft.com/office/powerpoint/2010/main" val="1544981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5A06D-41D7-AEA6-86DE-BFF0508CFF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53E447-CAC0-F33C-1568-C4857C162E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F6D209-BFE1-0ECA-7743-517EA2B6FB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752628-0602-98B1-57CB-A54951BFD193}"/>
              </a:ext>
            </a:extLst>
          </p:cNvPr>
          <p:cNvSpPr>
            <a:spLocks noGrp="1"/>
          </p:cNvSpPr>
          <p:nvPr>
            <p:ph type="dt" sz="half" idx="10"/>
          </p:nvPr>
        </p:nvSpPr>
        <p:spPr/>
        <p:txBody>
          <a:bodyPr/>
          <a:lstStyle/>
          <a:p>
            <a:fld id="{0F87B250-D81F-EA47-BBAE-0133A176F97F}" type="datetimeFigureOut">
              <a:rPr lang="en-US" smtClean="0"/>
              <a:t>9/15/26</a:t>
            </a:fld>
            <a:endParaRPr lang="en-US"/>
          </a:p>
        </p:txBody>
      </p:sp>
      <p:sp>
        <p:nvSpPr>
          <p:cNvPr id="6" name="Footer Placeholder 5">
            <a:extLst>
              <a:ext uri="{FF2B5EF4-FFF2-40B4-BE49-F238E27FC236}">
                <a16:creationId xmlns:a16="http://schemas.microsoft.com/office/drawing/2014/main" id="{AB8E03DC-6ABE-3843-FCA0-E0B27F83E0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9855CA-937D-A160-C702-83ECA41616A6}"/>
              </a:ext>
            </a:extLst>
          </p:cNvPr>
          <p:cNvSpPr>
            <a:spLocks noGrp="1"/>
          </p:cNvSpPr>
          <p:nvPr>
            <p:ph type="sldNum" sz="quarter" idx="12"/>
          </p:nvPr>
        </p:nvSpPr>
        <p:spPr/>
        <p:txBody>
          <a:bodyPr/>
          <a:lstStyle/>
          <a:p>
            <a:fld id="{2D267B68-1E1F-C345-BBEA-19D7E3374868}" type="slidenum">
              <a:rPr lang="en-US" smtClean="0"/>
              <a:t>‹#›</a:t>
            </a:fld>
            <a:endParaRPr lang="en-US"/>
          </a:p>
        </p:txBody>
      </p:sp>
    </p:spTree>
    <p:extLst>
      <p:ext uri="{BB962C8B-B14F-4D97-AF65-F5344CB8AC3E}">
        <p14:creationId xmlns:p14="http://schemas.microsoft.com/office/powerpoint/2010/main" val="482992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E8F20-9B28-68BD-F106-0DE060C9AB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152A1A-736C-6107-FD94-C1259F0F70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D0F8F8-A640-B84D-142E-301C5ECD7E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CDE744-F3CB-16B1-2833-758E65B678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B06ADF-82E8-C0FF-CDCC-4C34998743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0DD5C4-D6A0-42D6-B2A4-D4645434AB57}"/>
              </a:ext>
            </a:extLst>
          </p:cNvPr>
          <p:cNvSpPr>
            <a:spLocks noGrp="1"/>
          </p:cNvSpPr>
          <p:nvPr>
            <p:ph type="dt" sz="half" idx="10"/>
          </p:nvPr>
        </p:nvSpPr>
        <p:spPr/>
        <p:txBody>
          <a:bodyPr/>
          <a:lstStyle/>
          <a:p>
            <a:fld id="{0F87B250-D81F-EA47-BBAE-0133A176F97F}" type="datetimeFigureOut">
              <a:rPr lang="en-US" smtClean="0"/>
              <a:t>9/15/26</a:t>
            </a:fld>
            <a:endParaRPr lang="en-US"/>
          </a:p>
        </p:txBody>
      </p:sp>
      <p:sp>
        <p:nvSpPr>
          <p:cNvPr id="8" name="Footer Placeholder 7">
            <a:extLst>
              <a:ext uri="{FF2B5EF4-FFF2-40B4-BE49-F238E27FC236}">
                <a16:creationId xmlns:a16="http://schemas.microsoft.com/office/drawing/2014/main" id="{77E9D3FF-7249-19EB-E0CA-71D818BB39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8F1444-12A0-A36F-B53D-009C3BAF72E2}"/>
              </a:ext>
            </a:extLst>
          </p:cNvPr>
          <p:cNvSpPr>
            <a:spLocks noGrp="1"/>
          </p:cNvSpPr>
          <p:nvPr>
            <p:ph type="sldNum" sz="quarter" idx="12"/>
          </p:nvPr>
        </p:nvSpPr>
        <p:spPr/>
        <p:txBody>
          <a:bodyPr/>
          <a:lstStyle/>
          <a:p>
            <a:fld id="{2D267B68-1E1F-C345-BBEA-19D7E3374868}" type="slidenum">
              <a:rPr lang="en-US" smtClean="0"/>
              <a:t>‹#›</a:t>
            </a:fld>
            <a:endParaRPr lang="en-US"/>
          </a:p>
        </p:txBody>
      </p:sp>
    </p:spTree>
    <p:extLst>
      <p:ext uri="{BB962C8B-B14F-4D97-AF65-F5344CB8AC3E}">
        <p14:creationId xmlns:p14="http://schemas.microsoft.com/office/powerpoint/2010/main" val="1266813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28F15-96C1-9CF1-1E9E-1BDAB1B38A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A34127-3B2B-11BD-B648-EE52CCD2F36B}"/>
              </a:ext>
            </a:extLst>
          </p:cNvPr>
          <p:cNvSpPr>
            <a:spLocks noGrp="1"/>
          </p:cNvSpPr>
          <p:nvPr>
            <p:ph type="dt" sz="half" idx="10"/>
          </p:nvPr>
        </p:nvSpPr>
        <p:spPr/>
        <p:txBody>
          <a:bodyPr/>
          <a:lstStyle/>
          <a:p>
            <a:fld id="{0F87B250-D81F-EA47-BBAE-0133A176F97F}" type="datetimeFigureOut">
              <a:rPr lang="en-US" smtClean="0"/>
              <a:t>9/15/26</a:t>
            </a:fld>
            <a:endParaRPr lang="en-US"/>
          </a:p>
        </p:txBody>
      </p:sp>
      <p:sp>
        <p:nvSpPr>
          <p:cNvPr id="4" name="Footer Placeholder 3">
            <a:extLst>
              <a:ext uri="{FF2B5EF4-FFF2-40B4-BE49-F238E27FC236}">
                <a16:creationId xmlns:a16="http://schemas.microsoft.com/office/drawing/2014/main" id="{C4B329B2-2EC9-DC94-F841-46ADB24880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2146F7-D6DF-CEA7-32D5-25EF3244B7B5}"/>
              </a:ext>
            </a:extLst>
          </p:cNvPr>
          <p:cNvSpPr>
            <a:spLocks noGrp="1"/>
          </p:cNvSpPr>
          <p:nvPr>
            <p:ph type="sldNum" sz="quarter" idx="12"/>
          </p:nvPr>
        </p:nvSpPr>
        <p:spPr/>
        <p:txBody>
          <a:bodyPr/>
          <a:lstStyle/>
          <a:p>
            <a:fld id="{2D267B68-1E1F-C345-BBEA-19D7E3374868}" type="slidenum">
              <a:rPr lang="en-US" smtClean="0"/>
              <a:t>‹#›</a:t>
            </a:fld>
            <a:endParaRPr lang="en-US"/>
          </a:p>
        </p:txBody>
      </p:sp>
    </p:spTree>
    <p:extLst>
      <p:ext uri="{BB962C8B-B14F-4D97-AF65-F5344CB8AC3E}">
        <p14:creationId xmlns:p14="http://schemas.microsoft.com/office/powerpoint/2010/main" val="1290188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AA2E2B-0F2B-1D53-A58B-4083D7742459}"/>
              </a:ext>
            </a:extLst>
          </p:cNvPr>
          <p:cNvSpPr>
            <a:spLocks noGrp="1"/>
          </p:cNvSpPr>
          <p:nvPr>
            <p:ph type="dt" sz="half" idx="10"/>
          </p:nvPr>
        </p:nvSpPr>
        <p:spPr/>
        <p:txBody>
          <a:bodyPr/>
          <a:lstStyle/>
          <a:p>
            <a:fld id="{0F87B250-D81F-EA47-BBAE-0133A176F97F}" type="datetimeFigureOut">
              <a:rPr lang="en-US" smtClean="0"/>
              <a:t>9/15/26</a:t>
            </a:fld>
            <a:endParaRPr lang="en-US"/>
          </a:p>
        </p:txBody>
      </p:sp>
      <p:sp>
        <p:nvSpPr>
          <p:cNvPr id="3" name="Footer Placeholder 2">
            <a:extLst>
              <a:ext uri="{FF2B5EF4-FFF2-40B4-BE49-F238E27FC236}">
                <a16:creationId xmlns:a16="http://schemas.microsoft.com/office/drawing/2014/main" id="{A9BCC52E-C9D9-F437-F462-1AEDD7243D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53B028-B8C7-4873-08A7-BFF2D837D8D8}"/>
              </a:ext>
            </a:extLst>
          </p:cNvPr>
          <p:cNvSpPr>
            <a:spLocks noGrp="1"/>
          </p:cNvSpPr>
          <p:nvPr>
            <p:ph type="sldNum" sz="quarter" idx="12"/>
          </p:nvPr>
        </p:nvSpPr>
        <p:spPr/>
        <p:txBody>
          <a:bodyPr/>
          <a:lstStyle/>
          <a:p>
            <a:fld id="{2D267B68-1E1F-C345-BBEA-19D7E3374868}" type="slidenum">
              <a:rPr lang="en-US" smtClean="0"/>
              <a:t>‹#›</a:t>
            </a:fld>
            <a:endParaRPr lang="en-US"/>
          </a:p>
        </p:txBody>
      </p:sp>
    </p:spTree>
    <p:extLst>
      <p:ext uri="{BB962C8B-B14F-4D97-AF65-F5344CB8AC3E}">
        <p14:creationId xmlns:p14="http://schemas.microsoft.com/office/powerpoint/2010/main" val="1010650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D4576-E265-484B-56B7-AFFAF28A48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ECDB5B-CE47-D984-D75D-B97361FDF3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EEF88E-6D03-2D30-4FE4-C651B826D7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D9E8C8-F575-81BF-E955-F0D9705DEB07}"/>
              </a:ext>
            </a:extLst>
          </p:cNvPr>
          <p:cNvSpPr>
            <a:spLocks noGrp="1"/>
          </p:cNvSpPr>
          <p:nvPr>
            <p:ph type="dt" sz="half" idx="10"/>
          </p:nvPr>
        </p:nvSpPr>
        <p:spPr/>
        <p:txBody>
          <a:bodyPr/>
          <a:lstStyle/>
          <a:p>
            <a:fld id="{0F87B250-D81F-EA47-BBAE-0133A176F97F}" type="datetimeFigureOut">
              <a:rPr lang="en-US" smtClean="0"/>
              <a:t>9/15/26</a:t>
            </a:fld>
            <a:endParaRPr lang="en-US"/>
          </a:p>
        </p:txBody>
      </p:sp>
      <p:sp>
        <p:nvSpPr>
          <p:cNvPr id="6" name="Footer Placeholder 5">
            <a:extLst>
              <a:ext uri="{FF2B5EF4-FFF2-40B4-BE49-F238E27FC236}">
                <a16:creationId xmlns:a16="http://schemas.microsoft.com/office/drawing/2014/main" id="{88A648D0-75F7-FDAF-F390-D214EBB53E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704FF0-727F-20F4-5B78-F391982A1256}"/>
              </a:ext>
            </a:extLst>
          </p:cNvPr>
          <p:cNvSpPr>
            <a:spLocks noGrp="1"/>
          </p:cNvSpPr>
          <p:nvPr>
            <p:ph type="sldNum" sz="quarter" idx="12"/>
          </p:nvPr>
        </p:nvSpPr>
        <p:spPr/>
        <p:txBody>
          <a:bodyPr/>
          <a:lstStyle/>
          <a:p>
            <a:fld id="{2D267B68-1E1F-C345-BBEA-19D7E3374868}" type="slidenum">
              <a:rPr lang="en-US" smtClean="0"/>
              <a:t>‹#›</a:t>
            </a:fld>
            <a:endParaRPr lang="en-US"/>
          </a:p>
        </p:txBody>
      </p:sp>
    </p:spTree>
    <p:extLst>
      <p:ext uri="{BB962C8B-B14F-4D97-AF65-F5344CB8AC3E}">
        <p14:creationId xmlns:p14="http://schemas.microsoft.com/office/powerpoint/2010/main" val="3615416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8B1D3-3587-276E-28AC-28222917C1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C21566-CF54-313D-373F-D8FF348347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5D99C0-51B3-8EC1-F586-E9680E7689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06A9AF-E257-D6D4-7E05-5273A2081C0E}"/>
              </a:ext>
            </a:extLst>
          </p:cNvPr>
          <p:cNvSpPr>
            <a:spLocks noGrp="1"/>
          </p:cNvSpPr>
          <p:nvPr>
            <p:ph type="dt" sz="half" idx="10"/>
          </p:nvPr>
        </p:nvSpPr>
        <p:spPr/>
        <p:txBody>
          <a:bodyPr/>
          <a:lstStyle/>
          <a:p>
            <a:fld id="{0F87B250-D81F-EA47-BBAE-0133A176F97F}" type="datetimeFigureOut">
              <a:rPr lang="en-US" smtClean="0"/>
              <a:t>9/15/26</a:t>
            </a:fld>
            <a:endParaRPr lang="en-US"/>
          </a:p>
        </p:txBody>
      </p:sp>
      <p:sp>
        <p:nvSpPr>
          <p:cNvPr id="6" name="Footer Placeholder 5">
            <a:extLst>
              <a:ext uri="{FF2B5EF4-FFF2-40B4-BE49-F238E27FC236}">
                <a16:creationId xmlns:a16="http://schemas.microsoft.com/office/drawing/2014/main" id="{9B53D1AF-61FB-887B-911A-D1FB887D9E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0F186E-00AA-A03E-080B-AD59F3A660A3}"/>
              </a:ext>
            </a:extLst>
          </p:cNvPr>
          <p:cNvSpPr>
            <a:spLocks noGrp="1"/>
          </p:cNvSpPr>
          <p:nvPr>
            <p:ph type="sldNum" sz="quarter" idx="12"/>
          </p:nvPr>
        </p:nvSpPr>
        <p:spPr/>
        <p:txBody>
          <a:bodyPr/>
          <a:lstStyle/>
          <a:p>
            <a:fld id="{2D267B68-1E1F-C345-BBEA-19D7E3374868}" type="slidenum">
              <a:rPr lang="en-US" smtClean="0"/>
              <a:t>‹#›</a:t>
            </a:fld>
            <a:endParaRPr lang="en-US"/>
          </a:p>
        </p:txBody>
      </p:sp>
    </p:spTree>
    <p:extLst>
      <p:ext uri="{BB962C8B-B14F-4D97-AF65-F5344CB8AC3E}">
        <p14:creationId xmlns:p14="http://schemas.microsoft.com/office/powerpoint/2010/main" val="1687525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D4D4A-FD17-F647-6D5D-42701263B7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8F5C73-B777-B4C0-3E05-469553E787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3A7433-A708-81CC-A536-07BA2B4B0C26}"/>
              </a:ext>
            </a:extLst>
          </p:cNvPr>
          <p:cNvSpPr>
            <a:spLocks noGrp="1"/>
          </p:cNvSpPr>
          <p:nvPr>
            <p:ph type="dt" sz="half" idx="10"/>
          </p:nvPr>
        </p:nvSpPr>
        <p:spPr/>
        <p:txBody>
          <a:bodyPr/>
          <a:lstStyle/>
          <a:p>
            <a:fld id="{0F87B250-D81F-EA47-BBAE-0133A176F97F}" type="datetimeFigureOut">
              <a:rPr lang="en-US" smtClean="0"/>
              <a:t>9/15/26</a:t>
            </a:fld>
            <a:endParaRPr lang="en-US"/>
          </a:p>
        </p:txBody>
      </p:sp>
      <p:sp>
        <p:nvSpPr>
          <p:cNvPr id="5" name="Footer Placeholder 4">
            <a:extLst>
              <a:ext uri="{FF2B5EF4-FFF2-40B4-BE49-F238E27FC236}">
                <a16:creationId xmlns:a16="http://schemas.microsoft.com/office/drawing/2014/main" id="{93D0D42A-C775-CC31-936F-2B6D3B4584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AA6721-8629-B809-EECC-31315D9D85BC}"/>
              </a:ext>
            </a:extLst>
          </p:cNvPr>
          <p:cNvSpPr>
            <a:spLocks noGrp="1"/>
          </p:cNvSpPr>
          <p:nvPr>
            <p:ph type="sldNum" sz="quarter" idx="12"/>
          </p:nvPr>
        </p:nvSpPr>
        <p:spPr/>
        <p:txBody>
          <a:bodyPr/>
          <a:lstStyle/>
          <a:p>
            <a:fld id="{2D267B68-1E1F-C345-BBEA-19D7E3374868}" type="slidenum">
              <a:rPr lang="en-US" smtClean="0"/>
              <a:t>‹#›</a:t>
            </a:fld>
            <a:endParaRPr lang="en-US"/>
          </a:p>
        </p:txBody>
      </p:sp>
    </p:spTree>
    <p:extLst>
      <p:ext uri="{BB962C8B-B14F-4D97-AF65-F5344CB8AC3E}">
        <p14:creationId xmlns:p14="http://schemas.microsoft.com/office/powerpoint/2010/main" val="1831545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373C58-D91A-94D2-7B34-AE3A9CCC419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944080-088E-923E-1CA5-9DDC7D6C90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F19EC6-2F9A-E973-D631-CB211AEAC7A2}"/>
              </a:ext>
            </a:extLst>
          </p:cNvPr>
          <p:cNvSpPr>
            <a:spLocks noGrp="1"/>
          </p:cNvSpPr>
          <p:nvPr>
            <p:ph type="dt" sz="half" idx="10"/>
          </p:nvPr>
        </p:nvSpPr>
        <p:spPr/>
        <p:txBody>
          <a:bodyPr/>
          <a:lstStyle/>
          <a:p>
            <a:fld id="{0F87B250-D81F-EA47-BBAE-0133A176F97F}" type="datetimeFigureOut">
              <a:rPr lang="en-US" smtClean="0"/>
              <a:t>9/15/26</a:t>
            </a:fld>
            <a:endParaRPr lang="en-US"/>
          </a:p>
        </p:txBody>
      </p:sp>
      <p:sp>
        <p:nvSpPr>
          <p:cNvPr id="5" name="Footer Placeholder 4">
            <a:extLst>
              <a:ext uri="{FF2B5EF4-FFF2-40B4-BE49-F238E27FC236}">
                <a16:creationId xmlns:a16="http://schemas.microsoft.com/office/drawing/2014/main" id="{9CCA9EE9-0E32-81AB-EA8D-B2F7247994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42CE24-5B90-4FA7-9A92-7BA3B858CF8A}"/>
              </a:ext>
            </a:extLst>
          </p:cNvPr>
          <p:cNvSpPr>
            <a:spLocks noGrp="1"/>
          </p:cNvSpPr>
          <p:nvPr>
            <p:ph type="sldNum" sz="quarter" idx="12"/>
          </p:nvPr>
        </p:nvSpPr>
        <p:spPr/>
        <p:txBody>
          <a:bodyPr/>
          <a:lstStyle/>
          <a:p>
            <a:fld id="{2D267B68-1E1F-C345-BBEA-19D7E3374868}" type="slidenum">
              <a:rPr lang="en-US" smtClean="0"/>
              <a:t>‹#›</a:t>
            </a:fld>
            <a:endParaRPr lang="en-US"/>
          </a:p>
        </p:txBody>
      </p:sp>
    </p:spTree>
    <p:extLst>
      <p:ext uri="{BB962C8B-B14F-4D97-AF65-F5344CB8AC3E}">
        <p14:creationId xmlns:p14="http://schemas.microsoft.com/office/powerpoint/2010/main" val="655809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EFAE40-27BA-9B13-91F8-D71D912357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362B34-142B-7393-C976-5690F2A86A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603501-FBAB-1E3C-EF61-EA2988F2E1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87B250-D81F-EA47-BBAE-0133A176F97F}" type="datetimeFigureOut">
              <a:rPr lang="en-US" smtClean="0"/>
              <a:t>9/15/26</a:t>
            </a:fld>
            <a:endParaRPr lang="en-US"/>
          </a:p>
        </p:txBody>
      </p:sp>
      <p:sp>
        <p:nvSpPr>
          <p:cNvPr id="5" name="Footer Placeholder 4">
            <a:extLst>
              <a:ext uri="{FF2B5EF4-FFF2-40B4-BE49-F238E27FC236}">
                <a16:creationId xmlns:a16="http://schemas.microsoft.com/office/drawing/2014/main" id="{C26241F0-3FA1-51BD-0D27-946F4ADDD8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806289E-28F0-136F-79FB-F6EFC3A97D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267B68-1E1F-C345-BBEA-19D7E3374868}" type="slidenum">
              <a:rPr lang="en-US" smtClean="0"/>
              <a:t>‹#›</a:t>
            </a:fld>
            <a:endParaRPr lang="en-US"/>
          </a:p>
        </p:txBody>
      </p:sp>
    </p:spTree>
    <p:extLst>
      <p:ext uri="{BB962C8B-B14F-4D97-AF65-F5344CB8AC3E}">
        <p14:creationId xmlns:p14="http://schemas.microsoft.com/office/powerpoint/2010/main" val="6560125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A07EA-57E6-CA4F-14AB-39ECC41FCF1B}"/>
              </a:ext>
            </a:extLst>
          </p:cNvPr>
          <p:cNvSpPr>
            <a:spLocks noGrp="1"/>
          </p:cNvSpPr>
          <p:nvPr>
            <p:ph type="ctrTitle"/>
          </p:nvPr>
        </p:nvSpPr>
        <p:spPr>
          <a:xfrm>
            <a:off x="1524000" y="1627331"/>
            <a:ext cx="9144000" cy="2387600"/>
          </a:xfrm>
        </p:spPr>
        <p:txBody>
          <a:bodyPr>
            <a:normAutofit fontScale="90000"/>
          </a:bodyPr>
          <a:lstStyle/>
          <a:p>
            <a:r>
              <a:rPr lang="en-US" sz="8800" dirty="0"/>
              <a:t>Correlation and Regression</a:t>
            </a:r>
          </a:p>
        </p:txBody>
      </p:sp>
      <p:sp>
        <p:nvSpPr>
          <p:cNvPr id="3" name="Subtitle 2">
            <a:extLst>
              <a:ext uri="{FF2B5EF4-FFF2-40B4-BE49-F238E27FC236}">
                <a16:creationId xmlns:a16="http://schemas.microsoft.com/office/drawing/2014/main" id="{4746C6FC-0790-B1D0-DC1A-3BD4AA95D8A3}"/>
              </a:ext>
            </a:extLst>
          </p:cNvPr>
          <p:cNvSpPr>
            <a:spLocks noGrp="1"/>
          </p:cNvSpPr>
          <p:nvPr>
            <p:ph type="subTitle" idx="1"/>
          </p:nvPr>
        </p:nvSpPr>
        <p:spPr>
          <a:xfrm>
            <a:off x="1524000" y="4107006"/>
            <a:ext cx="9144000" cy="1655762"/>
          </a:xfrm>
        </p:spPr>
        <p:txBody>
          <a:bodyPr/>
          <a:lstStyle/>
          <a:p>
            <a:r>
              <a:rPr lang="en-US" dirty="0"/>
              <a:t>GES 408/608</a:t>
            </a:r>
          </a:p>
        </p:txBody>
      </p:sp>
    </p:spTree>
    <p:extLst>
      <p:ext uri="{BB962C8B-B14F-4D97-AF65-F5344CB8AC3E}">
        <p14:creationId xmlns:p14="http://schemas.microsoft.com/office/powerpoint/2010/main" val="554117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F32F4-A7E5-2C6A-F350-87B8CAB205F8}"/>
              </a:ext>
            </a:extLst>
          </p:cNvPr>
          <p:cNvSpPr>
            <a:spLocks noGrp="1"/>
          </p:cNvSpPr>
          <p:nvPr>
            <p:ph type="title"/>
          </p:nvPr>
        </p:nvSpPr>
        <p:spPr/>
        <p:txBody>
          <a:bodyPr>
            <a:normAutofit/>
          </a:bodyPr>
          <a:lstStyle/>
          <a:p>
            <a:r>
              <a:rPr lang="en-US" sz="5400" dirty="0"/>
              <a:t>Correlation</a:t>
            </a:r>
          </a:p>
        </p:txBody>
      </p:sp>
      <p:sp>
        <p:nvSpPr>
          <p:cNvPr id="3" name="Content Placeholder 2">
            <a:extLst>
              <a:ext uri="{FF2B5EF4-FFF2-40B4-BE49-F238E27FC236}">
                <a16:creationId xmlns:a16="http://schemas.microsoft.com/office/drawing/2014/main" id="{A4ED414A-9F3A-90DE-A9C6-BAD87BC0AA1A}"/>
              </a:ext>
            </a:extLst>
          </p:cNvPr>
          <p:cNvSpPr>
            <a:spLocks noGrp="1"/>
          </p:cNvSpPr>
          <p:nvPr>
            <p:ph idx="1"/>
          </p:nvPr>
        </p:nvSpPr>
        <p:spPr/>
        <p:txBody>
          <a:bodyPr/>
          <a:lstStyle/>
          <a:p>
            <a:pPr marL="0" indent="0">
              <a:buNone/>
            </a:pPr>
            <a:r>
              <a:rPr lang="en-US" sz="3200" dirty="0"/>
              <a:t>When two numerical variables are associated, we say that they are </a:t>
            </a:r>
            <a:r>
              <a:rPr lang="en-US" sz="3200" b="1" dirty="0"/>
              <a:t>correlated</a:t>
            </a:r>
            <a:r>
              <a:rPr lang="en-US" sz="3200" dirty="0"/>
              <a:t>. </a:t>
            </a:r>
            <a:endParaRPr lang="en-US" sz="3200" dirty="0">
              <a:effectLst/>
            </a:endParaRPr>
          </a:p>
          <a:p>
            <a:pPr marL="0" indent="0">
              <a:buNone/>
            </a:pPr>
            <a:r>
              <a:rPr lang="en-US" sz="3200" dirty="0"/>
              <a:t>Correlation reflects the amount of “scatter” in a scatter plot of two variables. </a:t>
            </a:r>
            <a:endParaRPr lang="en-US" sz="3200" dirty="0">
              <a:effectLst/>
            </a:endParaRPr>
          </a:p>
          <a:p>
            <a:r>
              <a:rPr lang="en-US" sz="3200" dirty="0"/>
              <a:t>Does not fit a line to the data. </a:t>
            </a:r>
          </a:p>
          <a:p>
            <a:r>
              <a:rPr lang="en-US" sz="3200" dirty="0"/>
              <a:t>Does not measure how steeply one variable changes when the other is varied. </a:t>
            </a:r>
          </a:p>
          <a:p>
            <a:pPr lvl="1"/>
            <a:r>
              <a:rPr lang="en-US" sz="2800" dirty="0"/>
              <a:t>That is the job of linear regression!</a:t>
            </a:r>
            <a:endParaRPr lang="en-US" sz="2800" dirty="0">
              <a:effectLst/>
            </a:endParaRPr>
          </a:p>
          <a:p>
            <a:endParaRPr lang="en-US" dirty="0">
              <a:effectLst/>
            </a:endParaRPr>
          </a:p>
          <a:p>
            <a:endParaRPr lang="en-US" dirty="0"/>
          </a:p>
        </p:txBody>
      </p:sp>
    </p:spTree>
    <p:extLst>
      <p:ext uri="{BB962C8B-B14F-4D97-AF65-F5344CB8AC3E}">
        <p14:creationId xmlns:p14="http://schemas.microsoft.com/office/powerpoint/2010/main" val="999834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4B5BA-4849-1C36-3BCE-C24614FBE704}"/>
              </a:ext>
            </a:extLst>
          </p:cNvPr>
          <p:cNvSpPr>
            <a:spLocks noGrp="1"/>
          </p:cNvSpPr>
          <p:nvPr>
            <p:ph type="title"/>
          </p:nvPr>
        </p:nvSpPr>
        <p:spPr/>
        <p:txBody>
          <a:bodyPr>
            <a:normAutofit/>
          </a:bodyPr>
          <a:lstStyle/>
          <a:p>
            <a:r>
              <a:rPr lang="en-US" sz="5400" dirty="0"/>
              <a:t>Example:</a:t>
            </a:r>
          </a:p>
        </p:txBody>
      </p:sp>
      <p:pic>
        <p:nvPicPr>
          <p:cNvPr id="5" name="Content Placeholder 4">
            <a:extLst>
              <a:ext uri="{FF2B5EF4-FFF2-40B4-BE49-F238E27FC236}">
                <a16:creationId xmlns:a16="http://schemas.microsoft.com/office/drawing/2014/main" id="{5A745103-0A55-C180-0624-227D7F0B3C2F}"/>
              </a:ext>
            </a:extLst>
          </p:cNvPr>
          <p:cNvPicPr>
            <a:picLocks noGrp="1" noChangeAspect="1"/>
          </p:cNvPicPr>
          <p:nvPr>
            <p:ph idx="1"/>
          </p:nvPr>
        </p:nvPicPr>
        <p:blipFill>
          <a:blip r:embed="rId3"/>
          <a:stretch>
            <a:fillRect/>
          </a:stretch>
        </p:blipFill>
        <p:spPr>
          <a:xfrm>
            <a:off x="838200" y="1690688"/>
            <a:ext cx="6116299" cy="4589192"/>
          </a:xfrm>
          <a:prstGeom prst="rect">
            <a:avLst/>
          </a:prstGeom>
          <a:ln w="28575">
            <a:solidFill>
              <a:schemeClr val="accent6">
                <a:lumMod val="75000"/>
              </a:schemeClr>
            </a:solidFill>
          </a:ln>
        </p:spPr>
      </p:pic>
      <p:sp>
        <p:nvSpPr>
          <p:cNvPr id="6" name="TextBox 5">
            <a:extLst>
              <a:ext uri="{FF2B5EF4-FFF2-40B4-BE49-F238E27FC236}">
                <a16:creationId xmlns:a16="http://schemas.microsoft.com/office/drawing/2014/main" id="{A165879F-D7D6-20D7-3061-66E76D3D8484}"/>
              </a:ext>
            </a:extLst>
          </p:cNvPr>
          <p:cNvSpPr txBox="1"/>
          <p:nvPr/>
        </p:nvSpPr>
        <p:spPr>
          <a:xfrm>
            <a:off x="7750973" y="2954232"/>
            <a:ext cx="3602827" cy="2062103"/>
          </a:xfrm>
          <a:prstGeom prst="rect">
            <a:avLst/>
          </a:prstGeom>
          <a:noFill/>
        </p:spPr>
        <p:txBody>
          <a:bodyPr wrap="square" rtlCol="0">
            <a:spAutoFit/>
          </a:bodyPr>
          <a:lstStyle/>
          <a:p>
            <a:pPr algn="ctr"/>
            <a:r>
              <a:rPr lang="en-US" sz="3200" dirty="0"/>
              <a:t>Brain size and body size are positively correlated across mammal species. </a:t>
            </a:r>
          </a:p>
        </p:txBody>
      </p:sp>
      <p:pic>
        <p:nvPicPr>
          <p:cNvPr id="8" name="Picture 7">
            <a:extLst>
              <a:ext uri="{FF2B5EF4-FFF2-40B4-BE49-F238E27FC236}">
                <a16:creationId xmlns:a16="http://schemas.microsoft.com/office/drawing/2014/main" id="{F5DA8FD9-5466-D3AE-D3AC-AF132572F997}"/>
              </a:ext>
            </a:extLst>
          </p:cNvPr>
          <p:cNvPicPr>
            <a:picLocks noChangeAspect="1"/>
          </p:cNvPicPr>
          <p:nvPr/>
        </p:nvPicPr>
        <p:blipFill>
          <a:blip r:embed="rId4"/>
          <a:stretch>
            <a:fillRect/>
          </a:stretch>
        </p:blipFill>
        <p:spPr>
          <a:xfrm>
            <a:off x="8768303" y="776696"/>
            <a:ext cx="1568166" cy="1545764"/>
          </a:xfrm>
          <a:prstGeom prst="rect">
            <a:avLst/>
          </a:prstGeom>
        </p:spPr>
      </p:pic>
    </p:spTree>
    <p:extLst>
      <p:ext uri="{BB962C8B-B14F-4D97-AF65-F5344CB8AC3E}">
        <p14:creationId xmlns:p14="http://schemas.microsoft.com/office/powerpoint/2010/main" val="1738356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5FEB6-E442-9ED4-0F17-BEAD1E0D72E3}"/>
              </a:ext>
            </a:extLst>
          </p:cNvPr>
          <p:cNvSpPr>
            <a:spLocks noGrp="1"/>
          </p:cNvSpPr>
          <p:nvPr>
            <p:ph type="title"/>
          </p:nvPr>
        </p:nvSpPr>
        <p:spPr/>
        <p:txBody>
          <a:bodyPr>
            <a:normAutofit/>
          </a:bodyPr>
          <a:lstStyle/>
          <a:p>
            <a:r>
              <a:rPr lang="en-US" sz="5400" dirty="0"/>
              <a:t>Correlation Coefficient</a:t>
            </a:r>
          </a:p>
        </p:txBody>
      </p:sp>
      <p:sp>
        <p:nvSpPr>
          <p:cNvPr id="3" name="Content Placeholder 2">
            <a:extLst>
              <a:ext uri="{FF2B5EF4-FFF2-40B4-BE49-F238E27FC236}">
                <a16:creationId xmlns:a16="http://schemas.microsoft.com/office/drawing/2014/main" id="{0CB9717E-549B-BB3B-C458-82EB7FCE2578}"/>
              </a:ext>
            </a:extLst>
          </p:cNvPr>
          <p:cNvSpPr>
            <a:spLocks noGrp="1"/>
          </p:cNvSpPr>
          <p:nvPr>
            <p:ph idx="1"/>
          </p:nvPr>
        </p:nvSpPr>
        <p:spPr/>
        <p:txBody>
          <a:bodyPr>
            <a:normAutofit/>
          </a:bodyPr>
          <a:lstStyle/>
          <a:p>
            <a:pPr marL="0" indent="0">
              <a:buNone/>
            </a:pPr>
            <a:r>
              <a:rPr lang="en-US" sz="3600" dirty="0"/>
              <a:t>The correlation coefficient is a quantity that describes the strength and direction of an association between two numerical variables measured on a sample of subjects or units. </a:t>
            </a:r>
            <a:endParaRPr lang="en-US" sz="3600" i="1" dirty="0"/>
          </a:p>
          <a:p>
            <a:pPr marL="0" indent="0">
              <a:buNone/>
            </a:pPr>
            <a:endParaRPr lang="en-US" dirty="0">
              <a:effectLst/>
            </a:endParaRPr>
          </a:p>
          <a:p>
            <a:endParaRPr lang="en-US" dirty="0">
              <a:effectLst/>
            </a:endParaRPr>
          </a:p>
          <a:p>
            <a:endParaRPr lang="en-US" dirty="0"/>
          </a:p>
        </p:txBody>
      </p:sp>
      <p:pic>
        <p:nvPicPr>
          <p:cNvPr id="10" name="Picture 9">
            <a:extLst>
              <a:ext uri="{FF2B5EF4-FFF2-40B4-BE49-F238E27FC236}">
                <a16:creationId xmlns:a16="http://schemas.microsoft.com/office/drawing/2014/main" id="{E68DCF08-DD8E-E7CE-99AA-46AB34D4B950}"/>
              </a:ext>
            </a:extLst>
          </p:cNvPr>
          <p:cNvPicPr>
            <a:picLocks noChangeAspect="1"/>
          </p:cNvPicPr>
          <p:nvPr/>
        </p:nvPicPr>
        <p:blipFill>
          <a:blip r:embed="rId2"/>
          <a:stretch>
            <a:fillRect/>
          </a:stretch>
        </p:blipFill>
        <p:spPr>
          <a:xfrm>
            <a:off x="3492100" y="4291787"/>
            <a:ext cx="5207799" cy="1885176"/>
          </a:xfrm>
          <a:prstGeom prst="rect">
            <a:avLst/>
          </a:prstGeom>
          <a:ln w="28575">
            <a:solidFill>
              <a:schemeClr val="accent6">
                <a:lumMod val="75000"/>
              </a:schemeClr>
            </a:solidFill>
          </a:ln>
        </p:spPr>
      </p:pic>
    </p:spTree>
    <p:extLst>
      <p:ext uri="{BB962C8B-B14F-4D97-AF65-F5344CB8AC3E}">
        <p14:creationId xmlns:p14="http://schemas.microsoft.com/office/powerpoint/2010/main" val="1855188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87921-2933-8932-1910-CA3CFF05D436}"/>
              </a:ext>
            </a:extLst>
          </p:cNvPr>
          <p:cNvSpPr>
            <a:spLocks noGrp="1"/>
          </p:cNvSpPr>
          <p:nvPr>
            <p:ph type="title"/>
          </p:nvPr>
        </p:nvSpPr>
        <p:spPr/>
        <p:txBody>
          <a:bodyPr>
            <a:normAutofit/>
          </a:bodyPr>
          <a:lstStyle/>
          <a:p>
            <a:r>
              <a:rPr lang="en-US" sz="5400" dirty="0"/>
              <a:t>Correlation Coefficient</a:t>
            </a:r>
          </a:p>
        </p:txBody>
      </p:sp>
      <p:sp>
        <p:nvSpPr>
          <p:cNvPr id="3" name="Content Placeholder 2">
            <a:extLst>
              <a:ext uri="{FF2B5EF4-FFF2-40B4-BE49-F238E27FC236}">
                <a16:creationId xmlns:a16="http://schemas.microsoft.com/office/drawing/2014/main" id="{AC5629F2-0D0C-BD31-1345-7FC1E22A819A}"/>
              </a:ext>
            </a:extLst>
          </p:cNvPr>
          <p:cNvSpPr>
            <a:spLocks noGrp="1"/>
          </p:cNvSpPr>
          <p:nvPr>
            <p:ph idx="1"/>
          </p:nvPr>
        </p:nvSpPr>
        <p:spPr>
          <a:xfrm>
            <a:off x="838200" y="1476001"/>
            <a:ext cx="10515600" cy="4351338"/>
          </a:xfrm>
        </p:spPr>
        <p:txBody>
          <a:bodyPr>
            <a:normAutofit/>
          </a:bodyPr>
          <a:lstStyle/>
          <a:p>
            <a:pPr marL="0" indent="0">
              <a:buNone/>
            </a:pPr>
            <a:r>
              <a:rPr lang="en-US" dirty="0"/>
              <a:t>The term in the numerator of the formula is called the sum of products, and it measures how deviations in X and Y vary together. </a:t>
            </a:r>
          </a:p>
          <a:p>
            <a:r>
              <a:rPr lang="en-US" dirty="0"/>
              <a:t>A d</a:t>
            </a:r>
            <a:r>
              <a:rPr lang="en-US" dirty="0">
                <a:effectLst/>
              </a:rPr>
              <a:t>eviation is the difference between an observation and its mean</a:t>
            </a:r>
          </a:p>
          <a:p>
            <a:r>
              <a:rPr lang="en-US" dirty="0"/>
              <a:t>E.g., if an observation </a:t>
            </a:r>
            <a:r>
              <a:rPr lang="en-US" dirty="0" err="1"/>
              <a:t>i</a:t>
            </a:r>
            <a:r>
              <a:rPr lang="en-US" dirty="0"/>
              <a:t> is above the mean for both X and Y (upper right corner of the figure), then its deviations are both positive and so the product of its deviations is a positive number. </a:t>
            </a:r>
            <a:endParaRPr lang="en-US" dirty="0">
              <a:effectLst/>
            </a:endParaRPr>
          </a:p>
          <a:p>
            <a:pPr marL="0" indent="0">
              <a:buNone/>
            </a:pPr>
            <a:r>
              <a:rPr lang="en-US" dirty="0"/>
              <a:t>The sum of products adds all the products of deviations. </a:t>
            </a:r>
            <a:endParaRPr lang="en-US" dirty="0">
              <a:effectLst/>
            </a:endParaRPr>
          </a:p>
          <a:p>
            <a:endParaRPr lang="en-US" dirty="0"/>
          </a:p>
        </p:txBody>
      </p:sp>
      <p:pic>
        <p:nvPicPr>
          <p:cNvPr id="4" name="Picture 3">
            <a:extLst>
              <a:ext uri="{FF2B5EF4-FFF2-40B4-BE49-F238E27FC236}">
                <a16:creationId xmlns:a16="http://schemas.microsoft.com/office/drawing/2014/main" id="{71ADB79E-7F36-1030-1F55-0F276C5A3BB2}"/>
              </a:ext>
            </a:extLst>
          </p:cNvPr>
          <p:cNvPicPr>
            <a:picLocks noChangeAspect="1"/>
          </p:cNvPicPr>
          <p:nvPr/>
        </p:nvPicPr>
        <p:blipFill>
          <a:blip r:embed="rId2"/>
          <a:stretch>
            <a:fillRect/>
          </a:stretch>
        </p:blipFill>
        <p:spPr>
          <a:xfrm>
            <a:off x="3492100" y="4736006"/>
            <a:ext cx="5207799" cy="1885176"/>
          </a:xfrm>
          <a:prstGeom prst="rect">
            <a:avLst/>
          </a:prstGeom>
          <a:ln w="28575">
            <a:solidFill>
              <a:schemeClr val="accent6">
                <a:lumMod val="75000"/>
              </a:schemeClr>
            </a:solidFill>
          </a:ln>
        </p:spPr>
      </p:pic>
    </p:spTree>
    <p:extLst>
      <p:ext uri="{BB962C8B-B14F-4D97-AF65-F5344CB8AC3E}">
        <p14:creationId xmlns:p14="http://schemas.microsoft.com/office/powerpoint/2010/main" val="2570074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F116-3C61-AFF9-DBCE-98E664DF4667}"/>
              </a:ext>
            </a:extLst>
          </p:cNvPr>
          <p:cNvSpPr>
            <a:spLocks noGrp="1"/>
          </p:cNvSpPr>
          <p:nvPr>
            <p:ph type="title"/>
          </p:nvPr>
        </p:nvSpPr>
        <p:spPr/>
        <p:txBody>
          <a:bodyPr>
            <a:normAutofit/>
          </a:bodyPr>
          <a:lstStyle/>
          <a:p>
            <a:r>
              <a:rPr lang="en-US" sz="5400" dirty="0"/>
              <a:t>Correlation Coefficient</a:t>
            </a:r>
          </a:p>
        </p:txBody>
      </p:sp>
      <p:sp>
        <p:nvSpPr>
          <p:cNvPr id="3" name="Content Placeholder 2">
            <a:extLst>
              <a:ext uri="{FF2B5EF4-FFF2-40B4-BE49-F238E27FC236}">
                <a16:creationId xmlns:a16="http://schemas.microsoft.com/office/drawing/2014/main" id="{E1212EF7-A423-23BB-FED3-C2736E08CC42}"/>
              </a:ext>
            </a:extLst>
          </p:cNvPr>
          <p:cNvSpPr>
            <a:spLocks noGrp="1"/>
          </p:cNvSpPr>
          <p:nvPr>
            <p:ph idx="1"/>
          </p:nvPr>
        </p:nvSpPr>
        <p:spPr>
          <a:xfrm>
            <a:off x="838200" y="1825625"/>
            <a:ext cx="5616388" cy="4351338"/>
          </a:xfrm>
        </p:spPr>
        <p:txBody>
          <a:bodyPr/>
          <a:lstStyle/>
          <a:p>
            <a:pPr marL="0" indent="0">
              <a:buNone/>
            </a:pPr>
            <a:r>
              <a:rPr lang="en-US" sz="3200" dirty="0"/>
              <a:t>The denominator includes the sums of squares for X and for Y (under square- root signs). </a:t>
            </a:r>
          </a:p>
          <a:p>
            <a:pPr marL="0" indent="0">
              <a:buNone/>
            </a:pPr>
            <a:endParaRPr lang="en-US" sz="3200" dirty="0"/>
          </a:p>
          <a:p>
            <a:pPr marL="0" indent="0">
              <a:buNone/>
            </a:pPr>
            <a:r>
              <a:rPr lang="en-US" sz="3200" dirty="0"/>
              <a:t>The correlation coefficient has no units, which means it is readily interpretable whatever the variables (provided they are numerical). </a:t>
            </a:r>
            <a:endParaRPr lang="en-US" sz="3200" dirty="0">
              <a:effectLst/>
            </a:endParaRPr>
          </a:p>
          <a:p>
            <a:endParaRPr lang="en-US" dirty="0">
              <a:effectLst/>
            </a:endParaRPr>
          </a:p>
          <a:p>
            <a:endParaRPr lang="en-US" dirty="0">
              <a:effectLst/>
            </a:endParaRPr>
          </a:p>
          <a:p>
            <a:endParaRPr lang="en-US" dirty="0"/>
          </a:p>
        </p:txBody>
      </p:sp>
      <p:pic>
        <p:nvPicPr>
          <p:cNvPr id="7" name="Picture 6">
            <a:extLst>
              <a:ext uri="{FF2B5EF4-FFF2-40B4-BE49-F238E27FC236}">
                <a16:creationId xmlns:a16="http://schemas.microsoft.com/office/drawing/2014/main" id="{2070D985-16C4-1447-93C7-70358A8CDCC0}"/>
              </a:ext>
            </a:extLst>
          </p:cNvPr>
          <p:cNvPicPr>
            <a:picLocks noChangeAspect="1"/>
          </p:cNvPicPr>
          <p:nvPr/>
        </p:nvPicPr>
        <p:blipFill>
          <a:blip r:embed="rId3"/>
          <a:stretch>
            <a:fillRect/>
          </a:stretch>
        </p:blipFill>
        <p:spPr>
          <a:xfrm>
            <a:off x="6705948" y="2838277"/>
            <a:ext cx="5207799" cy="1885176"/>
          </a:xfrm>
          <a:prstGeom prst="rect">
            <a:avLst/>
          </a:prstGeom>
          <a:ln w="28575">
            <a:solidFill>
              <a:schemeClr val="accent6">
                <a:lumMod val="75000"/>
              </a:schemeClr>
            </a:solidFill>
          </a:ln>
        </p:spPr>
      </p:pic>
    </p:spTree>
    <p:extLst>
      <p:ext uri="{BB962C8B-B14F-4D97-AF65-F5344CB8AC3E}">
        <p14:creationId xmlns:p14="http://schemas.microsoft.com/office/powerpoint/2010/main" val="2521497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26D58AD-5800-8A07-1E87-7EF5B4DFED3F}"/>
              </a:ext>
            </a:extLst>
          </p:cNvPr>
          <p:cNvPicPr>
            <a:picLocks noGrp="1" noChangeAspect="1"/>
          </p:cNvPicPr>
          <p:nvPr>
            <p:ph idx="1"/>
          </p:nvPr>
        </p:nvPicPr>
        <p:blipFill>
          <a:blip r:embed="rId3"/>
          <a:stretch>
            <a:fillRect/>
          </a:stretch>
        </p:blipFill>
        <p:spPr>
          <a:xfrm>
            <a:off x="2501900" y="580558"/>
            <a:ext cx="7188200" cy="2032000"/>
          </a:xfrm>
          <a:prstGeom prst="rect">
            <a:avLst/>
          </a:prstGeom>
          <a:ln w="28575">
            <a:solidFill>
              <a:schemeClr val="accent6">
                <a:lumMod val="75000"/>
              </a:schemeClr>
            </a:solidFill>
          </a:ln>
        </p:spPr>
      </p:pic>
      <p:pic>
        <p:nvPicPr>
          <p:cNvPr id="7" name="Picture 6">
            <a:extLst>
              <a:ext uri="{FF2B5EF4-FFF2-40B4-BE49-F238E27FC236}">
                <a16:creationId xmlns:a16="http://schemas.microsoft.com/office/drawing/2014/main" id="{BCF33F9E-47AD-D81B-2CDD-FBB1BE90A043}"/>
              </a:ext>
            </a:extLst>
          </p:cNvPr>
          <p:cNvPicPr>
            <a:picLocks noChangeAspect="1"/>
          </p:cNvPicPr>
          <p:nvPr/>
        </p:nvPicPr>
        <p:blipFill>
          <a:blip r:embed="rId4"/>
          <a:stretch>
            <a:fillRect/>
          </a:stretch>
        </p:blipFill>
        <p:spPr>
          <a:xfrm>
            <a:off x="2432050" y="3101975"/>
            <a:ext cx="7327900" cy="3390900"/>
          </a:xfrm>
          <a:prstGeom prst="rect">
            <a:avLst/>
          </a:prstGeom>
          <a:ln w="28575">
            <a:solidFill>
              <a:schemeClr val="accent6">
                <a:lumMod val="75000"/>
              </a:schemeClr>
            </a:solidFill>
          </a:ln>
        </p:spPr>
      </p:pic>
    </p:spTree>
    <p:extLst>
      <p:ext uri="{BB962C8B-B14F-4D97-AF65-F5344CB8AC3E}">
        <p14:creationId xmlns:p14="http://schemas.microsoft.com/office/powerpoint/2010/main" val="2672056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D5F86-2BD0-CDAC-595D-F0048620BA7D}"/>
              </a:ext>
            </a:extLst>
          </p:cNvPr>
          <p:cNvSpPr>
            <a:spLocks noGrp="1"/>
          </p:cNvSpPr>
          <p:nvPr>
            <p:ph type="title"/>
          </p:nvPr>
        </p:nvSpPr>
        <p:spPr/>
        <p:txBody>
          <a:bodyPr/>
          <a:lstStyle/>
          <a:p>
            <a:r>
              <a:rPr lang="en-US" dirty="0"/>
              <a:t>Standard Error of the Correlation Coefficient </a:t>
            </a:r>
          </a:p>
        </p:txBody>
      </p:sp>
      <p:sp>
        <p:nvSpPr>
          <p:cNvPr id="3" name="Content Placeholder 2">
            <a:extLst>
              <a:ext uri="{FF2B5EF4-FFF2-40B4-BE49-F238E27FC236}">
                <a16:creationId xmlns:a16="http://schemas.microsoft.com/office/drawing/2014/main" id="{28F23A87-9FEE-839A-1E14-F7E7350C9DF2}"/>
              </a:ext>
            </a:extLst>
          </p:cNvPr>
          <p:cNvSpPr>
            <a:spLocks noGrp="1"/>
          </p:cNvSpPr>
          <p:nvPr>
            <p:ph idx="1"/>
          </p:nvPr>
        </p:nvSpPr>
        <p:spPr/>
        <p:txBody>
          <a:bodyPr/>
          <a:lstStyle/>
          <a:p>
            <a:pPr marL="0" indent="0">
              <a:buNone/>
            </a:pPr>
            <a:r>
              <a:rPr lang="en-US" sz="3200" dirty="0"/>
              <a:t>The data are merely a sample taken to estimate the correlation between the same two variables in a population. </a:t>
            </a:r>
          </a:p>
          <a:p>
            <a:r>
              <a:rPr lang="en-US" sz="3200" dirty="0"/>
              <a:t>The standard error of r —that is, the standard deviation of its sampling distribution—is one way to assess how close our estimate is likely to be to the population parameter </a:t>
            </a:r>
            <a:r>
              <a:rPr lang="en-US" sz="3200" dirty="0" err="1"/>
              <a:t>ρ</a:t>
            </a:r>
            <a:r>
              <a:rPr lang="en-US" sz="3200" dirty="0"/>
              <a:t>. </a:t>
            </a:r>
            <a:endParaRPr lang="en-US" sz="3200" dirty="0">
              <a:effectLst/>
            </a:endParaRPr>
          </a:p>
          <a:p>
            <a:endParaRPr lang="en-US" dirty="0"/>
          </a:p>
        </p:txBody>
      </p:sp>
      <p:pic>
        <p:nvPicPr>
          <p:cNvPr id="5" name="Picture 4">
            <a:extLst>
              <a:ext uri="{FF2B5EF4-FFF2-40B4-BE49-F238E27FC236}">
                <a16:creationId xmlns:a16="http://schemas.microsoft.com/office/drawing/2014/main" id="{3CC8ED83-8AA8-537F-B134-F4545550AA29}"/>
              </a:ext>
            </a:extLst>
          </p:cNvPr>
          <p:cNvPicPr>
            <a:picLocks noChangeAspect="1"/>
          </p:cNvPicPr>
          <p:nvPr/>
        </p:nvPicPr>
        <p:blipFill>
          <a:blip r:embed="rId3"/>
          <a:stretch>
            <a:fillRect/>
          </a:stretch>
        </p:blipFill>
        <p:spPr>
          <a:xfrm>
            <a:off x="4781221" y="5171649"/>
            <a:ext cx="2629558" cy="1140251"/>
          </a:xfrm>
          <a:prstGeom prst="rect">
            <a:avLst/>
          </a:prstGeom>
          <a:ln w="28575">
            <a:solidFill>
              <a:schemeClr val="accent6">
                <a:lumMod val="75000"/>
              </a:schemeClr>
            </a:solidFill>
          </a:ln>
        </p:spPr>
      </p:pic>
    </p:spTree>
    <p:extLst>
      <p:ext uri="{BB962C8B-B14F-4D97-AF65-F5344CB8AC3E}">
        <p14:creationId xmlns:p14="http://schemas.microsoft.com/office/powerpoint/2010/main" val="350177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3D313-F00C-FA4D-D7A0-947108EB4FA5}"/>
              </a:ext>
            </a:extLst>
          </p:cNvPr>
          <p:cNvSpPr>
            <a:spLocks noGrp="1"/>
          </p:cNvSpPr>
          <p:nvPr>
            <p:ph type="title"/>
          </p:nvPr>
        </p:nvSpPr>
        <p:spPr/>
        <p:txBody>
          <a:bodyPr>
            <a:normAutofit/>
          </a:bodyPr>
          <a:lstStyle/>
          <a:p>
            <a:r>
              <a:rPr lang="en-US" sz="4800" dirty="0"/>
              <a:t>Correlation and Hypothesis Testing</a:t>
            </a:r>
          </a:p>
        </p:txBody>
      </p:sp>
      <p:sp>
        <p:nvSpPr>
          <p:cNvPr id="3" name="Content Placeholder 2">
            <a:extLst>
              <a:ext uri="{FF2B5EF4-FFF2-40B4-BE49-F238E27FC236}">
                <a16:creationId xmlns:a16="http://schemas.microsoft.com/office/drawing/2014/main" id="{F5F539F4-6202-E65E-F70C-E584245A9F4D}"/>
              </a:ext>
            </a:extLst>
          </p:cNvPr>
          <p:cNvSpPr>
            <a:spLocks noGrp="1"/>
          </p:cNvSpPr>
          <p:nvPr>
            <p:ph idx="1"/>
          </p:nvPr>
        </p:nvSpPr>
        <p:spPr>
          <a:xfrm>
            <a:off x="838200" y="1825625"/>
            <a:ext cx="8857129" cy="4817222"/>
          </a:xfrm>
        </p:spPr>
        <p:txBody>
          <a:bodyPr>
            <a:normAutofit/>
          </a:bodyPr>
          <a:lstStyle/>
          <a:p>
            <a:pPr marL="0" indent="0">
              <a:buNone/>
            </a:pPr>
            <a:r>
              <a:rPr lang="en-US" dirty="0"/>
              <a:t>The most common use of hypothesis testing in correlation analysis is to test the null hypothesis that the population correlation </a:t>
            </a:r>
            <a:r>
              <a:rPr lang="en-US" dirty="0" err="1"/>
              <a:t>ρ</a:t>
            </a:r>
            <a:r>
              <a:rPr lang="en-US" dirty="0"/>
              <a:t> is exactly zero </a:t>
            </a:r>
          </a:p>
          <a:p>
            <a:r>
              <a:rPr lang="en-US" dirty="0">
                <a:effectLst/>
              </a:rPr>
              <a:t>Calcula</a:t>
            </a:r>
            <a:r>
              <a:rPr lang="en-US" dirty="0"/>
              <a:t>te the correlation coefficient and the standard error, and get the test statistic</a:t>
            </a:r>
          </a:p>
          <a:p>
            <a:r>
              <a:rPr lang="en-US" dirty="0"/>
              <a:t>The sampling distribution of the test statistic is a Student’s t-distribution with n-2 degrees of freedom </a:t>
            </a:r>
          </a:p>
          <a:p>
            <a:r>
              <a:rPr lang="en-US" dirty="0">
                <a:effectLst/>
              </a:rPr>
              <a:t>Is your </a:t>
            </a:r>
            <a:r>
              <a:rPr lang="en-US" dirty="0"/>
              <a:t>calculated test statistic greater or less than the critical value? Greater than; p is less than listed value, reject null, less than; p is more than listed value, cannot reject null</a:t>
            </a:r>
            <a:endParaRPr lang="en-US" dirty="0">
              <a:effectLst/>
            </a:endParaRPr>
          </a:p>
        </p:txBody>
      </p:sp>
      <p:pic>
        <p:nvPicPr>
          <p:cNvPr id="6" name="Picture 5">
            <a:extLst>
              <a:ext uri="{FF2B5EF4-FFF2-40B4-BE49-F238E27FC236}">
                <a16:creationId xmlns:a16="http://schemas.microsoft.com/office/drawing/2014/main" id="{450BF655-BDA4-1A3B-0018-F8EE1822CB64}"/>
              </a:ext>
            </a:extLst>
          </p:cNvPr>
          <p:cNvPicPr>
            <a:picLocks noChangeAspect="1"/>
          </p:cNvPicPr>
          <p:nvPr/>
        </p:nvPicPr>
        <p:blipFill>
          <a:blip r:embed="rId3"/>
          <a:stretch>
            <a:fillRect/>
          </a:stretch>
        </p:blipFill>
        <p:spPr>
          <a:xfrm>
            <a:off x="10175740" y="1351757"/>
            <a:ext cx="1678609" cy="812800"/>
          </a:xfrm>
          <a:prstGeom prst="rect">
            <a:avLst/>
          </a:prstGeom>
          <a:ln w="28575">
            <a:solidFill>
              <a:schemeClr val="accent6">
                <a:lumMod val="75000"/>
              </a:schemeClr>
            </a:solidFill>
          </a:ln>
        </p:spPr>
      </p:pic>
      <p:pic>
        <p:nvPicPr>
          <p:cNvPr id="8" name="Picture 7">
            <a:extLst>
              <a:ext uri="{FF2B5EF4-FFF2-40B4-BE49-F238E27FC236}">
                <a16:creationId xmlns:a16="http://schemas.microsoft.com/office/drawing/2014/main" id="{8160823F-DAA5-FF18-ED0F-CB20B6FF93F6}"/>
              </a:ext>
            </a:extLst>
          </p:cNvPr>
          <p:cNvPicPr>
            <a:picLocks noChangeAspect="1"/>
          </p:cNvPicPr>
          <p:nvPr/>
        </p:nvPicPr>
        <p:blipFill>
          <a:blip r:embed="rId4"/>
          <a:stretch>
            <a:fillRect/>
          </a:stretch>
        </p:blipFill>
        <p:spPr>
          <a:xfrm>
            <a:off x="10357650" y="2677320"/>
            <a:ext cx="1314788" cy="904800"/>
          </a:xfrm>
          <a:prstGeom prst="rect">
            <a:avLst/>
          </a:prstGeom>
          <a:ln w="28575">
            <a:solidFill>
              <a:schemeClr val="accent6">
                <a:lumMod val="75000"/>
              </a:schemeClr>
            </a:solidFill>
          </a:ln>
        </p:spPr>
      </p:pic>
      <p:pic>
        <p:nvPicPr>
          <p:cNvPr id="9" name="Picture 8">
            <a:extLst>
              <a:ext uri="{FF2B5EF4-FFF2-40B4-BE49-F238E27FC236}">
                <a16:creationId xmlns:a16="http://schemas.microsoft.com/office/drawing/2014/main" id="{F20CFA2B-C1D5-5A78-A5AA-34A3B91A19B2}"/>
              </a:ext>
            </a:extLst>
          </p:cNvPr>
          <p:cNvPicPr>
            <a:picLocks noChangeAspect="1"/>
          </p:cNvPicPr>
          <p:nvPr/>
        </p:nvPicPr>
        <p:blipFill>
          <a:blip r:embed="rId5"/>
          <a:stretch>
            <a:fillRect/>
          </a:stretch>
        </p:blipFill>
        <p:spPr>
          <a:xfrm>
            <a:off x="10175741" y="4069439"/>
            <a:ext cx="1678608" cy="1248009"/>
          </a:xfrm>
          <a:prstGeom prst="rect">
            <a:avLst/>
          </a:prstGeom>
          <a:ln w="28575">
            <a:solidFill>
              <a:schemeClr val="accent6">
                <a:lumMod val="75000"/>
              </a:schemeClr>
            </a:solidFill>
          </a:ln>
        </p:spPr>
      </p:pic>
    </p:spTree>
    <p:extLst>
      <p:ext uri="{BB962C8B-B14F-4D97-AF65-F5344CB8AC3E}">
        <p14:creationId xmlns:p14="http://schemas.microsoft.com/office/powerpoint/2010/main" val="1158687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BD360-C2F0-0D1F-98D4-E8D5DE6F995E}"/>
              </a:ext>
            </a:extLst>
          </p:cNvPr>
          <p:cNvSpPr>
            <a:spLocks noGrp="1"/>
          </p:cNvSpPr>
          <p:nvPr>
            <p:ph type="title"/>
          </p:nvPr>
        </p:nvSpPr>
        <p:spPr/>
        <p:txBody>
          <a:bodyPr>
            <a:normAutofit/>
          </a:bodyPr>
          <a:lstStyle/>
          <a:p>
            <a:r>
              <a:rPr lang="en-US" sz="5400" dirty="0"/>
              <a:t>Correlation - Assumptions</a:t>
            </a:r>
          </a:p>
        </p:txBody>
      </p:sp>
      <p:pic>
        <p:nvPicPr>
          <p:cNvPr id="5" name="Content Placeholder 4">
            <a:extLst>
              <a:ext uri="{FF2B5EF4-FFF2-40B4-BE49-F238E27FC236}">
                <a16:creationId xmlns:a16="http://schemas.microsoft.com/office/drawing/2014/main" id="{3D5184F6-C061-EB1D-6C3F-25AC490663ED}"/>
              </a:ext>
            </a:extLst>
          </p:cNvPr>
          <p:cNvPicPr>
            <a:picLocks noGrp="1" noChangeAspect="1"/>
          </p:cNvPicPr>
          <p:nvPr>
            <p:ph idx="1"/>
          </p:nvPr>
        </p:nvPicPr>
        <p:blipFill>
          <a:blip r:embed="rId3"/>
          <a:stretch>
            <a:fillRect/>
          </a:stretch>
        </p:blipFill>
        <p:spPr>
          <a:xfrm>
            <a:off x="1314450" y="1857609"/>
            <a:ext cx="9563100" cy="4152900"/>
          </a:xfrm>
          <a:prstGeom prst="rect">
            <a:avLst/>
          </a:prstGeom>
          <a:ln w="28575">
            <a:solidFill>
              <a:schemeClr val="accent6">
                <a:lumMod val="75000"/>
              </a:schemeClr>
            </a:solidFill>
          </a:ln>
        </p:spPr>
      </p:pic>
    </p:spTree>
    <p:extLst>
      <p:ext uri="{BB962C8B-B14F-4D97-AF65-F5344CB8AC3E}">
        <p14:creationId xmlns:p14="http://schemas.microsoft.com/office/powerpoint/2010/main" val="766562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ADDAE-57CF-8E28-081B-8BED84FD7E6B}"/>
              </a:ext>
            </a:extLst>
          </p:cNvPr>
          <p:cNvSpPr>
            <a:spLocks noGrp="1"/>
          </p:cNvSpPr>
          <p:nvPr>
            <p:ph type="title"/>
          </p:nvPr>
        </p:nvSpPr>
        <p:spPr/>
        <p:txBody>
          <a:bodyPr>
            <a:normAutofit/>
          </a:bodyPr>
          <a:lstStyle/>
          <a:p>
            <a:r>
              <a:rPr lang="en-US" sz="5400" dirty="0"/>
              <a:t>Departures from Bivariate Normality</a:t>
            </a:r>
          </a:p>
        </p:txBody>
      </p:sp>
      <p:pic>
        <p:nvPicPr>
          <p:cNvPr id="5" name="Content Placeholder 4">
            <a:extLst>
              <a:ext uri="{FF2B5EF4-FFF2-40B4-BE49-F238E27FC236}">
                <a16:creationId xmlns:a16="http://schemas.microsoft.com/office/drawing/2014/main" id="{7DD134A6-4AF5-EA00-7BF2-65EC84153B1A}"/>
              </a:ext>
            </a:extLst>
          </p:cNvPr>
          <p:cNvPicPr>
            <a:picLocks noGrp="1" noChangeAspect="1"/>
          </p:cNvPicPr>
          <p:nvPr>
            <p:ph idx="1"/>
          </p:nvPr>
        </p:nvPicPr>
        <p:blipFill>
          <a:blip r:embed="rId3"/>
          <a:stretch>
            <a:fillRect/>
          </a:stretch>
        </p:blipFill>
        <p:spPr>
          <a:xfrm>
            <a:off x="1333500" y="2172494"/>
            <a:ext cx="9525000" cy="3657600"/>
          </a:xfrm>
          <a:prstGeom prst="rect">
            <a:avLst/>
          </a:prstGeom>
          <a:ln w="28575">
            <a:solidFill>
              <a:schemeClr val="accent6">
                <a:lumMod val="75000"/>
              </a:schemeClr>
            </a:solidFill>
          </a:ln>
        </p:spPr>
      </p:pic>
      <p:pic>
        <p:nvPicPr>
          <p:cNvPr id="7" name="Picture 6">
            <a:extLst>
              <a:ext uri="{FF2B5EF4-FFF2-40B4-BE49-F238E27FC236}">
                <a16:creationId xmlns:a16="http://schemas.microsoft.com/office/drawing/2014/main" id="{3585783F-CE86-651B-5F63-F66C9ED15F52}"/>
              </a:ext>
            </a:extLst>
          </p:cNvPr>
          <p:cNvPicPr>
            <a:picLocks noChangeAspect="1"/>
          </p:cNvPicPr>
          <p:nvPr/>
        </p:nvPicPr>
        <p:blipFill>
          <a:blip r:embed="rId4">
            <a:alphaModFix amt="50000"/>
          </a:blip>
          <a:stretch>
            <a:fillRect/>
          </a:stretch>
        </p:blipFill>
        <p:spPr>
          <a:xfrm rot="5400000">
            <a:off x="1353590" y="2359015"/>
            <a:ext cx="3391281" cy="3018240"/>
          </a:xfrm>
          <a:prstGeom prst="rect">
            <a:avLst/>
          </a:prstGeom>
        </p:spPr>
      </p:pic>
    </p:spTree>
    <p:extLst>
      <p:ext uri="{BB962C8B-B14F-4D97-AF65-F5344CB8AC3E}">
        <p14:creationId xmlns:p14="http://schemas.microsoft.com/office/powerpoint/2010/main" val="1007982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47BB8-F0C6-02B3-C58F-D1C9FBBEAFBC}"/>
              </a:ext>
            </a:extLst>
          </p:cNvPr>
          <p:cNvSpPr>
            <a:spLocks noGrp="1"/>
          </p:cNvSpPr>
          <p:nvPr>
            <p:ph type="title"/>
          </p:nvPr>
        </p:nvSpPr>
        <p:spPr/>
        <p:txBody>
          <a:bodyPr>
            <a:normAutofit/>
          </a:bodyPr>
          <a:lstStyle/>
          <a:p>
            <a:r>
              <a:rPr lang="en-US" sz="5400" dirty="0"/>
              <a:t>Correlation - Range</a:t>
            </a:r>
          </a:p>
        </p:txBody>
      </p:sp>
      <p:sp>
        <p:nvSpPr>
          <p:cNvPr id="3" name="Content Placeholder 2">
            <a:extLst>
              <a:ext uri="{FF2B5EF4-FFF2-40B4-BE49-F238E27FC236}">
                <a16:creationId xmlns:a16="http://schemas.microsoft.com/office/drawing/2014/main" id="{6E1AEC62-32DE-98B2-68DE-6BC5DDB8C915}"/>
              </a:ext>
            </a:extLst>
          </p:cNvPr>
          <p:cNvSpPr>
            <a:spLocks noGrp="1"/>
          </p:cNvSpPr>
          <p:nvPr>
            <p:ph idx="1"/>
          </p:nvPr>
        </p:nvSpPr>
        <p:spPr>
          <a:xfrm>
            <a:off x="838200" y="1825625"/>
            <a:ext cx="4997824" cy="4351338"/>
          </a:xfrm>
        </p:spPr>
        <p:txBody>
          <a:bodyPr>
            <a:normAutofit fontScale="92500" lnSpcReduction="10000"/>
          </a:bodyPr>
          <a:lstStyle/>
          <a:p>
            <a:r>
              <a:rPr lang="en-US" sz="3200" dirty="0"/>
              <a:t>The correlation between two variables X and Y depends on the range of values included. </a:t>
            </a:r>
            <a:endParaRPr lang="en-US" sz="3200" dirty="0">
              <a:effectLst/>
            </a:endParaRPr>
          </a:p>
          <a:p>
            <a:r>
              <a:rPr lang="en-US" sz="3200" dirty="0"/>
              <a:t>The correlation coefficient between the same two variables is not comparable between separate studies unless they include a comparable range of values. </a:t>
            </a:r>
            <a:endParaRPr lang="en-US" sz="3200" dirty="0">
              <a:effectLst/>
            </a:endParaRPr>
          </a:p>
          <a:p>
            <a:endParaRPr lang="en-US" dirty="0"/>
          </a:p>
        </p:txBody>
      </p:sp>
      <p:pic>
        <p:nvPicPr>
          <p:cNvPr id="7" name="Picture 6">
            <a:extLst>
              <a:ext uri="{FF2B5EF4-FFF2-40B4-BE49-F238E27FC236}">
                <a16:creationId xmlns:a16="http://schemas.microsoft.com/office/drawing/2014/main" id="{0EA1CB08-9831-E509-CB51-8BC5A75BB0C4}"/>
              </a:ext>
            </a:extLst>
          </p:cNvPr>
          <p:cNvPicPr>
            <a:picLocks noChangeAspect="1"/>
          </p:cNvPicPr>
          <p:nvPr/>
        </p:nvPicPr>
        <p:blipFill>
          <a:blip r:embed="rId3"/>
          <a:srcRect b="4580"/>
          <a:stretch>
            <a:fillRect/>
          </a:stretch>
        </p:blipFill>
        <p:spPr>
          <a:xfrm>
            <a:off x="7186848" y="527856"/>
            <a:ext cx="4392248" cy="2901144"/>
          </a:xfrm>
          <a:prstGeom prst="rect">
            <a:avLst/>
          </a:prstGeom>
          <a:ln w="28575">
            <a:solidFill>
              <a:schemeClr val="accent6">
                <a:lumMod val="75000"/>
              </a:schemeClr>
            </a:solidFill>
          </a:ln>
        </p:spPr>
      </p:pic>
      <p:pic>
        <p:nvPicPr>
          <p:cNvPr id="9" name="Picture 8">
            <a:extLst>
              <a:ext uri="{FF2B5EF4-FFF2-40B4-BE49-F238E27FC236}">
                <a16:creationId xmlns:a16="http://schemas.microsoft.com/office/drawing/2014/main" id="{C10023BB-79A7-F941-0885-D6D212BDFDE5}"/>
              </a:ext>
            </a:extLst>
          </p:cNvPr>
          <p:cNvPicPr>
            <a:picLocks noChangeAspect="1"/>
          </p:cNvPicPr>
          <p:nvPr/>
        </p:nvPicPr>
        <p:blipFill>
          <a:blip r:embed="rId4"/>
          <a:stretch>
            <a:fillRect/>
          </a:stretch>
        </p:blipFill>
        <p:spPr>
          <a:xfrm>
            <a:off x="6968393" y="3635136"/>
            <a:ext cx="4829158" cy="2901144"/>
          </a:xfrm>
          <a:prstGeom prst="rect">
            <a:avLst/>
          </a:prstGeom>
          <a:ln w="28575">
            <a:solidFill>
              <a:schemeClr val="accent6">
                <a:lumMod val="75000"/>
              </a:schemeClr>
            </a:solidFill>
          </a:ln>
        </p:spPr>
      </p:pic>
    </p:spTree>
    <p:extLst>
      <p:ext uri="{BB962C8B-B14F-4D97-AF65-F5344CB8AC3E}">
        <p14:creationId xmlns:p14="http://schemas.microsoft.com/office/powerpoint/2010/main" val="245075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D232D-FF29-B0FD-47D1-8FF482142F95}"/>
              </a:ext>
            </a:extLst>
          </p:cNvPr>
          <p:cNvSpPr>
            <a:spLocks noGrp="1"/>
          </p:cNvSpPr>
          <p:nvPr>
            <p:ph type="title"/>
          </p:nvPr>
        </p:nvSpPr>
        <p:spPr/>
        <p:txBody>
          <a:bodyPr>
            <a:normAutofit/>
          </a:bodyPr>
          <a:lstStyle/>
          <a:p>
            <a:r>
              <a:rPr lang="en-US" sz="5400" dirty="0"/>
              <a:t>Regression</a:t>
            </a:r>
          </a:p>
        </p:txBody>
      </p:sp>
      <p:sp>
        <p:nvSpPr>
          <p:cNvPr id="3" name="Content Placeholder 2">
            <a:extLst>
              <a:ext uri="{FF2B5EF4-FFF2-40B4-BE49-F238E27FC236}">
                <a16:creationId xmlns:a16="http://schemas.microsoft.com/office/drawing/2014/main" id="{8FB82F03-B717-9EFB-9D83-FC426598B160}"/>
              </a:ext>
            </a:extLst>
          </p:cNvPr>
          <p:cNvSpPr>
            <a:spLocks noGrp="1"/>
          </p:cNvSpPr>
          <p:nvPr>
            <p:ph idx="1"/>
          </p:nvPr>
        </p:nvSpPr>
        <p:spPr>
          <a:xfrm>
            <a:off x="838200" y="1825625"/>
            <a:ext cx="4554071" cy="4351338"/>
          </a:xfrm>
        </p:spPr>
        <p:txBody>
          <a:bodyPr/>
          <a:lstStyle/>
          <a:p>
            <a:pPr marL="0" indent="0">
              <a:buNone/>
            </a:pPr>
            <a:r>
              <a:rPr lang="en-US" sz="3600" dirty="0"/>
              <a:t>The method used to predict values of one numerical variable from values of another. </a:t>
            </a:r>
          </a:p>
          <a:p>
            <a:r>
              <a:rPr lang="en-US" sz="3600" dirty="0"/>
              <a:t>The line fitted to the data is the regression line. </a:t>
            </a:r>
            <a:endParaRPr lang="en-US" sz="3600" dirty="0">
              <a:effectLst/>
            </a:endParaRPr>
          </a:p>
          <a:p>
            <a:endParaRPr lang="en-US" dirty="0">
              <a:effectLst/>
            </a:endParaRPr>
          </a:p>
          <a:p>
            <a:endParaRPr lang="en-US" dirty="0"/>
          </a:p>
        </p:txBody>
      </p:sp>
      <p:pic>
        <p:nvPicPr>
          <p:cNvPr id="5" name="Picture 4">
            <a:extLst>
              <a:ext uri="{FF2B5EF4-FFF2-40B4-BE49-F238E27FC236}">
                <a16:creationId xmlns:a16="http://schemas.microsoft.com/office/drawing/2014/main" id="{AFFBEAE5-DFE4-410B-3711-C4BF4AD2A602}"/>
              </a:ext>
            </a:extLst>
          </p:cNvPr>
          <p:cNvPicPr>
            <a:picLocks noChangeAspect="1"/>
          </p:cNvPicPr>
          <p:nvPr/>
        </p:nvPicPr>
        <p:blipFill>
          <a:blip r:embed="rId3"/>
          <a:stretch>
            <a:fillRect/>
          </a:stretch>
        </p:blipFill>
        <p:spPr>
          <a:xfrm>
            <a:off x="6096000" y="1690688"/>
            <a:ext cx="5561258" cy="4351337"/>
          </a:xfrm>
          <a:prstGeom prst="rect">
            <a:avLst/>
          </a:prstGeom>
          <a:ln w="28575">
            <a:solidFill>
              <a:schemeClr val="accent6">
                <a:lumMod val="75000"/>
              </a:schemeClr>
            </a:solidFill>
          </a:ln>
        </p:spPr>
      </p:pic>
    </p:spTree>
    <p:extLst>
      <p:ext uri="{BB962C8B-B14F-4D97-AF65-F5344CB8AC3E}">
        <p14:creationId xmlns:p14="http://schemas.microsoft.com/office/powerpoint/2010/main" val="2541059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FED-D862-A0AD-7B58-57F9B22A83EA}"/>
              </a:ext>
            </a:extLst>
          </p:cNvPr>
          <p:cNvSpPr>
            <a:spLocks noGrp="1"/>
          </p:cNvSpPr>
          <p:nvPr>
            <p:ph type="title"/>
          </p:nvPr>
        </p:nvSpPr>
        <p:spPr/>
        <p:txBody>
          <a:bodyPr>
            <a:normAutofit/>
          </a:bodyPr>
          <a:lstStyle/>
          <a:p>
            <a:r>
              <a:rPr lang="en-US" sz="5400" dirty="0"/>
              <a:t>Regression</a:t>
            </a:r>
          </a:p>
        </p:txBody>
      </p:sp>
      <p:sp>
        <p:nvSpPr>
          <p:cNvPr id="3" name="Content Placeholder 2">
            <a:extLst>
              <a:ext uri="{FF2B5EF4-FFF2-40B4-BE49-F238E27FC236}">
                <a16:creationId xmlns:a16="http://schemas.microsoft.com/office/drawing/2014/main" id="{1355ACC5-1C7F-E06F-1D01-8E62E972187A}"/>
              </a:ext>
            </a:extLst>
          </p:cNvPr>
          <p:cNvSpPr>
            <a:spLocks noGrp="1"/>
          </p:cNvSpPr>
          <p:nvPr>
            <p:ph idx="1"/>
          </p:nvPr>
        </p:nvSpPr>
        <p:spPr>
          <a:xfrm>
            <a:off x="838200" y="1825625"/>
            <a:ext cx="5257800" cy="4351338"/>
          </a:xfrm>
        </p:spPr>
        <p:txBody>
          <a:bodyPr>
            <a:normAutofit fontScale="92500"/>
          </a:bodyPr>
          <a:lstStyle/>
          <a:p>
            <a:pPr marL="0" indent="0">
              <a:buNone/>
            </a:pPr>
            <a:r>
              <a:rPr lang="en-US" sz="3200" dirty="0"/>
              <a:t>Line can be used to </a:t>
            </a:r>
            <a:r>
              <a:rPr lang="en-US" sz="3200" i="1" dirty="0"/>
              <a:t>predict </a:t>
            </a:r>
            <a:r>
              <a:rPr lang="en-US" sz="3200" dirty="0"/>
              <a:t>the genetic diversity of a local human population even for a locale not included in this study, based on its dispersal distance from East Africa. </a:t>
            </a:r>
          </a:p>
          <a:p>
            <a:pPr marL="0" indent="0">
              <a:buNone/>
            </a:pPr>
            <a:r>
              <a:rPr lang="en-US" sz="3200" dirty="0"/>
              <a:t>The slope or steepness of the regression line indicates the </a:t>
            </a:r>
            <a:r>
              <a:rPr lang="en-US" sz="3200" i="1" dirty="0"/>
              <a:t>rate of change </a:t>
            </a:r>
            <a:r>
              <a:rPr lang="en-US" sz="3200" dirty="0"/>
              <a:t>of genetic diversity with distance. </a:t>
            </a:r>
            <a:endParaRPr lang="en-US" sz="3200" dirty="0">
              <a:effectLst/>
            </a:endParaRPr>
          </a:p>
        </p:txBody>
      </p:sp>
      <p:pic>
        <p:nvPicPr>
          <p:cNvPr id="5" name="Picture 4">
            <a:extLst>
              <a:ext uri="{FF2B5EF4-FFF2-40B4-BE49-F238E27FC236}">
                <a16:creationId xmlns:a16="http://schemas.microsoft.com/office/drawing/2014/main" id="{CE9FCE02-2E90-E6F8-760C-EB4F89F4F3E2}"/>
              </a:ext>
            </a:extLst>
          </p:cNvPr>
          <p:cNvPicPr>
            <a:picLocks noChangeAspect="1"/>
          </p:cNvPicPr>
          <p:nvPr/>
        </p:nvPicPr>
        <p:blipFill>
          <a:blip r:embed="rId3"/>
          <a:stretch>
            <a:fillRect/>
          </a:stretch>
        </p:blipFill>
        <p:spPr>
          <a:xfrm>
            <a:off x="6243917" y="1616400"/>
            <a:ext cx="5561258" cy="4351337"/>
          </a:xfrm>
          <a:prstGeom prst="rect">
            <a:avLst/>
          </a:prstGeom>
          <a:ln w="28575">
            <a:solidFill>
              <a:schemeClr val="accent6">
                <a:lumMod val="75000"/>
              </a:schemeClr>
            </a:solidFill>
          </a:ln>
        </p:spPr>
      </p:pic>
    </p:spTree>
    <p:extLst>
      <p:ext uri="{BB962C8B-B14F-4D97-AF65-F5344CB8AC3E}">
        <p14:creationId xmlns:p14="http://schemas.microsoft.com/office/powerpoint/2010/main" val="3718231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D6C36-F7DD-F6CB-1783-187C0E280F4B}"/>
              </a:ext>
            </a:extLst>
          </p:cNvPr>
          <p:cNvSpPr>
            <a:spLocks noGrp="1"/>
          </p:cNvSpPr>
          <p:nvPr>
            <p:ph type="title"/>
          </p:nvPr>
        </p:nvSpPr>
        <p:spPr/>
        <p:txBody>
          <a:bodyPr>
            <a:normAutofit/>
          </a:bodyPr>
          <a:lstStyle/>
          <a:p>
            <a:r>
              <a:rPr lang="en-US" sz="5400" dirty="0"/>
              <a:t>Regression: Types of Experiments</a:t>
            </a:r>
          </a:p>
        </p:txBody>
      </p:sp>
      <p:sp>
        <p:nvSpPr>
          <p:cNvPr id="3" name="Content Placeholder 2">
            <a:extLst>
              <a:ext uri="{FF2B5EF4-FFF2-40B4-BE49-F238E27FC236}">
                <a16:creationId xmlns:a16="http://schemas.microsoft.com/office/drawing/2014/main" id="{53AD59A2-3B1A-537B-FB5A-7880419133A4}"/>
              </a:ext>
            </a:extLst>
          </p:cNvPr>
          <p:cNvSpPr>
            <a:spLocks noGrp="1"/>
          </p:cNvSpPr>
          <p:nvPr>
            <p:ph idx="1"/>
          </p:nvPr>
        </p:nvSpPr>
        <p:spPr>
          <a:xfrm>
            <a:off x="5208494" y="1570131"/>
            <a:ext cx="6315635" cy="4667250"/>
          </a:xfrm>
        </p:spPr>
        <p:txBody>
          <a:bodyPr>
            <a:normAutofit fontScale="92500" lnSpcReduction="10000"/>
          </a:bodyPr>
          <a:lstStyle/>
          <a:p>
            <a:pPr marL="0" indent="0">
              <a:buNone/>
            </a:pPr>
            <a:r>
              <a:rPr lang="en-US" sz="3200" dirty="0"/>
              <a:t>1. Individuals are randomly sampled from a population. Two variables are measured on the sample, and one of them (deemed the explanatory variable) is used to predict the other (response) variable. </a:t>
            </a:r>
            <a:endParaRPr lang="en-US" sz="3200" dirty="0">
              <a:effectLst/>
            </a:endParaRPr>
          </a:p>
          <a:p>
            <a:pPr marL="0" indent="0">
              <a:buNone/>
            </a:pPr>
            <a:r>
              <a:rPr lang="en-US" sz="3200" dirty="0"/>
              <a:t>2. The researcher fixes or chooses values of the explanatory variable, which represent treatments or doses. The response variable is then measured on one or more individuals assigned to each treatment. </a:t>
            </a:r>
            <a:endParaRPr lang="en-US" sz="3200" dirty="0">
              <a:effectLst/>
            </a:endParaRPr>
          </a:p>
          <a:p>
            <a:endParaRPr lang="en-US" sz="3200" dirty="0">
              <a:effectLst/>
            </a:endParaRPr>
          </a:p>
          <a:p>
            <a:endParaRPr lang="en-US" sz="3200" dirty="0"/>
          </a:p>
        </p:txBody>
      </p:sp>
      <p:pic>
        <p:nvPicPr>
          <p:cNvPr id="5" name="Picture 4">
            <a:extLst>
              <a:ext uri="{FF2B5EF4-FFF2-40B4-BE49-F238E27FC236}">
                <a16:creationId xmlns:a16="http://schemas.microsoft.com/office/drawing/2014/main" id="{53B8860A-7508-02E8-3498-0964CCFBB190}"/>
              </a:ext>
            </a:extLst>
          </p:cNvPr>
          <p:cNvPicPr>
            <a:picLocks noChangeAspect="1"/>
          </p:cNvPicPr>
          <p:nvPr/>
        </p:nvPicPr>
        <p:blipFill>
          <a:blip r:embed="rId3"/>
          <a:stretch>
            <a:fillRect/>
          </a:stretch>
        </p:blipFill>
        <p:spPr>
          <a:xfrm rot="647150">
            <a:off x="1314053" y="1400547"/>
            <a:ext cx="3939537" cy="2153614"/>
          </a:xfrm>
          <a:prstGeom prst="rect">
            <a:avLst/>
          </a:prstGeom>
        </p:spPr>
      </p:pic>
      <p:pic>
        <p:nvPicPr>
          <p:cNvPr id="6" name="Picture 5">
            <a:extLst>
              <a:ext uri="{FF2B5EF4-FFF2-40B4-BE49-F238E27FC236}">
                <a16:creationId xmlns:a16="http://schemas.microsoft.com/office/drawing/2014/main" id="{92FEDCFE-AC14-192C-854E-962D4E79BFB6}"/>
              </a:ext>
            </a:extLst>
          </p:cNvPr>
          <p:cNvPicPr>
            <a:picLocks noChangeAspect="1"/>
          </p:cNvPicPr>
          <p:nvPr/>
        </p:nvPicPr>
        <p:blipFill>
          <a:blip r:embed="rId3"/>
          <a:stretch>
            <a:fillRect/>
          </a:stretch>
        </p:blipFill>
        <p:spPr>
          <a:xfrm rot="21395609">
            <a:off x="7056" y="2083431"/>
            <a:ext cx="3469801" cy="1896825"/>
          </a:xfrm>
          <a:prstGeom prst="rect">
            <a:avLst/>
          </a:prstGeom>
        </p:spPr>
      </p:pic>
      <p:pic>
        <p:nvPicPr>
          <p:cNvPr id="8" name="Picture 7">
            <a:extLst>
              <a:ext uri="{FF2B5EF4-FFF2-40B4-BE49-F238E27FC236}">
                <a16:creationId xmlns:a16="http://schemas.microsoft.com/office/drawing/2014/main" id="{8541FF40-8C24-712C-F2A9-D7227B688484}"/>
              </a:ext>
            </a:extLst>
          </p:cNvPr>
          <p:cNvPicPr>
            <a:picLocks noChangeAspect="1"/>
          </p:cNvPicPr>
          <p:nvPr/>
        </p:nvPicPr>
        <p:blipFill>
          <a:blip r:embed="rId4"/>
          <a:stretch>
            <a:fillRect/>
          </a:stretch>
        </p:blipFill>
        <p:spPr>
          <a:xfrm>
            <a:off x="1616312" y="3856148"/>
            <a:ext cx="2108200" cy="2540000"/>
          </a:xfrm>
          <a:prstGeom prst="rect">
            <a:avLst/>
          </a:prstGeom>
        </p:spPr>
      </p:pic>
    </p:spTree>
    <p:extLst>
      <p:ext uri="{BB962C8B-B14F-4D97-AF65-F5344CB8AC3E}">
        <p14:creationId xmlns:p14="http://schemas.microsoft.com/office/powerpoint/2010/main" val="2130937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51C11-4F28-0B2E-C70C-EE8759B06718}"/>
              </a:ext>
            </a:extLst>
          </p:cNvPr>
          <p:cNvSpPr>
            <a:spLocks noGrp="1"/>
          </p:cNvSpPr>
          <p:nvPr>
            <p:ph type="title"/>
          </p:nvPr>
        </p:nvSpPr>
        <p:spPr/>
        <p:txBody>
          <a:bodyPr>
            <a:normAutofit/>
          </a:bodyPr>
          <a:lstStyle/>
          <a:p>
            <a:r>
              <a:rPr lang="en-US" sz="5400" dirty="0"/>
              <a:t>Linear Regression</a:t>
            </a:r>
          </a:p>
        </p:txBody>
      </p:sp>
      <p:sp>
        <p:nvSpPr>
          <p:cNvPr id="3" name="Content Placeholder 2">
            <a:extLst>
              <a:ext uri="{FF2B5EF4-FFF2-40B4-BE49-F238E27FC236}">
                <a16:creationId xmlns:a16="http://schemas.microsoft.com/office/drawing/2014/main" id="{C35C6C66-B902-CE44-AC8A-B2DE9E1A90B2}"/>
              </a:ext>
            </a:extLst>
          </p:cNvPr>
          <p:cNvSpPr>
            <a:spLocks noGrp="1"/>
          </p:cNvSpPr>
          <p:nvPr>
            <p:ph idx="1"/>
          </p:nvPr>
        </p:nvSpPr>
        <p:spPr/>
        <p:txBody>
          <a:bodyPr>
            <a:normAutofit lnSpcReduction="10000"/>
          </a:bodyPr>
          <a:lstStyle/>
          <a:p>
            <a:r>
              <a:rPr lang="en-US" sz="3200" dirty="0"/>
              <a:t>The most common type of regression. </a:t>
            </a:r>
          </a:p>
          <a:p>
            <a:r>
              <a:rPr lang="en-US" sz="3200" dirty="0"/>
              <a:t>Draws a straight line through the data to predict the response variable (Y, shown on the vertical axis) from the explanatory variable (X, shown on the horizontal axis). </a:t>
            </a:r>
          </a:p>
          <a:p>
            <a:pPr lvl="1"/>
            <a:r>
              <a:rPr lang="en-US" sz="2800" dirty="0">
                <a:effectLst/>
              </a:rPr>
              <a:t>How do we find the best straight line?</a:t>
            </a:r>
            <a:r>
              <a:rPr lang="en-US" sz="2800" dirty="0"/>
              <a:t> It’s the line that has the smallest possible deviations in Y between the data points and the regression line. </a:t>
            </a:r>
            <a:endParaRPr lang="en-US" sz="2800" dirty="0">
              <a:effectLst/>
            </a:endParaRPr>
          </a:p>
          <a:p>
            <a:pPr marL="0" indent="0">
              <a:buNone/>
            </a:pPr>
            <a:endParaRPr lang="en-US" sz="3200" dirty="0"/>
          </a:p>
          <a:p>
            <a:pPr marL="0" indent="0">
              <a:buNone/>
            </a:pPr>
            <a:r>
              <a:rPr lang="en-US" sz="3200" dirty="0"/>
              <a:t>The </a:t>
            </a:r>
            <a:r>
              <a:rPr lang="en-US" sz="3200" b="1" dirty="0"/>
              <a:t>least squares regression </a:t>
            </a:r>
            <a:r>
              <a:rPr lang="en-US" sz="3200" dirty="0"/>
              <a:t>line is the line for which the sum of all the </a:t>
            </a:r>
            <a:r>
              <a:rPr lang="en-US" sz="3200" i="1" dirty="0"/>
              <a:t>squared </a:t>
            </a:r>
            <a:r>
              <a:rPr lang="en-US" sz="3200" dirty="0"/>
              <a:t>deviations in Y is smallest. </a:t>
            </a:r>
            <a:endParaRPr lang="en-US" sz="3200" dirty="0">
              <a:effectLst/>
            </a:endParaRPr>
          </a:p>
        </p:txBody>
      </p:sp>
    </p:spTree>
    <p:extLst>
      <p:ext uri="{BB962C8B-B14F-4D97-AF65-F5344CB8AC3E}">
        <p14:creationId xmlns:p14="http://schemas.microsoft.com/office/powerpoint/2010/main" val="382886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616B7-D096-112B-8CFE-ABD49812FDB0}"/>
              </a:ext>
            </a:extLst>
          </p:cNvPr>
          <p:cNvSpPr>
            <a:spLocks noGrp="1"/>
          </p:cNvSpPr>
          <p:nvPr>
            <p:ph type="title"/>
          </p:nvPr>
        </p:nvSpPr>
        <p:spPr/>
        <p:txBody>
          <a:bodyPr>
            <a:normAutofit/>
          </a:bodyPr>
          <a:lstStyle/>
          <a:p>
            <a:r>
              <a:rPr lang="en-US" sz="5400" dirty="0"/>
              <a:t>Linear Regression Model</a:t>
            </a:r>
          </a:p>
        </p:txBody>
      </p:sp>
      <p:sp>
        <p:nvSpPr>
          <p:cNvPr id="3" name="Content Placeholder 2">
            <a:extLst>
              <a:ext uri="{FF2B5EF4-FFF2-40B4-BE49-F238E27FC236}">
                <a16:creationId xmlns:a16="http://schemas.microsoft.com/office/drawing/2014/main" id="{91E1BF53-44A9-1D26-2598-6C5AFC7B4F8E}"/>
              </a:ext>
            </a:extLst>
          </p:cNvPr>
          <p:cNvSpPr>
            <a:spLocks noGrp="1"/>
          </p:cNvSpPr>
          <p:nvPr>
            <p:ph idx="1"/>
          </p:nvPr>
        </p:nvSpPr>
        <p:spPr/>
        <p:txBody>
          <a:bodyPr>
            <a:normAutofit/>
          </a:bodyPr>
          <a:lstStyle/>
          <a:p>
            <a:pPr marL="0" indent="0" algn="ctr">
              <a:buNone/>
            </a:pPr>
            <a:r>
              <a:rPr lang="en-US" sz="3600" dirty="0"/>
              <a:t>You have seen this before!</a:t>
            </a:r>
          </a:p>
        </p:txBody>
      </p:sp>
      <p:pic>
        <p:nvPicPr>
          <p:cNvPr id="4" name="Picture 3">
            <a:extLst>
              <a:ext uri="{FF2B5EF4-FFF2-40B4-BE49-F238E27FC236}">
                <a16:creationId xmlns:a16="http://schemas.microsoft.com/office/drawing/2014/main" id="{B7650CAC-D6E9-B7D2-2C8A-5D1658D1C0C8}"/>
              </a:ext>
            </a:extLst>
          </p:cNvPr>
          <p:cNvPicPr>
            <a:picLocks noChangeAspect="1"/>
          </p:cNvPicPr>
          <p:nvPr/>
        </p:nvPicPr>
        <p:blipFill>
          <a:blip r:embed="rId3"/>
          <a:stretch>
            <a:fillRect/>
          </a:stretch>
        </p:blipFill>
        <p:spPr>
          <a:xfrm>
            <a:off x="4470400" y="2816147"/>
            <a:ext cx="3251200" cy="1828800"/>
          </a:xfrm>
          <a:prstGeom prst="rect">
            <a:avLst/>
          </a:prstGeom>
          <a:ln w="28575">
            <a:solidFill>
              <a:schemeClr val="accent6">
                <a:lumMod val="75000"/>
              </a:schemeClr>
            </a:solidFill>
          </a:ln>
        </p:spPr>
      </p:pic>
    </p:spTree>
    <p:extLst>
      <p:ext uri="{BB962C8B-B14F-4D97-AF65-F5344CB8AC3E}">
        <p14:creationId xmlns:p14="http://schemas.microsoft.com/office/powerpoint/2010/main" val="1902123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38DF5-DD0A-812A-C203-CF5F804E2B7F}"/>
              </a:ext>
            </a:extLst>
          </p:cNvPr>
          <p:cNvSpPr>
            <a:spLocks noGrp="1"/>
          </p:cNvSpPr>
          <p:nvPr>
            <p:ph type="title"/>
          </p:nvPr>
        </p:nvSpPr>
        <p:spPr/>
        <p:txBody>
          <a:bodyPr>
            <a:normAutofit/>
          </a:bodyPr>
          <a:lstStyle/>
          <a:p>
            <a:r>
              <a:rPr lang="en-US" sz="5400" dirty="0"/>
              <a:t>Linear Regression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B89283-135C-96F9-DFB6-F001FB606CBE}"/>
                  </a:ext>
                </a:extLst>
              </p:cNvPr>
              <p:cNvSpPr>
                <a:spLocks noGrp="1"/>
              </p:cNvSpPr>
              <p:nvPr>
                <p:ph idx="1"/>
              </p:nvPr>
            </p:nvSpPr>
            <p:spPr>
              <a:xfrm>
                <a:off x="838200" y="1825625"/>
                <a:ext cx="5992906" cy="4351338"/>
              </a:xfrm>
            </p:spPr>
            <p:txBody>
              <a:bodyPr>
                <a:normAutofit lnSpcReduction="10000"/>
              </a:bodyPr>
              <a:lstStyle/>
              <a:p>
                <a:r>
                  <a:rPr lang="en-US" dirty="0"/>
                  <a:t>Explanatory and response variables are numeric</a:t>
                </a:r>
              </a:p>
              <a:p>
                <a:r>
                  <a:rPr lang="en-US" dirty="0"/>
                  <a:t>Relationship between the mean of the response variable and the level of the explanatory variable assumed to be approximately linear (straight line)</a:t>
                </a:r>
              </a:p>
              <a:p>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baseline="-25000" dirty="0"/>
                  <a:t>1</a:t>
                </a:r>
                <a:r>
                  <a:rPr lang="en-US" dirty="0"/>
                  <a:t> &gt; 0 -&gt; Positive Association</a:t>
                </a:r>
              </a:p>
              <a:p>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baseline="-25000" dirty="0"/>
                  <a:t>1</a:t>
                </a:r>
                <a:r>
                  <a:rPr lang="en-US" dirty="0"/>
                  <a:t> &lt; 0 -&gt; Negative Association</a:t>
                </a:r>
              </a:p>
              <a:p>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baseline="-25000" dirty="0"/>
                  <a:t>1</a:t>
                </a:r>
                <a:r>
                  <a:rPr lang="en-US" dirty="0"/>
                  <a:t> = 0 -&gt; No Association</a:t>
                </a:r>
              </a:p>
            </p:txBody>
          </p:sp>
        </mc:Choice>
        <mc:Fallback xmlns="">
          <p:sp>
            <p:nvSpPr>
              <p:cNvPr id="3" name="Content Placeholder 2">
                <a:extLst>
                  <a:ext uri="{FF2B5EF4-FFF2-40B4-BE49-F238E27FC236}">
                    <a16:creationId xmlns:a16="http://schemas.microsoft.com/office/drawing/2014/main" id="{15B89283-135C-96F9-DFB6-F001FB606CBE}"/>
                  </a:ext>
                </a:extLst>
              </p:cNvPr>
              <p:cNvSpPr>
                <a:spLocks noGrp="1" noRot="1" noChangeAspect="1" noMove="1" noResize="1" noEditPoints="1" noAdjustHandles="1" noChangeArrowheads="1" noChangeShapeType="1" noTextEdit="1"/>
              </p:cNvSpPr>
              <p:nvPr>
                <p:ph idx="1"/>
              </p:nvPr>
            </p:nvSpPr>
            <p:spPr>
              <a:xfrm>
                <a:off x="838200" y="1825625"/>
                <a:ext cx="5992906" cy="4351338"/>
              </a:xfrm>
              <a:blipFill>
                <a:blip r:embed="rId3"/>
                <a:stretch>
                  <a:fillRect l="-1903" t="-3198" r="-232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2C03639-1BB5-5618-8E05-1FF53E80E35A}"/>
              </a:ext>
            </a:extLst>
          </p:cNvPr>
          <p:cNvPicPr>
            <a:picLocks noChangeAspect="1"/>
          </p:cNvPicPr>
          <p:nvPr/>
        </p:nvPicPr>
        <p:blipFill>
          <a:blip r:embed="rId4"/>
          <a:stretch>
            <a:fillRect/>
          </a:stretch>
        </p:blipFill>
        <p:spPr>
          <a:xfrm>
            <a:off x="6831106" y="2544008"/>
            <a:ext cx="4869329" cy="4060553"/>
          </a:xfrm>
          <a:prstGeom prst="rect">
            <a:avLst/>
          </a:prstGeom>
          <a:ln w="28575">
            <a:solidFill>
              <a:schemeClr val="accent6">
                <a:lumMod val="75000"/>
              </a:schemeClr>
            </a:solidFill>
          </a:ln>
        </p:spPr>
      </p:pic>
      <p:pic>
        <p:nvPicPr>
          <p:cNvPr id="6" name="Picture 5">
            <a:extLst>
              <a:ext uri="{FF2B5EF4-FFF2-40B4-BE49-F238E27FC236}">
                <a16:creationId xmlns:a16="http://schemas.microsoft.com/office/drawing/2014/main" id="{5D1AC6D1-E77B-EEEC-1BA7-EC0C15727966}"/>
              </a:ext>
            </a:extLst>
          </p:cNvPr>
          <p:cNvPicPr>
            <a:picLocks noChangeAspect="1"/>
          </p:cNvPicPr>
          <p:nvPr/>
        </p:nvPicPr>
        <p:blipFill>
          <a:blip r:embed="rId5"/>
          <a:stretch>
            <a:fillRect/>
          </a:stretch>
        </p:blipFill>
        <p:spPr>
          <a:xfrm>
            <a:off x="8449235" y="468592"/>
            <a:ext cx="3251200" cy="1828800"/>
          </a:xfrm>
          <a:prstGeom prst="rect">
            <a:avLst/>
          </a:prstGeom>
          <a:ln w="28575">
            <a:solidFill>
              <a:schemeClr val="accent6">
                <a:lumMod val="75000"/>
              </a:schemeClr>
            </a:solidFill>
          </a:ln>
        </p:spPr>
      </p:pic>
    </p:spTree>
    <p:extLst>
      <p:ext uri="{BB962C8B-B14F-4D97-AF65-F5344CB8AC3E}">
        <p14:creationId xmlns:p14="http://schemas.microsoft.com/office/powerpoint/2010/main" val="2183890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F0792-AB17-B973-795E-AA38D9DC126D}"/>
              </a:ext>
            </a:extLst>
          </p:cNvPr>
          <p:cNvSpPr>
            <a:spLocks noGrp="1"/>
          </p:cNvSpPr>
          <p:nvPr>
            <p:ph type="title"/>
          </p:nvPr>
        </p:nvSpPr>
        <p:spPr/>
        <p:txBody>
          <a:bodyPr>
            <a:normAutofit/>
          </a:bodyPr>
          <a:lstStyle/>
          <a:p>
            <a:r>
              <a:rPr lang="en-US" sz="5400" dirty="0"/>
              <a:t>Parameter Estimation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151177-7F61-450E-0EE5-3984BF8F40B5}"/>
                  </a:ext>
                </a:extLst>
              </p:cNvPr>
              <p:cNvSpPr>
                <a:spLocks noGrp="1"/>
              </p:cNvSpPr>
              <p:nvPr>
                <p:ph idx="1"/>
              </p:nvPr>
            </p:nvSpPr>
            <p:spPr>
              <a:xfrm>
                <a:off x="838200" y="1825625"/>
                <a:ext cx="4527176" cy="4351338"/>
              </a:xfrm>
            </p:spPr>
            <p:txBody>
              <a:bodyPr>
                <a:noAutofit/>
              </a:bodyPr>
              <a:lstStyle/>
              <a:p>
                <a:r>
                  <a:rPr lang="en-US" sz="3200" dirty="0"/>
                  <a:t>The parameters</a:t>
                </a:r>
                <a:r>
                  <a:rPr lang="en-US" sz="3200" dirty="0">
                    <a:ea typeface="Cambria Math" panose="02040503050406030204" pitchFamily="18" charset="0"/>
                  </a:rPr>
                  <a:t> </a:t>
                </a:r>
                <a14:m>
                  <m:oMath xmlns:m="http://schemas.openxmlformats.org/officeDocument/2006/math">
                    <m:r>
                      <a:rPr lang="en-US" sz="3200" i="1" smtClean="0">
                        <a:latin typeface="Cambria Math" panose="02040503050406030204" pitchFamily="18" charset="0"/>
                        <a:ea typeface="Cambria Math" panose="02040503050406030204" pitchFamily="18" charset="0"/>
                      </a:rPr>
                      <m:t>𝛽</m:t>
                    </m:r>
                    <m:r>
                      <a:rPr lang="en-US" sz="3200" b="0" i="0" baseline="-25000" smtClean="0">
                        <a:latin typeface="Cambria Math" panose="02040503050406030204" pitchFamily="18" charset="0"/>
                        <a:ea typeface="Cambria Math" panose="02040503050406030204" pitchFamily="18" charset="0"/>
                      </a:rPr>
                      <m:t>0</m:t>
                    </m:r>
                  </m:oMath>
                </a14:m>
                <a:r>
                  <a:rPr lang="en-US" sz="3200" dirty="0"/>
                  <a:t> ,</a:t>
                </a:r>
                <a:r>
                  <a:rPr lang="en-US" sz="3200" dirty="0">
                    <a:ea typeface="Cambria Math" panose="02040503050406030204" pitchFamily="18" charset="0"/>
                  </a:rPr>
                  <a:t> </a:t>
                </a:r>
                <a14:m>
                  <m:oMath xmlns:m="http://schemas.openxmlformats.org/officeDocument/2006/math">
                    <m:r>
                      <a:rPr lang="en-US" sz="3200" i="1" smtClean="0">
                        <a:latin typeface="Cambria Math" panose="02040503050406030204" pitchFamily="18" charset="0"/>
                        <a:ea typeface="Cambria Math" panose="02040503050406030204" pitchFamily="18" charset="0"/>
                      </a:rPr>
                      <m:t>𝛽</m:t>
                    </m:r>
                  </m:oMath>
                </a14:m>
                <a:r>
                  <a:rPr lang="en-US" sz="3200" baseline="-25000" dirty="0"/>
                  <a:t>1</a:t>
                </a:r>
                <a:r>
                  <a:rPr lang="en-US" sz="3200" dirty="0"/>
                  <a:t> , and </a:t>
                </a:r>
                <a14:m>
                  <m:oMath xmlns:m="http://schemas.openxmlformats.org/officeDocument/2006/math">
                    <m:r>
                      <a:rPr lang="en-US" sz="3200" i="1" smtClean="0">
                        <a:latin typeface="Cambria Math" panose="02040503050406030204" pitchFamily="18" charset="0"/>
                        <a:ea typeface="Cambria Math" panose="02040503050406030204" pitchFamily="18" charset="0"/>
                      </a:rPr>
                      <m:t>𝜎</m:t>
                    </m:r>
                    <m:r>
                      <a:rPr lang="en-US" sz="3200" b="0" i="1" baseline="30000" smtClean="0">
                        <a:latin typeface="Cambria Math" panose="02040503050406030204" pitchFamily="18" charset="0"/>
                        <a:ea typeface="Cambria Math" panose="02040503050406030204" pitchFamily="18" charset="0"/>
                      </a:rPr>
                      <m:t>2</m:t>
                    </m:r>
                  </m:oMath>
                </a14:m>
                <a:r>
                  <a:rPr lang="en-US" sz="3200" dirty="0"/>
                  <a:t>,are estimated using least squares</a:t>
                </a:r>
              </a:p>
              <a:p>
                <a:r>
                  <a:rPr lang="en-US" sz="3200" dirty="0"/>
                  <a:t>Since </a:t>
                </a:r>
                <a14:m>
                  <m:oMath xmlns:m="http://schemas.openxmlformats.org/officeDocument/2006/math">
                    <m:r>
                      <a:rPr lang="en-US" sz="3200" i="1" smtClean="0">
                        <a:latin typeface="Cambria Math" panose="02040503050406030204" pitchFamily="18" charset="0"/>
                        <a:ea typeface="Cambria Math" panose="02040503050406030204" pitchFamily="18" charset="0"/>
                      </a:rPr>
                      <m:t>𝜀</m:t>
                    </m:r>
                  </m:oMath>
                </a14:m>
                <a:r>
                  <a:rPr lang="en-US" sz="3200" dirty="0"/>
                  <a:t> is normally distributed and X is assumed fixed,</a:t>
                </a:r>
              </a:p>
              <a:p>
                <a:pPr lvl="1"/>
                <a:r>
                  <a:rPr lang="en-US" sz="2800" dirty="0"/>
                  <a:t>Y is Normal</a:t>
                </a:r>
              </a:p>
              <a:p>
                <a:pPr lvl="1"/>
                <a:r>
                  <a:rPr lang="en-US" sz="2800" dirty="0"/>
                  <a:t>The estimators are also normally distributed</a:t>
                </a:r>
              </a:p>
            </p:txBody>
          </p:sp>
        </mc:Choice>
        <mc:Fallback xmlns="">
          <p:sp>
            <p:nvSpPr>
              <p:cNvPr id="3" name="Content Placeholder 2">
                <a:extLst>
                  <a:ext uri="{FF2B5EF4-FFF2-40B4-BE49-F238E27FC236}">
                    <a16:creationId xmlns:a16="http://schemas.microsoft.com/office/drawing/2014/main" id="{AB151177-7F61-450E-0EE5-3984BF8F40B5}"/>
                  </a:ext>
                </a:extLst>
              </p:cNvPr>
              <p:cNvSpPr>
                <a:spLocks noGrp="1" noRot="1" noChangeAspect="1" noMove="1" noResize="1" noEditPoints="1" noAdjustHandles="1" noChangeArrowheads="1" noChangeShapeType="1" noTextEdit="1"/>
              </p:cNvSpPr>
              <p:nvPr>
                <p:ph idx="1"/>
              </p:nvPr>
            </p:nvSpPr>
            <p:spPr>
              <a:xfrm>
                <a:off x="838200" y="1825625"/>
                <a:ext cx="4527176" cy="4351338"/>
              </a:xfrm>
              <a:blipFill>
                <a:blip r:embed="rId3"/>
                <a:stretch>
                  <a:fillRect l="-3081" t="-2907" r="-4762"/>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832AB61-F29E-0F10-3C08-7EF7D19D8573}"/>
              </a:ext>
            </a:extLst>
          </p:cNvPr>
          <p:cNvPicPr>
            <a:picLocks noChangeAspect="1"/>
          </p:cNvPicPr>
          <p:nvPr/>
        </p:nvPicPr>
        <p:blipFill>
          <a:blip r:embed="rId4"/>
          <a:stretch>
            <a:fillRect/>
          </a:stretch>
        </p:blipFill>
        <p:spPr>
          <a:xfrm>
            <a:off x="6667500" y="1825625"/>
            <a:ext cx="4686300" cy="3708400"/>
          </a:xfrm>
          <a:prstGeom prst="rect">
            <a:avLst/>
          </a:prstGeom>
          <a:ln w="28575">
            <a:solidFill>
              <a:schemeClr val="accent6">
                <a:lumMod val="75000"/>
              </a:schemeClr>
            </a:solidFill>
          </a:ln>
        </p:spPr>
      </p:pic>
    </p:spTree>
    <p:extLst>
      <p:ext uri="{BB962C8B-B14F-4D97-AF65-F5344CB8AC3E}">
        <p14:creationId xmlns:p14="http://schemas.microsoft.com/office/powerpoint/2010/main" val="1424177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EEE5A-1E97-E9DF-97C0-A819C1F767E3}"/>
              </a:ext>
            </a:extLst>
          </p:cNvPr>
          <p:cNvSpPr>
            <a:spLocks noGrp="1"/>
          </p:cNvSpPr>
          <p:nvPr>
            <p:ph type="title"/>
          </p:nvPr>
        </p:nvSpPr>
        <p:spPr/>
        <p:txBody>
          <a:bodyPr>
            <a:normAutofit/>
          </a:bodyPr>
          <a:lstStyle/>
          <a:p>
            <a:r>
              <a:rPr lang="en-US" sz="5400" dirty="0"/>
              <a:t>Parameter Estimation</a:t>
            </a:r>
          </a:p>
        </p:txBody>
      </p:sp>
      <p:pic>
        <p:nvPicPr>
          <p:cNvPr id="5" name="Picture 4">
            <a:extLst>
              <a:ext uri="{FF2B5EF4-FFF2-40B4-BE49-F238E27FC236}">
                <a16:creationId xmlns:a16="http://schemas.microsoft.com/office/drawing/2014/main" id="{2200CB47-78C1-A4D8-274D-0D85F9079E69}"/>
              </a:ext>
            </a:extLst>
          </p:cNvPr>
          <p:cNvPicPr>
            <a:picLocks noChangeAspect="1"/>
          </p:cNvPicPr>
          <p:nvPr/>
        </p:nvPicPr>
        <p:blipFill>
          <a:blip r:embed="rId3"/>
          <a:stretch>
            <a:fillRect/>
          </a:stretch>
        </p:blipFill>
        <p:spPr>
          <a:xfrm>
            <a:off x="1944967" y="2268865"/>
            <a:ext cx="4025900" cy="3276600"/>
          </a:xfrm>
          <a:prstGeom prst="rect">
            <a:avLst/>
          </a:prstGeom>
          <a:ln w="28575">
            <a:solidFill>
              <a:schemeClr val="accent6">
                <a:lumMod val="75000"/>
              </a:schemeClr>
            </a:solidFill>
          </a:ln>
        </p:spPr>
      </p:pic>
      <p:pic>
        <p:nvPicPr>
          <p:cNvPr id="6" name="Content Placeholder 4">
            <a:extLst>
              <a:ext uri="{FF2B5EF4-FFF2-40B4-BE49-F238E27FC236}">
                <a16:creationId xmlns:a16="http://schemas.microsoft.com/office/drawing/2014/main" id="{95F265FB-DB39-71B5-3FCB-D2959DB780F2}"/>
              </a:ext>
            </a:extLst>
          </p:cNvPr>
          <p:cNvPicPr>
            <a:picLocks noGrp="1" noChangeAspect="1"/>
          </p:cNvPicPr>
          <p:nvPr>
            <p:ph idx="1"/>
          </p:nvPr>
        </p:nvPicPr>
        <p:blipFill>
          <a:blip r:embed="rId4"/>
          <a:stretch>
            <a:fillRect/>
          </a:stretch>
        </p:blipFill>
        <p:spPr>
          <a:xfrm>
            <a:off x="7556317" y="2527873"/>
            <a:ext cx="3367177" cy="1494309"/>
          </a:xfrm>
          <a:prstGeom prst="rect">
            <a:avLst/>
          </a:prstGeom>
          <a:ln w="28575">
            <a:solidFill>
              <a:schemeClr val="accent6">
                <a:lumMod val="75000"/>
              </a:schemeClr>
            </a:solidFill>
          </a:ln>
        </p:spPr>
      </p:pic>
      <p:sp>
        <p:nvSpPr>
          <p:cNvPr id="7" name="Right Arrow 6">
            <a:extLst>
              <a:ext uri="{FF2B5EF4-FFF2-40B4-BE49-F238E27FC236}">
                <a16:creationId xmlns:a16="http://schemas.microsoft.com/office/drawing/2014/main" id="{76A5F3B3-282C-F067-758A-9A302DA3CE36}"/>
              </a:ext>
            </a:extLst>
          </p:cNvPr>
          <p:cNvSpPr/>
          <p:nvPr/>
        </p:nvSpPr>
        <p:spPr>
          <a:xfrm>
            <a:off x="5674659" y="3121056"/>
            <a:ext cx="1694329" cy="307944"/>
          </a:xfrm>
          <a:prstGeom prst="right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2105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A8F5-25D5-5BDA-E24A-9A233A5CBE75}"/>
              </a:ext>
            </a:extLst>
          </p:cNvPr>
          <p:cNvSpPr>
            <a:spLocks noGrp="1"/>
          </p:cNvSpPr>
          <p:nvPr>
            <p:ph type="title"/>
          </p:nvPr>
        </p:nvSpPr>
        <p:spPr/>
        <p:txBody>
          <a:bodyPr>
            <a:normAutofit/>
          </a:bodyPr>
          <a:lstStyle/>
          <a:p>
            <a:r>
              <a:rPr lang="en-US" sz="5400" dirty="0"/>
              <a:t>Parameter Estimation: Error</a:t>
            </a:r>
          </a:p>
        </p:txBody>
      </p:sp>
      <p:sp>
        <p:nvSpPr>
          <p:cNvPr id="3" name="Content Placeholder 2">
            <a:extLst>
              <a:ext uri="{FF2B5EF4-FFF2-40B4-BE49-F238E27FC236}">
                <a16:creationId xmlns:a16="http://schemas.microsoft.com/office/drawing/2014/main" id="{0EF814A3-7578-EC6D-B97C-4CAEB75EB7F4}"/>
              </a:ext>
            </a:extLst>
          </p:cNvPr>
          <p:cNvSpPr>
            <a:spLocks noGrp="1"/>
          </p:cNvSpPr>
          <p:nvPr>
            <p:ph idx="1"/>
          </p:nvPr>
        </p:nvSpPr>
        <p:spPr/>
        <p:txBody>
          <a:bodyPr>
            <a:normAutofit/>
          </a:bodyPr>
          <a:lstStyle/>
          <a:p>
            <a:pPr marL="0" indent="0">
              <a:buNone/>
            </a:pPr>
            <a:r>
              <a:rPr lang="en-US" sz="3200" dirty="0"/>
              <a:t>Last term to estimate is the error term:</a:t>
            </a:r>
          </a:p>
        </p:txBody>
      </p:sp>
      <p:pic>
        <p:nvPicPr>
          <p:cNvPr id="5" name="Picture 4">
            <a:extLst>
              <a:ext uri="{FF2B5EF4-FFF2-40B4-BE49-F238E27FC236}">
                <a16:creationId xmlns:a16="http://schemas.microsoft.com/office/drawing/2014/main" id="{18E7BDE0-6101-B128-1D41-542B2F8A3C64}"/>
              </a:ext>
            </a:extLst>
          </p:cNvPr>
          <p:cNvPicPr>
            <a:picLocks noChangeAspect="1"/>
          </p:cNvPicPr>
          <p:nvPr/>
        </p:nvPicPr>
        <p:blipFill>
          <a:blip r:embed="rId2"/>
          <a:stretch>
            <a:fillRect/>
          </a:stretch>
        </p:blipFill>
        <p:spPr>
          <a:xfrm>
            <a:off x="1368392" y="3728244"/>
            <a:ext cx="4343400" cy="1003300"/>
          </a:xfrm>
          <a:prstGeom prst="rect">
            <a:avLst/>
          </a:prstGeom>
          <a:ln w="28575">
            <a:solidFill>
              <a:schemeClr val="accent6">
                <a:lumMod val="75000"/>
              </a:schemeClr>
            </a:solidFill>
          </a:ln>
        </p:spPr>
      </p:pic>
      <p:pic>
        <p:nvPicPr>
          <p:cNvPr id="7" name="Picture 6">
            <a:extLst>
              <a:ext uri="{FF2B5EF4-FFF2-40B4-BE49-F238E27FC236}">
                <a16:creationId xmlns:a16="http://schemas.microsoft.com/office/drawing/2014/main" id="{DAA21829-2B0B-2678-2E17-7DBF630025EB}"/>
              </a:ext>
            </a:extLst>
          </p:cNvPr>
          <p:cNvPicPr>
            <a:picLocks noChangeAspect="1"/>
          </p:cNvPicPr>
          <p:nvPr/>
        </p:nvPicPr>
        <p:blipFill>
          <a:blip r:embed="rId3"/>
          <a:stretch>
            <a:fillRect/>
          </a:stretch>
        </p:blipFill>
        <p:spPr>
          <a:xfrm>
            <a:off x="6480210" y="2666534"/>
            <a:ext cx="4724400" cy="3416300"/>
          </a:xfrm>
          <a:prstGeom prst="rect">
            <a:avLst/>
          </a:prstGeom>
          <a:ln w="28575">
            <a:solidFill>
              <a:schemeClr val="accent6">
                <a:lumMod val="75000"/>
              </a:schemeClr>
            </a:solidFill>
          </a:ln>
        </p:spPr>
      </p:pic>
    </p:spTree>
    <p:extLst>
      <p:ext uri="{BB962C8B-B14F-4D97-AF65-F5344CB8AC3E}">
        <p14:creationId xmlns:p14="http://schemas.microsoft.com/office/powerpoint/2010/main" val="863431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F5E70-C52C-A2B2-B282-3512731B6978}"/>
              </a:ext>
            </a:extLst>
          </p:cNvPr>
          <p:cNvSpPr>
            <a:spLocks noGrp="1"/>
          </p:cNvSpPr>
          <p:nvPr>
            <p:ph type="title"/>
          </p:nvPr>
        </p:nvSpPr>
        <p:spPr/>
        <p:txBody>
          <a:bodyPr>
            <a:normAutofit/>
          </a:bodyPr>
          <a:lstStyle/>
          <a:p>
            <a:r>
              <a:rPr lang="en-US" sz="5400" dirty="0"/>
              <a:t>Regression Line</a:t>
            </a:r>
          </a:p>
        </p:txBody>
      </p:sp>
      <p:sp>
        <p:nvSpPr>
          <p:cNvPr id="3" name="Content Placeholder 2">
            <a:extLst>
              <a:ext uri="{FF2B5EF4-FFF2-40B4-BE49-F238E27FC236}">
                <a16:creationId xmlns:a16="http://schemas.microsoft.com/office/drawing/2014/main" id="{6AFD3CD9-C4B2-FE87-A4B7-EDB1E5B8D85C}"/>
              </a:ext>
            </a:extLst>
          </p:cNvPr>
          <p:cNvSpPr>
            <a:spLocks noGrp="1"/>
          </p:cNvSpPr>
          <p:nvPr>
            <p:ph idx="1"/>
          </p:nvPr>
        </p:nvSpPr>
        <p:spPr>
          <a:xfrm>
            <a:off x="838200" y="1859149"/>
            <a:ext cx="10515600" cy="4351338"/>
          </a:xfrm>
        </p:spPr>
        <p:txBody>
          <a:bodyPr>
            <a:normAutofit lnSpcReduction="10000"/>
          </a:bodyPr>
          <a:lstStyle/>
          <a:p>
            <a:pPr marL="0" indent="0">
              <a:buNone/>
            </a:pPr>
            <a:r>
              <a:rPr lang="en-US" sz="3200" dirty="0"/>
              <a:t>Regression assumes that there is a population of </a:t>
            </a:r>
            <a:r>
              <a:rPr lang="en-US" sz="3200" i="1" dirty="0"/>
              <a:t>possible </a:t>
            </a:r>
            <a:r>
              <a:rPr lang="en-US" sz="3200" dirty="0"/>
              <a:t>Y-values for every possible value of X. The mean Y-value for each value of X lies on the true regression line. </a:t>
            </a:r>
          </a:p>
          <a:p>
            <a:r>
              <a:rPr lang="en-US" sz="3200" dirty="0"/>
              <a:t>Now that we have the regression line, we can use it to determine points on the line that correspond to specified values of X </a:t>
            </a:r>
          </a:p>
          <a:p>
            <a:pPr lvl="1"/>
            <a:r>
              <a:rPr lang="en-US" sz="2800" dirty="0"/>
              <a:t>Symbolize predictions as Y-hat</a:t>
            </a:r>
            <a:endParaRPr lang="en-US" sz="2800" dirty="0">
              <a:effectLst/>
            </a:endParaRPr>
          </a:p>
          <a:p>
            <a:pPr lvl="1"/>
            <a:r>
              <a:rPr lang="en-US" sz="2800" dirty="0"/>
              <a:t>The predicted value of Y for a given value of X estimates the mean of Y for the whole population of individuals having that value of X </a:t>
            </a:r>
            <a:endParaRPr lang="en-US" sz="2800" dirty="0">
              <a:effectLst/>
            </a:endParaRPr>
          </a:p>
          <a:p>
            <a:endParaRPr lang="en-US" sz="3200" dirty="0"/>
          </a:p>
        </p:txBody>
      </p:sp>
    </p:spTree>
    <p:extLst>
      <p:ext uri="{BB962C8B-B14F-4D97-AF65-F5344CB8AC3E}">
        <p14:creationId xmlns:p14="http://schemas.microsoft.com/office/powerpoint/2010/main" val="2875264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AD0463-071B-4183-03FA-7FD5AA6E2046}"/>
              </a:ext>
            </a:extLst>
          </p:cNvPr>
          <p:cNvPicPr>
            <a:picLocks noChangeAspect="1"/>
          </p:cNvPicPr>
          <p:nvPr/>
        </p:nvPicPr>
        <p:blipFill>
          <a:blip r:embed="rId3"/>
          <a:stretch>
            <a:fillRect/>
          </a:stretch>
        </p:blipFill>
        <p:spPr>
          <a:xfrm>
            <a:off x="1222991" y="2514508"/>
            <a:ext cx="3444543" cy="3306761"/>
          </a:xfrm>
          <a:prstGeom prst="rect">
            <a:avLst/>
          </a:prstGeom>
        </p:spPr>
      </p:pic>
      <p:pic>
        <p:nvPicPr>
          <p:cNvPr id="5" name="Content Placeholder 4">
            <a:extLst>
              <a:ext uri="{FF2B5EF4-FFF2-40B4-BE49-F238E27FC236}">
                <a16:creationId xmlns:a16="http://schemas.microsoft.com/office/drawing/2014/main" id="{E9A59AB4-8203-B16E-D886-159E462AFD8A}"/>
              </a:ext>
            </a:extLst>
          </p:cNvPr>
          <p:cNvPicPr>
            <a:picLocks noGrp="1" noChangeAspect="1"/>
          </p:cNvPicPr>
          <p:nvPr>
            <p:ph idx="1"/>
          </p:nvPr>
        </p:nvPicPr>
        <p:blipFill>
          <a:blip r:embed="rId4"/>
          <a:stretch>
            <a:fillRect/>
          </a:stretch>
        </p:blipFill>
        <p:spPr>
          <a:xfrm>
            <a:off x="3325720" y="1036731"/>
            <a:ext cx="5540559" cy="4784538"/>
          </a:xfrm>
          <a:prstGeom prst="rect">
            <a:avLst/>
          </a:prstGeom>
          <a:ln w="28575">
            <a:solidFill>
              <a:schemeClr val="accent6">
                <a:lumMod val="75000"/>
              </a:schemeClr>
            </a:solidFill>
          </a:ln>
        </p:spPr>
      </p:pic>
    </p:spTree>
    <p:extLst>
      <p:ext uri="{BB962C8B-B14F-4D97-AF65-F5344CB8AC3E}">
        <p14:creationId xmlns:p14="http://schemas.microsoft.com/office/powerpoint/2010/main" val="3726751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3971F-0694-01CE-4338-303CA7D3CC37}"/>
              </a:ext>
            </a:extLst>
          </p:cNvPr>
          <p:cNvSpPr>
            <a:spLocks noGrp="1"/>
          </p:cNvSpPr>
          <p:nvPr>
            <p:ph type="title"/>
          </p:nvPr>
        </p:nvSpPr>
        <p:spPr/>
        <p:txBody>
          <a:bodyPr>
            <a:normAutofit/>
          </a:bodyPr>
          <a:lstStyle/>
          <a:p>
            <a:r>
              <a:rPr lang="en-US" sz="5400" dirty="0"/>
              <a:t>Parameter Estimation: Residuals</a:t>
            </a:r>
          </a:p>
        </p:txBody>
      </p:sp>
      <p:sp>
        <p:nvSpPr>
          <p:cNvPr id="3" name="Content Placeholder 2">
            <a:extLst>
              <a:ext uri="{FF2B5EF4-FFF2-40B4-BE49-F238E27FC236}">
                <a16:creationId xmlns:a16="http://schemas.microsoft.com/office/drawing/2014/main" id="{41D9C7EA-514D-FCD7-6E0C-F6530CB96BB9}"/>
              </a:ext>
            </a:extLst>
          </p:cNvPr>
          <p:cNvSpPr>
            <a:spLocks noGrp="1"/>
          </p:cNvSpPr>
          <p:nvPr>
            <p:ph idx="1"/>
          </p:nvPr>
        </p:nvSpPr>
        <p:spPr>
          <a:xfrm>
            <a:off x="838200" y="1825625"/>
            <a:ext cx="4715435" cy="4351338"/>
          </a:xfrm>
        </p:spPr>
        <p:txBody>
          <a:bodyPr>
            <a:normAutofit fontScale="92500" lnSpcReduction="20000"/>
          </a:bodyPr>
          <a:lstStyle/>
          <a:p>
            <a:pPr marL="0" indent="0">
              <a:buNone/>
            </a:pPr>
            <a:r>
              <a:rPr lang="en-US" sz="3200" dirty="0"/>
              <a:t>Residual: squared difference between an observed value and its predicted value in the regression</a:t>
            </a:r>
          </a:p>
          <a:p>
            <a:r>
              <a:rPr lang="en-US" sz="3200" dirty="0"/>
              <a:t>Residual Sum of Squares (SS) is the sum of all of the residuals</a:t>
            </a:r>
          </a:p>
          <a:p>
            <a:r>
              <a:rPr lang="en-US" sz="3200" dirty="0"/>
              <a:t>Best regression line is the one that minimizes this value</a:t>
            </a:r>
          </a:p>
        </p:txBody>
      </p:sp>
      <p:pic>
        <p:nvPicPr>
          <p:cNvPr id="5" name="Picture 4">
            <a:extLst>
              <a:ext uri="{FF2B5EF4-FFF2-40B4-BE49-F238E27FC236}">
                <a16:creationId xmlns:a16="http://schemas.microsoft.com/office/drawing/2014/main" id="{2642D1EF-D267-46DE-B45D-448BD0616EF3}"/>
              </a:ext>
            </a:extLst>
          </p:cNvPr>
          <p:cNvPicPr>
            <a:picLocks noChangeAspect="1"/>
          </p:cNvPicPr>
          <p:nvPr/>
        </p:nvPicPr>
        <p:blipFill>
          <a:blip r:embed="rId3"/>
          <a:stretch>
            <a:fillRect/>
          </a:stretch>
        </p:blipFill>
        <p:spPr>
          <a:xfrm>
            <a:off x="6197600" y="4727575"/>
            <a:ext cx="4826000" cy="1765300"/>
          </a:xfrm>
          <a:prstGeom prst="rect">
            <a:avLst/>
          </a:prstGeom>
          <a:ln w="28575">
            <a:solidFill>
              <a:schemeClr val="accent6">
                <a:lumMod val="75000"/>
              </a:schemeClr>
            </a:solidFill>
          </a:ln>
        </p:spPr>
      </p:pic>
      <p:pic>
        <p:nvPicPr>
          <p:cNvPr id="7" name="Picture 6">
            <a:extLst>
              <a:ext uri="{FF2B5EF4-FFF2-40B4-BE49-F238E27FC236}">
                <a16:creationId xmlns:a16="http://schemas.microsoft.com/office/drawing/2014/main" id="{B15DD625-7137-42C7-F878-4BEC3216B02A}"/>
              </a:ext>
            </a:extLst>
          </p:cNvPr>
          <p:cNvPicPr>
            <a:picLocks noChangeAspect="1"/>
          </p:cNvPicPr>
          <p:nvPr/>
        </p:nvPicPr>
        <p:blipFill>
          <a:blip r:embed="rId4"/>
          <a:stretch>
            <a:fillRect/>
          </a:stretch>
        </p:blipFill>
        <p:spPr>
          <a:xfrm>
            <a:off x="6096000" y="1553929"/>
            <a:ext cx="5029200" cy="3048000"/>
          </a:xfrm>
          <a:prstGeom prst="rect">
            <a:avLst/>
          </a:prstGeom>
          <a:ln w="28575">
            <a:solidFill>
              <a:schemeClr val="accent6">
                <a:lumMod val="75000"/>
              </a:schemeClr>
            </a:solidFill>
          </a:ln>
        </p:spPr>
      </p:pic>
    </p:spTree>
    <p:extLst>
      <p:ext uri="{BB962C8B-B14F-4D97-AF65-F5344CB8AC3E}">
        <p14:creationId xmlns:p14="http://schemas.microsoft.com/office/powerpoint/2010/main" val="26607289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5F75A-F635-F8B9-646F-320219280D81}"/>
              </a:ext>
            </a:extLst>
          </p:cNvPr>
          <p:cNvSpPr>
            <a:spLocks noGrp="1"/>
          </p:cNvSpPr>
          <p:nvPr>
            <p:ph type="title"/>
          </p:nvPr>
        </p:nvSpPr>
        <p:spPr/>
        <p:txBody>
          <a:bodyPr>
            <a:normAutofit/>
          </a:bodyPr>
          <a:lstStyle/>
          <a:p>
            <a:r>
              <a:rPr lang="en-US" sz="5400" dirty="0"/>
              <a:t>Residuals</a:t>
            </a:r>
          </a:p>
        </p:txBody>
      </p:sp>
      <p:sp>
        <p:nvSpPr>
          <p:cNvPr id="3" name="Content Placeholder 2">
            <a:extLst>
              <a:ext uri="{FF2B5EF4-FFF2-40B4-BE49-F238E27FC236}">
                <a16:creationId xmlns:a16="http://schemas.microsoft.com/office/drawing/2014/main" id="{CDC0545C-CEF0-2B69-B036-32F95A4093A1}"/>
              </a:ext>
            </a:extLst>
          </p:cNvPr>
          <p:cNvSpPr>
            <a:spLocks noGrp="1"/>
          </p:cNvSpPr>
          <p:nvPr>
            <p:ph idx="1"/>
          </p:nvPr>
        </p:nvSpPr>
        <p:spPr>
          <a:xfrm>
            <a:off x="838200" y="1820070"/>
            <a:ext cx="10515600" cy="4351338"/>
          </a:xfrm>
        </p:spPr>
        <p:txBody>
          <a:bodyPr>
            <a:normAutofit/>
          </a:bodyPr>
          <a:lstStyle/>
          <a:p>
            <a:pPr marL="0" indent="0">
              <a:buNone/>
            </a:pPr>
            <a:r>
              <a:rPr lang="en-US" sz="3200" dirty="0"/>
              <a:t>Residuals</a:t>
            </a:r>
            <a:r>
              <a:rPr lang="en-US" sz="3200" b="1" dirty="0"/>
              <a:t> </a:t>
            </a:r>
            <a:r>
              <a:rPr lang="en-US" sz="3200" dirty="0"/>
              <a:t>measure the scatter of points above and below the least squares regression line. </a:t>
            </a:r>
            <a:endParaRPr lang="en-US" sz="3200" dirty="0">
              <a:effectLst/>
            </a:endParaRPr>
          </a:p>
          <a:p>
            <a:r>
              <a:rPr lang="en-US" sz="3200" dirty="0"/>
              <a:t>evaluate the fit of the line to the data </a:t>
            </a:r>
            <a:endParaRPr lang="en-US" sz="3200" dirty="0">
              <a:effectLst/>
            </a:endParaRPr>
          </a:p>
          <a:p>
            <a:pPr marL="0" indent="0">
              <a:buNone/>
            </a:pPr>
            <a:r>
              <a:rPr lang="en-US" sz="3200" dirty="0"/>
              <a:t>The variance of the residuals, symbolized as </a:t>
            </a:r>
            <a:r>
              <a:rPr lang="en-US" sz="3200" dirty="0" err="1"/>
              <a:t>MS</a:t>
            </a:r>
            <a:r>
              <a:rPr lang="en-US" sz="3200" baseline="-25000" dirty="0" err="1"/>
              <a:t>residual</a:t>
            </a:r>
            <a:r>
              <a:rPr lang="en-US" sz="3200" dirty="0"/>
              <a:t> , quantifies the spread of the scatter of points above and below the line. In regression jargon, this variance is called the “residual mean square”: </a:t>
            </a:r>
            <a:endParaRPr lang="en-US" sz="3200" dirty="0">
              <a:effectLst/>
            </a:endParaRPr>
          </a:p>
          <a:p>
            <a:endParaRPr lang="en-US" sz="3200" dirty="0"/>
          </a:p>
        </p:txBody>
      </p:sp>
      <p:pic>
        <p:nvPicPr>
          <p:cNvPr id="8" name="Picture 7">
            <a:extLst>
              <a:ext uri="{FF2B5EF4-FFF2-40B4-BE49-F238E27FC236}">
                <a16:creationId xmlns:a16="http://schemas.microsoft.com/office/drawing/2014/main" id="{62C4CCD6-E2A6-D507-B1BA-2C573C3D1526}"/>
              </a:ext>
            </a:extLst>
          </p:cNvPr>
          <p:cNvPicPr>
            <a:picLocks noChangeAspect="1"/>
          </p:cNvPicPr>
          <p:nvPr/>
        </p:nvPicPr>
        <p:blipFill>
          <a:blip r:embed="rId2"/>
          <a:stretch>
            <a:fillRect/>
          </a:stretch>
        </p:blipFill>
        <p:spPr>
          <a:xfrm>
            <a:off x="2112276" y="5624186"/>
            <a:ext cx="2501900" cy="800100"/>
          </a:xfrm>
          <a:prstGeom prst="rect">
            <a:avLst/>
          </a:prstGeom>
          <a:ln w="28575">
            <a:solidFill>
              <a:schemeClr val="accent6">
                <a:lumMod val="75000"/>
              </a:schemeClr>
            </a:solidFill>
          </a:ln>
        </p:spPr>
      </p:pic>
      <p:pic>
        <p:nvPicPr>
          <p:cNvPr id="10" name="Picture 9">
            <a:extLst>
              <a:ext uri="{FF2B5EF4-FFF2-40B4-BE49-F238E27FC236}">
                <a16:creationId xmlns:a16="http://schemas.microsoft.com/office/drawing/2014/main" id="{2751F46F-0EA7-44B5-4E4F-E0B57FD93480}"/>
              </a:ext>
            </a:extLst>
          </p:cNvPr>
          <p:cNvPicPr>
            <a:picLocks noChangeAspect="1"/>
          </p:cNvPicPr>
          <p:nvPr/>
        </p:nvPicPr>
        <p:blipFill>
          <a:blip r:embed="rId3"/>
          <a:stretch>
            <a:fillRect/>
          </a:stretch>
        </p:blipFill>
        <p:spPr>
          <a:xfrm>
            <a:off x="6439580" y="5560686"/>
            <a:ext cx="4013200" cy="927100"/>
          </a:xfrm>
          <a:prstGeom prst="rect">
            <a:avLst/>
          </a:prstGeom>
          <a:ln w="28575">
            <a:solidFill>
              <a:schemeClr val="accent6">
                <a:lumMod val="75000"/>
              </a:schemeClr>
            </a:solidFill>
          </a:ln>
        </p:spPr>
      </p:pic>
    </p:spTree>
    <p:extLst>
      <p:ext uri="{BB962C8B-B14F-4D97-AF65-F5344CB8AC3E}">
        <p14:creationId xmlns:p14="http://schemas.microsoft.com/office/powerpoint/2010/main" val="9695387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4BA9D-1FE2-AD2A-D2A8-6007B673FAF0}"/>
              </a:ext>
            </a:extLst>
          </p:cNvPr>
          <p:cNvSpPr>
            <a:spLocks noGrp="1"/>
          </p:cNvSpPr>
          <p:nvPr>
            <p:ph type="title"/>
          </p:nvPr>
        </p:nvSpPr>
        <p:spPr/>
        <p:txBody>
          <a:bodyPr>
            <a:normAutofit fontScale="90000"/>
          </a:bodyPr>
          <a:lstStyle/>
          <a:p>
            <a:r>
              <a:rPr lang="en-US" dirty="0"/>
              <a:t>How much variation is explained by the</a:t>
            </a:r>
            <a:br>
              <a:rPr lang="en-US" dirty="0"/>
            </a:br>
            <a:r>
              <a:rPr lang="en-US" dirty="0"/>
              <a:t>linear </a:t>
            </a:r>
            <a:r>
              <a:rPr lang="en-US" sz="4900" dirty="0"/>
              <a:t>model</a:t>
            </a:r>
            <a:r>
              <a:rPr lang="en-US" dirty="0"/>
              <a:t>?</a:t>
            </a:r>
          </a:p>
        </p:txBody>
      </p:sp>
      <p:sp>
        <p:nvSpPr>
          <p:cNvPr id="3" name="Content Placeholder 2">
            <a:extLst>
              <a:ext uri="{FF2B5EF4-FFF2-40B4-BE49-F238E27FC236}">
                <a16:creationId xmlns:a16="http://schemas.microsoft.com/office/drawing/2014/main" id="{25C084F2-383E-A686-56FF-DABB8F3CC597}"/>
              </a:ext>
            </a:extLst>
          </p:cNvPr>
          <p:cNvSpPr>
            <a:spLocks noGrp="1"/>
          </p:cNvSpPr>
          <p:nvPr>
            <p:ph idx="1"/>
          </p:nvPr>
        </p:nvSpPr>
        <p:spPr>
          <a:xfrm>
            <a:off x="838200" y="1825625"/>
            <a:ext cx="6342529" cy="4351338"/>
          </a:xfrm>
        </p:spPr>
        <p:txBody>
          <a:bodyPr>
            <a:normAutofit lnSpcReduction="10000"/>
          </a:bodyPr>
          <a:lstStyle/>
          <a:p>
            <a:pPr marL="0" indent="0">
              <a:buNone/>
            </a:pPr>
            <a:r>
              <a:rPr lang="en-US" sz="3200" dirty="0"/>
              <a:t>After calculating model error, we should be able to quantify how much variation is explained...</a:t>
            </a:r>
          </a:p>
          <a:p>
            <a:r>
              <a:rPr lang="en-US" sz="3200" dirty="0"/>
              <a:t>Coefficient of Determination</a:t>
            </a:r>
          </a:p>
          <a:p>
            <a:r>
              <a:rPr lang="en-US" sz="3200" dirty="0"/>
              <a:t>Or, r</a:t>
            </a:r>
            <a:r>
              <a:rPr lang="en-US" sz="3200" baseline="30000" dirty="0"/>
              <a:t>2</a:t>
            </a:r>
          </a:p>
          <a:p>
            <a:pPr marL="0" indent="0">
              <a:buNone/>
            </a:pPr>
            <a:r>
              <a:rPr lang="en-US" sz="3200" dirty="0"/>
              <a:t>The fraction of total variation explained by regression.</a:t>
            </a:r>
          </a:p>
          <a:p>
            <a:r>
              <a:rPr lang="en-US" sz="3200" dirty="0"/>
              <a:t>(Square-root of r</a:t>
            </a:r>
            <a:r>
              <a:rPr lang="en-US" sz="3200" baseline="30000" dirty="0"/>
              <a:t>2</a:t>
            </a:r>
            <a:r>
              <a:rPr lang="en-US" sz="3200" dirty="0"/>
              <a:t> is also Pearson’s correlation coefficient)</a:t>
            </a:r>
          </a:p>
        </p:txBody>
      </p:sp>
      <p:pic>
        <p:nvPicPr>
          <p:cNvPr id="5" name="Picture 4">
            <a:extLst>
              <a:ext uri="{FF2B5EF4-FFF2-40B4-BE49-F238E27FC236}">
                <a16:creationId xmlns:a16="http://schemas.microsoft.com/office/drawing/2014/main" id="{17EE376F-D62E-30DB-5022-126346FFB78C}"/>
              </a:ext>
            </a:extLst>
          </p:cNvPr>
          <p:cNvPicPr>
            <a:picLocks noChangeAspect="1"/>
          </p:cNvPicPr>
          <p:nvPr/>
        </p:nvPicPr>
        <p:blipFill>
          <a:blip r:embed="rId3"/>
          <a:stretch>
            <a:fillRect/>
          </a:stretch>
        </p:blipFill>
        <p:spPr>
          <a:xfrm>
            <a:off x="7180729" y="2909094"/>
            <a:ext cx="4572000" cy="2184400"/>
          </a:xfrm>
          <a:prstGeom prst="rect">
            <a:avLst/>
          </a:prstGeom>
          <a:ln w="28575">
            <a:solidFill>
              <a:schemeClr val="accent6">
                <a:lumMod val="75000"/>
              </a:schemeClr>
            </a:solidFill>
          </a:ln>
        </p:spPr>
      </p:pic>
    </p:spTree>
    <p:extLst>
      <p:ext uri="{BB962C8B-B14F-4D97-AF65-F5344CB8AC3E}">
        <p14:creationId xmlns:p14="http://schemas.microsoft.com/office/powerpoint/2010/main" val="2395697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2713D-26DD-46C8-02C9-9349F07C1200}"/>
              </a:ext>
            </a:extLst>
          </p:cNvPr>
          <p:cNvSpPr>
            <a:spLocks noGrp="1"/>
          </p:cNvSpPr>
          <p:nvPr>
            <p:ph type="title"/>
          </p:nvPr>
        </p:nvSpPr>
        <p:spPr/>
        <p:txBody>
          <a:bodyPr/>
          <a:lstStyle/>
          <a:p>
            <a:r>
              <a:rPr lang="en-US" sz="5400" dirty="0"/>
              <a:t>r</a:t>
            </a:r>
            <a:r>
              <a:rPr lang="en-US" sz="5400" baseline="30000" dirty="0"/>
              <a:t>2</a:t>
            </a:r>
            <a:r>
              <a:rPr lang="en-US" dirty="0"/>
              <a:t> </a:t>
            </a:r>
            <a:r>
              <a:rPr lang="en-US" sz="5400" dirty="0"/>
              <a:t>Value</a:t>
            </a:r>
            <a:endParaRPr lang="en-US" dirty="0"/>
          </a:p>
        </p:txBody>
      </p:sp>
      <p:sp>
        <p:nvSpPr>
          <p:cNvPr id="3" name="Content Placeholder 2">
            <a:extLst>
              <a:ext uri="{FF2B5EF4-FFF2-40B4-BE49-F238E27FC236}">
                <a16:creationId xmlns:a16="http://schemas.microsoft.com/office/drawing/2014/main" id="{8C9360A8-EABD-D20D-91E5-67EFC14089B7}"/>
              </a:ext>
            </a:extLst>
          </p:cNvPr>
          <p:cNvSpPr>
            <a:spLocks noGrp="1"/>
          </p:cNvSpPr>
          <p:nvPr>
            <p:ph idx="1"/>
          </p:nvPr>
        </p:nvSpPr>
        <p:spPr/>
        <p:txBody>
          <a:bodyPr>
            <a:normAutofit fontScale="92500" lnSpcReduction="20000"/>
          </a:bodyPr>
          <a:lstStyle/>
          <a:p>
            <a:pPr marL="0" indent="0">
              <a:buNone/>
            </a:pPr>
            <a:r>
              <a:rPr lang="en-US" sz="3600" dirty="0"/>
              <a:t>Measures the fraction of variation in Y that is “explained” by X in the estimated linear regression.</a:t>
            </a:r>
          </a:p>
          <a:p>
            <a:r>
              <a:rPr lang="en-US" sz="3600" dirty="0"/>
              <a:t>If r</a:t>
            </a:r>
            <a:r>
              <a:rPr lang="en-US" sz="3600" baseline="30000" dirty="0"/>
              <a:t>2</a:t>
            </a:r>
            <a:r>
              <a:rPr lang="en-US" sz="3600" dirty="0"/>
              <a:t> is close to one (i.e., its maximum possible value), then X predicts most of the variation in the values of Y. In this case, the Y- observations will be clustered tightly around the regression line with little scatter. </a:t>
            </a:r>
          </a:p>
          <a:p>
            <a:r>
              <a:rPr lang="en-US" sz="3600" dirty="0"/>
              <a:t>If r</a:t>
            </a:r>
            <a:r>
              <a:rPr lang="en-US" sz="3600" baseline="30000" dirty="0"/>
              <a:t>2</a:t>
            </a:r>
            <a:r>
              <a:rPr lang="en-US" sz="3600" dirty="0"/>
              <a:t> is close to zero (i.e., its minimum value), then X does not predict much of the variation in Y , and the data points will be widely scattered above and below the regression line. </a:t>
            </a:r>
            <a:endParaRPr lang="en-US" sz="3600" dirty="0">
              <a:effectLst/>
            </a:endParaRPr>
          </a:p>
          <a:p>
            <a:endParaRPr lang="en-US" sz="3600" dirty="0">
              <a:effectLst/>
            </a:endParaRPr>
          </a:p>
          <a:p>
            <a:endParaRPr lang="en-US" sz="3600" dirty="0"/>
          </a:p>
        </p:txBody>
      </p:sp>
    </p:spTree>
    <p:extLst>
      <p:ext uri="{BB962C8B-B14F-4D97-AF65-F5344CB8AC3E}">
        <p14:creationId xmlns:p14="http://schemas.microsoft.com/office/powerpoint/2010/main" val="1014428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43849-1F2E-BA98-144B-DA5FF8915D07}"/>
              </a:ext>
            </a:extLst>
          </p:cNvPr>
          <p:cNvSpPr>
            <a:spLocks noGrp="1"/>
          </p:cNvSpPr>
          <p:nvPr>
            <p:ph type="title"/>
          </p:nvPr>
        </p:nvSpPr>
        <p:spPr/>
        <p:txBody>
          <a:bodyPr>
            <a:normAutofit/>
          </a:bodyPr>
          <a:lstStyle/>
          <a:p>
            <a:r>
              <a:rPr lang="en-US" sz="5400" dirty="0"/>
              <a:t>Hypothesis Testing With Regression</a:t>
            </a:r>
          </a:p>
        </p:txBody>
      </p:sp>
      <p:sp>
        <p:nvSpPr>
          <p:cNvPr id="3" name="Content Placeholder 2">
            <a:extLst>
              <a:ext uri="{FF2B5EF4-FFF2-40B4-BE49-F238E27FC236}">
                <a16:creationId xmlns:a16="http://schemas.microsoft.com/office/drawing/2014/main" id="{95C4C065-1E74-7A92-9135-7EFC32D14F08}"/>
              </a:ext>
            </a:extLst>
          </p:cNvPr>
          <p:cNvSpPr>
            <a:spLocks noGrp="1"/>
          </p:cNvSpPr>
          <p:nvPr>
            <p:ph idx="1"/>
          </p:nvPr>
        </p:nvSpPr>
        <p:spPr>
          <a:xfrm>
            <a:off x="838200" y="1825625"/>
            <a:ext cx="4002741" cy="4351338"/>
          </a:xfrm>
        </p:spPr>
        <p:txBody>
          <a:bodyPr>
            <a:normAutofit/>
          </a:bodyPr>
          <a:lstStyle/>
          <a:p>
            <a:r>
              <a:rPr lang="en-US" sz="3600" dirty="0"/>
              <a:t>Null – no pattern</a:t>
            </a:r>
          </a:p>
          <a:p>
            <a:r>
              <a:rPr lang="en-US" sz="3600" dirty="0"/>
              <a:t>Alternative – slope is positive/negative</a:t>
            </a:r>
          </a:p>
        </p:txBody>
      </p:sp>
      <p:pic>
        <p:nvPicPr>
          <p:cNvPr id="5" name="Picture 4">
            <a:extLst>
              <a:ext uri="{FF2B5EF4-FFF2-40B4-BE49-F238E27FC236}">
                <a16:creationId xmlns:a16="http://schemas.microsoft.com/office/drawing/2014/main" id="{63B6FFA6-0A72-C3DA-34B9-C9454809FE71}"/>
              </a:ext>
            </a:extLst>
          </p:cNvPr>
          <p:cNvPicPr>
            <a:picLocks noChangeAspect="1"/>
          </p:cNvPicPr>
          <p:nvPr/>
        </p:nvPicPr>
        <p:blipFill>
          <a:blip r:embed="rId3"/>
          <a:stretch>
            <a:fillRect/>
          </a:stretch>
        </p:blipFill>
        <p:spPr>
          <a:xfrm>
            <a:off x="715689" y="4377812"/>
            <a:ext cx="4622800" cy="1600200"/>
          </a:xfrm>
          <a:prstGeom prst="rect">
            <a:avLst/>
          </a:prstGeom>
          <a:ln w="28575">
            <a:solidFill>
              <a:schemeClr val="accent6">
                <a:lumMod val="75000"/>
              </a:schemeClr>
            </a:solidFill>
          </a:ln>
        </p:spPr>
      </p:pic>
      <p:pic>
        <p:nvPicPr>
          <p:cNvPr id="7" name="Picture 6">
            <a:extLst>
              <a:ext uri="{FF2B5EF4-FFF2-40B4-BE49-F238E27FC236}">
                <a16:creationId xmlns:a16="http://schemas.microsoft.com/office/drawing/2014/main" id="{4377D32B-935F-81D9-E2F2-0BB0CF253D30}"/>
              </a:ext>
            </a:extLst>
          </p:cNvPr>
          <p:cNvPicPr>
            <a:picLocks noChangeAspect="1"/>
          </p:cNvPicPr>
          <p:nvPr/>
        </p:nvPicPr>
        <p:blipFill>
          <a:blip r:embed="rId4"/>
          <a:stretch>
            <a:fillRect/>
          </a:stretch>
        </p:blipFill>
        <p:spPr>
          <a:xfrm>
            <a:off x="5595470" y="2282312"/>
            <a:ext cx="6261100" cy="3695700"/>
          </a:xfrm>
          <a:prstGeom prst="rect">
            <a:avLst/>
          </a:prstGeom>
          <a:ln w="28575">
            <a:solidFill>
              <a:schemeClr val="accent6">
                <a:lumMod val="75000"/>
              </a:schemeClr>
            </a:solidFill>
          </a:ln>
        </p:spPr>
      </p:pic>
    </p:spTree>
    <p:extLst>
      <p:ext uri="{BB962C8B-B14F-4D97-AF65-F5344CB8AC3E}">
        <p14:creationId xmlns:p14="http://schemas.microsoft.com/office/powerpoint/2010/main" val="823234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743FA-8014-F06F-D095-9A95118F7FF7}"/>
              </a:ext>
            </a:extLst>
          </p:cNvPr>
          <p:cNvSpPr>
            <a:spLocks noGrp="1"/>
          </p:cNvSpPr>
          <p:nvPr>
            <p:ph type="title"/>
          </p:nvPr>
        </p:nvSpPr>
        <p:spPr/>
        <p:txBody>
          <a:bodyPr>
            <a:normAutofit/>
          </a:bodyPr>
          <a:lstStyle/>
          <a:p>
            <a:r>
              <a:rPr lang="en-US" sz="5400" dirty="0"/>
              <a:t>Hypothesis Test</a:t>
            </a:r>
          </a:p>
        </p:txBody>
      </p:sp>
      <p:pic>
        <p:nvPicPr>
          <p:cNvPr id="5" name="Content Placeholder 4">
            <a:extLst>
              <a:ext uri="{FF2B5EF4-FFF2-40B4-BE49-F238E27FC236}">
                <a16:creationId xmlns:a16="http://schemas.microsoft.com/office/drawing/2014/main" id="{13149996-0F3A-61DE-7664-737CFE0E0785}"/>
              </a:ext>
            </a:extLst>
          </p:cNvPr>
          <p:cNvPicPr>
            <a:picLocks noGrp="1" noChangeAspect="1"/>
          </p:cNvPicPr>
          <p:nvPr>
            <p:ph idx="1"/>
          </p:nvPr>
        </p:nvPicPr>
        <p:blipFill>
          <a:blip r:embed="rId3"/>
          <a:stretch>
            <a:fillRect/>
          </a:stretch>
        </p:blipFill>
        <p:spPr>
          <a:xfrm>
            <a:off x="838200" y="2141537"/>
            <a:ext cx="3125150" cy="4351338"/>
          </a:xfrm>
          <a:prstGeom prst="rect">
            <a:avLst/>
          </a:prstGeom>
          <a:ln w="28575">
            <a:solidFill>
              <a:schemeClr val="accent6">
                <a:lumMod val="75000"/>
              </a:schemeClr>
            </a:solidFill>
          </a:ln>
        </p:spPr>
      </p:pic>
      <p:pic>
        <p:nvPicPr>
          <p:cNvPr id="7" name="Picture 6">
            <a:extLst>
              <a:ext uri="{FF2B5EF4-FFF2-40B4-BE49-F238E27FC236}">
                <a16:creationId xmlns:a16="http://schemas.microsoft.com/office/drawing/2014/main" id="{DAA2B2EC-651D-A325-D75E-329E29E21552}"/>
              </a:ext>
            </a:extLst>
          </p:cNvPr>
          <p:cNvPicPr>
            <a:picLocks noChangeAspect="1"/>
          </p:cNvPicPr>
          <p:nvPr/>
        </p:nvPicPr>
        <p:blipFill>
          <a:blip r:embed="rId4"/>
          <a:stretch>
            <a:fillRect/>
          </a:stretch>
        </p:blipFill>
        <p:spPr>
          <a:xfrm>
            <a:off x="4857524" y="1690688"/>
            <a:ext cx="4024690" cy="4802187"/>
          </a:xfrm>
          <a:prstGeom prst="rect">
            <a:avLst/>
          </a:prstGeom>
          <a:ln w="28575">
            <a:solidFill>
              <a:schemeClr val="accent6">
                <a:lumMod val="75000"/>
              </a:schemeClr>
            </a:solidFill>
          </a:ln>
        </p:spPr>
      </p:pic>
      <p:pic>
        <p:nvPicPr>
          <p:cNvPr id="8" name="Picture 7">
            <a:extLst>
              <a:ext uri="{FF2B5EF4-FFF2-40B4-BE49-F238E27FC236}">
                <a16:creationId xmlns:a16="http://schemas.microsoft.com/office/drawing/2014/main" id="{7B316AEB-4DF3-A771-6CF0-3AEF94090AAE}"/>
              </a:ext>
            </a:extLst>
          </p:cNvPr>
          <p:cNvPicPr>
            <a:picLocks noChangeAspect="1"/>
          </p:cNvPicPr>
          <p:nvPr/>
        </p:nvPicPr>
        <p:blipFill>
          <a:blip r:embed="rId5"/>
          <a:stretch>
            <a:fillRect/>
          </a:stretch>
        </p:blipFill>
        <p:spPr>
          <a:xfrm>
            <a:off x="9776388" y="1828800"/>
            <a:ext cx="1504976" cy="840441"/>
          </a:xfrm>
          <a:prstGeom prst="rect">
            <a:avLst/>
          </a:prstGeom>
          <a:ln w="28575">
            <a:solidFill>
              <a:schemeClr val="accent6">
                <a:lumMod val="75000"/>
              </a:schemeClr>
            </a:solidFill>
          </a:ln>
        </p:spPr>
      </p:pic>
      <p:sp>
        <p:nvSpPr>
          <p:cNvPr id="9" name="TextBox 8">
            <a:extLst>
              <a:ext uri="{FF2B5EF4-FFF2-40B4-BE49-F238E27FC236}">
                <a16:creationId xmlns:a16="http://schemas.microsoft.com/office/drawing/2014/main" id="{6D0B77E7-77CB-0178-40B8-0CB7DA381A54}"/>
              </a:ext>
            </a:extLst>
          </p:cNvPr>
          <p:cNvSpPr txBox="1"/>
          <p:nvPr/>
        </p:nvSpPr>
        <p:spPr>
          <a:xfrm>
            <a:off x="9336758" y="3717041"/>
            <a:ext cx="2384236" cy="1200329"/>
          </a:xfrm>
          <a:prstGeom prst="rect">
            <a:avLst/>
          </a:prstGeom>
          <a:noFill/>
        </p:spPr>
        <p:txBody>
          <a:bodyPr wrap="square" rtlCol="0">
            <a:spAutoFit/>
          </a:bodyPr>
          <a:lstStyle/>
          <a:p>
            <a:pPr algn="ctr"/>
            <a:r>
              <a:rPr lang="en-US" sz="2400" dirty="0"/>
              <a:t>This is the same formula for your observed t-value</a:t>
            </a:r>
          </a:p>
        </p:txBody>
      </p:sp>
      <p:sp>
        <p:nvSpPr>
          <p:cNvPr id="10" name="Up Arrow 9">
            <a:extLst>
              <a:ext uri="{FF2B5EF4-FFF2-40B4-BE49-F238E27FC236}">
                <a16:creationId xmlns:a16="http://schemas.microsoft.com/office/drawing/2014/main" id="{BA94D8A4-DD40-9C72-CB50-B9A5F99CBF96}"/>
              </a:ext>
            </a:extLst>
          </p:cNvPr>
          <p:cNvSpPr/>
          <p:nvPr/>
        </p:nvSpPr>
        <p:spPr>
          <a:xfrm>
            <a:off x="10313723" y="2830070"/>
            <a:ext cx="430306" cy="726141"/>
          </a:xfrm>
          <a:prstGeom prst="up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723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9BB4D-6587-08F4-B397-3DB38BA8E651}"/>
              </a:ext>
            </a:extLst>
          </p:cNvPr>
          <p:cNvSpPr>
            <a:spLocks noGrp="1"/>
          </p:cNvSpPr>
          <p:nvPr>
            <p:ph type="title"/>
          </p:nvPr>
        </p:nvSpPr>
        <p:spPr/>
        <p:txBody>
          <a:bodyPr>
            <a:normAutofit/>
          </a:bodyPr>
          <a:lstStyle/>
          <a:p>
            <a:r>
              <a:rPr lang="en-US" sz="5400" dirty="0"/>
              <a:t>Standard Error of the Slope</a:t>
            </a:r>
          </a:p>
        </p:txBody>
      </p:sp>
      <p:sp>
        <p:nvSpPr>
          <p:cNvPr id="3" name="Content Placeholder 2">
            <a:extLst>
              <a:ext uri="{FF2B5EF4-FFF2-40B4-BE49-F238E27FC236}">
                <a16:creationId xmlns:a16="http://schemas.microsoft.com/office/drawing/2014/main" id="{77C32265-2F9A-1781-96E8-0E2C5BE05830}"/>
              </a:ext>
            </a:extLst>
          </p:cNvPr>
          <p:cNvSpPr>
            <a:spLocks noGrp="1"/>
          </p:cNvSpPr>
          <p:nvPr>
            <p:ph idx="1"/>
          </p:nvPr>
        </p:nvSpPr>
        <p:spPr/>
        <p:txBody>
          <a:bodyPr>
            <a:normAutofit/>
          </a:bodyPr>
          <a:lstStyle/>
          <a:p>
            <a:pPr marL="0" indent="0">
              <a:buNone/>
            </a:pPr>
            <a:r>
              <a:rPr lang="en-US" sz="3600" dirty="0"/>
              <a:t>Uncertainty is measured by the standard error, the standard deviation of the sampling distribution of b. </a:t>
            </a:r>
          </a:p>
          <a:p>
            <a:pPr marL="0" indent="0">
              <a:buNone/>
            </a:pPr>
            <a:endParaRPr lang="en-US" sz="3600" dirty="0"/>
          </a:p>
          <a:p>
            <a:pPr marL="0" indent="0">
              <a:buNone/>
            </a:pPr>
            <a:r>
              <a:rPr lang="en-US" sz="3600" dirty="0"/>
              <a:t>The smaller the standard error, the higher the precision and the lower the uncertainty of the estimate of the slope. </a:t>
            </a:r>
            <a:endParaRPr lang="en-US" sz="3600" dirty="0">
              <a:effectLst/>
            </a:endParaRPr>
          </a:p>
          <a:p>
            <a:endParaRPr lang="en-US" sz="3600" dirty="0"/>
          </a:p>
        </p:txBody>
      </p:sp>
      <p:pic>
        <p:nvPicPr>
          <p:cNvPr id="6" name="Picture 5">
            <a:extLst>
              <a:ext uri="{FF2B5EF4-FFF2-40B4-BE49-F238E27FC236}">
                <a16:creationId xmlns:a16="http://schemas.microsoft.com/office/drawing/2014/main" id="{06F6DFAB-4A0B-3997-4AAC-D9869D6806A3}"/>
              </a:ext>
            </a:extLst>
          </p:cNvPr>
          <p:cNvPicPr>
            <a:picLocks noChangeAspect="1"/>
          </p:cNvPicPr>
          <p:nvPr/>
        </p:nvPicPr>
        <p:blipFill>
          <a:blip r:embed="rId3"/>
          <a:stretch>
            <a:fillRect/>
          </a:stretch>
        </p:blipFill>
        <p:spPr>
          <a:xfrm>
            <a:off x="8556032" y="5103354"/>
            <a:ext cx="2505088" cy="1073609"/>
          </a:xfrm>
          <a:prstGeom prst="rect">
            <a:avLst/>
          </a:prstGeom>
          <a:ln w="28575">
            <a:solidFill>
              <a:schemeClr val="accent6">
                <a:lumMod val="75000"/>
              </a:schemeClr>
            </a:solidFill>
          </a:ln>
        </p:spPr>
      </p:pic>
    </p:spTree>
    <p:extLst>
      <p:ext uri="{BB962C8B-B14F-4D97-AF65-F5344CB8AC3E}">
        <p14:creationId xmlns:p14="http://schemas.microsoft.com/office/powerpoint/2010/main" val="32847406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75D81-E42F-3E40-1B8D-4B6B74C83983}"/>
              </a:ext>
            </a:extLst>
          </p:cNvPr>
          <p:cNvSpPr>
            <a:spLocks noGrp="1"/>
          </p:cNvSpPr>
          <p:nvPr>
            <p:ph type="title"/>
          </p:nvPr>
        </p:nvSpPr>
        <p:spPr/>
        <p:txBody>
          <a:bodyPr>
            <a:normAutofit/>
          </a:bodyPr>
          <a:lstStyle/>
          <a:p>
            <a:r>
              <a:rPr lang="en-US" sz="5400" dirty="0"/>
              <a:t>Confidence Interval for the Slope</a:t>
            </a:r>
          </a:p>
        </p:txBody>
      </p:sp>
      <p:sp>
        <p:nvSpPr>
          <p:cNvPr id="3" name="Content Placeholder 2">
            <a:extLst>
              <a:ext uri="{FF2B5EF4-FFF2-40B4-BE49-F238E27FC236}">
                <a16:creationId xmlns:a16="http://schemas.microsoft.com/office/drawing/2014/main" id="{9B5E5ED8-A565-51BD-1F03-F18A0BBDBA3C}"/>
              </a:ext>
            </a:extLst>
          </p:cNvPr>
          <p:cNvSpPr>
            <a:spLocks noGrp="1"/>
          </p:cNvSpPr>
          <p:nvPr>
            <p:ph idx="1"/>
          </p:nvPr>
        </p:nvSpPr>
        <p:spPr/>
        <p:txBody>
          <a:bodyPr>
            <a:normAutofit/>
          </a:bodyPr>
          <a:lstStyle/>
          <a:p>
            <a:r>
              <a:rPr lang="en-US" sz="3200" dirty="0"/>
              <a:t>Conclude positive association if entire interval above 0</a:t>
            </a:r>
          </a:p>
          <a:p>
            <a:r>
              <a:rPr lang="en-US" sz="3200" dirty="0"/>
              <a:t>Conclude negative association if entire interval below 0</a:t>
            </a:r>
          </a:p>
          <a:p>
            <a:r>
              <a:rPr lang="en-US" sz="3200" dirty="0"/>
              <a:t>Cannot conclude an association if interval contains 0</a:t>
            </a:r>
          </a:p>
          <a:p>
            <a:r>
              <a:rPr lang="en-US" sz="3200" dirty="0"/>
              <a:t>Conclusion based on interval is same as 2-sided hypothesis test</a:t>
            </a:r>
          </a:p>
        </p:txBody>
      </p:sp>
      <p:pic>
        <p:nvPicPr>
          <p:cNvPr id="5" name="Picture 4">
            <a:extLst>
              <a:ext uri="{FF2B5EF4-FFF2-40B4-BE49-F238E27FC236}">
                <a16:creationId xmlns:a16="http://schemas.microsoft.com/office/drawing/2014/main" id="{A0486B7E-72F2-A896-259C-E6883ED26E9D}"/>
              </a:ext>
            </a:extLst>
          </p:cNvPr>
          <p:cNvPicPr>
            <a:picLocks noChangeAspect="1"/>
          </p:cNvPicPr>
          <p:nvPr/>
        </p:nvPicPr>
        <p:blipFill>
          <a:blip r:embed="rId3"/>
          <a:stretch>
            <a:fillRect/>
          </a:stretch>
        </p:blipFill>
        <p:spPr>
          <a:xfrm>
            <a:off x="5006788" y="4709320"/>
            <a:ext cx="7048500" cy="2006600"/>
          </a:xfrm>
          <a:prstGeom prst="rect">
            <a:avLst/>
          </a:prstGeom>
          <a:ln w="28575">
            <a:solidFill>
              <a:schemeClr val="accent6">
                <a:lumMod val="75000"/>
              </a:schemeClr>
            </a:solidFill>
          </a:ln>
        </p:spPr>
      </p:pic>
      <p:pic>
        <p:nvPicPr>
          <p:cNvPr id="7" name="Picture 6">
            <a:extLst>
              <a:ext uri="{FF2B5EF4-FFF2-40B4-BE49-F238E27FC236}">
                <a16:creationId xmlns:a16="http://schemas.microsoft.com/office/drawing/2014/main" id="{322FBF9A-2823-FDA1-20CB-C8BAA31C9507}"/>
              </a:ext>
            </a:extLst>
          </p:cNvPr>
          <p:cNvPicPr>
            <a:picLocks noChangeAspect="1"/>
          </p:cNvPicPr>
          <p:nvPr/>
        </p:nvPicPr>
        <p:blipFill>
          <a:blip r:embed="rId4"/>
          <a:stretch>
            <a:fillRect/>
          </a:stretch>
        </p:blipFill>
        <p:spPr>
          <a:xfrm>
            <a:off x="558049" y="4574383"/>
            <a:ext cx="5726210" cy="654424"/>
          </a:xfrm>
          <a:prstGeom prst="rect">
            <a:avLst/>
          </a:prstGeom>
          <a:ln w="28575">
            <a:solidFill>
              <a:schemeClr val="accent6">
                <a:lumMod val="75000"/>
              </a:schemeClr>
            </a:solidFill>
          </a:ln>
        </p:spPr>
      </p:pic>
    </p:spTree>
    <p:extLst>
      <p:ext uri="{BB962C8B-B14F-4D97-AF65-F5344CB8AC3E}">
        <p14:creationId xmlns:p14="http://schemas.microsoft.com/office/powerpoint/2010/main" val="2548043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710F4-79EA-C2AE-2103-E4032FA3CB9D}"/>
              </a:ext>
            </a:extLst>
          </p:cNvPr>
          <p:cNvSpPr>
            <a:spLocks noGrp="1"/>
          </p:cNvSpPr>
          <p:nvPr>
            <p:ph type="title"/>
          </p:nvPr>
        </p:nvSpPr>
        <p:spPr/>
        <p:txBody>
          <a:bodyPr/>
          <a:lstStyle/>
          <a:p>
            <a:r>
              <a:rPr lang="en-US" dirty="0"/>
              <a:t>Confidence Bands and Prediction Intervals</a:t>
            </a:r>
          </a:p>
        </p:txBody>
      </p:sp>
      <p:sp>
        <p:nvSpPr>
          <p:cNvPr id="3" name="Content Placeholder 2">
            <a:extLst>
              <a:ext uri="{FF2B5EF4-FFF2-40B4-BE49-F238E27FC236}">
                <a16:creationId xmlns:a16="http://schemas.microsoft.com/office/drawing/2014/main" id="{0E427FA5-3C68-122A-5963-CF434E054675}"/>
              </a:ext>
            </a:extLst>
          </p:cNvPr>
          <p:cNvSpPr>
            <a:spLocks noGrp="1"/>
          </p:cNvSpPr>
          <p:nvPr>
            <p:ph idx="1"/>
          </p:nvPr>
        </p:nvSpPr>
        <p:spPr>
          <a:xfrm>
            <a:off x="838200" y="1875965"/>
            <a:ext cx="10515600" cy="4351338"/>
          </a:xfrm>
        </p:spPr>
        <p:txBody>
          <a:bodyPr>
            <a:normAutofit/>
          </a:bodyPr>
          <a:lstStyle/>
          <a:p>
            <a:pPr marL="0" indent="0">
              <a:buNone/>
            </a:pPr>
            <a:r>
              <a:rPr lang="en-US" sz="3200" dirty="0"/>
              <a:t>Two subtly different types of predictions can be made using the regression line. </a:t>
            </a:r>
          </a:p>
          <a:p>
            <a:r>
              <a:rPr lang="en-US" sz="3200" dirty="0"/>
              <a:t>The first predicts the </a:t>
            </a:r>
            <a:r>
              <a:rPr lang="en-US" sz="3200" i="1" dirty="0"/>
              <a:t>mean </a:t>
            </a:r>
            <a:r>
              <a:rPr lang="en-US" sz="3200" dirty="0"/>
              <a:t>Y for a given X. </a:t>
            </a:r>
          </a:p>
          <a:p>
            <a:r>
              <a:rPr lang="en-US" sz="3200" dirty="0"/>
              <a:t>The second type predicts a </a:t>
            </a:r>
            <a:r>
              <a:rPr lang="en-US" sz="3200" i="1" dirty="0"/>
              <a:t>single </a:t>
            </a:r>
            <a:r>
              <a:rPr lang="en-US" sz="3200" dirty="0"/>
              <a:t>Y for a given X. </a:t>
            </a:r>
          </a:p>
          <a:p>
            <a:pPr marL="0" indent="0">
              <a:buNone/>
            </a:pPr>
            <a:r>
              <a:rPr lang="en-US" sz="3200" dirty="0"/>
              <a:t>Both types of predictions generate the same value for Y^ (y-hat). They differ in the precision of the predictions! </a:t>
            </a:r>
            <a:endParaRPr lang="en-US" sz="3200" dirty="0">
              <a:effectLst/>
            </a:endParaRPr>
          </a:p>
          <a:p>
            <a:endParaRPr lang="en-US" sz="3200" dirty="0">
              <a:effectLst/>
            </a:endParaRPr>
          </a:p>
          <a:p>
            <a:endParaRPr lang="en-US" sz="3200" dirty="0">
              <a:effectLst/>
            </a:endParaRPr>
          </a:p>
          <a:p>
            <a:endParaRPr lang="en-US" sz="3200" dirty="0"/>
          </a:p>
        </p:txBody>
      </p:sp>
    </p:spTree>
    <p:extLst>
      <p:ext uri="{BB962C8B-B14F-4D97-AF65-F5344CB8AC3E}">
        <p14:creationId xmlns:p14="http://schemas.microsoft.com/office/powerpoint/2010/main" val="14013459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90AF20D-995A-7105-17D8-EAF02D50A2EB}"/>
              </a:ext>
            </a:extLst>
          </p:cNvPr>
          <p:cNvPicPr>
            <a:picLocks noChangeAspect="1"/>
          </p:cNvPicPr>
          <p:nvPr/>
        </p:nvPicPr>
        <p:blipFill>
          <a:blip r:embed="rId3"/>
          <a:stretch>
            <a:fillRect/>
          </a:stretch>
        </p:blipFill>
        <p:spPr>
          <a:xfrm>
            <a:off x="7069256" y="0"/>
            <a:ext cx="3453168" cy="2946703"/>
          </a:xfrm>
          <a:prstGeom prst="rect">
            <a:avLst/>
          </a:prstGeom>
        </p:spPr>
      </p:pic>
      <p:pic>
        <p:nvPicPr>
          <p:cNvPr id="5" name="Content Placeholder 4">
            <a:extLst>
              <a:ext uri="{FF2B5EF4-FFF2-40B4-BE49-F238E27FC236}">
                <a16:creationId xmlns:a16="http://schemas.microsoft.com/office/drawing/2014/main" id="{254FE1A2-90B7-B581-F7B4-5705E78C9C75}"/>
              </a:ext>
            </a:extLst>
          </p:cNvPr>
          <p:cNvPicPr>
            <a:picLocks noGrp="1" noChangeAspect="1"/>
          </p:cNvPicPr>
          <p:nvPr>
            <p:ph idx="1"/>
          </p:nvPr>
        </p:nvPicPr>
        <p:blipFill>
          <a:blip r:embed="rId4"/>
          <a:stretch>
            <a:fillRect/>
          </a:stretch>
        </p:blipFill>
        <p:spPr>
          <a:xfrm>
            <a:off x="531248" y="2012773"/>
            <a:ext cx="11129504" cy="3924276"/>
          </a:xfrm>
          <a:prstGeom prst="rect">
            <a:avLst/>
          </a:prstGeom>
          <a:ln w="28575">
            <a:solidFill>
              <a:schemeClr val="accent6">
                <a:lumMod val="75000"/>
              </a:schemeClr>
            </a:solidFill>
          </a:ln>
        </p:spPr>
      </p:pic>
    </p:spTree>
    <p:extLst>
      <p:ext uri="{BB962C8B-B14F-4D97-AF65-F5344CB8AC3E}">
        <p14:creationId xmlns:p14="http://schemas.microsoft.com/office/powerpoint/2010/main" val="10396873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545D4-EC66-5297-13C6-EC05107EA661}"/>
              </a:ext>
            </a:extLst>
          </p:cNvPr>
          <p:cNvSpPr>
            <a:spLocks noGrp="1"/>
          </p:cNvSpPr>
          <p:nvPr>
            <p:ph type="title"/>
          </p:nvPr>
        </p:nvSpPr>
        <p:spPr/>
        <p:txBody>
          <a:bodyPr>
            <a:normAutofit/>
          </a:bodyPr>
          <a:lstStyle/>
          <a:p>
            <a:r>
              <a:rPr lang="en-US" sz="5400" dirty="0"/>
              <a:t>Extrapolation</a:t>
            </a:r>
          </a:p>
        </p:txBody>
      </p:sp>
      <p:sp>
        <p:nvSpPr>
          <p:cNvPr id="3" name="Content Placeholder 2">
            <a:extLst>
              <a:ext uri="{FF2B5EF4-FFF2-40B4-BE49-F238E27FC236}">
                <a16:creationId xmlns:a16="http://schemas.microsoft.com/office/drawing/2014/main" id="{450A708E-D4C5-5186-6C85-5EEEBEAAB9DA}"/>
              </a:ext>
            </a:extLst>
          </p:cNvPr>
          <p:cNvSpPr>
            <a:spLocks noGrp="1"/>
          </p:cNvSpPr>
          <p:nvPr>
            <p:ph idx="1"/>
          </p:nvPr>
        </p:nvSpPr>
        <p:spPr/>
        <p:txBody>
          <a:bodyPr>
            <a:normAutofit fontScale="92500" lnSpcReduction="10000"/>
          </a:bodyPr>
          <a:lstStyle/>
          <a:p>
            <a:r>
              <a:rPr lang="en-US" sz="3200" dirty="0"/>
              <a:t>Regression can be used to predict Y for any value of X lying between the smallest and largest values of X in the data set.</a:t>
            </a:r>
          </a:p>
          <a:p>
            <a:r>
              <a:rPr lang="en-US" sz="3200" dirty="0"/>
              <a:t>Regression cannot be used to predict the value of the response variable when an X-value lies well outside the range of the data. </a:t>
            </a:r>
            <a:endParaRPr lang="en-US" sz="3200" dirty="0">
              <a:effectLst/>
            </a:endParaRPr>
          </a:p>
          <a:p>
            <a:r>
              <a:rPr lang="en-US" sz="3200" dirty="0"/>
              <a:t>This is because there is no way to ensure that the relationship between X and Y continues to be linear beyond the range of the data. </a:t>
            </a:r>
          </a:p>
          <a:p>
            <a:r>
              <a:rPr lang="en-US" sz="3200" dirty="0"/>
              <a:t>Predicting Y for X-values beyond the range of the data is called </a:t>
            </a:r>
            <a:r>
              <a:rPr lang="en-US" sz="3200" b="1" dirty="0"/>
              <a:t>extrapolation</a:t>
            </a:r>
            <a:r>
              <a:rPr lang="en-US" sz="3200" dirty="0"/>
              <a:t>. </a:t>
            </a:r>
            <a:endParaRPr lang="en-US" sz="3200" dirty="0">
              <a:effectLst/>
            </a:endParaRPr>
          </a:p>
          <a:p>
            <a:endParaRPr lang="en-US" sz="3200" dirty="0"/>
          </a:p>
        </p:txBody>
      </p:sp>
    </p:spTree>
    <p:extLst>
      <p:ext uri="{BB962C8B-B14F-4D97-AF65-F5344CB8AC3E}">
        <p14:creationId xmlns:p14="http://schemas.microsoft.com/office/powerpoint/2010/main" val="8492796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9AACB-536A-B348-0B60-3AB0E919297D}"/>
              </a:ext>
            </a:extLst>
          </p:cNvPr>
          <p:cNvSpPr>
            <a:spLocks noGrp="1"/>
          </p:cNvSpPr>
          <p:nvPr>
            <p:ph type="title"/>
          </p:nvPr>
        </p:nvSpPr>
        <p:spPr/>
        <p:txBody>
          <a:bodyPr>
            <a:normAutofit/>
          </a:bodyPr>
          <a:lstStyle/>
          <a:p>
            <a:r>
              <a:rPr lang="en-US" sz="5400" dirty="0"/>
              <a:t>Extrapolation</a:t>
            </a:r>
          </a:p>
        </p:txBody>
      </p:sp>
      <p:sp>
        <p:nvSpPr>
          <p:cNvPr id="3" name="Content Placeholder 2">
            <a:extLst>
              <a:ext uri="{FF2B5EF4-FFF2-40B4-BE49-F238E27FC236}">
                <a16:creationId xmlns:a16="http://schemas.microsoft.com/office/drawing/2014/main" id="{7C39AAAB-48C6-7348-1FEF-40D1C135FBA5}"/>
              </a:ext>
            </a:extLst>
          </p:cNvPr>
          <p:cNvSpPr>
            <a:spLocks noGrp="1"/>
          </p:cNvSpPr>
          <p:nvPr>
            <p:ph idx="1"/>
          </p:nvPr>
        </p:nvSpPr>
        <p:spPr>
          <a:xfrm>
            <a:off x="838200" y="1825625"/>
            <a:ext cx="4298576" cy="4351338"/>
          </a:xfrm>
        </p:spPr>
        <p:txBody>
          <a:bodyPr/>
          <a:lstStyle/>
          <a:p>
            <a:r>
              <a:rPr lang="en-US" dirty="0"/>
              <a:t>Researchers measured the lengths of people’s ears from age 30 to 100. </a:t>
            </a:r>
          </a:p>
          <a:p>
            <a:r>
              <a:rPr lang="en-US" dirty="0"/>
              <a:t>They found that ears grow longer by about 0.22 mm per year on average as we age. </a:t>
            </a:r>
          </a:p>
          <a:p>
            <a:r>
              <a:rPr lang="en-US" dirty="0"/>
              <a:t>The intercept predicts ear length at birth, however…</a:t>
            </a:r>
          </a:p>
        </p:txBody>
      </p:sp>
      <p:pic>
        <p:nvPicPr>
          <p:cNvPr id="4" name="Picture 3">
            <a:extLst>
              <a:ext uri="{FF2B5EF4-FFF2-40B4-BE49-F238E27FC236}">
                <a16:creationId xmlns:a16="http://schemas.microsoft.com/office/drawing/2014/main" id="{2D0C224F-6E77-C8F2-3631-593E347D93BD}"/>
              </a:ext>
            </a:extLst>
          </p:cNvPr>
          <p:cNvPicPr>
            <a:picLocks noChangeAspect="1"/>
          </p:cNvPicPr>
          <p:nvPr/>
        </p:nvPicPr>
        <p:blipFill>
          <a:blip r:embed="rId3"/>
          <a:stretch>
            <a:fillRect/>
          </a:stretch>
        </p:blipFill>
        <p:spPr>
          <a:xfrm>
            <a:off x="5271720" y="1385047"/>
            <a:ext cx="6700646" cy="4791916"/>
          </a:xfrm>
          <a:prstGeom prst="rect">
            <a:avLst/>
          </a:prstGeom>
          <a:ln w="28575">
            <a:solidFill>
              <a:schemeClr val="accent6">
                <a:lumMod val="75000"/>
              </a:schemeClr>
            </a:solidFill>
          </a:ln>
        </p:spPr>
      </p:pic>
    </p:spTree>
    <p:extLst>
      <p:ext uri="{BB962C8B-B14F-4D97-AF65-F5344CB8AC3E}">
        <p14:creationId xmlns:p14="http://schemas.microsoft.com/office/powerpoint/2010/main" val="19392832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B4498-F983-B19D-575F-FAAAED7FF076}"/>
              </a:ext>
            </a:extLst>
          </p:cNvPr>
          <p:cNvSpPr>
            <a:spLocks noGrp="1"/>
          </p:cNvSpPr>
          <p:nvPr>
            <p:ph type="title"/>
          </p:nvPr>
        </p:nvSpPr>
        <p:spPr/>
        <p:txBody>
          <a:bodyPr>
            <a:normAutofit/>
          </a:bodyPr>
          <a:lstStyle/>
          <a:p>
            <a:r>
              <a:rPr lang="en-US" sz="5400" dirty="0"/>
              <a:t>Try it Yourself! </a:t>
            </a:r>
          </a:p>
        </p:txBody>
      </p:sp>
      <p:sp>
        <p:nvSpPr>
          <p:cNvPr id="3" name="Content Placeholder 2">
            <a:extLst>
              <a:ext uri="{FF2B5EF4-FFF2-40B4-BE49-F238E27FC236}">
                <a16:creationId xmlns:a16="http://schemas.microsoft.com/office/drawing/2014/main" id="{E96D4B5D-585F-C551-7AE3-C53A70B171B4}"/>
              </a:ext>
            </a:extLst>
          </p:cNvPr>
          <p:cNvSpPr>
            <a:spLocks noGrp="1"/>
          </p:cNvSpPr>
          <p:nvPr>
            <p:ph idx="1"/>
          </p:nvPr>
        </p:nvSpPr>
        <p:spPr>
          <a:xfrm>
            <a:off x="838200" y="1825625"/>
            <a:ext cx="3801035" cy="4351338"/>
          </a:xfrm>
        </p:spPr>
        <p:txBody>
          <a:bodyPr>
            <a:normAutofit lnSpcReduction="10000"/>
          </a:bodyPr>
          <a:lstStyle/>
          <a:p>
            <a:r>
              <a:rPr lang="en-US" sz="3600" dirty="0"/>
              <a:t>Use JASP to test out a simple regression on light availability and sapling height!</a:t>
            </a:r>
          </a:p>
          <a:p>
            <a:r>
              <a:rPr lang="en-US" sz="3600" dirty="0"/>
              <a:t>This will be due Thursday, Oct. 1 at 11:59 PM.</a:t>
            </a:r>
          </a:p>
        </p:txBody>
      </p:sp>
      <p:pic>
        <p:nvPicPr>
          <p:cNvPr id="5" name="Picture 4">
            <a:extLst>
              <a:ext uri="{FF2B5EF4-FFF2-40B4-BE49-F238E27FC236}">
                <a16:creationId xmlns:a16="http://schemas.microsoft.com/office/drawing/2014/main" id="{7C13B86B-CBC0-B732-9F04-A939CAACD2A7}"/>
              </a:ext>
            </a:extLst>
          </p:cNvPr>
          <p:cNvPicPr>
            <a:picLocks noChangeAspect="1"/>
          </p:cNvPicPr>
          <p:nvPr/>
        </p:nvPicPr>
        <p:blipFill>
          <a:blip r:embed="rId2"/>
          <a:stretch>
            <a:fillRect/>
          </a:stretch>
        </p:blipFill>
        <p:spPr>
          <a:xfrm>
            <a:off x="8343112" y="2005368"/>
            <a:ext cx="3161209" cy="4243234"/>
          </a:xfrm>
          <a:prstGeom prst="rect">
            <a:avLst/>
          </a:prstGeom>
        </p:spPr>
      </p:pic>
      <p:pic>
        <p:nvPicPr>
          <p:cNvPr id="7" name="Picture 6">
            <a:extLst>
              <a:ext uri="{FF2B5EF4-FFF2-40B4-BE49-F238E27FC236}">
                <a16:creationId xmlns:a16="http://schemas.microsoft.com/office/drawing/2014/main" id="{3CF5F379-E596-0374-C76A-67FCBD6C7FFD}"/>
              </a:ext>
            </a:extLst>
          </p:cNvPr>
          <p:cNvPicPr>
            <a:picLocks noChangeAspect="1"/>
          </p:cNvPicPr>
          <p:nvPr/>
        </p:nvPicPr>
        <p:blipFill>
          <a:blip r:embed="rId3"/>
          <a:stretch>
            <a:fillRect/>
          </a:stretch>
        </p:blipFill>
        <p:spPr>
          <a:xfrm>
            <a:off x="5322462" y="2048339"/>
            <a:ext cx="3161210" cy="4233763"/>
          </a:xfrm>
          <a:prstGeom prst="rect">
            <a:avLst/>
          </a:prstGeom>
        </p:spPr>
      </p:pic>
      <p:pic>
        <p:nvPicPr>
          <p:cNvPr id="9" name="Picture 8">
            <a:extLst>
              <a:ext uri="{FF2B5EF4-FFF2-40B4-BE49-F238E27FC236}">
                <a16:creationId xmlns:a16="http://schemas.microsoft.com/office/drawing/2014/main" id="{3284658C-BD1C-5C75-9B71-7CB9DEC3F5CB}"/>
              </a:ext>
            </a:extLst>
          </p:cNvPr>
          <p:cNvPicPr>
            <a:picLocks noChangeAspect="1"/>
          </p:cNvPicPr>
          <p:nvPr/>
        </p:nvPicPr>
        <p:blipFill>
          <a:blip r:embed="rId4"/>
          <a:stretch>
            <a:fillRect/>
          </a:stretch>
        </p:blipFill>
        <p:spPr>
          <a:xfrm>
            <a:off x="6560327" y="2169993"/>
            <a:ext cx="3846691" cy="4006970"/>
          </a:xfrm>
          <a:prstGeom prst="rect">
            <a:avLst/>
          </a:prstGeom>
        </p:spPr>
      </p:pic>
      <p:pic>
        <p:nvPicPr>
          <p:cNvPr id="11" name="Picture 10">
            <a:extLst>
              <a:ext uri="{FF2B5EF4-FFF2-40B4-BE49-F238E27FC236}">
                <a16:creationId xmlns:a16="http://schemas.microsoft.com/office/drawing/2014/main" id="{E869D791-0BE1-AAA7-621D-0515A089F411}"/>
              </a:ext>
            </a:extLst>
          </p:cNvPr>
          <p:cNvPicPr>
            <a:picLocks noChangeAspect="1"/>
          </p:cNvPicPr>
          <p:nvPr/>
        </p:nvPicPr>
        <p:blipFill>
          <a:blip r:embed="rId5"/>
          <a:stretch>
            <a:fillRect/>
          </a:stretch>
        </p:blipFill>
        <p:spPr>
          <a:xfrm>
            <a:off x="4329769" y="1087596"/>
            <a:ext cx="2631883" cy="5194506"/>
          </a:xfrm>
          <a:prstGeom prst="rect">
            <a:avLst/>
          </a:prstGeom>
        </p:spPr>
      </p:pic>
      <p:pic>
        <p:nvPicPr>
          <p:cNvPr id="13" name="Picture 12">
            <a:extLst>
              <a:ext uri="{FF2B5EF4-FFF2-40B4-BE49-F238E27FC236}">
                <a16:creationId xmlns:a16="http://schemas.microsoft.com/office/drawing/2014/main" id="{E534A809-18FC-7C57-27F4-09AB35F0EF40}"/>
              </a:ext>
            </a:extLst>
          </p:cNvPr>
          <p:cNvPicPr>
            <a:picLocks noChangeAspect="1"/>
          </p:cNvPicPr>
          <p:nvPr/>
        </p:nvPicPr>
        <p:blipFill>
          <a:blip r:embed="rId3"/>
          <a:stretch>
            <a:fillRect/>
          </a:stretch>
        </p:blipFill>
        <p:spPr>
          <a:xfrm>
            <a:off x="9342735" y="1647493"/>
            <a:ext cx="3515009" cy="4707602"/>
          </a:xfrm>
          <a:prstGeom prst="rect">
            <a:avLst/>
          </a:prstGeom>
        </p:spPr>
      </p:pic>
    </p:spTree>
    <p:extLst>
      <p:ext uri="{BB962C8B-B14F-4D97-AF65-F5344CB8AC3E}">
        <p14:creationId xmlns:p14="http://schemas.microsoft.com/office/powerpoint/2010/main" val="10562375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1545</TotalTime>
  <Words>3654</Words>
  <Application>Microsoft Macintosh PowerPoint</Application>
  <PresentationFormat>Widescreen</PresentationFormat>
  <Paragraphs>263</Paragraphs>
  <Slides>36</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Aptos</vt:lpstr>
      <vt:lpstr>Aptos Display</vt:lpstr>
      <vt:lpstr>Arial</vt:lpstr>
      <vt:lpstr>Cambria Math</vt:lpstr>
      <vt:lpstr>Wingdings</vt:lpstr>
      <vt:lpstr>Office Theme</vt:lpstr>
      <vt:lpstr>Correlation and Regression</vt:lpstr>
      <vt:lpstr>Correlation</vt:lpstr>
      <vt:lpstr>Example:</vt:lpstr>
      <vt:lpstr>Correlation Coefficient</vt:lpstr>
      <vt:lpstr>Correlation Coefficient</vt:lpstr>
      <vt:lpstr>Correlation Coefficient</vt:lpstr>
      <vt:lpstr>PowerPoint Presentation</vt:lpstr>
      <vt:lpstr>Standard Error of the Correlation Coefficient </vt:lpstr>
      <vt:lpstr>Correlation and Hypothesis Testing</vt:lpstr>
      <vt:lpstr>Correlation - Assumptions</vt:lpstr>
      <vt:lpstr>Departures from Bivariate Normality</vt:lpstr>
      <vt:lpstr>Correlation - Range</vt:lpstr>
      <vt:lpstr>Regression</vt:lpstr>
      <vt:lpstr>Regression</vt:lpstr>
      <vt:lpstr>Regression: Types of Experiments</vt:lpstr>
      <vt:lpstr>Linear Regression</vt:lpstr>
      <vt:lpstr>Linear Regression Model</vt:lpstr>
      <vt:lpstr>Linear Regression Model</vt:lpstr>
      <vt:lpstr>Parameter Estimation</vt:lpstr>
      <vt:lpstr>Parameter Estimation</vt:lpstr>
      <vt:lpstr>Parameter Estimation: Error</vt:lpstr>
      <vt:lpstr>Regression Line</vt:lpstr>
      <vt:lpstr>PowerPoint Presentation</vt:lpstr>
      <vt:lpstr>Parameter Estimation: Residuals</vt:lpstr>
      <vt:lpstr>Residuals</vt:lpstr>
      <vt:lpstr>How much variation is explained by the linear model?</vt:lpstr>
      <vt:lpstr>r2 Value</vt:lpstr>
      <vt:lpstr>Hypothesis Testing With Regression</vt:lpstr>
      <vt:lpstr>Hypothesis Test</vt:lpstr>
      <vt:lpstr>Standard Error of the Slope</vt:lpstr>
      <vt:lpstr>Confidence Interval for the Slope</vt:lpstr>
      <vt:lpstr>Confidence Bands and Prediction Intervals</vt:lpstr>
      <vt:lpstr>PowerPoint Presentation</vt:lpstr>
      <vt:lpstr>Extrapolation</vt:lpstr>
      <vt:lpstr>Extrapolation</vt:lpstr>
      <vt:lpstr>Try it Yourself!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Mothersole</dc:creator>
  <cp:lastModifiedBy>Anna Mothersole</cp:lastModifiedBy>
  <cp:revision>8</cp:revision>
  <dcterms:created xsi:type="dcterms:W3CDTF">2026-09-14T15:40:17Z</dcterms:created>
  <dcterms:modified xsi:type="dcterms:W3CDTF">2026-09-15T20:27:28Z</dcterms:modified>
</cp:coreProperties>
</file>