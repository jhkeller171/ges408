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258" r:id="rId4"/>
    <p:sldId id="298" r:id="rId5"/>
    <p:sldId id="259" r:id="rId6"/>
    <p:sldId id="299" r:id="rId7"/>
    <p:sldId id="300" r:id="rId8"/>
    <p:sldId id="305" r:id="rId9"/>
    <p:sldId id="308" r:id="rId10"/>
    <p:sldId id="261" r:id="rId11"/>
    <p:sldId id="260" r:id="rId12"/>
    <p:sldId id="263" r:id="rId13"/>
    <p:sldId id="264" r:id="rId14"/>
    <p:sldId id="265" r:id="rId15"/>
    <p:sldId id="267" r:id="rId16"/>
    <p:sldId id="306" r:id="rId17"/>
    <p:sldId id="307" r:id="rId18"/>
    <p:sldId id="266" r:id="rId19"/>
    <p:sldId id="268" r:id="rId20"/>
    <p:sldId id="269" r:id="rId21"/>
    <p:sldId id="270" r:id="rId22"/>
    <p:sldId id="271" r:id="rId23"/>
    <p:sldId id="301" r:id="rId24"/>
    <p:sldId id="303" r:id="rId25"/>
    <p:sldId id="272" r:id="rId26"/>
    <p:sldId id="273" r:id="rId27"/>
    <p:sldId id="274" r:id="rId28"/>
    <p:sldId id="275" r:id="rId29"/>
    <p:sldId id="276" r:id="rId30"/>
    <p:sldId id="277" r:id="rId31"/>
    <p:sldId id="278" r:id="rId32"/>
    <p:sldId id="281" r:id="rId33"/>
    <p:sldId id="279" r:id="rId34"/>
    <p:sldId id="280" r:id="rId35"/>
    <p:sldId id="282" r:id="rId36"/>
    <p:sldId id="283" r:id="rId37"/>
    <p:sldId id="284" r:id="rId38"/>
    <p:sldId id="285" r:id="rId39"/>
    <p:sldId id="286" r:id="rId40"/>
    <p:sldId id="287" r:id="rId41"/>
    <p:sldId id="302" r:id="rId42"/>
    <p:sldId id="288" r:id="rId43"/>
    <p:sldId id="289" r:id="rId44"/>
    <p:sldId id="290" r:id="rId45"/>
    <p:sldId id="291" r:id="rId46"/>
    <p:sldId id="292" r:id="rId47"/>
    <p:sldId id="295" r:id="rId48"/>
    <p:sldId id="293" r:id="rId49"/>
    <p:sldId id="294" r:id="rId50"/>
    <p:sldId id="296" r:id="rId51"/>
    <p:sldId id="297" r:id="rId52"/>
    <p:sldId id="304"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80087"/>
  </p:normalViewPr>
  <p:slideViewPr>
    <p:cSldViewPr snapToGrid="0">
      <p:cViewPr varScale="1">
        <p:scale>
          <a:sx n="95" d="100"/>
          <a:sy n="95" d="100"/>
        </p:scale>
        <p:origin x="13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8C356D-62B5-E34C-9C91-E6D6D701B28B}" type="datetimeFigureOut">
              <a:rPr lang="en-US" smtClean="0"/>
              <a:t>9/9/26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4EBE1A-5C74-3F45-A356-1FEA6C6C7F00}" type="slidenum">
              <a:rPr lang="en-US" smtClean="0"/>
              <a:t>‹#›</a:t>
            </a:fld>
            <a:endParaRPr lang="en-US"/>
          </a:p>
        </p:txBody>
      </p:sp>
    </p:spTree>
    <p:extLst>
      <p:ext uri="{BB962C8B-B14F-4D97-AF65-F5344CB8AC3E}">
        <p14:creationId xmlns:p14="http://schemas.microsoft.com/office/powerpoint/2010/main" val="3981011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causes by reducing error and bias</a:t>
            </a:r>
          </a:p>
        </p:txBody>
      </p:sp>
      <p:sp>
        <p:nvSpPr>
          <p:cNvPr id="4" name="Slide Number Placeholder 3"/>
          <p:cNvSpPr>
            <a:spLocks noGrp="1"/>
          </p:cNvSpPr>
          <p:nvPr>
            <p:ph type="sldNum" sz="quarter" idx="5"/>
          </p:nvPr>
        </p:nvSpPr>
        <p:spPr/>
        <p:txBody>
          <a:bodyPr/>
          <a:lstStyle/>
          <a:p>
            <a:fld id="{144EBE1A-5C74-3F45-A356-1FEA6C6C7F00}" type="slidenum">
              <a:rPr lang="en-US" smtClean="0"/>
              <a:t>2</a:t>
            </a:fld>
            <a:endParaRPr lang="en-US"/>
          </a:p>
        </p:txBody>
      </p:sp>
    </p:spTree>
    <p:extLst>
      <p:ext uri="{BB962C8B-B14F-4D97-AF65-F5344CB8AC3E}">
        <p14:creationId xmlns:p14="http://schemas.microsoft.com/office/powerpoint/2010/main" val="2307208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one of the first things we do! We see something going on and we ask our questions and come up with hypotheses</a:t>
            </a:r>
          </a:p>
        </p:txBody>
      </p:sp>
      <p:sp>
        <p:nvSpPr>
          <p:cNvPr id="4" name="Slide Number Placeholder 3"/>
          <p:cNvSpPr>
            <a:spLocks noGrp="1"/>
          </p:cNvSpPr>
          <p:nvPr>
            <p:ph type="sldNum" sz="quarter" idx="5"/>
          </p:nvPr>
        </p:nvSpPr>
        <p:spPr/>
        <p:txBody>
          <a:bodyPr/>
          <a:lstStyle/>
          <a:p>
            <a:fld id="{144EBE1A-5C74-3F45-A356-1FEA6C6C7F00}" type="slidenum">
              <a:rPr lang="en-US" smtClean="0"/>
              <a:t>3</a:t>
            </a:fld>
            <a:endParaRPr lang="en-US"/>
          </a:p>
        </p:txBody>
      </p:sp>
    </p:spTree>
    <p:extLst>
      <p:ext uri="{BB962C8B-B14F-4D97-AF65-F5344CB8AC3E}">
        <p14:creationId xmlns:p14="http://schemas.microsoft.com/office/powerpoint/2010/main" val="3482436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types of plants use a c3 pathway for photosynthesis, and some use a c4. </a:t>
            </a:r>
          </a:p>
          <a:p>
            <a:endParaRPr lang="en-US" dirty="0"/>
          </a:p>
          <a:p>
            <a:r>
              <a:rPr lang="en-US" dirty="0"/>
              <a:t>When we have our ideas set, we have to plan our experiment (often we are refining both things together though)</a:t>
            </a:r>
          </a:p>
        </p:txBody>
      </p:sp>
      <p:sp>
        <p:nvSpPr>
          <p:cNvPr id="4" name="Slide Number Placeholder 3"/>
          <p:cNvSpPr>
            <a:spLocks noGrp="1"/>
          </p:cNvSpPr>
          <p:nvPr>
            <p:ph type="sldNum" sz="quarter" idx="5"/>
          </p:nvPr>
        </p:nvSpPr>
        <p:spPr/>
        <p:txBody>
          <a:bodyPr/>
          <a:lstStyle/>
          <a:p>
            <a:fld id="{144EBE1A-5C74-3F45-A356-1FEA6C6C7F00}" type="slidenum">
              <a:rPr lang="en-US" smtClean="0"/>
              <a:t>4</a:t>
            </a:fld>
            <a:endParaRPr lang="en-US"/>
          </a:p>
        </p:txBody>
      </p:sp>
    </p:spTree>
    <p:extLst>
      <p:ext uri="{BB962C8B-B14F-4D97-AF65-F5344CB8AC3E}">
        <p14:creationId xmlns:p14="http://schemas.microsoft.com/office/powerpoint/2010/main" val="851739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going in and changing something! You are the manipulator</a:t>
            </a:r>
          </a:p>
          <a:p>
            <a:r>
              <a:rPr lang="en-US" dirty="0"/>
              <a:t>sometimes these can be harder to do, think about a protected/endangered species or ecosystem!</a:t>
            </a:r>
          </a:p>
        </p:txBody>
      </p:sp>
      <p:sp>
        <p:nvSpPr>
          <p:cNvPr id="4" name="Slide Number Placeholder 3"/>
          <p:cNvSpPr>
            <a:spLocks noGrp="1"/>
          </p:cNvSpPr>
          <p:nvPr>
            <p:ph type="sldNum" sz="quarter" idx="5"/>
          </p:nvPr>
        </p:nvSpPr>
        <p:spPr/>
        <p:txBody>
          <a:bodyPr/>
          <a:lstStyle/>
          <a:p>
            <a:fld id="{144EBE1A-5C74-3F45-A356-1FEA6C6C7F00}" type="slidenum">
              <a:rPr lang="en-US" smtClean="0"/>
              <a:t>5</a:t>
            </a:fld>
            <a:endParaRPr lang="en-US"/>
          </a:p>
        </p:txBody>
      </p:sp>
    </p:spTree>
    <p:extLst>
      <p:ext uri="{BB962C8B-B14F-4D97-AF65-F5344CB8AC3E}">
        <p14:creationId xmlns:p14="http://schemas.microsoft.com/office/powerpoint/2010/main" val="2515471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you simply observe</a:t>
            </a:r>
          </a:p>
          <a:p>
            <a:r>
              <a:rPr lang="en-US" dirty="0"/>
              <a:t>Doesn’t necessarily mean you </a:t>
            </a:r>
            <a:r>
              <a:rPr lang="en-US" dirty="0" err="1"/>
              <a:t>arent</a:t>
            </a:r>
            <a:r>
              <a:rPr lang="en-US" dirty="0"/>
              <a:t> taking samples, but that you’re not Manipulating the ecosystem majorly</a:t>
            </a:r>
          </a:p>
        </p:txBody>
      </p:sp>
      <p:sp>
        <p:nvSpPr>
          <p:cNvPr id="4" name="Slide Number Placeholder 3"/>
          <p:cNvSpPr>
            <a:spLocks noGrp="1"/>
          </p:cNvSpPr>
          <p:nvPr>
            <p:ph type="sldNum" sz="quarter" idx="5"/>
          </p:nvPr>
        </p:nvSpPr>
        <p:spPr/>
        <p:txBody>
          <a:bodyPr/>
          <a:lstStyle/>
          <a:p>
            <a:fld id="{144EBE1A-5C74-3F45-A356-1FEA6C6C7F00}" type="slidenum">
              <a:rPr lang="en-US" smtClean="0"/>
              <a:t>6</a:t>
            </a:fld>
            <a:endParaRPr lang="en-US"/>
          </a:p>
        </p:txBody>
      </p:sp>
    </p:spTree>
    <p:extLst>
      <p:ext uri="{BB962C8B-B14F-4D97-AF65-F5344CB8AC3E}">
        <p14:creationId xmlns:p14="http://schemas.microsoft.com/office/powerpoint/2010/main" val="84224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 cool! But have to get lucky with the conditions sometimes</a:t>
            </a:r>
          </a:p>
          <a:p>
            <a:r>
              <a:rPr lang="en-US" dirty="0"/>
              <a:t>Other examples: peppered moth, cholera in London</a:t>
            </a:r>
          </a:p>
          <a:p>
            <a:endParaRPr lang="en-US" dirty="0"/>
          </a:p>
          <a:p>
            <a:r>
              <a:rPr lang="en-US" dirty="0"/>
              <a:t>How do we then set up these experiments? &gt;&gt;</a:t>
            </a:r>
          </a:p>
        </p:txBody>
      </p:sp>
      <p:sp>
        <p:nvSpPr>
          <p:cNvPr id="4" name="Slide Number Placeholder 3"/>
          <p:cNvSpPr>
            <a:spLocks noGrp="1"/>
          </p:cNvSpPr>
          <p:nvPr>
            <p:ph type="sldNum" sz="quarter" idx="5"/>
          </p:nvPr>
        </p:nvSpPr>
        <p:spPr/>
        <p:txBody>
          <a:bodyPr/>
          <a:lstStyle/>
          <a:p>
            <a:fld id="{144EBE1A-5C74-3F45-A356-1FEA6C6C7F00}" type="slidenum">
              <a:rPr lang="en-US" smtClean="0"/>
              <a:t>7</a:t>
            </a:fld>
            <a:endParaRPr lang="en-US"/>
          </a:p>
        </p:txBody>
      </p:sp>
    </p:spTree>
    <p:extLst>
      <p:ext uri="{BB962C8B-B14F-4D97-AF65-F5344CB8AC3E}">
        <p14:creationId xmlns:p14="http://schemas.microsoft.com/office/powerpoint/2010/main" val="2530132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 variable AKA dependent, Y</a:t>
            </a:r>
          </a:p>
          <a:p>
            <a:r>
              <a:rPr lang="en-US" dirty="0"/>
              <a:t>Explanatory variable AKA independent, X</a:t>
            </a:r>
          </a:p>
          <a:p>
            <a:endParaRPr lang="en-US" dirty="0"/>
          </a:p>
          <a:p>
            <a:r>
              <a:rPr lang="en-US" dirty="0"/>
              <a:t>SST Explanatory, bleaching response</a:t>
            </a:r>
          </a:p>
        </p:txBody>
      </p:sp>
      <p:sp>
        <p:nvSpPr>
          <p:cNvPr id="4" name="Slide Number Placeholder 3"/>
          <p:cNvSpPr>
            <a:spLocks noGrp="1"/>
          </p:cNvSpPr>
          <p:nvPr>
            <p:ph type="sldNum" sz="quarter" idx="5"/>
          </p:nvPr>
        </p:nvSpPr>
        <p:spPr/>
        <p:txBody>
          <a:bodyPr/>
          <a:lstStyle/>
          <a:p>
            <a:fld id="{144EBE1A-5C74-3F45-A356-1FEA6C6C7F00}" type="slidenum">
              <a:rPr lang="en-US" smtClean="0"/>
              <a:t>8</a:t>
            </a:fld>
            <a:endParaRPr lang="en-US"/>
          </a:p>
        </p:txBody>
      </p:sp>
    </p:spTree>
    <p:extLst>
      <p:ext uri="{BB962C8B-B14F-4D97-AF65-F5344CB8AC3E}">
        <p14:creationId xmlns:p14="http://schemas.microsoft.com/office/powerpoint/2010/main" val="4183237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t>
            </a:r>
          </a:p>
          <a:p>
            <a:r>
              <a:rPr lang="en-US" dirty="0" err="1"/>
              <a:t>Youre</a:t>
            </a:r>
            <a:r>
              <a:rPr lang="en-US" dirty="0"/>
              <a:t> interested in plant growth. A factor could be “light availability”, and treatments could be “full sun”, “50% shade cloth”, “90% shade cloth”</a:t>
            </a:r>
          </a:p>
          <a:p>
            <a:endParaRPr lang="en-US" dirty="0"/>
          </a:p>
          <a:p>
            <a:r>
              <a:rPr lang="en-US" dirty="0"/>
              <a:t>NOTE: observational studies don’t have treatments in the exact same way as we aren’t manipulating anything. We can think about it as just having different levels of a factor or groups. Example could be insect abundance around roads. Factor would be distance from road, and Levels could be binned distance near/mid/far. </a:t>
            </a:r>
          </a:p>
        </p:txBody>
      </p:sp>
      <p:sp>
        <p:nvSpPr>
          <p:cNvPr id="4" name="Slide Number Placeholder 3"/>
          <p:cNvSpPr>
            <a:spLocks noGrp="1"/>
          </p:cNvSpPr>
          <p:nvPr>
            <p:ph type="sldNum" sz="quarter" idx="5"/>
          </p:nvPr>
        </p:nvSpPr>
        <p:spPr/>
        <p:txBody>
          <a:bodyPr/>
          <a:lstStyle/>
          <a:p>
            <a:fld id="{144EBE1A-5C74-3F45-A356-1FEA6C6C7F00}" type="slidenum">
              <a:rPr lang="en-US" smtClean="0"/>
              <a:t>9</a:t>
            </a:fld>
            <a:endParaRPr lang="en-US"/>
          </a:p>
        </p:txBody>
      </p:sp>
    </p:spTree>
    <p:extLst>
      <p:ext uri="{BB962C8B-B14F-4D97-AF65-F5344CB8AC3E}">
        <p14:creationId xmlns:p14="http://schemas.microsoft.com/office/powerpoint/2010/main" val="490233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draw this on the board</a:t>
            </a:r>
          </a:p>
          <a:p>
            <a:r>
              <a:rPr lang="en-US" dirty="0"/>
              <a:t>Example: if I want to test the effects of compost or something I made on plants, I set up my experimental units (plots of plants) and then…</a:t>
            </a:r>
          </a:p>
          <a:p>
            <a:r>
              <a:rPr lang="en-US" dirty="0"/>
              <a:t>ASK: what could my negative control be? (plot where I put nothing)</a:t>
            </a:r>
          </a:p>
          <a:p>
            <a:r>
              <a:rPr lang="en-US" dirty="0"/>
              <a:t>And what could my positive control be? (plot where I put </a:t>
            </a:r>
            <a:r>
              <a:rPr lang="en-US" dirty="0" err="1"/>
              <a:t>miraclegro</a:t>
            </a:r>
            <a:r>
              <a:rPr lang="en-US" dirty="0"/>
              <a:t>/fertilizer </a:t>
            </a:r>
            <a:r>
              <a:rPr lang="en-US" dirty="0" err="1"/>
              <a:t>thats</a:t>
            </a:r>
            <a:r>
              <a:rPr lang="en-US" dirty="0"/>
              <a:t> definitely supposed to work) – if nothing happens in these plots, maybe something is wrong with my setup </a:t>
            </a:r>
          </a:p>
        </p:txBody>
      </p:sp>
      <p:sp>
        <p:nvSpPr>
          <p:cNvPr id="4" name="Slide Number Placeholder 3"/>
          <p:cNvSpPr>
            <a:spLocks noGrp="1"/>
          </p:cNvSpPr>
          <p:nvPr>
            <p:ph type="sldNum" sz="quarter" idx="5"/>
          </p:nvPr>
        </p:nvSpPr>
        <p:spPr/>
        <p:txBody>
          <a:bodyPr/>
          <a:lstStyle/>
          <a:p>
            <a:fld id="{144EBE1A-5C74-3F45-A356-1FEA6C6C7F00}" type="slidenum">
              <a:rPr lang="en-US" smtClean="0"/>
              <a:t>10</a:t>
            </a:fld>
            <a:endParaRPr lang="en-US"/>
          </a:p>
        </p:txBody>
      </p:sp>
    </p:spTree>
    <p:extLst>
      <p:ext uri="{BB962C8B-B14F-4D97-AF65-F5344CB8AC3E}">
        <p14:creationId xmlns:p14="http://schemas.microsoft.com/office/powerpoint/2010/main" val="1219027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if you are investigating the effect of fertilizer on plant growth, and you have 10 plots – you apply fertilizer to the whole plot, your experimental units is the PLOT not the plants within the plots even if there’s 50 plants in each plot. </a:t>
            </a:r>
          </a:p>
          <a:p>
            <a:endParaRPr lang="en-US" dirty="0"/>
          </a:p>
          <a:p>
            <a:r>
              <a:rPr lang="en-US" dirty="0"/>
              <a:t>Now if you have 50 flowerpots and you put a plant in each one, now those are the experimental units because you will put a treatment onto them individually </a:t>
            </a:r>
          </a:p>
        </p:txBody>
      </p:sp>
      <p:sp>
        <p:nvSpPr>
          <p:cNvPr id="4" name="Slide Number Placeholder 3"/>
          <p:cNvSpPr>
            <a:spLocks noGrp="1"/>
          </p:cNvSpPr>
          <p:nvPr>
            <p:ph type="sldNum" sz="quarter" idx="5"/>
          </p:nvPr>
        </p:nvSpPr>
        <p:spPr/>
        <p:txBody>
          <a:bodyPr/>
          <a:lstStyle/>
          <a:p>
            <a:fld id="{144EBE1A-5C74-3F45-A356-1FEA6C6C7F00}" type="slidenum">
              <a:rPr lang="en-US" smtClean="0"/>
              <a:t>11</a:t>
            </a:fld>
            <a:endParaRPr lang="en-US"/>
          </a:p>
        </p:txBody>
      </p:sp>
    </p:spTree>
    <p:extLst>
      <p:ext uri="{BB962C8B-B14F-4D97-AF65-F5344CB8AC3E}">
        <p14:creationId xmlns:p14="http://schemas.microsoft.com/office/powerpoint/2010/main" val="3055835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talk more about sampling in a little bit! </a:t>
            </a:r>
          </a:p>
          <a:p>
            <a:endParaRPr lang="en-US" dirty="0"/>
          </a:p>
          <a:p>
            <a:r>
              <a:rPr lang="en-US" dirty="0"/>
              <a:t>Keep using field and plot example</a:t>
            </a:r>
          </a:p>
          <a:p>
            <a:r>
              <a:rPr lang="en-US" dirty="0"/>
              <a:t>Big field, divvy it up into plots, assign a number to each plot and draw straws to see which plot gets which treatment</a:t>
            </a:r>
          </a:p>
          <a:p>
            <a:r>
              <a:rPr lang="en-US" dirty="0"/>
              <a:t>What if there’s something different about the plots that you notice? Some sort of gradient in the field that you can’t necessarily control?</a:t>
            </a:r>
          </a:p>
          <a:p>
            <a:r>
              <a:rPr lang="en-US" dirty="0"/>
              <a:t>ASK: in this scenario, what could be something we can’t control?</a:t>
            </a:r>
          </a:p>
        </p:txBody>
      </p:sp>
      <p:sp>
        <p:nvSpPr>
          <p:cNvPr id="4" name="Slide Number Placeholder 3"/>
          <p:cNvSpPr>
            <a:spLocks noGrp="1"/>
          </p:cNvSpPr>
          <p:nvPr>
            <p:ph type="sldNum" sz="quarter" idx="5"/>
          </p:nvPr>
        </p:nvSpPr>
        <p:spPr/>
        <p:txBody>
          <a:bodyPr/>
          <a:lstStyle/>
          <a:p>
            <a:fld id="{144EBE1A-5C74-3F45-A356-1FEA6C6C7F00}" type="slidenum">
              <a:rPr lang="en-US" smtClean="0"/>
              <a:t>12</a:t>
            </a:fld>
            <a:endParaRPr lang="en-US"/>
          </a:p>
        </p:txBody>
      </p:sp>
    </p:spTree>
    <p:extLst>
      <p:ext uri="{BB962C8B-B14F-4D97-AF65-F5344CB8AC3E}">
        <p14:creationId xmlns:p14="http://schemas.microsoft.com/office/powerpoint/2010/main" val="4287300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of </a:t>
            </a:r>
            <a:r>
              <a:rPr lang="en-US" dirty="0" err="1"/>
              <a:t>counfounding</a:t>
            </a:r>
            <a:r>
              <a:rPr lang="en-US" dirty="0"/>
              <a:t> variables: we had some in our lab last week! Oh dear! We wanted to test the effect of species on herbivory, but what are some things about the environment that we didn’t control for/that were different between the two?</a:t>
            </a:r>
          </a:p>
        </p:txBody>
      </p:sp>
      <p:sp>
        <p:nvSpPr>
          <p:cNvPr id="4" name="Slide Number Placeholder 3"/>
          <p:cNvSpPr>
            <a:spLocks noGrp="1"/>
          </p:cNvSpPr>
          <p:nvPr>
            <p:ph type="sldNum" sz="quarter" idx="5"/>
          </p:nvPr>
        </p:nvSpPr>
        <p:spPr/>
        <p:txBody>
          <a:bodyPr/>
          <a:lstStyle/>
          <a:p>
            <a:fld id="{144EBE1A-5C74-3F45-A356-1FEA6C6C7F00}" type="slidenum">
              <a:rPr lang="en-US" smtClean="0"/>
              <a:t>13</a:t>
            </a:fld>
            <a:endParaRPr lang="en-US"/>
          </a:p>
        </p:txBody>
      </p:sp>
    </p:spTree>
    <p:extLst>
      <p:ext uri="{BB962C8B-B14F-4D97-AF65-F5344CB8AC3E}">
        <p14:creationId xmlns:p14="http://schemas.microsoft.com/office/powerpoint/2010/main" val="2602852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Completely randomized design: just completely random. No attempt to block based on gradient. </a:t>
            </a:r>
          </a:p>
          <a:p>
            <a:r>
              <a:rPr lang="en-US" dirty="0"/>
              <a:t>• Pros: statistically robust</a:t>
            </a:r>
          </a:p>
          <a:p>
            <a:r>
              <a:rPr lang="en-US" dirty="0"/>
              <a:t>• Cons: with a small n, chance of all in a bad patch</a:t>
            </a:r>
          </a:p>
          <a:p>
            <a:r>
              <a:rPr lang="en-US" dirty="0"/>
              <a:t>EXAMPLE: you have a field with 18 plots and 3 fertilizer treatments and you assign a treatment to each plot completely randomly. </a:t>
            </a:r>
          </a:p>
          <a:p>
            <a:r>
              <a:rPr lang="en-US" dirty="0" err="1"/>
              <a:t>Randomlized</a:t>
            </a:r>
            <a:r>
              <a:rPr lang="en-US" dirty="0"/>
              <a:t> block design: you have a gradient and block based on that assign “blocks” and then randomly assign treatment plot within the blocks</a:t>
            </a:r>
          </a:p>
          <a:p>
            <a:r>
              <a:rPr lang="en-US" dirty="0"/>
              <a:t>• Do not have to know if patches differ in quality</a:t>
            </a:r>
          </a:p>
          <a:p>
            <a:r>
              <a:rPr lang="en-US" dirty="0"/>
              <a:t>• Must have all treatment combinations in each block</a:t>
            </a:r>
          </a:p>
          <a:p>
            <a:r>
              <a:rPr lang="en-US" dirty="0"/>
              <a:t>EXAMPLE: maybe you have a known environmental gradient (one end of the field is more wet and the other is more dry), you would create blocks and assign each fertilizer treatment randomly within the block</a:t>
            </a:r>
          </a:p>
          <a:p>
            <a:r>
              <a:rPr lang="en-US" dirty="0"/>
              <a:t>You can see the blocks on the right haven’t been made correctly because you can see the strong gradient within the blocks</a:t>
            </a:r>
          </a:p>
          <a:p>
            <a:r>
              <a:rPr lang="en-US" dirty="0"/>
              <a:t>Latin square: you have 2 gradients (maybe like “moisture” and “light” or something like that) and you can create columns and rows. Each treatment should occur once in each column and once in each row (may be helpful to draw on board) – can clearly see why the “wrong” one on the right is wrong</a:t>
            </a:r>
          </a:p>
          <a:p>
            <a:r>
              <a:rPr lang="en-US" dirty="0"/>
              <a:t>Split-plot is where you have larger variables that are harder to change at the whole plot level and smaller variables that are easier to change at the split plot level. More on split plots here: https://</a:t>
            </a:r>
            <a:r>
              <a:rPr lang="en-US" dirty="0" err="1"/>
              <a:t>www.stat.purdue.edu</a:t>
            </a:r>
            <a:r>
              <a:rPr lang="en-US" dirty="0"/>
              <a:t>/~</a:t>
            </a:r>
            <a:r>
              <a:rPr lang="en-US" dirty="0" err="1"/>
              <a:t>zhanghao</a:t>
            </a:r>
            <a:r>
              <a:rPr lang="en-US" dirty="0"/>
              <a:t>/STAT514/</a:t>
            </a:r>
            <a:r>
              <a:rPr lang="en-US" dirty="0" err="1"/>
              <a:t>Lecture_Notes</a:t>
            </a:r>
            <a:r>
              <a:rPr lang="en-US" dirty="0"/>
              <a:t>/LectureNotes20-Split-plot-Designs-.html </a:t>
            </a:r>
          </a:p>
        </p:txBody>
      </p:sp>
      <p:sp>
        <p:nvSpPr>
          <p:cNvPr id="4" name="Slide Number Placeholder 3"/>
          <p:cNvSpPr>
            <a:spLocks noGrp="1"/>
          </p:cNvSpPr>
          <p:nvPr>
            <p:ph type="sldNum" sz="quarter" idx="5"/>
          </p:nvPr>
        </p:nvSpPr>
        <p:spPr/>
        <p:txBody>
          <a:bodyPr/>
          <a:lstStyle/>
          <a:p>
            <a:fld id="{144EBE1A-5C74-3F45-A356-1FEA6C6C7F00}" type="slidenum">
              <a:rPr lang="en-US" smtClean="0"/>
              <a:t>14</a:t>
            </a:fld>
            <a:endParaRPr lang="en-US"/>
          </a:p>
        </p:txBody>
      </p:sp>
    </p:spTree>
    <p:extLst>
      <p:ext uri="{BB962C8B-B14F-4D97-AF65-F5344CB8AC3E}">
        <p14:creationId xmlns:p14="http://schemas.microsoft.com/office/powerpoint/2010/main" val="4173608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Difference between blocking and factorial?</a:t>
            </a:r>
          </a:p>
          <a:p>
            <a:r>
              <a:rPr lang="en-US" sz="1200" b="0" i="0" kern="1200" dirty="0">
                <a:solidFill>
                  <a:schemeClr val="tx1"/>
                </a:solidFill>
                <a:effectLst/>
                <a:latin typeface="+mn-lt"/>
                <a:ea typeface="+mn-ea"/>
                <a:cs typeface="+mn-cs"/>
              </a:rPr>
              <a:t>Blocking is usually to control for a nuisance factor, aren’t usually looking to what the interaction between block and treatment are</a:t>
            </a:r>
          </a:p>
          <a:p>
            <a:r>
              <a:rPr lang="en-US" dirty="0"/>
              <a:t>• Increases generalizability, efficiency.</a:t>
            </a:r>
          </a:p>
          <a:p>
            <a:r>
              <a:rPr lang="en-US" dirty="0"/>
              <a:t>• Allows interactions to be detected</a:t>
            </a:r>
          </a:p>
        </p:txBody>
      </p:sp>
      <p:sp>
        <p:nvSpPr>
          <p:cNvPr id="4" name="Slide Number Placeholder 3"/>
          <p:cNvSpPr>
            <a:spLocks noGrp="1"/>
          </p:cNvSpPr>
          <p:nvPr>
            <p:ph type="sldNum" sz="quarter" idx="5"/>
          </p:nvPr>
        </p:nvSpPr>
        <p:spPr/>
        <p:txBody>
          <a:bodyPr/>
          <a:lstStyle/>
          <a:p>
            <a:fld id="{144EBE1A-5C74-3F45-A356-1FEA6C6C7F00}" type="slidenum">
              <a:rPr lang="en-US" smtClean="0"/>
              <a:t>15</a:t>
            </a:fld>
            <a:endParaRPr lang="en-US"/>
          </a:p>
        </p:txBody>
      </p:sp>
    </p:spTree>
    <p:extLst>
      <p:ext uri="{BB962C8B-B14F-4D97-AF65-F5344CB8AC3E}">
        <p14:creationId xmlns:p14="http://schemas.microsoft.com/office/powerpoint/2010/main" val="2994235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graph shows tadpole survival given different treatments. Interested in the combination of pesticide and predator presence. In this example the predator was caged, but visible to the tadpoles</a:t>
            </a:r>
          </a:p>
        </p:txBody>
      </p:sp>
      <p:sp>
        <p:nvSpPr>
          <p:cNvPr id="4" name="Slide Number Placeholder 3"/>
          <p:cNvSpPr>
            <a:spLocks noGrp="1"/>
          </p:cNvSpPr>
          <p:nvPr>
            <p:ph type="sldNum" sz="quarter" idx="5"/>
          </p:nvPr>
        </p:nvSpPr>
        <p:spPr/>
        <p:txBody>
          <a:bodyPr/>
          <a:lstStyle/>
          <a:p>
            <a:fld id="{144EBE1A-5C74-3F45-A356-1FEA6C6C7F00}" type="slidenum">
              <a:rPr lang="en-US" smtClean="0"/>
              <a:t>16</a:t>
            </a:fld>
            <a:endParaRPr lang="en-US"/>
          </a:p>
        </p:txBody>
      </p:sp>
    </p:spTree>
    <p:extLst>
      <p:ext uri="{BB962C8B-B14F-4D97-AF65-F5344CB8AC3E}">
        <p14:creationId xmlns:p14="http://schemas.microsoft.com/office/powerpoint/2010/main" val="670718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also be like. You measure the before/after heart rate of a scared animal every day for 7 days, and then you have 7 samples right? Well…. </a:t>
            </a:r>
          </a:p>
        </p:txBody>
      </p:sp>
      <p:sp>
        <p:nvSpPr>
          <p:cNvPr id="4" name="Slide Number Placeholder 3"/>
          <p:cNvSpPr>
            <a:spLocks noGrp="1"/>
          </p:cNvSpPr>
          <p:nvPr>
            <p:ph type="sldNum" sz="quarter" idx="5"/>
          </p:nvPr>
        </p:nvSpPr>
        <p:spPr/>
        <p:txBody>
          <a:bodyPr/>
          <a:lstStyle/>
          <a:p>
            <a:fld id="{144EBE1A-5C74-3F45-A356-1FEA6C6C7F00}" type="slidenum">
              <a:rPr lang="en-US" smtClean="0"/>
              <a:t>18</a:t>
            </a:fld>
            <a:endParaRPr lang="en-US"/>
          </a:p>
        </p:txBody>
      </p:sp>
    </p:spTree>
    <p:extLst>
      <p:ext uri="{BB962C8B-B14F-4D97-AF65-F5344CB8AC3E}">
        <p14:creationId xmlns:p14="http://schemas.microsoft.com/office/powerpoint/2010/main" val="2262695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things to think about!</a:t>
            </a:r>
          </a:p>
        </p:txBody>
      </p:sp>
      <p:sp>
        <p:nvSpPr>
          <p:cNvPr id="4" name="Slide Number Placeholder 3"/>
          <p:cNvSpPr>
            <a:spLocks noGrp="1"/>
          </p:cNvSpPr>
          <p:nvPr>
            <p:ph type="sldNum" sz="quarter" idx="5"/>
          </p:nvPr>
        </p:nvSpPr>
        <p:spPr/>
        <p:txBody>
          <a:bodyPr/>
          <a:lstStyle/>
          <a:p>
            <a:fld id="{144EBE1A-5C74-3F45-A356-1FEA6C6C7F00}" type="slidenum">
              <a:rPr lang="en-US" smtClean="0"/>
              <a:t>19</a:t>
            </a:fld>
            <a:endParaRPr lang="en-US"/>
          </a:p>
        </p:txBody>
      </p:sp>
    </p:spTree>
    <p:extLst>
      <p:ext uri="{BB962C8B-B14F-4D97-AF65-F5344CB8AC3E}">
        <p14:creationId xmlns:p14="http://schemas.microsoft.com/office/powerpoint/2010/main" val="2112223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things to think about!</a:t>
            </a:r>
          </a:p>
        </p:txBody>
      </p:sp>
      <p:sp>
        <p:nvSpPr>
          <p:cNvPr id="4" name="Slide Number Placeholder 3"/>
          <p:cNvSpPr>
            <a:spLocks noGrp="1"/>
          </p:cNvSpPr>
          <p:nvPr>
            <p:ph type="sldNum" sz="quarter" idx="5"/>
          </p:nvPr>
        </p:nvSpPr>
        <p:spPr/>
        <p:txBody>
          <a:bodyPr/>
          <a:lstStyle/>
          <a:p>
            <a:fld id="{144EBE1A-5C74-3F45-A356-1FEA6C6C7F00}" type="slidenum">
              <a:rPr lang="en-US" smtClean="0"/>
              <a:t>20</a:t>
            </a:fld>
            <a:endParaRPr lang="en-US"/>
          </a:p>
        </p:txBody>
      </p:sp>
    </p:spTree>
    <p:extLst>
      <p:ext uri="{BB962C8B-B14F-4D97-AF65-F5344CB8AC3E}">
        <p14:creationId xmlns:p14="http://schemas.microsoft.com/office/powerpoint/2010/main" val="4276107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things to think about!</a:t>
            </a:r>
          </a:p>
        </p:txBody>
      </p:sp>
      <p:sp>
        <p:nvSpPr>
          <p:cNvPr id="4" name="Slide Number Placeholder 3"/>
          <p:cNvSpPr>
            <a:spLocks noGrp="1"/>
          </p:cNvSpPr>
          <p:nvPr>
            <p:ph type="sldNum" sz="quarter" idx="5"/>
          </p:nvPr>
        </p:nvSpPr>
        <p:spPr/>
        <p:txBody>
          <a:bodyPr/>
          <a:lstStyle/>
          <a:p>
            <a:fld id="{144EBE1A-5C74-3F45-A356-1FEA6C6C7F00}" type="slidenum">
              <a:rPr lang="en-US" smtClean="0"/>
              <a:t>21</a:t>
            </a:fld>
            <a:endParaRPr lang="en-US"/>
          </a:p>
        </p:txBody>
      </p:sp>
    </p:spTree>
    <p:extLst>
      <p:ext uri="{BB962C8B-B14F-4D97-AF65-F5344CB8AC3E}">
        <p14:creationId xmlns:p14="http://schemas.microsoft.com/office/powerpoint/2010/main" val="1589055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1-beta (probability of type 2 error) is power</a:t>
            </a:r>
          </a:p>
          <a:p>
            <a:r>
              <a:rPr lang="en-US" dirty="0"/>
              <a:t>Sometimes you may have to do this to justify proposed research</a:t>
            </a:r>
          </a:p>
          <a:p>
            <a:r>
              <a:rPr lang="en-US" dirty="0"/>
              <a:t>Minimum number of samples needed to see an effect</a:t>
            </a:r>
          </a:p>
          <a:p>
            <a:r>
              <a:rPr lang="en-US" dirty="0"/>
              <a:t>In ecology we might think ok we need at least that many </a:t>
            </a:r>
          </a:p>
          <a:p>
            <a:r>
              <a:rPr lang="en-US" dirty="0"/>
              <a:t>Animal ethics: use as few mice (etc.) as possible for humane reasons</a:t>
            </a:r>
          </a:p>
        </p:txBody>
      </p:sp>
      <p:sp>
        <p:nvSpPr>
          <p:cNvPr id="4" name="Slide Number Placeholder 3"/>
          <p:cNvSpPr>
            <a:spLocks noGrp="1"/>
          </p:cNvSpPr>
          <p:nvPr>
            <p:ph type="sldNum" sz="quarter" idx="5"/>
          </p:nvPr>
        </p:nvSpPr>
        <p:spPr/>
        <p:txBody>
          <a:bodyPr/>
          <a:lstStyle/>
          <a:p>
            <a:fld id="{144EBE1A-5C74-3F45-A356-1FEA6C6C7F00}" type="slidenum">
              <a:rPr lang="en-US" smtClean="0"/>
              <a:t>23</a:t>
            </a:fld>
            <a:endParaRPr lang="en-US"/>
          </a:p>
        </p:txBody>
      </p:sp>
    </p:spTree>
    <p:extLst>
      <p:ext uri="{BB962C8B-B14F-4D97-AF65-F5344CB8AC3E}">
        <p14:creationId xmlns:p14="http://schemas.microsoft.com/office/powerpoint/2010/main" val="14206027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different computer programs can do this calculation</a:t>
            </a:r>
          </a:p>
          <a:p>
            <a:r>
              <a:rPr lang="en-US" dirty="0"/>
              <a:t>https://</a:t>
            </a:r>
            <a:r>
              <a:rPr lang="en-US" dirty="0" err="1"/>
              <a:t>stats.oarc.ucla.edu</a:t>
            </a:r>
            <a:r>
              <a:rPr lang="en-US" dirty="0"/>
              <a:t>/other/</a:t>
            </a:r>
            <a:r>
              <a:rPr lang="en-US" dirty="0" err="1"/>
              <a:t>mult</a:t>
            </a:r>
            <a:r>
              <a:rPr lang="en-US" dirty="0"/>
              <a:t>-pkg/seminars/intro-power/</a:t>
            </a:r>
          </a:p>
          <a:p>
            <a:r>
              <a:rPr lang="en-US" dirty="0"/>
              <a:t>To get “population” number estimations you can do a literature review or pilot study, as a couple examples, this is where that D comes from. Effect size between 2 things. </a:t>
            </a:r>
          </a:p>
          <a:p>
            <a:r>
              <a:rPr lang="en-US" dirty="0"/>
              <a:t>Might try and do an example of this together on </a:t>
            </a:r>
            <a:r>
              <a:rPr lang="en-US" dirty="0" err="1"/>
              <a:t>thurs</a:t>
            </a:r>
            <a:r>
              <a:rPr lang="en-US" dirty="0"/>
              <a:t>!!</a:t>
            </a:r>
          </a:p>
        </p:txBody>
      </p:sp>
      <p:sp>
        <p:nvSpPr>
          <p:cNvPr id="4" name="Slide Number Placeholder 3"/>
          <p:cNvSpPr>
            <a:spLocks noGrp="1"/>
          </p:cNvSpPr>
          <p:nvPr>
            <p:ph type="sldNum" sz="quarter" idx="5"/>
          </p:nvPr>
        </p:nvSpPr>
        <p:spPr/>
        <p:txBody>
          <a:bodyPr/>
          <a:lstStyle/>
          <a:p>
            <a:fld id="{144EBE1A-5C74-3F45-A356-1FEA6C6C7F00}" type="slidenum">
              <a:rPr lang="en-US" smtClean="0"/>
              <a:t>24</a:t>
            </a:fld>
            <a:endParaRPr lang="en-US"/>
          </a:p>
        </p:txBody>
      </p:sp>
    </p:spTree>
    <p:extLst>
      <p:ext uri="{BB962C8B-B14F-4D97-AF65-F5344CB8AC3E}">
        <p14:creationId xmlns:p14="http://schemas.microsoft.com/office/powerpoint/2010/main" val="42130885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(Nitrate increased in </a:t>
            </a:r>
            <a:r>
              <a:rPr lang="en-US" dirty="0" err="1"/>
              <a:t>streamwater</a:t>
            </a:r>
            <a:r>
              <a:rPr lang="en-US" dirty="0"/>
              <a:t>)</a:t>
            </a:r>
          </a:p>
          <a:p>
            <a:r>
              <a:rPr lang="en-US" dirty="0"/>
              <a:t>https://</a:t>
            </a:r>
            <a:r>
              <a:rPr lang="en-US" dirty="0" err="1"/>
              <a:t>hubbardbrook.org</a:t>
            </a:r>
            <a:r>
              <a:rPr lang="en-US" dirty="0"/>
              <a:t>/experimental-watersheds-research-sites/watershed-2/</a:t>
            </a:r>
          </a:p>
        </p:txBody>
      </p:sp>
      <p:sp>
        <p:nvSpPr>
          <p:cNvPr id="4" name="Slide Number Placeholder 3"/>
          <p:cNvSpPr>
            <a:spLocks noGrp="1"/>
          </p:cNvSpPr>
          <p:nvPr>
            <p:ph type="sldNum" sz="quarter" idx="5"/>
          </p:nvPr>
        </p:nvSpPr>
        <p:spPr/>
        <p:txBody>
          <a:bodyPr/>
          <a:lstStyle/>
          <a:p>
            <a:fld id="{144EBE1A-5C74-3F45-A356-1FEA6C6C7F00}" type="slidenum">
              <a:rPr lang="en-US" smtClean="0"/>
              <a:t>25</a:t>
            </a:fld>
            <a:endParaRPr lang="en-US"/>
          </a:p>
        </p:txBody>
      </p:sp>
    </p:spTree>
    <p:extLst>
      <p:ext uri="{BB962C8B-B14F-4D97-AF65-F5344CB8AC3E}">
        <p14:creationId xmlns:p14="http://schemas.microsoft.com/office/powerpoint/2010/main" val="3480907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Skim. This is just another case study</a:t>
            </a:r>
          </a:p>
        </p:txBody>
      </p:sp>
      <p:sp>
        <p:nvSpPr>
          <p:cNvPr id="4" name="Slide Number Placeholder 3"/>
          <p:cNvSpPr>
            <a:spLocks noGrp="1"/>
          </p:cNvSpPr>
          <p:nvPr>
            <p:ph type="sldNum" sz="quarter" idx="5"/>
          </p:nvPr>
        </p:nvSpPr>
        <p:spPr/>
        <p:txBody>
          <a:bodyPr/>
          <a:lstStyle/>
          <a:p>
            <a:fld id="{144EBE1A-5C74-3F45-A356-1FEA6C6C7F00}" type="slidenum">
              <a:rPr lang="en-US" smtClean="0"/>
              <a:t>26</a:t>
            </a:fld>
            <a:endParaRPr lang="en-US"/>
          </a:p>
        </p:txBody>
      </p:sp>
    </p:spTree>
    <p:extLst>
      <p:ext uri="{BB962C8B-B14F-4D97-AF65-F5344CB8AC3E}">
        <p14:creationId xmlns:p14="http://schemas.microsoft.com/office/powerpoint/2010/main" val="22167015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skim</a:t>
            </a:r>
          </a:p>
        </p:txBody>
      </p:sp>
      <p:sp>
        <p:nvSpPr>
          <p:cNvPr id="4" name="Slide Number Placeholder 3"/>
          <p:cNvSpPr>
            <a:spLocks noGrp="1"/>
          </p:cNvSpPr>
          <p:nvPr>
            <p:ph type="sldNum" sz="quarter" idx="5"/>
          </p:nvPr>
        </p:nvSpPr>
        <p:spPr/>
        <p:txBody>
          <a:bodyPr/>
          <a:lstStyle/>
          <a:p>
            <a:fld id="{144EBE1A-5C74-3F45-A356-1FEA6C6C7F00}" type="slidenum">
              <a:rPr lang="en-US" smtClean="0"/>
              <a:t>27</a:t>
            </a:fld>
            <a:endParaRPr lang="en-US"/>
          </a:p>
        </p:txBody>
      </p:sp>
    </p:spTree>
    <p:extLst>
      <p:ext uri="{BB962C8B-B14F-4D97-AF65-F5344CB8AC3E}">
        <p14:creationId xmlns:p14="http://schemas.microsoft.com/office/powerpoint/2010/main" val="19831857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SKIM</a:t>
            </a:r>
          </a:p>
        </p:txBody>
      </p:sp>
      <p:sp>
        <p:nvSpPr>
          <p:cNvPr id="4" name="Slide Number Placeholder 3"/>
          <p:cNvSpPr>
            <a:spLocks noGrp="1"/>
          </p:cNvSpPr>
          <p:nvPr>
            <p:ph type="sldNum" sz="quarter" idx="5"/>
          </p:nvPr>
        </p:nvSpPr>
        <p:spPr/>
        <p:txBody>
          <a:bodyPr/>
          <a:lstStyle/>
          <a:p>
            <a:fld id="{144EBE1A-5C74-3F45-A356-1FEA6C6C7F00}" type="slidenum">
              <a:rPr lang="en-US" smtClean="0"/>
              <a:t>28</a:t>
            </a:fld>
            <a:endParaRPr lang="en-US"/>
          </a:p>
        </p:txBody>
      </p:sp>
    </p:spTree>
    <p:extLst>
      <p:ext uri="{BB962C8B-B14F-4D97-AF65-F5344CB8AC3E}">
        <p14:creationId xmlns:p14="http://schemas.microsoft.com/office/powerpoint/2010/main" val="2529763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a break perhaps if there’s time</a:t>
            </a:r>
          </a:p>
        </p:txBody>
      </p:sp>
      <p:sp>
        <p:nvSpPr>
          <p:cNvPr id="4" name="Slide Number Placeholder 3"/>
          <p:cNvSpPr>
            <a:spLocks noGrp="1"/>
          </p:cNvSpPr>
          <p:nvPr>
            <p:ph type="sldNum" sz="quarter" idx="5"/>
          </p:nvPr>
        </p:nvSpPr>
        <p:spPr/>
        <p:txBody>
          <a:bodyPr/>
          <a:lstStyle/>
          <a:p>
            <a:fld id="{144EBE1A-5C74-3F45-A356-1FEA6C6C7F00}" type="slidenum">
              <a:rPr lang="en-US" smtClean="0"/>
              <a:t>29</a:t>
            </a:fld>
            <a:endParaRPr lang="en-US"/>
          </a:p>
        </p:txBody>
      </p:sp>
    </p:spTree>
    <p:extLst>
      <p:ext uri="{BB962C8B-B14F-4D97-AF65-F5344CB8AC3E}">
        <p14:creationId xmlns:p14="http://schemas.microsoft.com/office/powerpoint/2010/main" val="4025912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week 1 where we were talking about our field grasshoppers? We can’t get the population of grasshoppers. We can take a sample though!</a:t>
            </a:r>
          </a:p>
        </p:txBody>
      </p:sp>
      <p:sp>
        <p:nvSpPr>
          <p:cNvPr id="4" name="Slide Number Placeholder 3"/>
          <p:cNvSpPr>
            <a:spLocks noGrp="1"/>
          </p:cNvSpPr>
          <p:nvPr>
            <p:ph type="sldNum" sz="quarter" idx="5"/>
          </p:nvPr>
        </p:nvSpPr>
        <p:spPr/>
        <p:txBody>
          <a:bodyPr/>
          <a:lstStyle/>
          <a:p>
            <a:fld id="{144EBE1A-5C74-3F45-A356-1FEA6C6C7F00}" type="slidenum">
              <a:rPr lang="en-US" smtClean="0"/>
              <a:t>30</a:t>
            </a:fld>
            <a:endParaRPr lang="en-US"/>
          </a:p>
        </p:txBody>
      </p:sp>
    </p:spTree>
    <p:extLst>
      <p:ext uri="{BB962C8B-B14F-4D97-AF65-F5344CB8AC3E}">
        <p14:creationId xmlns:p14="http://schemas.microsoft.com/office/powerpoint/2010/main" val="16357198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4EBE1A-5C74-3F45-A356-1FEA6C6C7F00}" type="slidenum">
              <a:rPr lang="en-US" smtClean="0"/>
              <a:t>31</a:t>
            </a:fld>
            <a:endParaRPr lang="en-US"/>
          </a:p>
        </p:txBody>
      </p:sp>
    </p:spTree>
    <p:extLst>
      <p:ext uri="{BB962C8B-B14F-4D97-AF65-F5344CB8AC3E}">
        <p14:creationId xmlns:p14="http://schemas.microsoft.com/office/powerpoint/2010/main" val="7312352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Randomly choose your starting point</a:t>
            </a:r>
          </a:p>
          <a:p>
            <a:r>
              <a:rPr lang="en-US" dirty="0"/>
              <a:t>Can be somewhat biased occasionally – could over or underrepresent a pattern present, so be careful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Good note: use when the item of interest could not possibly be aligned with the sampling pattern (e.g., don't take air samples every Monday morning if a nearby plant always pressure-cleans the duct work on Monday morning); https://</a:t>
            </a:r>
            <a:r>
              <a:rPr lang="en-US" sz="1200" b="0" i="0" kern="1200" dirty="0" err="1">
                <a:solidFill>
                  <a:schemeClr val="tx1"/>
                </a:solidFill>
                <a:effectLst/>
                <a:latin typeface="+mn-lt"/>
                <a:ea typeface="+mn-ea"/>
                <a:cs typeface="+mn-cs"/>
              </a:rPr>
              <a:t>www.epa.gov</a:t>
            </a:r>
            <a:r>
              <a:rPr lang="en-US" sz="1200" b="0" i="0" kern="1200" dirty="0">
                <a:solidFill>
                  <a:schemeClr val="tx1"/>
                </a:solidFill>
                <a:effectLst/>
                <a:latin typeface="+mn-lt"/>
                <a:ea typeface="+mn-ea"/>
                <a:cs typeface="+mn-cs"/>
              </a:rPr>
              <a:t>/quality/</a:t>
            </a:r>
            <a:r>
              <a:rPr lang="en-US" sz="1200" b="0" i="0" kern="1200" dirty="0" err="1">
                <a:solidFill>
                  <a:schemeClr val="tx1"/>
                </a:solidFill>
                <a:effectLst/>
                <a:latin typeface="+mn-lt"/>
                <a:ea typeface="+mn-ea"/>
                <a:cs typeface="+mn-cs"/>
              </a:rPr>
              <a:t>selecting-sampling-design#sg</a:t>
            </a:r>
            <a:r>
              <a:rPr lang="en-US"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144EBE1A-5C74-3F45-A356-1FEA6C6C7F00}" type="slidenum">
              <a:rPr lang="en-US" smtClean="0"/>
              <a:t>32</a:t>
            </a:fld>
            <a:endParaRPr lang="en-US"/>
          </a:p>
        </p:txBody>
      </p:sp>
    </p:spTree>
    <p:extLst>
      <p:ext uri="{BB962C8B-B14F-4D97-AF65-F5344CB8AC3E}">
        <p14:creationId xmlns:p14="http://schemas.microsoft.com/office/powerpoint/2010/main" val="3193525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In </a:t>
            </a:r>
            <a:r>
              <a:rPr lang="en-US" b="1" dirty="0"/>
              <a:t>stratified sampling</a:t>
            </a:r>
            <a:r>
              <a:rPr lang="en-US" dirty="0"/>
              <a:t>, the population is divided into subgroups (strata), and random samples are taken from each stratum. </a:t>
            </a:r>
            <a:endParaRPr lang="en-US" b="0" dirty="0">
              <a:effectLst/>
            </a:endParaRPr>
          </a:p>
          <a:p>
            <a:r>
              <a:rPr lang="en-US" dirty="0"/>
              <a:t>This ensures that all subgroups are represented in the sample.</a:t>
            </a:r>
            <a:endParaRPr lang="en-US" b="0" dirty="0">
              <a:effectLst/>
            </a:endParaRPr>
          </a:p>
          <a:p>
            <a:endParaRPr lang="en-US" dirty="0"/>
          </a:p>
        </p:txBody>
      </p:sp>
      <p:sp>
        <p:nvSpPr>
          <p:cNvPr id="4" name="Slide Number Placeholder 3"/>
          <p:cNvSpPr>
            <a:spLocks noGrp="1"/>
          </p:cNvSpPr>
          <p:nvPr>
            <p:ph type="sldNum" sz="quarter" idx="5"/>
          </p:nvPr>
        </p:nvSpPr>
        <p:spPr/>
        <p:txBody>
          <a:bodyPr/>
          <a:lstStyle/>
          <a:p>
            <a:fld id="{144EBE1A-5C74-3F45-A356-1FEA6C6C7F00}" type="slidenum">
              <a:rPr lang="en-US" smtClean="0"/>
              <a:t>33</a:t>
            </a:fld>
            <a:endParaRPr lang="en-US"/>
          </a:p>
        </p:txBody>
      </p:sp>
    </p:spTree>
    <p:extLst>
      <p:ext uri="{BB962C8B-B14F-4D97-AF65-F5344CB8AC3E}">
        <p14:creationId xmlns:p14="http://schemas.microsoft.com/office/powerpoint/2010/main" val="12891128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mutually exclusive with systematic sampling</a:t>
            </a:r>
          </a:p>
        </p:txBody>
      </p:sp>
      <p:sp>
        <p:nvSpPr>
          <p:cNvPr id="4" name="Slide Number Placeholder 3"/>
          <p:cNvSpPr>
            <a:spLocks noGrp="1"/>
          </p:cNvSpPr>
          <p:nvPr>
            <p:ph type="sldNum" sz="quarter" idx="5"/>
          </p:nvPr>
        </p:nvSpPr>
        <p:spPr/>
        <p:txBody>
          <a:bodyPr/>
          <a:lstStyle/>
          <a:p>
            <a:fld id="{144EBE1A-5C74-3F45-A356-1FEA6C6C7F00}" type="slidenum">
              <a:rPr lang="en-US" smtClean="0"/>
              <a:t>34</a:t>
            </a:fld>
            <a:endParaRPr lang="en-US"/>
          </a:p>
        </p:txBody>
      </p:sp>
    </p:spTree>
    <p:extLst>
      <p:ext uri="{BB962C8B-B14F-4D97-AF65-F5344CB8AC3E}">
        <p14:creationId xmlns:p14="http://schemas.microsoft.com/office/powerpoint/2010/main" val="29379755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samples are better, but we don’t have unlimited time or resources!</a:t>
            </a:r>
          </a:p>
          <a:p>
            <a:r>
              <a:rPr lang="en-US" dirty="0"/>
              <a:t>This is where the species accumulation curve comes in</a:t>
            </a:r>
          </a:p>
        </p:txBody>
      </p:sp>
      <p:sp>
        <p:nvSpPr>
          <p:cNvPr id="4" name="Slide Number Placeholder 3"/>
          <p:cNvSpPr>
            <a:spLocks noGrp="1"/>
          </p:cNvSpPr>
          <p:nvPr>
            <p:ph type="sldNum" sz="quarter" idx="5"/>
          </p:nvPr>
        </p:nvSpPr>
        <p:spPr/>
        <p:txBody>
          <a:bodyPr/>
          <a:lstStyle/>
          <a:p>
            <a:fld id="{144EBE1A-5C74-3F45-A356-1FEA6C6C7F00}" type="slidenum">
              <a:rPr lang="en-US" smtClean="0"/>
              <a:t>36</a:t>
            </a:fld>
            <a:endParaRPr lang="en-US"/>
          </a:p>
        </p:txBody>
      </p:sp>
    </p:spTree>
    <p:extLst>
      <p:ext uri="{BB962C8B-B14F-4D97-AF65-F5344CB8AC3E}">
        <p14:creationId xmlns:p14="http://schemas.microsoft.com/office/powerpoint/2010/main" val="32988758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have half of the room think about coral and half the room think about fish. Try to come up with some ways to sample these things! </a:t>
            </a:r>
          </a:p>
          <a:p>
            <a:r>
              <a:rPr lang="en-US" dirty="0"/>
              <a:t>Then I can show my “answers” (these would be the more conventional ways of doing things but surely not the only way – and you can always think of a new method and test it against something conventional!) </a:t>
            </a:r>
          </a:p>
        </p:txBody>
      </p:sp>
      <p:sp>
        <p:nvSpPr>
          <p:cNvPr id="4" name="Slide Number Placeholder 3"/>
          <p:cNvSpPr>
            <a:spLocks noGrp="1"/>
          </p:cNvSpPr>
          <p:nvPr>
            <p:ph type="sldNum" sz="quarter" idx="5"/>
          </p:nvPr>
        </p:nvSpPr>
        <p:spPr/>
        <p:txBody>
          <a:bodyPr/>
          <a:lstStyle/>
          <a:p>
            <a:fld id="{144EBE1A-5C74-3F45-A356-1FEA6C6C7F00}" type="slidenum">
              <a:rPr lang="en-US" smtClean="0"/>
              <a:t>37</a:t>
            </a:fld>
            <a:endParaRPr lang="en-US"/>
          </a:p>
        </p:txBody>
      </p:sp>
    </p:spTree>
    <p:extLst>
      <p:ext uri="{BB962C8B-B14F-4D97-AF65-F5344CB8AC3E}">
        <p14:creationId xmlns:p14="http://schemas.microsoft.com/office/powerpoint/2010/main" val="22241061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4EBE1A-5C74-3F45-A356-1FEA6C6C7F00}" type="slidenum">
              <a:rPr lang="en-US" smtClean="0"/>
              <a:t>38</a:t>
            </a:fld>
            <a:endParaRPr lang="en-US"/>
          </a:p>
        </p:txBody>
      </p:sp>
    </p:spTree>
    <p:extLst>
      <p:ext uri="{BB962C8B-B14F-4D97-AF65-F5344CB8AC3E}">
        <p14:creationId xmlns:p14="http://schemas.microsoft.com/office/powerpoint/2010/main" val="27586060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Skim</a:t>
            </a:r>
          </a:p>
        </p:txBody>
      </p:sp>
      <p:sp>
        <p:nvSpPr>
          <p:cNvPr id="4" name="Slide Number Placeholder 3"/>
          <p:cNvSpPr>
            <a:spLocks noGrp="1"/>
          </p:cNvSpPr>
          <p:nvPr>
            <p:ph type="sldNum" sz="quarter" idx="5"/>
          </p:nvPr>
        </p:nvSpPr>
        <p:spPr/>
        <p:txBody>
          <a:bodyPr/>
          <a:lstStyle/>
          <a:p>
            <a:fld id="{144EBE1A-5C74-3F45-A356-1FEA6C6C7F00}" type="slidenum">
              <a:rPr lang="en-US" smtClean="0"/>
              <a:t>39</a:t>
            </a:fld>
            <a:endParaRPr lang="en-US"/>
          </a:p>
        </p:txBody>
      </p:sp>
    </p:spTree>
    <p:extLst>
      <p:ext uri="{BB962C8B-B14F-4D97-AF65-F5344CB8AC3E}">
        <p14:creationId xmlns:p14="http://schemas.microsoft.com/office/powerpoint/2010/main" val="2303354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information here: https://</a:t>
            </a:r>
            <a:r>
              <a:rPr lang="en-US" dirty="0" err="1"/>
              <a:t>libguides.princeton.edu</a:t>
            </a:r>
            <a:r>
              <a:rPr lang="en-US" dirty="0"/>
              <a:t>/R-</a:t>
            </a:r>
            <a:r>
              <a:rPr lang="en-US" dirty="0" err="1"/>
              <a:t>Missingdata</a:t>
            </a:r>
            <a:r>
              <a:rPr lang="en-US" dirty="0"/>
              <a:t> , https://</a:t>
            </a:r>
            <a:r>
              <a:rPr lang="en-US" dirty="0" err="1"/>
              <a:t>www.publichealth.columbia.edu</a:t>
            </a:r>
            <a:r>
              <a:rPr lang="en-US" dirty="0"/>
              <a:t>/research/population-health-methods/missing-data-and-multiple-imputation</a:t>
            </a:r>
          </a:p>
          <a:p>
            <a:endParaRPr lang="en-US" dirty="0"/>
          </a:p>
          <a:p>
            <a:r>
              <a:rPr lang="en-US" dirty="0"/>
              <a:t>Example, one con of regression imputation is that there is no error. It fits perfectly on the regression line, which isn’t natural</a:t>
            </a:r>
          </a:p>
        </p:txBody>
      </p:sp>
      <p:sp>
        <p:nvSpPr>
          <p:cNvPr id="4" name="Slide Number Placeholder 3"/>
          <p:cNvSpPr>
            <a:spLocks noGrp="1"/>
          </p:cNvSpPr>
          <p:nvPr>
            <p:ph type="sldNum" sz="quarter" idx="5"/>
          </p:nvPr>
        </p:nvSpPr>
        <p:spPr/>
        <p:txBody>
          <a:bodyPr/>
          <a:lstStyle/>
          <a:p>
            <a:fld id="{144EBE1A-5C74-3F45-A356-1FEA6C6C7F00}" type="slidenum">
              <a:rPr lang="en-US" smtClean="0"/>
              <a:t>41</a:t>
            </a:fld>
            <a:endParaRPr lang="en-US"/>
          </a:p>
        </p:txBody>
      </p:sp>
    </p:spTree>
    <p:extLst>
      <p:ext uri="{BB962C8B-B14F-4D97-AF65-F5344CB8AC3E}">
        <p14:creationId xmlns:p14="http://schemas.microsoft.com/office/powerpoint/2010/main" val="23306460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frames are mostly what you’ll use in this class!</a:t>
            </a:r>
          </a:p>
        </p:txBody>
      </p:sp>
      <p:sp>
        <p:nvSpPr>
          <p:cNvPr id="4" name="Slide Number Placeholder 3"/>
          <p:cNvSpPr>
            <a:spLocks noGrp="1"/>
          </p:cNvSpPr>
          <p:nvPr>
            <p:ph type="sldNum" sz="quarter" idx="5"/>
          </p:nvPr>
        </p:nvSpPr>
        <p:spPr/>
        <p:txBody>
          <a:bodyPr/>
          <a:lstStyle/>
          <a:p>
            <a:fld id="{144EBE1A-5C74-3F45-A356-1FEA6C6C7F00}" type="slidenum">
              <a:rPr lang="en-US" smtClean="0"/>
              <a:t>42</a:t>
            </a:fld>
            <a:endParaRPr lang="en-US"/>
          </a:p>
        </p:txBody>
      </p:sp>
    </p:spTree>
    <p:extLst>
      <p:ext uri="{BB962C8B-B14F-4D97-AF65-F5344CB8AC3E}">
        <p14:creationId xmlns:p14="http://schemas.microsoft.com/office/powerpoint/2010/main" val="27037354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from here: https://</a:t>
            </a:r>
            <a:r>
              <a:rPr lang="en-US" dirty="0" err="1"/>
              <a:t>bien.nceas.ucsb.edu</a:t>
            </a:r>
            <a:r>
              <a:rPr lang="en-US" dirty="0"/>
              <a:t>/bien/</a:t>
            </a:r>
            <a:r>
              <a:rPr lang="en-US" dirty="0" err="1"/>
              <a:t>biendata</a:t>
            </a:r>
            <a:r>
              <a:rPr lang="en-US" dirty="0"/>
              <a:t>/previous-bien-versions/bien-3/bien-3-schema/</a:t>
            </a:r>
          </a:p>
          <a:p>
            <a:endParaRPr lang="en-US" dirty="0"/>
          </a:p>
          <a:p>
            <a:r>
              <a:rPr lang="en-US" dirty="0"/>
              <a:t>Things get complicated fast! </a:t>
            </a:r>
          </a:p>
        </p:txBody>
      </p:sp>
      <p:sp>
        <p:nvSpPr>
          <p:cNvPr id="4" name="Slide Number Placeholder 3"/>
          <p:cNvSpPr>
            <a:spLocks noGrp="1"/>
          </p:cNvSpPr>
          <p:nvPr>
            <p:ph type="sldNum" sz="quarter" idx="5"/>
          </p:nvPr>
        </p:nvSpPr>
        <p:spPr/>
        <p:txBody>
          <a:bodyPr/>
          <a:lstStyle/>
          <a:p>
            <a:fld id="{144EBE1A-5C74-3F45-A356-1FEA6C6C7F00}" type="slidenum">
              <a:rPr lang="en-US" smtClean="0"/>
              <a:t>43</a:t>
            </a:fld>
            <a:endParaRPr lang="en-US"/>
          </a:p>
        </p:txBody>
      </p:sp>
    </p:spTree>
    <p:extLst>
      <p:ext uri="{BB962C8B-B14F-4D97-AF65-F5344CB8AC3E}">
        <p14:creationId xmlns:p14="http://schemas.microsoft.com/office/powerpoint/2010/main" val="21770073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have you guys done some of this in this class and others? Absolutely!</a:t>
            </a:r>
          </a:p>
        </p:txBody>
      </p:sp>
      <p:sp>
        <p:nvSpPr>
          <p:cNvPr id="4" name="Slide Number Placeholder 3"/>
          <p:cNvSpPr>
            <a:spLocks noGrp="1"/>
          </p:cNvSpPr>
          <p:nvPr>
            <p:ph type="sldNum" sz="quarter" idx="5"/>
          </p:nvPr>
        </p:nvSpPr>
        <p:spPr/>
        <p:txBody>
          <a:bodyPr/>
          <a:lstStyle/>
          <a:p>
            <a:fld id="{144EBE1A-5C74-3F45-A356-1FEA6C6C7F00}" type="slidenum">
              <a:rPr lang="en-US" smtClean="0"/>
              <a:t>45</a:t>
            </a:fld>
            <a:endParaRPr lang="en-US"/>
          </a:p>
        </p:txBody>
      </p:sp>
    </p:spTree>
    <p:extLst>
      <p:ext uri="{BB962C8B-B14F-4D97-AF65-F5344CB8AC3E}">
        <p14:creationId xmlns:p14="http://schemas.microsoft.com/office/powerpoint/2010/main" val="36921901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get to correlation next week ;-)</a:t>
            </a:r>
          </a:p>
        </p:txBody>
      </p:sp>
      <p:sp>
        <p:nvSpPr>
          <p:cNvPr id="4" name="Slide Number Placeholder 3"/>
          <p:cNvSpPr>
            <a:spLocks noGrp="1"/>
          </p:cNvSpPr>
          <p:nvPr>
            <p:ph type="sldNum" sz="quarter" idx="5"/>
          </p:nvPr>
        </p:nvSpPr>
        <p:spPr/>
        <p:txBody>
          <a:bodyPr/>
          <a:lstStyle/>
          <a:p>
            <a:fld id="{144EBE1A-5C74-3F45-A356-1FEA6C6C7F00}" type="slidenum">
              <a:rPr lang="en-US" smtClean="0"/>
              <a:t>46</a:t>
            </a:fld>
            <a:endParaRPr lang="en-US"/>
          </a:p>
        </p:txBody>
      </p:sp>
    </p:spTree>
    <p:extLst>
      <p:ext uri="{BB962C8B-B14F-4D97-AF65-F5344CB8AC3E}">
        <p14:creationId xmlns:p14="http://schemas.microsoft.com/office/powerpoint/2010/main" val="12073168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 is graphical representation of frequency distribution</a:t>
            </a:r>
          </a:p>
          <a:p>
            <a:r>
              <a:rPr lang="en-US" dirty="0"/>
              <a:t>These should look familiar :-)</a:t>
            </a:r>
          </a:p>
        </p:txBody>
      </p:sp>
      <p:sp>
        <p:nvSpPr>
          <p:cNvPr id="4" name="Slide Number Placeholder 3"/>
          <p:cNvSpPr>
            <a:spLocks noGrp="1"/>
          </p:cNvSpPr>
          <p:nvPr>
            <p:ph type="sldNum" sz="quarter" idx="5"/>
          </p:nvPr>
        </p:nvSpPr>
        <p:spPr/>
        <p:txBody>
          <a:bodyPr/>
          <a:lstStyle/>
          <a:p>
            <a:fld id="{144EBE1A-5C74-3F45-A356-1FEA6C6C7F00}" type="slidenum">
              <a:rPr lang="en-US" smtClean="0"/>
              <a:t>47</a:t>
            </a:fld>
            <a:endParaRPr lang="en-US"/>
          </a:p>
        </p:txBody>
      </p:sp>
    </p:spTree>
    <p:extLst>
      <p:ext uri="{BB962C8B-B14F-4D97-AF65-F5344CB8AC3E}">
        <p14:creationId xmlns:p14="http://schemas.microsoft.com/office/powerpoint/2010/main" val="28466547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 between two variables, change over time</a:t>
            </a:r>
          </a:p>
        </p:txBody>
      </p:sp>
      <p:sp>
        <p:nvSpPr>
          <p:cNvPr id="4" name="Slide Number Placeholder 3"/>
          <p:cNvSpPr>
            <a:spLocks noGrp="1"/>
          </p:cNvSpPr>
          <p:nvPr>
            <p:ph type="sldNum" sz="quarter" idx="5"/>
          </p:nvPr>
        </p:nvSpPr>
        <p:spPr/>
        <p:txBody>
          <a:bodyPr/>
          <a:lstStyle/>
          <a:p>
            <a:fld id="{144EBE1A-5C74-3F45-A356-1FEA6C6C7F00}" type="slidenum">
              <a:rPr lang="en-US" smtClean="0"/>
              <a:t>48</a:t>
            </a:fld>
            <a:endParaRPr lang="en-US"/>
          </a:p>
        </p:txBody>
      </p:sp>
    </p:spTree>
    <p:extLst>
      <p:ext uri="{BB962C8B-B14F-4D97-AF65-F5344CB8AC3E}">
        <p14:creationId xmlns:p14="http://schemas.microsoft.com/office/powerpoint/2010/main" val="19755135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making a quick plot can help you see if you have any!</a:t>
            </a:r>
          </a:p>
        </p:txBody>
      </p:sp>
      <p:sp>
        <p:nvSpPr>
          <p:cNvPr id="4" name="Slide Number Placeholder 3"/>
          <p:cNvSpPr>
            <a:spLocks noGrp="1"/>
          </p:cNvSpPr>
          <p:nvPr>
            <p:ph type="sldNum" sz="quarter" idx="5"/>
          </p:nvPr>
        </p:nvSpPr>
        <p:spPr/>
        <p:txBody>
          <a:bodyPr/>
          <a:lstStyle/>
          <a:p>
            <a:fld id="{144EBE1A-5C74-3F45-A356-1FEA6C6C7F00}" type="slidenum">
              <a:rPr lang="en-US" smtClean="0"/>
              <a:t>49</a:t>
            </a:fld>
            <a:endParaRPr lang="en-US"/>
          </a:p>
        </p:txBody>
      </p:sp>
    </p:spTree>
    <p:extLst>
      <p:ext uri="{BB962C8B-B14F-4D97-AF65-F5344CB8AC3E}">
        <p14:creationId xmlns:p14="http://schemas.microsoft.com/office/powerpoint/2010/main" val="2096265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FB074-7066-CA0E-3582-32FEFDB3D9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123566-85EB-210F-CDEB-3055322D83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FD3D64-D7CF-24B6-2C0F-F64E3EFB8955}"/>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5" name="Footer Placeholder 4">
            <a:extLst>
              <a:ext uri="{FF2B5EF4-FFF2-40B4-BE49-F238E27FC236}">
                <a16:creationId xmlns:a16="http://schemas.microsoft.com/office/drawing/2014/main" id="{70F78165-EB42-2501-1A9E-25BA2FD3FA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2AA6B0-220C-0253-C335-D5D53B9594D5}"/>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945831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59AA1-186B-8786-6470-516AED871F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D7595A-ED0B-4052-6CA1-E174A29B60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176646-E4BE-10B4-B38F-1742034B5538}"/>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5" name="Footer Placeholder 4">
            <a:extLst>
              <a:ext uri="{FF2B5EF4-FFF2-40B4-BE49-F238E27FC236}">
                <a16:creationId xmlns:a16="http://schemas.microsoft.com/office/drawing/2014/main" id="{D9213268-E15A-3389-A2CA-55D82F76A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C76D79-B363-DBCD-22AE-A81BC6AF95A3}"/>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3008767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D0D0-9A56-C017-365A-AF49DCFC7B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D83683-C406-C61F-F4FC-7F432E3442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F85FD-1A3F-DA78-C706-D2040785CCE3}"/>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5" name="Footer Placeholder 4">
            <a:extLst>
              <a:ext uri="{FF2B5EF4-FFF2-40B4-BE49-F238E27FC236}">
                <a16:creationId xmlns:a16="http://schemas.microsoft.com/office/drawing/2014/main" id="{376B6AFD-AE54-B156-0535-CD17ADFFFD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FEC84C-FE1A-F812-AE64-FBCA40B61C0C}"/>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3907764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D3966-A008-D05E-F569-B1356BBE44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7D0C30-222A-8A5E-5EC9-5C6F39B766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EC8E56-0D81-0AD6-6C8D-C29FAF2E9A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3BDF9B-EF7C-8368-0E71-92A427E2C75C}"/>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6" name="Footer Placeholder 5">
            <a:extLst>
              <a:ext uri="{FF2B5EF4-FFF2-40B4-BE49-F238E27FC236}">
                <a16:creationId xmlns:a16="http://schemas.microsoft.com/office/drawing/2014/main" id="{63AE89EF-7639-29D0-FEE4-5D5A4EEC6A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5162B5-5997-A399-62AD-73A35CAE2ED2}"/>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1127077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7BA4D-495D-D3F6-769F-09B80F3239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DCF552-6EBD-B457-A83F-4CFBDF3C80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450549-DAF1-E312-A6CC-1CA682AAF5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59A1F0-A385-976B-A0CE-48A1FD2D99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B8D625-3311-6255-78F0-FFD4B71F7E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9F7E03B-403B-921B-FD4E-CA36A16E4A20}"/>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8" name="Footer Placeholder 7">
            <a:extLst>
              <a:ext uri="{FF2B5EF4-FFF2-40B4-BE49-F238E27FC236}">
                <a16:creationId xmlns:a16="http://schemas.microsoft.com/office/drawing/2014/main" id="{104A351E-3F7A-E526-22EB-A3DBC7DCA7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9C312E-4014-03F0-FB89-58D1DC0A7859}"/>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1178963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6D790-832C-D170-E122-7B5DEDAC69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B8BD0-A7EF-4D0C-5BC3-F1505044BC9C}"/>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4" name="Footer Placeholder 3">
            <a:extLst>
              <a:ext uri="{FF2B5EF4-FFF2-40B4-BE49-F238E27FC236}">
                <a16:creationId xmlns:a16="http://schemas.microsoft.com/office/drawing/2014/main" id="{00357DCC-117A-1E45-37C4-3F17E44A92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629556-2DDD-6DB7-3F88-6C8579065304}"/>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883343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DF5CAC-4E45-8811-DAE4-57A01953ADA6}"/>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3" name="Footer Placeholder 2">
            <a:extLst>
              <a:ext uri="{FF2B5EF4-FFF2-40B4-BE49-F238E27FC236}">
                <a16:creationId xmlns:a16="http://schemas.microsoft.com/office/drawing/2014/main" id="{2EF8BBA4-1340-1F52-3BCF-FD71447108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9D9A1D-A2B2-806A-F29A-2821B8D0E5FB}"/>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909413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F9688-7A54-A2D7-5D15-C1445A57B4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6EE148-AC7A-97D8-9D4F-DA2001C06B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396F07-2F03-ADFD-70F7-356D5ECF3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1B055C-EF25-7A13-CEB1-9ED0BE2A7E65}"/>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6" name="Footer Placeholder 5">
            <a:extLst>
              <a:ext uri="{FF2B5EF4-FFF2-40B4-BE49-F238E27FC236}">
                <a16:creationId xmlns:a16="http://schemas.microsoft.com/office/drawing/2014/main" id="{B4D1E45A-76BF-097D-3F2C-B375555B0F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8ADA4E-FFB9-3316-C081-B7C8FA9349B7}"/>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454951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6E264-45B9-5893-E274-EEE1A3E743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908F86-0BD5-2AFA-7E18-91164A27B7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86C37D-7C41-43A9-2664-083365A35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FC8158-686D-3BFB-ACDD-7BEFDD2E9782}"/>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6" name="Footer Placeholder 5">
            <a:extLst>
              <a:ext uri="{FF2B5EF4-FFF2-40B4-BE49-F238E27FC236}">
                <a16:creationId xmlns:a16="http://schemas.microsoft.com/office/drawing/2014/main" id="{C416D205-687A-AF58-4F5D-06E9156EF3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5717E9-043F-384E-84CA-B1C51007F752}"/>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3779025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1F43-BD20-081D-31FC-FFD3B9DC21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376275-105A-A76E-05A5-7CA315CA5A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B26E2B-F201-8DAA-ABCF-425075D2DEDB}"/>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5" name="Footer Placeholder 4">
            <a:extLst>
              <a:ext uri="{FF2B5EF4-FFF2-40B4-BE49-F238E27FC236}">
                <a16:creationId xmlns:a16="http://schemas.microsoft.com/office/drawing/2014/main" id="{D92E1489-85F1-4AD0-592F-218F9968DB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A1E59-6D11-4139-2510-C49D71DC3D9C}"/>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86649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3E645-3A31-C93D-E85A-E4AD71807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AC373E-5C13-BC64-6569-4C1DE19F48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7487D-E14F-6053-068F-97B05E422A80}"/>
              </a:ext>
            </a:extLst>
          </p:cNvPr>
          <p:cNvSpPr>
            <a:spLocks noGrp="1"/>
          </p:cNvSpPr>
          <p:nvPr>
            <p:ph type="dt" sz="half" idx="10"/>
          </p:nvPr>
        </p:nvSpPr>
        <p:spPr/>
        <p:txBody>
          <a:bodyPr/>
          <a:lstStyle/>
          <a:p>
            <a:fld id="{6FF2A16A-3149-384D-85E0-A639C7E09774}" type="datetimeFigureOut">
              <a:rPr lang="en-US" smtClean="0"/>
              <a:t>9/9/26</a:t>
            </a:fld>
            <a:endParaRPr lang="en-US"/>
          </a:p>
        </p:txBody>
      </p:sp>
      <p:sp>
        <p:nvSpPr>
          <p:cNvPr id="5" name="Footer Placeholder 4">
            <a:extLst>
              <a:ext uri="{FF2B5EF4-FFF2-40B4-BE49-F238E27FC236}">
                <a16:creationId xmlns:a16="http://schemas.microsoft.com/office/drawing/2014/main" id="{F675B074-CCD2-3B1A-838A-EACF84F1B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C9F13-929B-835D-9F29-8A3CB89208B9}"/>
              </a:ext>
            </a:extLst>
          </p:cNvPr>
          <p:cNvSpPr>
            <a:spLocks noGrp="1"/>
          </p:cNvSpPr>
          <p:nvPr>
            <p:ph type="sldNum" sz="quarter" idx="12"/>
          </p:nvPr>
        </p:nvSpPr>
        <p:spPr/>
        <p:txBody>
          <a:bodyPr/>
          <a:lstStyle/>
          <a:p>
            <a:fld id="{F8993443-3820-454F-81EA-BF3CA42F79D0}" type="slidenum">
              <a:rPr lang="en-US" smtClean="0"/>
              <a:t>‹#›</a:t>
            </a:fld>
            <a:endParaRPr lang="en-US"/>
          </a:p>
        </p:txBody>
      </p:sp>
    </p:spTree>
    <p:extLst>
      <p:ext uri="{BB962C8B-B14F-4D97-AF65-F5344CB8AC3E}">
        <p14:creationId xmlns:p14="http://schemas.microsoft.com/office/powerpoint/2010/main" val="486402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5C1C23-9A8D-321A-270C-449DEBBCD7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A65DA0D-918B-A79A-2F26-C9C5F0829C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9EC1CE-0595-C178-2E4E-DC35FFFFE5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F2A16A-3149-384D-85E0-A639C7E09774}" type="datetimeFigureOut">
              <a:rPr lang="en-US" smtClean="0"/>
              <a:t>9/9/26</a:t>
            </a:fld>
            <a:endParaRPr lang="en-US"/>
          </a:p>
        </p:txBody>
      </p:sp>
      <p:sp>
        <p:nvSpPr>
          <p:cNvPr id="5" name="Footer Placeholder 4">
            <a:extLst>
              <a:ext uri="{FF2B5EF4-FFF2-40B4-BE49-F238E27FC236}">
                <a16:creationId xmlns:a16="http://schemas.microsoft.com/office/drawing/2014/main" id="{C7786816-17E6-83D1-D3E3-EC05420637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7B9E44-D939-360E-2EEC-5CE4A2BFE7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993443-3820-454F-81EA-BF3CA42F79D0}" type="slidenum">
              <a:rPr lang="en-US" smtClean="0"/>
              <a:t>‹#›</a:t>
            </a:fld>
            <a:endParaRPr lang="en-US"/>
          </a:p>
        </p:txBody>
      </p:sp>
    </p:spTree>
    <p:extLst>
      <p:ext uri="{BB962C8B-B14F-4D97-AF65-F5344CB8AC3E}">
        <p14:creationId xmlns:p14="http://schemas.microsoft.com/office/powerpoint/2010/main" val="1110349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4.gif"/></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9.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11615-428E-853E-CE50-6AEB06ADDA40}"/>
              </a:ext>
            </a:extLst>
          </p:cNvPr>
          <p:cNvSpPr>
            <a:spLocks noGrp="1"/>
          </p:cNvSpPr>
          <p:nvPr>
            <p:ph type="ctrTitle"/>
          </p:nvPr>
        </p:nvSpPr>
        <p:spPr>
          <a:xfrm>
            <a:off x="1524000" y="406400"/>
            <a:ext cx="9144000" cy="2387600"/>
          </a:xfrm>
        </p:spPr>
        <p:txBody>
          <a:bodyPr>
            <a:normAutofit/>
          </a:bodyPr>
          <a:lstStyle/>
          <a:p>
            <a:r>
              <a:rPr lang="en-US" dirty="0"/>
              <a:t>Ecological Experiments: Design and Implementation</a:t>
            </a:r>
          </a:p>
        </p:txBody>
      </p:sp>
      <p:sp>
        <p:nvSpPr>
          <p:cNvPr id="3" name="Subtitle 2">
            <a:extLst>
              <a:ext uri="{FF2B5EF4-FFF2-40B4-BE49-F238E27FC236}">
                <a16:creationId xmlns:a16="http://schemas.microsoft.com/office/drawing/2014/main" id="{64BB1494-B225-8330-0AC2-0A5D45D9CFD4}"/>
              </a:ext>
            </a:extLst>
          </p:cNvPr>
          <p:cNvSpPr>
            <a:spLocks noGrp="1"/>
          </p:cNvSpPr>
          <p:nvPr>
            <p:ph type="subTitle" idx="1"/>
          </p:nvPr>
        </p:nvSpPr>
        <p:spPr>
          <a:xfrm>
            <a:off x="1524000" y="3003727"/>
            <a:ext cx="9144000" cy="2618140"/>
          </a:xfrm>
        </p:spPr>
        <p:txBody>
          <a:bodyPr>
            <a:normAutofit/>
          </a:bodyPr>
          <a:lstStyle/>
          <a:p>
            <a:r>
              <a:rPr lang="en-US" sz="3600" dirty="0"/>
              <a:t>Discuss with classmates: If you were able to study and design an experiment around anything under the umbrella of “ecology”, what would it be? </a:t>
            </a:r>
          </a:p>
        </p:txBody>
      </p:sp>
      <p:pic>
        <p:nvPicPr>
          <p:cNvPr id="5" name="Picture 4">
            <a:extLst>
              <a:ext uri="{FF2B5EF4-FFF2-40B4-BE49-F238E27FC236}">
                <a16:creationId xmlns:a16="http://schemas.microsoft.com/office/drawing/2014/main" id="{FD19E2E6-1308-C840-154F-D72F65C454EE}"/>
              </a:ext>
            </a:extLst>
          </p:cNvPr>
          <p:cNvPicPr>
            <a:picLocks noChangeAspect="1"/>
          </p:cNvPicPr>
          <p:nvPr/>
        </p:nvPicPr>
        <p:blipFill>
          <a:blip r:embed="rId2"/>
          <a:stretch>
            <a:fillRect/>
          </a:stretch>
        </p:blipFill>
        <p:spPr>
          <a:xfrm>
            <a:off x="10134022" y="4064001"/>
            <a:ext cx="1816100" cy="2540000"/>
          </a:xfrm>
          <a:prstGeom prst="rect">
            <a:avLst/>
          </a:prstGeom>
        </p:spPr>
      </p:pic>
    </p:spTree>
    <p:extLst>
      <p:ext uri="{BB962C8B-B14F-4D97-AF65-F5344CB8AC3E}">
        <p14:creationId xmlns:p14="http://schemas.microsoft.com/office/powerpoint/2010/main" val="1877281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ABB3B-E9EB-2C5C-0DD0-896AC1EA21FF}"/>
              </a:ext>
            </a:extLst>
          </p:cNvPr>
          <p:cNvSpPr>
            <a:spLocks noGrp="1"/>
          </p:cNvSpPr>
          <p:nvPr>
            <p:ph type="title"/>
          </p:nvPr>
        </p:nvSpPr>
        <p:spPr/>
        <p:txBody>
          <a:bodyPr>
            <a:noAutofit/>
          </a:bodyPr>
          <a:lstStyle/>
          <a:p>
            <a:r>
              <a:rPr lang="en-US" sz="4800" dirty="0"/>
              <a:t>Introduction to Ecological Experimental Design</a:t>
            </a:r>
          </a:p>
        </p:txBody>
      </p:sp>
      <p:sp>
        <p:nvSpPr>
          <p:cNvPr id="3" name="Content Placeholder 2">
            <a:extLst>
              <a:ext uri="{FF2B5EF4-FFF2-40B4-BE49-F238E27FC236}">
                <a16:creationId xmlns:a16="http://schemas.microsoft.com/office/drawing/2014/main" id="{C0C2357F-1ECA-9BC4-3A30-A1E0FB776118}"/>
              </a:ext>
            </a:extLst>
          </p:cNvPr>
          <p:cNvSpPr>
            <a:spLocks noGrp="1"/>
          </p:cNvSpPr>
          <p:nvPr>
            <p:ph idx="1"/>
          </p:nvPr>
        </p:nvSpPr>
        <p:spPr/>
        <p:txBody>
          <a:bodyPr>
            <a:normAutofit fontScale="92500" lnSpcReduction="10000"/>
          </a:bodyPr>
          <a:lstStyle/>
          <a:p>
            <a:pPr lvl="0" fontAlgn="base"/>
            <a:r>
              <a:rPr lang="en-US" sz="3600" dirty="0"/>
              <a:t>A structured approach to planning and conducting experiments. </a:t>
            </a:r>
          </a:p>
          <a:p>
            <a:pPr lvl="0" fontAlgn="base"/>
            <a:r>
              <a:rPr lang="en-US" sz="3600" dirty="0"/>
              <a:t>Tests ecological hypotheses, ensuring the validity and reliability of results.</a:t>
            </a:r>
          </a:p>
          <a:p>
            <a:pPr lvl="0" fontAlgn="base"/>
            <a:r>
              <a:rPr lang="en-US" sz="3600" dirty="0"/>
              <a:t>Fundamental for advancing ecological knowledge, informing conservation strategies, and guiding environmental policies.</a:t>
            </a:r>
          </a:p>
          <a:p>
            <a:pPr lvl="0" fontAlgn="base"/>
            <a:r>
              <a:rPr lang="en-US" sz="3600" dirty="0"/>
              <a:t>Observations identify associations, experiments can identify causes</a:t>
            </a:r>
          </a:p>
          <a:p>
            <a:endParaRPr lang="en-US" dirty="0"/>
          </a:p>
        </p:txBody>
      </p:sp>
    </p:spTree>
    <p:extLst>
      <p:ext uri="{BB962C8B-B14F-4D97-AF65-F5344CB8AC3E}">
        <p14:creationId xmlns:p14="http://schemas.microsoft.com/office/powerpoint/2010/main" val="3867884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4325D-6F3B-91F1-EAFD-6AD8A4BCD3DC}"/>
              </a:ext>
            </a:extLst>
          </p:cNvPr>
          <p:cNvSpPr>
            <a:spLocks noGrp="1"/>
          </p:cNvSpPr>
          <p:nvPr>
            <p:ph type="title"/>
          </p:nvPr>
        </p:nvSpPr>
        <p:spPr/>
        <p:txBody>
          <a:bodyPr>
            <a:normAutofit/>
          </a:bodyPr>
          <a:lstStyle/>
          <a:p>
            <a:r>
              <a:rPr lang="en-US" sz="5400" dirty="0"/>
              <a:t>Research Questions and Hypotheses</a:t>
            </a:r>
          </a:p>
        </p:txBody>
      </p:sp>
      <p:sp>
        <p:nvSpPr>
          <p:cNvPr id="3" name="Content Placeholder 2">
            <a:extLst>
              <a:ext uri="{FF2B5EF4-FFF2-40B4-BE49-F238E27FC236}">
                <a16:creationId xmlns:a16="http://schemas.microsoft.com/office/drawing/2014/main" id="{80CEAFD9-67FB-C443-15E0-3934E943D574}"/>
              </a:ext>
            </a:extLst>
          </p:cNvPr>
          <p:cNvSpPr>
            <a:spLocks noGrp="1"/>
          </p:cNvSpPr>
          <p:nvPr>
            <p:ph idx="1"/>
          </p:nvPr>
        </p:nvSpPr>
        <p:spPr/>
        <p:txBody>
          <a:bodyPr>
            <a:normAutofit/>
          </a:bodyPr>
          <a:lstStyle/>
          <a:p>
            <a:pPr marL="0" lvl="0" indent="0" fontAlgn="base">
              <a:buNone/>
            </a:pPr>
            <a:r>
              <a:rPr lang="en-US" sz="3600" dirty="0"/>
              <a:t>Research Questions:</a:t>
            </a:r>
          </a:p>
          <a:p>
            <a:pPr lvl="0" fontAlgn="base"/>
            <a:r>
              <a:rPr lang="en-US" sz="3200" dirty="0"/>
              <a:t>Identify gaps in existing literature to find unresolved issues.</a:t>
            </a:r>
          </a:p>
          <a:p>
            <a:pPr lvl="0" fontAlgn="base"/>
            <a:r>
              <a:rPr lang="en-US" sz="3200" dirty="0"/>
              <a:t>Are specific, clear, and address ecological phenomena.</a:t>
            </a:r>
          </a:p>
          <a:p>
            <a:pPr lvl="0" fontAlgn="base"/>
            <a:r>
              <a:rPr lang="en-US" sz="3200" dirty="0"/>
              <a:t>Are relevant and researchable.</a:t>
            </a:r>
          </a:p>
          <a:p>
            <a:pPr marL="0" lvl="0" indent="0" fontAlgn="base">
              <a:buNone/>
            </a:pPr>
            <a:r>
              <a:rPr lang="en-US" sz="3600" dirty="0"/>
              <a:t>Hypotheses:</a:t>
            </a:r>
          </a:p>
          <a:p>
            <a:pPr lvl="0" fontAlgn="base"/>
            <a:r>
              <a:rPr lang="en-US" sz="3200" dirty="0"/>
              <a:t>Must be testable and falsifiable, making clear predictions.</a:t>
            </a:r>
          </a:p>
          <a:p>
            <a:endParaRPr lang="en-US" dirty="0"/>
          </a:p>
        </p:txBody>
      </p:sp>
      <p:pic>
        <p:nvPicPr>
          <p:cNvPr id="5" name="Picture 4">
            <a:extLst>
              <a:ext uri="{FF2B5EF4-FFF2-40B4-BE49-F238E27FC236}">
                <a16:creationId xmlns:a16="http://schemas.microsoft.com/office/drawing/2014/main" id="{BF873BEA-C3C9-24B5-7085-94F77FF8EC6C}"/>
              </a:ext>
            </a:extLst>
          </p:cNvPr>
          <p:cNvPicPr>
            <a:picLocks noChangeAspect="1"/>
          </p:cNvPicPr>
          <p:nvPr/>
        </p:nvPicPr>
        <p:blipFill>
          <a:blip r:embed="rId3"/>
          <a:stretch>
            <a:fillRect/>
          </a:stretch>
        </p:blipFill>
        <p:spPr>
          <a:xfrm>
            <a:off x="10273146" y="1381991"/>
            <a:ext cx="1676400" cy="1905000"/>
          </a:xfrm>
          <a:prstGeom prst="rect">
            <a:avLst/>
          </a:prstGeom>
        </p:spPr>
      </p:pic>
    </p:spTree>
    <p:extLst>
      <p:ext uri="{BB962C8B-B14F-4D97-AF65-F5344CB8AC3E}">
        <p14:creationId xmlns:p14="http://schemas.microsoft.com/office/powerpoint/2010/main" val="2372900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C6F5D-24F2-916E-C69A-B813F762DB4F}"/>
              </a:ext>
            </a:extLst>
          </p:cNvPr>
          <p:cNvSpPr>
            <a:spLocks noGrp="1"/>
          </p:cNvSpPr>
          <p:nvPr>
            <p:ph type="title"/>
          </p:nvPr>
        </p:nvSpPr>
        <p:spPr/>
        <p:txBody>
          <a:bodyPr>
            <a:normAutofit/>
          </a:bodyPr>
          <a:lstStyle/>
          <a:p>
            <a:r>
              <a:rPr lang="en-US" dirty="0"/>
              <a:t>Research Questions and Hypotheses: Example</a:t>
            </a:r>
          </a:p>
        </p:txBody>
      </p:sp>
      <p:sp>
        <p:nvSpPr>
          <p:cNvPr id="3" name="Content Placeholder 2">
            <a:extLst>
              <a:ext uri="{FF2B5EF4-FFF2-40B4-BE49-F238E27FC236}">
                <a16:creationId xmlns:a16="http://schemas.microsoft.com/office/drawing/2014/main" id="{8B012819-BB35-C43F-9134-165F6C956E46}"/>
              </a:ext>
            </a:extLst>
          </p:cNvPr>
          <p:cNvSpPr>
            <a:spLocks noGrp="1"/>
          </p:cNvSpPr>
          <p:nvPr>
            <p:ph idx="1"/>
          </p:nvPr>
        </p:nvSpPr>
        <p:spPr>
          <a:xfrm>
            <a:off x="838200" y="1825625"/>
            <a:ext cx="8541327" cy="4667250"/>
          </a:xfrm>
        </p:spPr>
        <p:txBody>
          <a:bodyPr>
            <a:normAutofit/>
          </a:bodyPr>
          <a:lstStyle/>
          <a:p>
            <a:pPr marL="0" lvl="0" indent="0" fontAlgn="base">
              <a:buNone/>
            </a:pPr>
            <a:r>
              <a:rPr lang="en-US" sz="3200" dirty="0"/>
              <a:t>Concept: Elevated CO₂'s impact on plant growth rates.</a:t>
            </a:r>
          </a:p>
          <a:p>
            <a:pPr lvl="0" fontAlgn="base"/>
            <a:r>
              <a:rPr lang="en-US" sz="3200" dirty="0"/>
              <a:t>Question: How does increased atmospheric CO₂ affect C₃ vs. C₄ plants?</a:t>
            </a:r>
          </a:p>
          <a:p>
            <a:pPr lvl="0" fontAlgn="base"/>
            <a:r>
              <a:rPr lang="en-US" sz="3200" dirty="0"/>
              <a:t>Hypothesis: C₃ plants will show greater growth increases under elevated CO₂ than C₄ plants.</a:t>
            </a:r>
          </a:p>
          <a:p>
            <a:pPr lvl="0" fontAlgn="base"/>
            <a:r>
              <a:rPr lang="en-US" sz="3200" dirty="0"/>
              <a:t>Rationale: C₃ plants use photosynthetic pathways that respond more to higher CO₂ levels.</a:t>
            </a:r>
          </a:p>
          <a:p>
            <a:endParaRPr lang="en-US" dirty="0"/>
          </a:p>
        </p:txBody>
      </p:sp>
      <p:pic>
        <p:nvPicPr>
          <p:cNvPr id="5" name="Picture 4">
            <a:extLst>
              <a:ext uri="{FF2B5EF4-FFF2-40B4-BE49-F238E27FC236}">
                <a16:creationId xmlns:a16="http://schemas.microsoft.com/office/drawing/2014/main" id="{CAF5E306-41CC-2C54-9142-D5514D4218DF}"/>
              </a:ext>
            </a:extLst>
          </p:cNvPr>
          <p:cNvPicPr>
            <a:picLocks noChangeAspect="1"/>
          </p:cNvPicPr>
          <p:nvPr/>
        </p:nvPicPr>
        <p:blipFill>
          <a:blip r:embed="rId3"/>
          <a:stretch>
            <a:fillRect/>
          </a:stretch>
        </p:blipFill>
        <p:spPr>
          <a:xfrm>
            <a:off x="9640454" y="3605646"/>
            <a:ext cx="2108200" cy="2540000"/>
          </a:xfrm>
          <a:prstGeom prst="rect">
            <a:avLst/>
          </a:prstGeom>
        </p:spPr>
      </p:pic>
      <p:pic>
        <p:nvPicPr>
          <p:cNvPr id="7" name="Picture 6">
            <a:extLst>
              <a:ext uri="{FF2B5EF4-FFF2-40B4-BE49-F238E27FC236}">
                <a16:creationId xmlns:a16="http://schemas.microsoft.com/office/drawing/2014/main" id="{D3BEBCE9-1AB1-F195-607D-7C22F8D4BE59}"/>
              </a:ext>
            </a:extLst>
          </p:cNvPr>
          <p:cNvPicPr>
            <a:picLocks noChangeAspect="1"/>
          </p:cNvPicPr>
          <p:nvPr/>
        </p:nvPicPr>
        <p:blipFill>
          <a:blip r:embed="rId4"/>
          <a:stretch>
            <a:fillRect/>
          </a:stretch>
        </p:blipFill>
        <p:spPr>
          <a:xfrm rot="19058927">
            <a:off x="9424554" y="889256"/>
            <a:ext cx="2540000" cy="2540000"/>
          </a:xfrm>
          <a:prstGeom prst="rect">
            <a:avLst/>
          </a:prstGeom>
        </p:spPr>
      </p:pic>
    </p:spTree>
    <p:extLst>
      <p:ext uri="{BB962C8B-B14F-4D97-AF65-F5344CB8AC3E}">
        <p14:creationId xmlns:p14="http://schemas.microsoft.com/office/powerpoint/2010/main" val="3539562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9900E-208A-18D6-3C9E-C1766F7EFC78}"/>
              </a:ext>
            </a:extLst>
          </p:cNvPr>
          <p:cNvSpPr>
            <a:spLocks noGrp="1"/>
          </p:cNvSpPr>
          <p:nvPr>
            <p:ph type="title"/>
          </p:nvPr>
        </p:nvSpPr>
        <p:spPr/>
        <p:txBody>
          <a:bodyPr>
            <a:normAutofit/>
          </a:bodyPr>
          <a:lstStyle/>
          <a:p>
            <a:r>
              <a:rPr lang="en-US" sz="5400" dirty="0"/>
              <a:t>Types of Ecological Experiments</a:t>
            </a:r>
          </a:p>
        </p:txBody>
      </p:sp>
      <p:sp>
        <p:nvSpPr>
          <p:cNvPr id="3" name="Content Placeholder 2">
            <a:extLst>
              <a:ext uri="{FF2B5EF4-FFF2-40B4-BE49-F238E27FC236}">
                <a16:creationId xmlns:a16="http://schemas.microsoft.com/office/drawing/2014/main" id="{8AADEA5E-6407-4DAF-A094-3A136DA2DBF5}"/>
              </a:ext>
            </a:extLst>
          </p:cNvPr>
          <p:cNvSpPr>
            <a:spLocks noGrp="1"/>
          </p:cNvSpPr>
          <p:nvPr>
            <p:ph idx="1"/>
          </p:nvPr>
        </p:nvSpPr>
        <p:spPr/>
        <p:txBody>
          <a:bodyPr>
            <a:normAutofit/>
          </a:bodyPr>
          <a:lstStyle/>
          <a:p>
            <a:pPr marL="0" indent="0">
              <a:buNone/>
            </a:pPr>
            <a:r>
              <a:rPr lang="en-US" sz="3600" b="1" dirty="0"/>
              <a:t>Manipulative Experiments</a:t>
            </a:r>
          </a:p>
          <a:p>
            <a:pPr marL="0" indent="0">
              <a:buNone/>
            </a:pPr>
            <a:r>
              <a:rPr lang="en-US" sz="3600" dirty="0"/>
              <a:t>These involve altering one or more variables to observe the effects on an ecological system. </a:t>
            </a:r>
            <a:endParaRPr lang="en-US" sz="3600" dirty="0">
              <a:effectLst/>
            </a:endParaRPr>
          </a:p>
          <a:p>
            <a:r>
              <a:rPr lang="en-US" sz="3600" dirty="0"/>
              <a:t>Example: applying varying levels of N fertilizer to grassland plots to assess response of plant species diversity and productivity.</a:t>
            </a:r>
            <a:br>
              <a:rPr lang="en-US" dirty="0"/>
            </a:br>
            <a:endParaRPr lang="en-US" b="0" dirty="0">
              <a:effectLst/>
            </a:endParaRPr>
          </a:p>
        </p:txBody>
      </p:sp>
      <p:pic>
        <p:nvPicPr>
          <p:cNvPr id="5" name="Picture 4">
            <a:extLst>
              <a:ext uri="{FF2B5EF4-FFF2-40B4-BE49-F238E27FC236}">
                <a16:creationId xmlns:a16="http://schemas.microsoft.com/office/drawing/2014/main" id="{456877D6-B1DC-B288-3D24-E0F911AA2019}"/>
              </a:ext>
            </a:extLst>
          </p:cNvPr>
          <p:cNvPicPr>
            <a:picLocks noChangeAspect="1"/>
          </p:cNvPicPr>
          <p:nvPr/>
        </p:nvPicPr>
        <p:blipFill>
          <a:blip r:embed="rId3"/>
          <a:stretch>
            <a:fillRect/>
          </a:stretch>
        </p:blipFill>
        <p:spPr>
          <a:xfrm>
            <a:off x="9863282" y="4098637"/>
            <a:ext cx="2108200" cy="2540000"/>
          </a:xfrm>
          <a:prstGeom prst="rect">
            <a:avLst/>
          </a:prstGeom>
        </p:spPr>
      </p:pic>
    </p:spTree>
    <p:extLst>
      <p:ext uri="{BB962C8B-B14F-4D97-AF65-F5344CB8AC3E}">
        <p14:creationId xmlns:p14="http://schemas.microsoft.com/office/powerpoint/2010/main" val="2373440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F26CAD-258D-328F-087E-C553F4AD2ECB}"/>
              </a:ext>
            </a:extLst>
          </p:cNvPr>
          <p:cNvSpPr>
            <a:spLocks noGrp="1"/>
          </p:cNvSpPr>
          <p:nvPr>
            <p:ph idx="1"/>
          </p:nvPr>
        </p:nvSpPr>
        <p:spPr>
          <a:xfrm>
            <a:off x="838200" y="1825625"/>
            <a:ext cx="9400309" cy="4351338"/>
          </a:xfrm>
        </p:spPr>
        <p:txBody>
          <a:bodyPr/>
          <a:lstStyle/>
          <a:p>
            <a:pPr marL="0" indent="0">
              <a:buNone/>
            </a:pPr>
            <a:r>
              <a:rPr lang="en-US" sz="3600" b="1" dirty="0"/>
              <a:t>Observational Studies</a:t>
            </a:r>
          </a:p>
          <a:p>
            <a:pPr marL="0" indent="0">
              <a:buNone/>
            </a:pPr>
            <a:r>
              <a:rPr lang="en-US" sz="3600" dirty="0"/>
              <a:t>These involve examining natural systems without intervention. </a:t>
            </a:r>
            <a:endParaRPr lang="en-US" sz="3600" dirty="0">
              <a:effectLst/>
            </a:endParaRPr>
          </a:p>
          <a:p>
            <a:r>
              <a:rPr lang="en-US" sz="3600" dirty="0"/>
              <a:t>Example: Monitoring coral reef health by assessing coral bleaching events and recording temperature, acidity, and species composition over time.</a:t>
            </a:r>
            <a:endParaRPr lang="en-US" sz="3600" dirty="0">
              <a:effectLst/>
            </a:endParaRPr>
          </a:p>
          <a:p>
            <a:endParaRPr lang="en-US" dirty="0"/>
          </a:p>
        </p:txBody>
      </p:sp>
      <p:sp>
        <p:nvSpPr>
          <p:cNvPr id="4" name="Title 1">
            <a:extLst>
              <a:ext uri="{FF2B5EF4-FFF2-40B4-BE49-F238E27FC236}">
                <a16:creationId xmlns:a16="http://schemas.microsoft.com/office/drawing/2014/main" id="{06972852-B501-E145-2AA9-5EAFDBFA7E4D}"/>
              </a:ext>
            </a:extLst>
          </p:cNvPr>
          <p:cNvSpPr>
            <a:spLocks noGrp="1"/>
          </p:cNvSpPr>
          <p:nvPr>
            <p:ph type="title"/>
          </p:nvPr>
        </p:nvSpPr>
        <p:spPr>
          <a:xfrm>
            <a:off x="838200" y="365125"/>
            <a:ext cx="10515600" cy="1325563"/>
          </a:xfrm>
        </p:spPr>
        <p:txBody>
          <a:bodyPr>
            <a:normAutofit/>
          </a:bodyPr>
          <a:lstStyle/>
          <a:p>
            <a:r>
              <a:rPr lang="en-US" sz="5400" dirty="0"/>
              <a:t>Types of Ecological Experiments</a:t>
            </a:r>
          </a:p>
        </p:txBody>
      </p:sp>
      <p:pic>
        <p:nvPicPr>
          <p:cNvPr id="6" name="Picture 5">
            <a:extLst>
              <a:ext uri="{FF2B5EF4-FFF2-40B4-BE49-F238E27FC236}">
                <a16:creationId xmlns:a16="http://schemas.microsoft.com/office/drawing/2014/main" id="{B390B248-658D-9386-D82C-83470AEDD067}"/>
              </a:ext>
            </a:extLst>
          </p:cNvPr>
          <p:cNvPicPr>
            <a:picLocks noChangeAspect="1"/>
          </p:cNvPicPr>
          <p:nvPr/>
        </p:nvPicPr>
        <p:blipFill>
          <a:blip r:embed="rId3"/>
          <a:stretch>
            <a:fillRect/>
          </a:stretch>
        </p:blipFill>
        <p:spPr>
          <a:xfrm>
            <a:off x="9273309" y="1825625"/>
            <a:ext cx="2540000" cy="2387600"/>
          </a:xfrm>
          <a:prstGeom prst="rect">
            <a:avLst/>
          </a:prstGeom>
        </p:spPr>
      </p:pic>
    </p:spTree>
    <p:extLst>
      <p:ext uri="{BB962C8B-B14F-4D97-AF65-F5344CB8AC3E}">
        <p14:creationId xmlns:p14="http://schemas.microsoft.com/office/powerpoint/2010/main" val="1246630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8F8A0C-F712-5369-AD72-BC16251E29FC}"/>
              </a:ext>
            </a:extLst>
          </p:cNvPr>
          <p:cNvSpPr>
            <a:spLocks noGrp="1"/>
          </p:cNvSpPr>
          <p:nvPr>
            <p:ph idx="1"/>
          </p:nvPr>
        </p:nvSpPr>
        <p:spPr>
          <a:xfrm>
            <a:off x="3394362" y="1839480"/>
            <a:ext cx="8472055" cy="4351338"/>
          </a:xfrm>
        </p:spPr>
        <p:txBody>
          <a:bodyPr/>
          <a:lstStyle/>
          <a:p>
            <a:pPr marL="0" indent="0">
              <a:buNone/>
            </a:pPr>
            <a:r>
              <a:rPr lang="en-US" sz="3600" b="1" dirty="0"/>
              <a:t>Natural Experiments</a:t>
            </a:r>
          </a:p>
          <a:p>
            <a:pPr marL="0" indent="0">
              <a:buNone/>
            </a:pPr>
            <a:r>
              <a:rPr lang="en-US" sz="3600" dirty="0"/>
              <a:t>These take advantage of natural events or variations as experimental treatments. </a:t>
            </a:r>
            <a:endParaRPr lang="en-US" sz="3600" b="0" dirty="0">
              <a:effectLst/>
            </a:endParaRPr>
          </a:p>
          <a:p>
            <a:r>
              <a:rPr lang="en-US" sz="3600" dirty="0"/>
              <a:t>Example: Comparing ecosystems before and after a volcanic eruption to study succession and species colonization.</a:t>
            </a:r>
            <a:endParaRPr lang="en-US" sz="3600" dirty="0">
              <a:effectLst/>
            </a:endParaRPr>
          </a:p>
          <a:p>
            <a:endParaRPr lang="en-US" dirty="0"/>
          </a:p>
        </p:txBody>
      </p:sp>
      <p:sp>
        <p:nvSpPr>
          <p:cNvPr id="4" name="Title 1">
            <a:extLst>
              <a:ext uri="{FF2B5EF4-FFF2-40B4-BE49-F238E27FC236}">
                <a16:creationId xmlns:a16="http://schemas.microsoft.com/office/drawing/2014/main" id="{A738F167-1416-3E18-4500-522645D9C129}"/>
              </a:ext>
            </a:extLst>
          </p:cNvPr>
          <p:cNvSpPr>
            <a:spLocks noGrp="1"/>
          </p:cNvSpPr>
          <p:nvPr>
            <p:ph type="title"/>
          </p:nvPr>
        </p:nvSpPr>
        <p:spPr>
          <a:xfrm>
            <a:off x="838200" y="365125"/>
            <a:ext cx="10515600" cy="1325563"/>
          </a:xfrm>
        </p:spPr>
        <p:txBody>
          <a:bodyPr>
            <a:normAutofit/>
          </a:bodyPr>
          <a:lstStyle/>
          <a:p>
            <a:r>
              <a:rPr lang="en-US" sz="5400" dirty="0"/>
              <a:t>Types of Ecological Experiments</a:t>
            </a:r>
          </a:p>
        </p:txBody>
      </p:sp>
      <p:pic>
        <p:nvPicPr>
          <p:cNvPr id="8" name="Picture 7">
            <a:extLst>
              <a:ext uri="{FF2B5EF4-FFF2-40B4-BE49-F238E27FC236}">
                <a16:creationId xmlns:a16="http://schemas.microsoft.com/office/drawing/2014/main" id="{7383559E-866C-44F7-456F-ADE6CD6C0A17}"/>
              </a:ext>
            </a:extLst>
          </p:cNvPr>
          <p:cNvPicPr>
            <a:picLocks noChangeAspect="1"/>
          </p:cNvPicPr>
          <p:nvPr/>
        </p:nvPicPr>
        <p:blipFill>
          <a:blip r:embed="rId3"/>
          <a:stretch>
            <a:fillRect/>
          </a:stretch>
        </p:blipFill>
        <p:spPr>
          <a:xfrm>
            <a:off x="325583" y="3207472"/>
            <a:ext cx="3469007" cy="2983346"/>
          </a:xfrm>
          <a:prstGeom prst="rect">
            <a:avLst/>
          </a:prstGeom>
        </p:spPr>
      </p:pic>
    </p:spTree>
    <p:extLst>
      <p:ext uri="{BB962C8B-B14F-4D97-AF65-F5344CB8AC3E}">
        <p14:creationId xmlns:p14="http://schemas.microsoft.com/office/powerpoint/2010/main" val="270367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FFCCD47-E6BD-891A-4205-2A49AFBC8694}"/>
              </a:ext>
            </a:extLst>
          </p:cNvPr>
          <p:cNvPicPr>
            <a:picLocks noChangeAspect="1"/>
          </p:cNvPicPr>
          <p:nvPr/>
        </p:nvPicPr>
        <p:blipFill>
          <a:blip r:embed="rId3"/>
          <a:stretch>
            <a:fillRect/>
          </a:stretch>
        </p:blipFill>
        <p:spPr>
          <a:xfrm>
            <a:off x="8216652" y="413425"/>
            <a:ext cx="2032334" cy="2032334"/>
          </a:xfrm>
          <a:prstGeom prst="rect">
            <a:avLst/>
          </a:prstGeom>
        </p:spPr>
      </p:pic>
      <p:sp>
        <p:nvSpPr>
          <p:cNvPr id="2" name="Title 1">
            <a:extLst>
              <a:ext uri="{FF2B5EF4-FFF2-40B4-BE49-F238E27FC236}">
                <a16:creationId xmlns:a16="http://schemas.microsoft.com/office/drawing/2014/main" id="{5C17FFB3-73DA-D8C0-88E2-30419D010502}"/>
              </a:ext>
            </a:extLst>
          </p:cNvPr>
          <p:cNvSpPr>
            <a:spLocks noGrp="1"/>
          </p:cNvSpPr>
          <p:nvPr>
            <p:ph type="title"/>
          </p:nvPr>
        </p:nvSpPr>
        <p:spPr/>
        <p:txBody>
          <a:bodyPr>
            <a:normAutofit/>
          </a:bodyPr>
          <a:lstStyle/>
          <a:p>
            <a:r>
              <a:rPr lang="en-US" sz="5400" dirty="0"/>
              <a:t>Explanatory vs. Response</a:t>
            </a:r>
          </a:p>
        </p:txBody>
      </p:sp>
      <p:sp>
        <p:nvSpPr>
          <p:cNvPr id="3" name="Content Placeholder 2">
            <a:extLst>
              <a:ext uri="{FF2B5EF4-FFF2-40B4-BE49-F238E27FC236}">
                <a16:creationId xmlns:a16="http://schemas.microsoft.com/office/drawing/2014/main" id="{9EB1FDBF-4704-DDEF-B562-2556CD90836C}"/>
              </a:ext>
            </a:extLst>
          </p:cNvPr>
          <p:cNvSpPr>
            <a:spLocks noGrp="1"/>
          </p:cNvSpPr>
          <p:nvPr>
            <p:ph idx="1"/>
          </p:nvPr>
        </p:nvSpPr>
        <p:spPr>
          <a:xfrm>
            <a:off x="838200" y="1825625"/>
            <a:ext cx="6043863" cy="4351338"/>
          </a:xfrm>
        </p:spPr>
        <p:txBody>
          <a:bodyPr>
            <a:normAutofit/>
          </a:bodyPr>
          <a:lstStyle/>
          <a:p>
            <a:pPr marL="0" indent="0">
              <a:buNone/>
            </a:pPr>
            <a:r>
              <a:rPr lang="en-US" sz="3600" dirty="0"/>
              <a:t>Response Variable: The variable whose distribution is of interest</a:t>
            </a:r>
          </a:p>
          <a:p>
            <a:pPr marL="0" indent="0">
              <a:buNone/>
            </a:pPr>
            <a:r>
              <a:rPr lang="en-US" sz="3600" dirty="0"/>
              <a:t>Explanatory Variables: Variables that explain variability in the response variable.</a:t>
            </a:r>
          </a:p>
        </p:txBody>
      </p:sp>
      <p:sp>
        <p:nvSpPr>
          <p:cNvPr id="4" name="TextBox 3">
            <a:extLst>
              <a:ext uri="{FF2B5EF4-FFF2-40B4-BE49-F238E27FC236}">
                <a16:creationId xmlns:a16="http://schemas.microsoft.com/office/drawing/2014/main" id="{B55057F7-066D-B972-CFF1-61D0BFAB5A5C}"/>
              </a:ext>
            </a:extLst>
          </p:cNvPr>
          <p:cNvSpPr txBox="1"/>
          <p:nvPr/>
        </p:nvSpPr>
        <p:spPr>
          <a:xfrm>
            <a:off x="7034463" y="3129975"/>
            <a:ext cx="4319337" cy="3046988"/>
          </a:xfrm>
          <a:prstGeom prst="rect">
            <a:avLst/>
          </a:prstGeom>
          <a:noFill/>
        </p:spPr>
        <p:txBody>
          <a:bodyPr wrap="square" rtlCol="0">
            <a:spAutoFit/>
          </a:bodyPr>
          <a:lstStyle/>
          <a:p>
            <a:r>
              <a:rPr lang="en-US" sz="2400" dirty="0"/>
              <a:t>I am studying the effects that increasing ocean temperatures have on coral reefs. I am taking measurements of sea surface temperatures and the percent of coral tissue that is bleached. What are the explanatory and response variables?</a:t>
            </a:r>
          </a:p>
        </p:txBody>
      </p:sp>
      <p:pic>
        <p:nvPicPr>
          <p:cNvPr id="6" name="Picture 5">
            <a:extLst>
              <a:ext uri="{FF2B5EF4-FFF2-40B4-BE49-F238E27FC236}">
                <a16:creationId xmlns:a16="http://schemas.microsoft.com/office/drawing/2014/main" id="{B84FC206-8AB0-023E-467D-83C724CED1C6}"/>
              </a:ext>
            </a:extLst>
          </p:cNvPr>
          <p:cNvPicPr>
            <a:picLocks noChangeAspect="1"/>
          </p:cNvPicPr>
          <p:nvPr/>
        </p:nvPicPr>
        <p:blipFill>
          <a:blip r:embed="rId4"/>
          <a:stretch>
            <a:fillRect/>
          </a:stretch>
        </p:blipFill>
        <p:spPr>
          <a:xfrm>
            <a:off x="7295095" y="989706"/>
            <a:ext cx="2624889" cy="2239905"/>
          </a:xfrm>
          <a:prstGeom prst="rect">
            <a:avLst/>
          </a:prstGeom>
        </p:spPr>
      </p:pic>
      <p:pic>
        <p:nvPicPr>
          <p:cNvPr id="8" name="Picture 7">
            <a:extLst>
              <a:ext uri="{FF2B5EF4-FFF2-40B4-BE49-F238E27FC236}">
                <a16:creationId xmlns:a16="http://schemas.microsoft.com/office/drawing/2014/main" id="{1E6A1E71-5BE4-E625-8D81-DE63F473E6BB}"/>
              </a:ext>
            </a:extLst>
          </p:cNvPr>
          <p:cNvPicPr>
            <a:picLocks noChangeAspect="1"/>
          </p:cNvPicPr>
          <p:nvPr/>
        </p:nvPicPr>
        <p:blipFill>
          <a:blip r:embed="rId5"/>
          <a:stretch>
            <a:fillRect/>
          </a:stretch>
        </p:blipFill>
        <p:spPr>
          <a:xfrm>
            <a:off x="8873962" y="1661908"/>
            <a:ext cx="1704025" cy="1567703"/>
          </a:xfrm>
          <a:prstGeom prst="rect">
            <a:avLst/>
          </a:prstGeom>
        </p:spPr>
      </p:pic>
      <p:pic>
        <p:nvPicPr>
          <p:cNvPr id="10" name="Picture 9">
            <a:extLst>
              <a:ext uri="{FF2B5EF4-FFF2-40B4-BE49-F238E27FC236}">
                <a16:creationId xmlns:a16="http://schemas.microsoft.com/office/drawing/2014/main" id="{DBA16645-BB58-0B1F-B0DC-5F764D4E2868}"/>
              </a:ext>
            </a:extLst>
          </p:cNvPr>
          <p:cNvPicPr>
            <a:picLocks noChangeAspect="1"/>
          </p:cNvPicPr>
          <p:nvPr/>
        </p:nvPicPr>
        <p:blipFill>
          <a:blip r:embed="rId6"/>
          <a:stretch>
            <a:fillRect/>
          </a:stretch>
        </p:blipFill>
        <p:spPr>
          <a:xfrm>
            <a:off x="9529961" y="1027906"/>
            <a:ext cx="2084471" cy="2084471"/>
          </a:xfrm>
          <a:prstGeom prst="rect">
            <a:avLst/>
          </a:prstGeom>
        </p:spPr>
      </p:pic>
    </p:spTree>
    <p:extLst>
      <p:ext uri="{BB962C8B-B14F-4D97-AF65-F5344CB8AC3E}">
        <p14:creationId xmlns:p14="http://schemas.microsoft.com/office/powerpoint/2010/main" val="3669227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E1BC2-DAF2-B5E8-C169-9E0FD23A1FA8}"/>
              </a:ext>
            </a:extLst>
          </p:cNvPr>
          <p:cNvSpPr>
            <a:spLocks noGrp="1"/>
          </p:cNvSpPr>
          <p:nvPr>
            <p:ph type="title"/>
          </p:nvPr>
        </p:nvSpPr>
        <p:spPr/>
        <p:txBody>
          <a:bodyPr>
            <a:normAutofit/>
          </a:bodyPr>
          <a:lstStyle/>
          <a:p>
            <a:r>
              <a:rPr lang="en-US" sz="5400" dirty="0"/>
              <a:t>Factors and Treatments</a:t>
            </a:r>
          </a:p>
        </p:txBody>
      </p:sp>
      <p:sp>
        <p:nvSpPr>
          <p:cNvPr id="3" name="Content Placeholder 2">
            <a:extLst>
              <a:ext uri="{FF2B5EF4-FFF2-40B4-BE49-F238E27FC236}">
                <a16:creationId xmlns:a16="http://schemas.microsoft.com/office/drawing/2014/main" id="{CD719F32-CBF6-0004-2606-7C318433EAF0}"/>
              </a:ext>
            </a:extLst>
          </p:cNvPr>
          <p:cNvSpPr>
            <a:spLocks noGrp="1"/>
          </p:cNvSpPr>
          <p:nvPr>
            <p:ph idx="1"/>
          </p:nvPr>
        </p:nvSpPr>
        <p:spPr/>
        <p:txBody>
          <a:bodyPr/>
          <a:lstStyle/>
          <a:p>
            <a:pPr marL="0" indent="0">
              <a:buNone/>
            </a:pPr>
            <a:r>
              <a:rPr lang="en-US" sz="3200" dirty="0"/>
              <a:t>Factor: Independent variable that you control, used as an explanatory variable. (General type or category of treatments.) </a:t>
            </a:r>
          </a:p>
          <a:p>
            <a:r>
              <a:rPr lang="en-US" sz="3200" dirty="0"/>
              <a:t>Levels are set by the experimenter</a:t>
            </a:r>
          </a:p>
          <a:p>
            <a:pPr marL="0" indent="0">
              <a:buNone/>
            </a:pPr>
            <a:r>
              <a:rPr lang="en-US" sz="3200" dirty="0"/>
              <a:t>Treatment or Treatment Combination: A particular combination of the levels of all the treatment factors. </a:t>
            </a:r>
          </a:p>
          <a:p>
            <a:r>
              <a:rPr lang="en-US" sz="3200" dirty="0"/>
              <a:t>Different treatments constitute different levels of a factor  </a:t>
            </a:r>
          </a:p>
          <a:p>
            <a:r>
              <a:rPr lang="en-US" sz="3200" dirty="0"/>
              <a:t>Administered to experimental units </a:t>
            </a:r>
          </a:p>
          <a:p>
            <a:endParaRPr lang="en-US" dirty="0"/>
          </a:p>
          <a:p>
            <a:endParaRPr lang="en-US" dirty="0"/>
          </a:p>
        </p:txBody>
      </p:sp>
      <p:pic>
        <p:nvPicPr>
          <p:cNvPr id="5" name="Picture 4">
            <a:extLst>
              <a:ext uri="{FF2B5EF4-FFF2-40B4-BE49-F238E27FC236}">
                <a16:creationId xmlns:a16="http://schemas.microsoft.com/office/drawing/2014/main" id="{0687C917-088A-94A6-7AC7-802491D40CEA}"/>
              </a:ext>
            </a:extLst>
          </p:cNvPr>
          <p:cNvPicPr>
            <a:picLocks noChangeAspect="1"/>
          </p:cNvPicPr>
          <p:nvPr/>
        </p:nvPicPr>
        <p:blipFill>
          <a:blip r:embed="rId3"/>
          <a:stretch>
            <a:fillRect/>
          </a:stretch>
        </p:blipFill>
        <p:spPr>
          <a:xfrm rot="19745285">
            <a:off x="9935882" y="2124123"/>
            <a:ext cx="2332318" cy="2332318"/>
          </a:xfrm>
          <a:prstGeom prst="rect">
            <a:avLst/>
          </a:prstGeom>
        </p:spPr>
      </p:pic>
    </p:spTree>
    <p:extLst>
      <p:ext uri="{BB962C8B-B14F-4D97-AF65-F5344CB8AC3E}">
        <p14:creationId xmlns:p14="http://schemas.microsoft.com/office/powerpoint/2010/main" val="1825995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FD5EA-C3D3-C8F1-D9EF-3F11860366D0}"/>
              </a:ext>
            </a:extLst>
          </p:cNvPr>
          <p:cNvSpPr>
            <a:spLocks noGrp="1"/>
          </p:cNvSpPr>
          <p:nvPr>
            <p:ph type="title"/>
          </p:nvPr>
        </p:nvSpPr>
        <p:spPr/>
        <p:txBody>
          <a:bodyPr>
            <a:normAutofit/>
          </a:bodyPr>
          <a:lstStyle/>
          <a:p>
            <a:r>
              <a:rPr lang="en-US" sz="5400" dirty="0"/>
              <a:t>Controls and Control Treatments</a:t>
            </a:r>
          </a:p>
        </p:txBody>
      </p:sp>
      <p:sp>
        <p:nvSpPr>
          <p:cNvPr id="3" name="Content Placeholder 2">
            <a:extLst>
              <a:ext uri="{FF2B5EF4-FFF2-40B4-BE49-F238E27FC236}">
                <a16:creationId xmlns:a16="http://schemas.microsoft.com/office/drawing/2014/main" id="{72C373C5-80CC-F8E1-352E-AA7BC1A79FAC}"/>
              </a:ext>
            </a:extLst>
          </p:cNvPr>
          <p:cNvSpPr>
            <a:spLocks noGrp="1"/>
          </p:cNvSpPr>
          <p:nvPr>
            <p:ph idx="1"/>
          </p:nvPr>
        </p:nvSpPr>
        <p:spPr/>
        <p:txBody>
          <a:bodyPr>
            <a:normAutofit fontScale="92500"/>
          </a:bodyPr>
          <a:lstStyle/>
          <a:p>
            <a:pPr marL="0" lvl="0" indent="0" fontAlgn="base">
              <a:buNone/>
            </a:pPr>
            <a:r>
              <a:rPr lang="en-US" sz="3200" b="1" dirty="0"/>
              <a:t>Purpose: </a:t>
            </a:r>
            <a:r>
              <a:rPr lang="en-US" sz="3200" dirty="0"/>
              <a:t>Provide a baseline to compare the effects of experimental treatments.</a:t>
            </a:r>
          </a:p>
          <a:p>
            <a:pPr lvl="0" fontAlgn="base"/>
            <a:r>
              <a:rPr lang="en-US" sz="3200" dirty="0"/>
              <a:t>Account for external factors that could influence the results.</a:t>
            </a:r>
          </a:p>
          <a:p>
            <a:pPr marL="0" lvl="0" indent="0" fontAlgn="base">
              <a:buNone/>
            </a:pPr>
            <a:r>
              <a:rPr lang="en-US" sz="3200" b="1" dirty="0"/>
              <a:t>Types of Control Treatments:</a:t>
            </a:r>
          </a:p>
          <a:p>
            <a:pPr fontAlgn="base"/>
            <a:r>
              <a:rPr lang="en-US" sz="3200" dirty="0"/>
              <a:t>Negative Controls: No experimental treatment is applied; conditions remain natural.</a:t>
            </a:r>
          </a:p>
          <a:p>
            <a:pPr lvl="0" fontAlgn="base"/>
            <a:r>
              <a:rPr lang="en-US" sz="3200" dirty="0"/>
              <a:t>Positive/”Sham” Controls: A standard treatment known to produce an effect is applied to confirm that the experimental setup can detect effects.</a:t>
            </a:r>
          </a:p>
          <a:p>
            <a:endParaRPr lang="en-US" dirty="0"/>
          </a:p>
        </p:txBody>
      </p:sp>
    </p:spTree>
    <p:extLst>
      <p:ext uri="{BB962C8B-B14F-4D97-AF65-F5344CB8AC3E}">
        <p14:creationId xmlns:p14="http://schemas.microsoft.com/office/powerpoint/2010/main" val="2637025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B13C8-B5AC-7729-703E-013A335A5B91}"/>
              </a:ext>
            </a:extLst>
          </p:cNvPr>
          <p:cNvSpPr>
            <a:spLocks noGrp="1"/>
          </p:cNvSpPr>
          <p:nvPr>
            <p:ph type="title"/>
          </p:nvPr>
        </p:nvSpPr>
        <p:spPr/>
        <p:txBody>
          <a:bodyPr>
            <a:normAutofit/>
          </a:bodyPr>
          <a:lstStyle/>
          <a:p>
            <a:r>
              <a:rPr lang="en-US" sz="4800" dirty="0"/>
              <a:t>Experimental Units and Sampling Design</a:t>
            </a:r>
          </a:p>
        </p:txBody>
      </p:sp>
      <p:sp>
        <p:nvSpPr>
          <p:cNvPr id="3" name="Content Placeholder 2">
            <a:extLst>
              <a:ext uri="{FF2B5EF4-FFF2-40B4-BE49-F238E27FC236}">
                <a16:creationId xmlns:a16="http://schemas.microsoft.com/office/drawing/2014/main" id="{A023F03A-0816-EB0B-2F45-22EDD7460A28}"/>
              </a:ext>
            </a:extLst>
          </p:cNvPr>
          <p:cNvSpPr>
            <a:spLocks noGrp="1"/>
          </p:cNvSpPr>
          <p:nvPr>
            <p:ph idx="1"/>
          </p:nvPr>
        </p:nvSpPr>
        <p:spPr/>
        <p:txBody>
          <a:bodyPr>
            <a:normAutofit fontScale="92500"/>
          </a:bodyPr>
          <a:lstStyle/>
          <a:p>
            <a:pPr marL="0" indent="0">
              <a:buNone/>
            </a:pPr>
            <a:r>
              <a:rPr lang="en-US" sz="3600" b="1" dirty="0"/>
              <a:t>Experimental units </a:t>
            </a:r>
            <a:r>
              <a:rPr lang="en-US" sz="3600" dirty="0"/>
              <a:t>are the smallest divisions of the experimental material that receive different treatments. </a:t>
            </a:r>
            <a:endParaRPr lang="en-US" sz="3600" b="0" dirty="0">
              <a:effectLst/>
            </a:endParaRPr>
          </a:p>
          <a:p>
            <a:r>
              <a:rPr lang="en-US" sz="3600" dirty="0"/>
              <a:t>They must be independent. </a:t>
            </a:r>
          </a:p>
          <a:p>
            <a:r>
              <a:rPr lang="en-US" sz="3600" dirty="0"/>
              <a:t>Smallest unit of inference.</a:t>
            </a:r>
          </a:p>
          <a:p>
            <a:r>
              <a:rPr lang="en-US" sz="3600" dirty="0"/>
              <a:t>The units or objects that are independently assigned to a specific experimental condition.</a:t>
            </a:r>
          </a:p>
          <a:p>
            <a:endParaRPr lang="en-US" sz="3600" dirty="0"/>
          </a:p>
          <a:p>
            <a:pPr marL="0" indent="0">
              <a:buNone/>
            </a:pPr>
            <a:r>
              <a:rPr lang="en-US" sz="3600" b="1" dirty="0"/>
              <a:t>Experimental Error: </a:t>
            </a:r>
            <a:r>
              <a:rPr lang="en-US" sz="3600" dirty="0"/>
              <a:t>variation among experimental units</a:t>
            </a:r>
            <a:endParaRPr lang="en-US" sz="3600" dirty="0">
              <a:effectLst/>
            </a:endParaRPr>
          </a:p>
        </p:txBody>
      </p:sp>
    </p:spTree>
    <p:extLst>
      <p:ext uri="{BB962C8B-B14F-4D97-AF65-F5344CB8AC3E}">
        <p14:creationId xmlns:p14="http://schemas.microsoft.com/office/powerpoint/2010/main" val="4257706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C50DE-8DC4-3888-39A4-AD99FFAD1011}"/>
              </a:ext>
            </a:extLst>
          </p:cNvPr>
          <p:cNvSpPr>
            <a:spLocks noGrp="1"/>
          </p:cNvSpPr>
          <p:nvPr>
            <p:ph type="title"/>
          </p:nvPr>
        </p:nvSpPr>
        <p:spPr/>
        <p:txBody>
          <a:bodyPr>
            <a:normAutofit/>
          </a:bodyPr>
          <a:lstStyle/>
          <a:p>
            <a:r>
              <a:rPr lang="en-US" sz="5400" dirty="0"/>
              <a:t>Randomization and Blocking</a:t>
            </a:r>
          </a:p>
        </p:txBody>
      </p:sp>
      <p:sp>
        <p:nvSpPr>
          <p:cNvPr id="3" name="Content Placeholder 2">
            <a:extLst>
              <a:ext uri="{FF2B5EF4-FFF2-40B4-BE49-F238E27FC236}">
                <a16:creationId xmlns:a16="http://schemas.microsoft.com/office/drawing/2014/main" id="{4548219C-4E4A-EFFF-C7F3-97E20AD02F6F}"/>
              </a:ext>
            </a:extLst>
          </p:cNvPr>
          <p:cNvSpPr>
            <a:spLocks noGrp="1"/>
          </p:cNvSpPr>
          <p:nvPr>
            <p:ph idx="1"/>
          </p:nvPr>
        </p:nvSpPr>
        <p:spPr/>
        <p:txBody>
          <a:bodyPr>
            <a:normAutofit fontScale="85000" lnSpcReduction="20000"/>
          </a:bodyPr>
          <a:lstStyle/>
          <a:p>
            <a:pPr marL="0" indent="0">
              <a:buNone/>
            </a:pPr>
            <a:r>
              <a:rPr lang="en-US" sz="3200" dirty="0"/>
              <a:t>In </a:t>
            </a:r>
            <a:r>
              <a:rPr lang="en-US" sz="3200" b="1" dirty="0"/>
              <a:t>random sampling</a:t>
            </a:r>
            <a:r>
              <a:rPr lang="en-US" sz="3200" dirty="0"/>
              <a:t>, each potential sampling unit has an equal chance of being selected. </a:t>
            </a:r>
          </a:p>
          <a:p>
            <a:r>
              <a:rPr lang="en-US" sz="3200" dirty="0"/>
              <a:t>This method reduces selection bias and enhances the representativeness of the sample.</a:t>
            </a:r>
            <a:endParaRPr lang="en-US" sz="3200" b="1" dirty="0"/>
          </a:p>
          <a:p>
            <a:pPr marL="0" indent="0">
              <a:buNone/>
            </a:pPr>
            <a:r>
              <a:rPr lang="en-US" sz="3200" b="1" dirty="0"/>
              <a:t>Randomization Techniques: </a:t>
            </a:r>
            <a:r>
              <a:rPr lang="en-US" sz="3200" dirty="0"/>
              <a:t>Randomization assigns treatments randomly to eliminate bias. </a:t>
            </a:r>
            <a:endParaRPr lang="en-US" sz="3200" b="0" dirty="0">
              <a:effectLst/>
            </a:endParaRPr>
          </a:p>
          <a:p>
            <a:r>
              <a:rPr lang="en-US" sz="3200" dirty="0"/>
              <a:t>Methods include random number generators or drawing lots </a:t>
            </a:r>
          </a:p>
          <a:p>
            <a:pPr marL="0" indent="0">
              <a:buNone/>
            </a:pPr>
            <a:r>
              <a:rPr lang="en-US" sz="3200" b="1" dirty="0"/>
              <a:t>Blocking Strategies: </a:t>
            </a:r>
            <a:r>
              <a:rPr lang="en-US" sz="3200" dirty="0"/>
              <a:t>Blocking reduces variability by grouping similar units before randomization. </a:t>
            </a:r>
          </a:p>
          <a:p>
            <a:r>
              <a:rPr lang="en-US" sz="3200" dirty="0"/>
              <a:t>Identify factors (blocks) that could influence outcomes, then randomly assign treatments to blocks.</a:t>
            </a:r>
          </a:p>
        </p:txBody>
      </p:sp>
    </p:spTree>
    <p:extLst>
      <p:ext uri="{BB962C8B-B14F-4D97-AF65-F5344CB8AC3E}">
        <p14:creationId xmlns:p14="http://schemas.microsoft.com/office/powerpoint/2010/main" val="2849948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CAC65-610F-5988-9DEE-7F3DFB38315A}"/>
              </a:ext>
            </a:extLst>
          </p:cNvPr>
          <p:cNvSpPr>
            <a:spLocks noGrp="1"/>
          </p:cNvSpPr>
          <p:nvPr>
            <p:ph type="title"/>
          </p:nvPr>
        </p:nvSpPr>
        <p:spPr/>
        <p:txBody>
          <a:bodyPr>
            <a:normAutofit/>
          </a:bodyPr>
          <a:lstStyle/>
          <a:p>
            <a:r>
              <a:rPr lang="en-US" sz="5400" dirty="0"/>
              <a:t>Example: Crop Yield Experiment</a:t>
            </a:r>
          </a:p>
        </p:txBody>
      </p:sp>
      <p:sp>
        <p:nvSpPr>
          <p:cNvPr id="3" name="Content Placeholder 2">
            <a:extLst>
              <a:ext uri="{FF2B5EF4-FFF2-40B4-BE49-F238E27FC236}">
                <a16:creationId xmlns:a16="http://schemas.microsoft.com/office/drawing/2014/main" id="{C4328545-8422-350E-E710-F4CEA78DB920}"/>
              </a:ext>
            </a:extLst>
          </p:cNvPr>
          <p:cNvSpPr>
            <a:spLocks noGrp="1"/>
          </p:cNvSpPr>
          <p:nvPr>
            <p:ph idx="1"/>
          </p:nvPr>
        </p:nvSpPr>
        <p:spPr>
          <a:xfrm>
            <a:off x="838200" y="1585911"/>
            <a:ext cx="10515600" cy="4906963"/>
          </a:xfrm>
        </p:spPr>
        <p:txBody>
          <a:bodyPr>
            <a:normAutofit/>
          </a:bodyPr>
          <a:lstStyle/>
          <a:p>
            <a:pPr marL="0" indent="0">
              <a:buNone/>
            </a:pPr>
            <a:r>
              <a:rPr lang="en-US" sz="3200" dirty="0"/>
              <a:t>In a crop yield experiment, plots are blocked by soil fertility (high, medium, low). </a:t>
            </a:r>
          </a:p>
          <a:p>
            <a:r>
              <a:rPr lang="en-US" sz="3200" dirty="0"/>
              <a:t>Could also be things like soil type, elevation, shade, etc.</a:t>
            </a:r>
          </a:p>
          <a:p>
            <a:pPr marL="0" indent="0">
              <a:buNone/>
            </a:pPr>
            <a:r>
              <a:rPr lang="en-US" sz="3200" dirty="0"/>
              <a:t>Treatments (e.g., irrigation levels, fertilizer application, etc.) are randomly assigned within each block.</a:t>
            </a:r>
          </a:p>
          <a:p>
            <a:pPr marL="0" indent="0">
              <a:buNone/>
            </a:pPr>
            <a:endParaRPr lang="en-US" sz="3200" dirty="0"/>
          </a:p>
          <a:p>
            <a:pPr marL="0" indent="0">
              <a:buNone/>
            </a:pPr>
            <a:endParaRPr lang="en-US" sz="3200" dirty="0"/>
          </a:p>
          <a:p>
            <a:pPr marL="0" indent="0">
              <a:buNone/>
            </a:pPr>
            <a:r>
              <a:rPr lang="en-US" sz="3200" dirty="0"/>
              <a:t>Outcome of Techniques: Randomization &amp; blocking enhance reliability by controlling confounding variables.</a:t>
            </a:r>
          </a:p>
        </p:txBody>
      </p:sp>
      <p:pic>
        <p:nvPicPr>
          <p:cNvPr id="5" name="Picture 4">
            <a:extLst>
              <a:ext uri="{FF2B5EF4-FFF2-40B4-BE49-F238E27FC236}">
                <a16:creationId xmlns:a16="http://schemas.microsoft.com/office/drawing/2014/main" id="{543F50E1-EE24-35A4-DDEE-2008B5887938}"/>
              </a:ext>
            </a:extLst>
          </p:cNvPr>
          <p:cNvPicPr>
            <a:picLocks noChangeAspect="1"/>
          </p:cNvPicPr>
          <p:nvPr/>
        </p:nvPicPr>
        <p:blipFill>
          <a:blip r:embed="rId3"/>
          <a:stretch>
            <a:fillRect/>
          </a:stretch>
        </p:blipFill>
        <p:spPr>
          <a:xfrm>
            <a:off x="9273309" y="3594677"/>
            <a:ext cx="2540000" cy="2273300"/>
          </a:xfrm>
          <a:prstGeom prst="rect">
            <a:avLst/>
          </a:prstGeom>
        </p:spPr>
      </p:pic>
    </p:spTree>
    <p:extLst>
      <p:ext uri="{BB962C8B-B14F-4D97-AF65-F5344CB8AC3E}">
        <p14:creationId xmlns:p14="http://schemas.microsoft.com/office/powerpoint/2010/main" val="185793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86F1-E1A5-FFE8-987F-86BD1A49FAEE}"/>
              </a:ext>
            </a:extLst>
          </p:cNvPr>
          <p:cNvSpPr>
            <a:spLocks noGrp="1"/>
          </p:cNvSpPr>
          <p:nvPr>
            <p:ph type="title"/>
          </p:nvPr>
        </p:nvSpPr>
        <p:spPr/>
        <p:txBody>
          <a:bodyPr>
            <a:normAutofit/>
          </a:bodyPr>
          <a:lstStyle/>
          <a:p>
            <a:r>
              <a:rPr lang="en-US" sz="5400" dirty="0"/>
              <a:t>Understanding CRD vs. RBD</a:t>
            </a:r>
          </a:p>
        </p:txBody>
      </p:sp>
      <p:pic>
        <p:nvPicPr>
          <p:cNvPr id="4" name="Picture 3">
            <a:extLst>
              <a:ext uri="{FF2B5EF4-FFF2-40B4-BE49-F238E27FC236}">
                <a16:creationId xmlns:a16="http://schemas.microsoft.com/office/drawing/2014/main" id="{A1196862-F00B-BDAD-503F-204A62BD338E}"/>
              </a:ext>
            </a:extLst>
          </p:cNvPr>
          <p:cNvPicPr>
            <a:picLocks noChangeAspect="1"/>
          </p:cNvPicPr>
          <p:nvPr/>
        </p:nvPicPr>
        <p:blipFill>
          <a:blip r:embed="rId3"/>
          <a:stretch>
            <a:fillRect/>
          </a:stretch>
        </p:blipFill>
        <p:spPr>
          <a:xfrm>
            <a:off x="365541" y="1852371"/>
            <a:ext cx="5730459" cy="4297845"/>
          </a:xfrm>
          <a:prstGeom prst="rect">
            <a:avLst/>
          </a:prstGeom>
          <a:ln w="28575">
            <a:solidFill>
              <a:schemeClr val="accent6">
                <a:lumMod val="75000"/>
              </a:schemeClr>
            </a:solidFill>
          </a:ln>
        </p:spPr>
      </p:pic>
      <p:pic>
        <p:nvPicPr>
          <p:cNvPr id="5" name="Picture 4">
            <a:extLst>
              <a:ext uri="{FF2B5EF4-FFF2-40B4-BE49-F238E27FC236}">
                <a16:creationId xmlns:a16="http://schemas.microsoft.com/office/drawing/2014/main" id="{2A6041A8-84A3-41A8-24CB-7CF1D0A5BF3E}"/>
              </a:ext>
            </a:extLst>
          </p:cNvPr>
          <p:cNvPicPr>
            <a:picLocks noChangeAspect="1"/>
          </p:cNvPicPr>
          <p:nvPr/>
        </p:nvPicPr>
        <p:blipFill>
          <a:blip r:embed="rId4"/>
          <a:stretch>
            <a:fillRect/>
          </a:stretch>
        </p:blipFill>
        <p:spPr>
          <a:xfrm>
            <a:off x="6096000" y="1852371"/>
            <a:ext cx="5757489" cy="4297844"/>
          </a:xfrm>
          <a:prstGeom prst="rect">
            <a:avLst/>
          </a:prstGeom>
          <a:ln w="28575">
            <a:solidFill>
              <a:schemeClr val="accent6">
                <a:lumMod val="75000"/>
              </a:schemeClr>
            </a:solidFill>
          </a:ln>
        </p:spPr>
      </p:pic>
    </p:spTree>
    <p:extLst>
      <p:ext uri="{BB962C8B-B14F-4D97-AF65-F5344CB8AC3E}">
        <p14:creationId xmlns:p14="http://schemas.microsoft.com/office/powerpoint/2010/main" val="1700712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5B17-2281-DFEB-B876-66B8EB469F9F}"/>
              </a:ext>
            </a:extLst>
          </p:cNvPr>
          <p:cNvSpPr>
            <a:spLocks noGrp="1"/>
          </p:cNvSpPr>
          <p:nvPr>
            <p:ph type="title"/>
          </p:nvPr>
        </p:nvSpPr>
        <p:spPr/>
        <p:txBody>
          <a:bodyPr>
            <a:normAutofit/>
          </a:bodyPr>
          <a:lstStyle/>
          <a:p>
            <a:r>
              <a:rPr lang="en-US" sz="5400" dirty="0"/>
              <a:t>Understanding Factorial Designs</a:t>
            </a:r>
          </a:p>
        </p:txBody>
      </p:sp>
      <p:sp>
        <p:nvSpPr>
          <p:cNvPr id="3" name="Content Placeholder 2">
            <a:extLst>
              <a:ext uri="{FF2B5EF4-FFF2-40B4-BE49-F238E27FC236}">
                <a16:creationId xmlns:a16="http://schemas.microsoft.com/office/drawing/2014/main" id="{3BC927DD-ADA8-3D4C-A389-47A2EE426804}"/>
              </a:ext>
            </a:extLst>
          </p:cNvPr>
          <p:cNvSpPr>
            <a:spLocks noGrp="1"/>
          </p:cNvSpPr>
          <p:nvPr>
            <p:ph idx="1"/>
          </p:nvPr>
        </p:nvSpPr>
        <p:spPr>
          <a:xfrm>
            <a:off x="838200" y="1583578"/>
            <a:ext cx="10515600" cy="4351338"/>
          </a:xfrm>
        </p:spPr>
        <p:txBody>
          <a:bodyPr>
            <a:normAutofit/>
          </a:bodyPr>
          <a:lstStyle/>
          <a:p>
            <a:pPr marL="0" lvl="0" indent="0" fontAlgn="base">
              <a:buNone/>
            </a:pPr>
            <a:r>
              <a:rPr lang="en-US" dirty="0"/>
              <a:t>Factorial designs involve testing all possible combinations of levels of multiple factors</a:t>
            </a:r>
            <a:endParaRPr lang="en-US" sz="800" dirty="0"/>
          </a:p>
          <a:p>
            <a:pPr lvl="0" fontAlgn="base"/>
            <a:r>
              <a:rPr lang="en-US" dirty="0"/>
              <a:t>Benefits include efficiency in examining both individual and interaction effects of factors</a:t>
            </a:r>
            <a:endParaRPr lang="en-US" sz="800" dirty="0"/>
          </a:p>
          <a:p>
            <a:pPr marL="0" indent="0">
              <a:buNone/>
            </a:pPr>
            <a:endParaRPr lang="en-US" dirty="0"/>
          </a:p>
        </p:txBody>
      </p:sp>
      <p:pic>
        <p:nvPicPr>
          <p:cNvPr id="4" name="Picture 3">
            <a:extLst>
              <a:ext uri="{FF2B5EF4-FFF2-40B4-BE49-F238E27FC236}">
                <a16:creationId xmlns:a16="http://schemas.microsoft.com/office/drawing/2014/main" id="{30E0BDF5-6B26-2DA7-A884-D481643E3AC3}"/>
              </a:ext>
            </a:extLst>
          </p:cNvPr>
          <p:cNvPicPr>
            <a:picLocks noChangeAspect="1"/>
          </p:cNvPicPr>
          <p:nvPr/>
        </p:nvPicPr>
        <p:blipFill>
          <a:blip r:embed="rId3"/>
          <a:stretch>
            <a:fillRect/>
          </a:stretch>
        </p:blipFill>
        <p:spPr>
          <a:xfrm>
            <a:off x="8143936" y="2962929"/>
            <a:ext cx="3725333" cy="3725333"/>
          </a:xfrm>
          <a:prstGeom prst="rect">
            <a:avLst/>
          </a:prstGeom>
          <a:ln w="28575">
            <a:solidFill>
              <a:schemeClr val="accent6">
                <a:lumMod val="75000"/>
              </a:schemeClr>
            </a:solidFill>
          </a:ln>
        </p:spPr>
      </p:pic>
      <p:sp>
        <p:nvSpPr>
          <p:cNvPr id="5" name="TextBox 4">
            <a:extLst>
              <a:ext uri="{FF2B5EF4-FFF2-40B4-BE49-F238E27FC236}">
                <a16:creationId xmlns:a16="http://schemas.microsoft.com/office/drawing/2014/main" id="{5A0DD5DF-093F-24C5-06CA-4C5B251C7F9B}"/>
              </a:ext>
            </a:extLst>
          </p:cNvPr>
          <p:cNvSpPr txBox="1"/>
          <p:nvPr/>
        </p:nvSpPr>
        <p:spPr>
          <a:xfrm>
            <a:off x="838200" y="3429000"/>
            <a:ext cx="7162800" cy="3077766"/>
          </a:xfrm>
          <a:prstGeom prst="rect">
            <a:avLst/>
          </a:prstGeom>
          <a:noFill/>
        </p:spPr>
        <p:txBody>
          <a:bodyPr wrap="square" rtlCol="0">
            <a:spAutoFit/>
          </a:bodyPr>
          <a:lstStyle/>
          <a:p>
            <a:pPr lvl="0" fontAlgn="base"/>
            <a:r>
              <a:rPr lang="en-US" sz="2400" dirty="0"/>
              <a:t>Example: In studying the effects of pollution and temperature on aquatic life, researchers might test three pollution levels (None, Low, High) and two temperature levels (Normal, Elevated).</a:t>
            </a:r>
            <a:endParaRPr lang="en-US" sz="1000" dirty="0"/>
          </a:p>
          <a:p>
            <a:pPr marL="800100" lvl="1" indent="-342900" fontAlgn="base">
              <a:buFont typeface="Arial" panose="020B0604020202020204" pitchFamily="34" charset="0"/>
              <a:buChar char="•"/>
            </a:pPr>
            <a:r>
              <a:rPr lang="en-US" sz="2000" dirty="0"/>
              <a:t>3 x 2 design - 6 treatments</a:t>
            </a:r>
            <a:endParaRPr lang="en-US" sz="900" dirty="0"/>
          </a:p>
          <a:p>
            <a:pPr marL="800100" lvl="1" indent="-342900" fontAlgn="base">
              <a:buFont typeface="Arial" panose="020B0604020202020204" pitchFamily="34" charset="0"/>
              <a:buChar char="•"/>
            </a:pPr>
            <a:r>
              <a:rPr lang="en-US" sz="2000" dirty="0"/>
              <a:t>Researchers can assess each factor individually on aquatic organisms, AND but also whether high pollution combined with elevated temperature leads to effects</a:t>
            </a:r>
            <a:endParaRPr lang="en-US" sz="900" dirty="0"/>
          </a:p>
          <a:p>
            <a:endParaRPr lang="en-US" dirty="0"/>
          </a:p>
        </p:txBody>
      </p:sp>
    </p:spTree>
    <p:extLst>
      <p:ext uri="{BB962C8B-B14F-4D97-AF65-F5344CB8AC3E}">
        <p14:creationId xmlns:p14="http://schemas.microsoft.com/office/powerpoint/2010/main" val="1411304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85A9A-5458-9BEB-A60F-A13393DA550E}"/>
              </a:ext>
            </a:extLst>
          </p:cNvPr>
          <p:cNvSpPr>
            <a:spLocks noGrp="1"/>
          </p:cNvSpPr>
          <p:nvPr>
            <p:ph type="title"/>
          </p:nvPr>
        </p:nvSpPr>
        <p:spPr/>
        <p:txBody>
          <a:bodyPr>
            <a:normAutofit/>
          </a:bodyPr>
          <a:lstStyle/>
          <a:p>
            <a:r>
              <a:rPr lang="en-US" sz="5400" dirty="0"/>
              <a:t>Factorial Treatments &amp; Interactions</a:t>
            </a:r>
          </a:p>
        </p:txBody>
      </p:sp>
      <p:sp>
        <p:nvSpPr>
          <p:cNvPr id="3" name="Content Placeholder 2">
            <a:extLst>
              <a:ext uri="{FF2B5EF4-FFF2-40B4-BE49-F238E27FC236}">
                <a16:creationId xmlns:a16="http://schemas.microsoft.com/office/drawing/2014/main" id="{F44849E4-720B-299A-D1A7-D3F0CFB1F81D}"/>
              </a:ext>
            </a:extLst>
          </p:cNvPr>
          <p:cNvSpPr>
            <a:spLocks noGrp="1"/>
          </p:cNvSpPr>
          <p:nvPr>
            <p:ph idx="1"/>
          </p:nvPr>
        </p:nvSpPr>
        <p:spPr>
          <a:xfrm>
            <a:off x="838200" y="1825625"/>
            <a:ext cx="4849906" cy="4351338"/>
          </a:xfrm>
        </p:spPr>
        <p:txBody>
          <a:bodyPr>
            <a:normAutofit/>
          </a:bodyPr>
          <a:lstStyle/>
          <a:p>
            <a:pPr marL="0" indent="0">
              <a:buNone/>
            </a:pPr>
            <a:r>
              <a:rPr lang="en-US" sz="3600" dirty="0"/>
              <a:t>An interaction occurs when the effect of one treatment factor differs depending on the level at which the other treatment factor(s) are set. </a:t>
            </a:r>
          </a:p>
        </p:txBody>
      </p:sp>
      <p:pic>
        <p:nvPicPr>
          <p:cNvPr id="7" name="Picture 6">
            <a:extLst>
              <a:ext uri="{FF2B5EF4-FFF2-40B4-BE49-F238E27FC236}">
                <a16:creationId xmlns:a16="http://schemas.microsoft.com/office/drawing/2014/main" id="{384CC30A-DCFF-F70C-5615-91E0D918DC92}"/>
              </a:ext>
            </a:extLst>
          </p:cNvPr>
          <p:cNvPicPr>
            <a:picLocks noChangeAspect="1"/>
          </p:cNvPicPr>
          <p:nvPr/>
        </p:nvPicPr>
        <p:blipFill>
          <a:blip r:embed="rId3"/>
          <a:stretch>
            <a:fillRect/>
          </a:stretch>
        </p:blipFill>
        <p:spPr>
          <a:xfrm>
            <a:off x="5858436" y="1825625"/>
            <a:ext cx="5833669" cy="3729598"/>
          </a:xfrm>
          <a:prstGeom prst="rect">
            <a:avLst/>
          </a:prstGeom>
          <a:ln w="28575">
            <a:solidFill>
              <a:schemeClr val="accent6">
                <a:lumMod val="75000"/>
              </a:schemeClr>
            </a:solidFill>
          </a:ln>
        </p:spPr>
      </p:pic>
    </p:spTree>
    <p:extLst>
      <p:ext uri="{BB962C8B-B14F-4D97-AF65-F5344CB8AC3E}">
        <p14:creationId xmlns:p14="http://schemas.microsoft.com/office/powerpoint/2010/main" val="3104132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59B70-F529-ED69-A530-5ECC5AE82157}"/>
              </a:ext>
            </a:extLst>
          </p:cNvPr>
          <p:cNvSpPr>
            <a:spLocks noGrp="1"/>
          </p:cNvSpPr>
          <p:nvPr>
            <p:ph type="title"/>
          </p:nvPr>
        </p:nvSpPr>
        <p:spPr/>
        <p:txBody>
          <a:bodyPr>
            <a:normAutofit/>
          </a:bodyPr>
          <a:lstStyle/>
          <a:p>
            <a:r>
              <a:rPr lang="en-US" sz="5400" dirty="0"/>
              <a:t>Balance</a:t>
            </a:r>
          </a:p>
        </p:txBody>
      </p:sp>
      <p:sp>
        <p:nvSpPr>
          <p:cNvPr id="3" name="Content Placeholder 2">
            <a:extLst>
              <a:ext uri="{FF2B5EF4-FFF2-40B4-BE49-F238E27FC236}">
                <a16:creationId xmlns:a16="http://schemas.microsoft.com/office/drawing/2014/main" id="{1B540866-920B-9AD2-800B-705D23FD88A8}"/>
              </a:ext>
            </a:extLst>
          </p:cNvPr>
          <p:cNvSpPr>
            <a:spLocks noGrp="1"/>
          </p:cNvSpPr>
          <p:nvPr>
            <p:ph idx="1"/>
          </p:nvPr>
        </p:nvSpPr>
        <p:spPr/>
        <p:txBody>
          <a:bodyPr>
            <a:normAutofit/>
          </a:bodyPr>
          <a:lstStyle/>
          <a:p>
            <a:pPr marL="0" indent="0">
              <a:buNone/>
            </a:pPr>
            <a:r>
              <a:rPr lang="en-US" sz="3200" dirty="0"/>
              <a:t>A balanced experiment is one in which the replication is the same under each level of each experimental factor.</a:t>
            </a:r>
          </a:p>
          <a:p>
            <a:r>
              <a:rPr lang="en-US" sz="3200" dirty="0"/>
              <a:t>Increases power of experiment</a:t>
            </a:r>
          </a:p>
          <a:p>
            <a:r>
              <a:rPr lang="en-US" sz="3200" dirty="0"/>
              <a:t>Simplifies statistical analysis</a:t>
            </a:r>
          </a:p>
          <a:p>
            <a:pPr marL="0" indent="0">
              <a:buNone/>
            </a:pPr>
            <a:r>
              <a:rPr lang="en-US" sz="3200" dirty="0"/>
              <a:t>E.g., an experiment with three treatment groups each with 10 experimental units is balanced; an experiment with three treatment groups of sizes 2, 18, and 10 is unbalanced.</a:t>
            </a:r>
          </a:p>
        </p:txBody>
      </p:sp>
    </p:spTree>
    <p:extLst>
      <p:ext uri="{BB962C8B-B14F-4D97-AF65-F5344CB8AC3E}">
        <p14:creationId xmlns:p14="http://schemas.microsoft.com/office/powerpoint/2010/main" val="4216203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35767-CF2A-D33B-8AF5-7C390240F75D}"/>
              </a:ext>
            </a:extLst>
          </p:cNvPr>
          <p:cNvSpPr>
            <a:spLocks noGrp="1"/>
          </p:cNvSpPr>
          <p:nvPr>
            <p:ph type="title"/>
          </p:nvPr>
        </p:nvSpPr>
        <p:spPr/>
        <p:txBody>
          <a:bodyPr>
            <a:normAutofit/>
          </a:bodyPr>
          <a:lstStyle/>
          <a:p>
            <a:r>
              <a:rPr lang="en-US" sz="5400" dirty="0"/>
              <a:t>Replication and Sample Size</a:t>
            </a:r>
          </a:p>
        </p:txBody>
      </p:sp>
      <p:sp>
        <p:nvSpPr>
          <p:cNvPr id="3" name="Content Placeholder 2">
            <a:extLst>
              <a:ext uri="{FF2B5EF4-FFF2-40B4-BE49-F238E27FC236}">
                <a16:creationId xmlns:a16="http://schemas.microsoft.com/office/drawing/2014/main" id="{94D044A9-954C-9230-A3B4-03D9F75DB77E}"/>
              </a:ext>
            </a:extLst>
          </p:cNvPr>
          <p:cNvSpPr>
            <a:spLocks noGrp="1"/>
          </p:cNvSpPr>
          <p:nvPr>
            <p:ph idx="1"/>
          </p:nvPr>
        </p:nvSpPr>
        <p:spPr>
          <a:xfrm>
            <a:off x="838200" y="1570131"/>
            <a:ext cx="10515600" cy="4857563"/>
          </a:xfrm>
        </p:spPr>
        <p:txBody>
          <a:bodyPr>
            <a:normAutofit fontScale="77500" lnSpcReduction="20000"/>
          </a:bodyPr>
          <a:lstStyle/>
          <a:p>
            <a:pPr marL="0" lvl="0" indent="0" fontAlgn="base">
              <a:buNone/>
            </a:pPr>
            <a:r>
              <a:rPr lang="en-US" sz="3300" dirty="0"/>
              <a:t>Replication enhances the reliability of experimental results</a:t>
            </a:r>
          </a:p>
          <a:p>
            <a:pPr lvl="0" fontAlgn="base"/>
            <a:r>
              <a:rPr lang="en-US" sz="3300" dirty="0"/>
              <a:t>Allows researchers to account for variability</a:t>
            </a:r>
          </a:p>
          <a:p>
            <a:pPr marL="0" lvl="0" indent="0" fontAlgn="base">
              <a:buNone/>
            </a:pPr>
            <a:r>
              <a:rPr lang="en-US" sz="3300" dirty="0"/>
              <a:t>Determining an appropriate sample size is essential and should be based on desired statistical power, effect size, and variability within the data. </a:t>
            </a:r>
          </a:p>
          <a:p>
            <a:pPr marL="0" lvl="0" indent="0" fontAlgn="base">
              <a:buNone/>
            </a:pPr>
            <a:r>
              <a:rPr lang="en-US" sz="3300" dirty="0"/>
              <a:t>Avoiding </a:t>
            </a:r>
            <a:r>
              <a:rPr lang="en-US" sz="3300" dirty="0" err="1"/>
              <a:t>pseudoreplication</a:t>
            </a:r>
            <a:r>
              <a:rPr lang="en-US" sz="3300" dirty="0"/>
              <a:t> is vital to ensure that experimental units are independent. </a:t>
            </a:r>
          </a:p>
          <a:p>
            <a:pPr lvl="0" fontAlgn="base"/>
            <a:r>
              <a:rPr lang="en-US" sz="3300" dirty="0" err="1"/>
              <a:t>Pseudoreplication</a:t>
            </a:r>
            <a:r>
              <a:rPr lang="en-US" sz="3300" dirty="0"/>
              <a:t> occurs when non-independent samples are treated as if they are independent</a:t>
            </a:r>
          </a:p>
          <a:p>
            <a:pPr lvl="0" fontAlgn="base"/>
            <a:r>
              <a:rPr lang="en-US" sz="3300" dirty="0"/>
              <a:t>Example: In a stream pollution study, if researchers measure water quality at multiple points along a single stream and treat each measurement as an independent replicate, this is </a:t>
            </a:r>
            <a:r>
              <a:rPr lang="en-US" sz="3300" dirty="0" err="1"/>
              <a:t>pseudoreplication</a:t>
            </a:r>
            <a:r>
              <a:rPr lang="en-US" sz="3300" dirty="0"/>
              <a:t>. </a:t>
            </a:r>
          </a:p>
          <a:p>
            <a:pPr lvl="1" fontAlgn="base"/>
            <a:r>
              <a:rPr lang="en-US" sz="2800" dirty="0"/>
              <a:t>A better approach would be to sample multiple independent streams to provide valid comparisons.</a:t>
            </a:r>
          </a:p>
          <a:p>
            <a:endParaRPr lang="en-US" dirty="0"/>
          </a:p>
        </p:txBody>
      </p:sp>
    </p:spTree>
    <p:extLst>
      <p:ext uri="{BB962C8B-B14F-4D97-AF65-F5344CB8AC3E}">
        <p14:creationId xmlns:p14="http://schemas.microsoft.com/office/powerpoint/2010/main" val="2159721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65F76-127A-C98B-5B5D-0300C84A11CA}"/>
              </a:ext>
            </a:extLst>
          </p:cNvPr>
          <p:cNvSpPr>
            <a:spLocks noGrp="1"/>
          </p:cNvSpPr>
          <p:nvPr>
            <p:ph type="title"/>
          </p:nvPr>
        </p:nvSpPr>
        <p:spPr/>
        <p:txBody>
          <a:bodyPr>
            <a:normAutofit/>
          </a:bodyPr>
          <a:lstStyle/>
          <a:p>
            <a:r>
              <a:rPr lang="en-US" sz="5400" dirty="0"/>
              <a:t>Temporal and Spatial Considerations</a:t>
            </a:r>
          </a:p>
        </p:txBody>
      </p:sp>
      <p:sp>
        <p:nvSpPr>
          <p:cNvPr id="3" name="Content Placeholder 2">
            <a:extLst>
              <a:ext uri="{FF2B5EF4-FFF2-40B4-BE49-F238E27FC236}">
                <a16:creationId xmlns:a16="http://schemas.microsoft.com/office/drawing/2014/main" id="{A1E8A78E-69B6-D55E-617E-756E9B79D3D7}"/>
              </a:ext>
            </a:extLst>
          </p:cNvPr>
          <p:cNvSpPr>
            <a:spLocks noGrp="1"/>
          </p:cNvSpPr>
          <p:nvPr>
            <p:ph idx="1"/>
          </p:nvPr>
        </p:nvSpPr>
        <p:spPr/>
        <p:txBody>
          <a:bodyPr>
            <a:normAutofit fontScale="92500" lnSpcReduction="10000"/>
          </a:bodyPr>
          <a:lstStyle/>
          <a:p>
            <a:pPr marL="0" indent="0">
              <a:buNone/>
            </a:pPr>
            <a:r>
              <a:rPr lang="en-US" sz="3200" b="1" dirty="0"/>
              <a:t>Understanding Temporal Dynamics: </a:t>
            </a:r>
            <a:r>
              <a:rPr lang="en-US" sz="3200" dirty="0"/>
              <a:t>Ecological processes can vary significantly with time, influenced by seasonal changes, breeding cycles, and migration patterns. </a:t>
            </a:r>
            <a:endParaRPr lang="en-US" sz="3200" b="0" dirty="0">
              <a:effectLst/>
            </a:endParaRPr>
          </a:p>
          <a:p>
            <a:r>
              <a:rPr lang="en-US" sz="3200" dirty="0"/>
              <a:t>Longitudinal studies help capture these temporal trends.</a:t>
            </a:r>
          </a:p>
          <a:p>
            <a:pPr marL="0" indent="0">
              <a:buNone/>
            </a:pPr>
            <a:br>
              <a:rPr lang="en-US" sz="3200" dirty="0"/>
            </a:br>
            <a:r>
              <a:rPr lang="en-US" sz="3200" b="1" dirty="0"/>
              <a:t>Exploring Spatial Heterogeneity: </a:t>
            </a:r>
            <a:r>
              <a:rPr lang="en-US" sz="3200" dirty="0"/>
              <a:t>Microhabitats and landscape-level variability impact ecological interactions. </a:t>
            </a:r>
            <a:endParaRPr lang="en-US" sz="3200" b="0" dirty="0">
              <a:effectLst/>
            </a:endParaRPr>
          </a:p>
          <a:p>
            <a:r>
              <a:rPr lang="en-US" sz="3200" dirty="0"/>
              <a:t>Different altitudes, latitudes, and fragmentation can create diverse ecological outcomes.</a:t>
            </a:r>
            <a:br>
              <a:rPr lang="en-US" dirty="0"/>
            </a:br>
            <a:endParaRPr lang="en-US" dirty="0"/>
          </a:p>
        </p:txBody>
      </p:sp>
      <p:pic>
        <p:nvPicPr>
          <p:cNvPr id="5" name="Picture 4">
            <a:extLst>
              <a:ext uri="{FF2B5EF4-FFF2-40B4-BE49-F238E27FC236}">
                <a16:creationId xmlns:a16="http://schemas.microsoft.com/office/drawing/2014/main" id="{7D79857C-5595-073A-1875-AF0B82F62483}"/>
              </a:ext>
            </a:extLst>
          </p:cNvPr>
          <p:cNvPicPr>
            <a:picLocks noChangeAspect="1"/>
          </p:cNvPicPr>
          <p:nvPr/>
        </p:nvPicPr>
        <p:blipFill>
          <a:blip r:embed="rId3"/>
          <a:stretch>
            <a:fillRect/>
          </a:stretch>
        </p:blipFill>
        <p:spPr>
          <a:xfrm>
            <a:off x="10400146" y="2049172"/>
            <a:ext cx="2232891" cy="2232891"/>
          </a:xfrm>
          <a:prstGeom prst="rect">
            <a:avLst/>
          </a:prstGeom>
        </p:spPr>
      </p:pic>
    </p:spTree>
    <p:extLst>
      <p:ext uri="{BB962C8B-B14F-4D97-AF65-F5344CB8AC3E}">
        <p14:creationId xmlns:p14="http://schemas.microsoft.com/office/powerpoint/2010/main" val="3541553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46AD-AAB9-853B-FB73-AEAC572F883B}"/>
              </a:ext>
            </a:extLst>
          </p:cNvPr>
          <p:cNvSpPr>
            <a:spLocks noGrp="1"/>
          </p:cNvSpPr>
          <p:nvPr>
            <p:ph type="title"/>
          </p:nvPr>
        </p:nvSpPr>
        <p:spPr/>
        <p:txBody>
          <a:bodyPr>
            <a:normAutofit fontScale="90000"/>
          </a:bodyPr>
          <a:lstStyle/>
          <a:p>
            <a:r>
              <a:rPr lang="en-US" sz="5400" dirty="0"/>
              <a:t>Dealing with Environmental Variability</a:t>
            </a:r>
          </a:p>
        </p:txBody>
      </p:sp>
      <p:sp>
        <p:nvSpPr>
          <p:cNvPr id="3" name="Content Placeholder 2">
            <a:extLst>
              <a:ext uri="{FF2B5EF4-FFF2-40B4-BE49-F238E27FC236}">
                <a16:creationId xmlns:a16="http://schemas.microsoft.com/office/drawing/2014/main" id="{576EE31F-51E0-19E3-F459-BAF082BAD653}"/>
              </a:ext>
            </a:extLst>
          </p:cNvPr>
          <p:cNvSpPr>
            <a:spLocks noGrp="1"/>
          </p:cNvSpPr>
          <p:nvPr>
            <p:ph idx="1"/>
          </p:nvPr>
        </p:nvSpPr>
        <p:spPr/>
        <p:txBody>
          <a:bodyPr>
            <a:normAutofit fontScale="85000" lnSpcReduction="20000"/>
          </a:bodyPr>
          <a:lstStyle/>
          <a:p>
            <a:pPr marL="0" indent="0">
              <a:buNone/>
            </a:pPr>
            <a:r>
              <a:rPr lang="en-US" b="1" dirty="0"/>
              <a:t>Minimizing Variability: </a:t>
            </a:r>
            <a:r>
              <a:rPr lang="en-US" dirty="0"/>
              <a:t>Controlled environments, such as growth chambers, can be used to maintain constant conditions for experiments. </a:t>
            </a:r>
            <a:endParaRPr lang="en-US" b="0" dirty="0">
              <a:effectLst/>
            </a:endParaRPr>
          </a:p>
          <a:p>
            <a:r>
              <a:rPr lang="en-US" dirty="0"/>
              <a:t>Selecting study sites with uniform environmental characteristics also helps reduce variability.</a:t>
            </a:r>
            <a:endParaRPr lang="en-US" b="0" dirty="0">
              <a:effectLst/>
            </a:endParaRPr>
          </a:p>
          <a:p>
            <a:pPr marL="0" indent="0">
              <a:buNone/>
            </a:pPr>
            <a:r>
              <a:rPr lang="en-US" b="1" dirty="0"/>
              <a:t>Measuring Environmental Variability: </a:t>
            </a:r>
            <a:r>
              <a:rPr lang="en-US" dirty="0"/>
              <a:t>Regularly collect data on environmental factors such as temperature, humidity, and light levels. </a:t>
            </a:r>
            <a:endParaRPr lang="en-US" b="0" dirty="0">
              <a:effectLst/>
            </a:endParaRPr>
          </a:p>
          <a:p>
            <a:r>
              <a:rPr lang="en-US" dirty="0"/>
              <a:t>This data can be recorded using automated sensors that provide continuous monitoring.</a:t>
            </a:r>
            <a:endParaRPr lang="en-US" b="0" dirty="0">
              <a:effectLst/>
            </a:endParaRPr>
          </a:p>
          <a:p>
            <a:pPr marL="0" indent="0">
              <a:buNone/>
            </a:pPr>
            <a:r>
              <a:rPr lang="en-US" b="1" dirty="0"/>
              <a:t>Example: Light Intensity on Algal Growth: </a:t>
            </a:r>
            <a:r>
              <a:rPr lang="en-US" dirty="0"/>
              <a:t>To study the effects of light on algal growth, artificial lighting can be implemented to ensure consistent light intensity. </a:t>
            </a:r>
            <a:endParaRPr lang="en-US" b="0" dirty="0">
              <a:effectLst/>
            </a:endParaRPr>
          </a:p>
          <a:p>
            <a:r>
              <a:rPr lang="en-US" dirty="0"/>
              <a:t>Alternatively, ambient light levels can be measured and included in statistical analyses.</a:t>
            </a:r>
            <a:endParaRPr lang="en-US" b="0" dirty="0">
              <a:effectLst/>
            </a:endParaRPr>
          </a:p>
        </p:txBody>
      </p:sp>
    </p:spTree>
    <p:extLst>
      <p:ext uri="{BB962C8B-B14F-4D97-AF65-F5344CB8AC3E}">
        <p14:creationId xmlns:p14="http://schemas.microsoft.com/office/powerpoint/2010/main" val="2442051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9D281-BC2D-A3EC-055A-A953234A1EFD}"/>
              </a:ext>
            </a:extLst>
          </p:cNvPr>
          <p:cNvSpPr>
            <a:spLocks noGrp="1"/>
          </p:cNvSpPr>
          <p:nvPr>
            <p:ph type="title"/>
          </p:nvPr>
        </p:nvSpPr>
        <p:spPr/>
        <p:txBody>
          <a:bodyPr>
            <a:normAutofit/>
          </a:bodyPr>
          <a:lstStyle/>
          <a:p>
            <a:r>
              <a:rPr lang="en-US" sz="5400" dirty="0"/>
              <a:t>Data Collection Methods</a:t>
            </a:r>
          </a:p>
        </p:txBody>
      </p:sp>
      <p:sp>
        <p:nvSpPr>
          <p:cNvPr id="3" name="Content Placeholder 2">
            <a:extLst>
              <a:ext uri="{FF2B5EF4-FFF2-40B4-BE49-F238E27FC236}">
                <a16:creationId xmlns:a16="http://schemas.microsoft.com/office/drawing/2014/main" id="{65B03F20-7B6B-2C68-DE1F-ED84518C8E55}"/>
              </a:ext>
            </a:extLst>
          </p:cNvPr>
          <p:cNvSpPr>
            <a:spLocks noGrp="1"/>
          </p:cNvSpPr>
          <p:nvPr>
            <p:ph idx="1"/>
          </p:nvPr>
        </p:nvSpPr>
        <p:spPr/>
        <p:txBody>
          <a:bodyPr>
            <a:normAutofit/>
          </a:bodyPr>
          <a:lstStyle/>
          <a:p>
            <a:pPr marL="0" indent="0">
              <a:buNone/>
            </a:pPr>
            <a:r>
              <a:rPr lang="en-US" sz="3200" b="1" dirty="0"/>
              <a:t>Standardizing Data Collection: </a:t>
            </a:r>
            <a:r>
              <a:rPr lang="en-US" sz="3200" dirty="0"/>
              <a:t>Develop detailed protocols for data collection to ensure consistency and reliability across studies.</a:t>
            </a:r>
          </a:p>
          <a:p>
            <a:pPr marL="0" indent="0">
              <a:buNone/>
            </a:pPr>
            <a:r>
              <a:rPr lang="en-US" sz="3200" b="1" dirty="0"/>
              <a:t>Instrumentation and Technology: </a:t>
            </a:r>
            <a:r>
              <a:rPr lang="en-US" sz="3200" dirty="0"/>
              <a:t>Utilize advanced tools such as remote sensing and automated sensors for accurate environmental monitoring.</a:t>
            </a:r>
          </a:p>
          <a:p>
            <a:r>
              <a:rPr lang="en-US" sz="3200" b="1" dirty="0"/>
              <a:t>Example: Tracking Migratory Birds: </a:t>
            </a:r>
            <a:r>
              <a:rPr lang="en-US" sz="3200" dirty="0"/>
              <a:t>Attach lightweight GPS tags to birds to gather precise data on migration patterns and behaviors.</a:t>
            </a:r>
          </a:p>
        </p:txBody>
      </p:sp>
    </p:spTree>
    <p:extLst>
      <p:ext uri="{BB962C8B-B14F-4D97-AF65-F5344CB8AC3E}">
        <p14:creationId xmlns:p14="http://schemas.microsoft.com/office/powerpoint/2010/main" val="2853613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E0F3E-1A37-DF67-76B4-DA9879BEC5FF}"/>
              </a:ext>
            </a:extLst>
          </p:cNvPr>
          <p:cNvSpPr>
            <a:spLocks noGrp="1"/>
          </p:cNvSpPr>
          <p:nvPr>
            <p:ph type="title"/>
          </p:nvPr>
        </p:nvSpPr>
        <p:spPr/>
        <p:txBody>
          <a:bodyPr>
            <a:normAutofit/>
          </a:bodyPr>
          <a:lstStyle/>
          <a:p>
            <a:r>
              <a:rPr lang="en-US" sz="5400" dirty="0"/>
              <a:t>Statistical Considerations</a:t>
            </a:r>
          </a:p>
        </p:txBody>
      </p:sp>
      <p:sp>
        <p:nvSpPr>
          <p:cNvPr id="3" name="Content Placeholder 2">
            <a:extLst>
              <a:ext uri="{FF2B5EF4-FFF2-40B4-BE49-F238E27FC236}">
                <a16:creationId xmlns:a16="http://schemas.microsoft.com/office/drawing/2014/main" id="{1B89F04A-C1E9-3E5C-A8FA-5A24F5EEF6CD}"/>
              </a:ext>
            </a:extLst>
          </p:cNvPr>
          <p:cNvSpPr>
            <a:spLocks noGrp="1"/>
          </p:cNvSpPr>
          <p:nvPr>
            <p:ph idx="1"/>
          </p:nvPr>
        </p:nvSpPr>
        <p:spPr/>
        <p:txBody>
          <a:bodyPr>
            <a:normAutofit lnSpcReduction="10000"/>
          </a:bodyPr>
          <a:lstStyle/>
          <a:p>
            <a:pPr marL="0" lvl="0" indent="0" fontAlgn="base">
              <a:buNone/>
            </a:pPr>
            <a:r>
              <a:rPr lang="en-US" b="1" dirty="0"/>
              <a:t>Designing for Statistical Analysis: </a:t>
            </a:r>
            <a:r>
              <a:rPr lang="en-US" dirty="0"/>
              <a:t>Choose statistical tests that match the data type and experimental design.</a:t>
            </a:r>
          </a:p>
          <a:p>
            <a:pPr lvl="0" fontAlgn="base"/>
            <a:r>
              <a:rPr lang="en-US" dirty="0"/>
              <a:t>Ensure data meets the assumptions of chosen tests, like normal distribution.</a:t>
            </a:r>
          </a:p>
          <a:p>
            <a:pPr lvl="0" fontAlgn="base"/>
            <a:r>
              <a:rPr lang="en-US" dirty="0"/>
              <a:t>Consider the potential for Type I and Type II errors when selecting tests. </a:t>
            </a:r>
          </a:p>
          <a:p>
            <a:pPr marL="0" lvl="0" indent="0" fontAlgn="base">
              <a:buNone/>
            </a:pPr>
            <a:r>
              <a:rPr lang="en-US" b="1" dirty="0"/>
              <a:t>Performing Power Analysis: </a:t>
            </a:r>
            <a:r>
              <a:rPr lang="en-US" dirty="0"/>
              <a:t>Power analysis helps determine the sample size needed to detect an effect.</a:t>
            </a:r>
          </a:p>
          <a:p>
            <a:pPr lvl="0" fontAlgn="base"/>
            <a:r>
              <a:rPr lang="en-US" dirty="0"/>
              <a:t>Factors include desired statistical power, effect size, and variability.</a:t>
            </a:r>
          </a:p>
        </p:txBody>
      </p:sp>
    </p:spTree>
    <p:extLst>
      <p:ext uri="{BB962C8B-B14F-4D97-AF65-F5344CB8AC3E}">
        <p14:creationId xmlns:p14="http://schemas.microsoft.com/office/powerpoint/2010/main" val="3489317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1861A-5D36-5D58-8763-4846FFC1C92A}"/>
              </a:ext>
            </a:extLst>
          </p:cNvPr>
          <p:cNvSpPr>
            <a:spLocks noGrp="1"/>
          </p:cNvSpPr>
          <p:nvPr>
            <p:ph type="title"/>
          </p:nvPr>
        </p:nvSpPr>
        <p:spPr/>
        <p:txBody>
          <a:bodyPr>
            <a:normAutofit/>
          </a:bodyPr>
          <a:lstStyle/>
          <a:p>
            <a:r>
              <a:rPr lang="en-US" sz="5400" dirty="0"/>
              <a:t>Recall: Power</a:t>
            </a:r>
          </a:p>
        </p:txBody>
      </p:sp>
      <p:sp>
        <p:nvSpPr>
          <p:cNvPr id="3" name="Content Placeholder 2">
            <a:extLst>
              <a:ext uri="{FF2B5EF4-FFF2-40B4-BE49-F238E27FC236}">
                <a16:creationId xmlns:a16="http://schemas.microsoft.com/office/drawing/2014/main" id="{8CF645EF-6413-65AE-CAA3-6A7574F27217}"/>
              </a:ext>
            </a:extLst>
          </p:cNvPr>
          <p:cNvSpPr>
            <a:spLocks noGrp="1"/>
          </p:cNvSpPr>
          <p:nvPr>
            <p:ph idx="1"/>
          </p:nvPr>
        </p:nvSpPr>
        <p:spPr/>
        <p:txBody>
          <a:bodyPr>
            <a:normAutofit fontScale="92500"/>
          </a:bodyPr>
          <a:lstStyle/>
          <a:p>
            <a:pPr marL="0" indent="0">
              <a:buNone/>
            </a:pPr>
            <a:r>
              <a:rPr lang="en-US" sz="3600" dirty="0"/>
              <a:t>Power is the probability that a random sample taken from a population will, when analyzed, lead to rejection of a false null hypothesis.</a:t>
            </a:r>
          </a:p>
          <a:p>
            <a:r>
              <a:rPr lang="en-US" sz="3600" dirty="0"/>
              <a:t>Probability of detecting an effect that is indeed there!</a:t>
            </a:r>
          </a:p>
          <a:p>
            <a:pPr marL="0" indent="0">
              <a:buNone/>
            </a:pPr>
            <a:r>
              <a:rPr lang="en-US" sz="3600" dirty="0"/>
              <a:t>Planning for power involves choosing a sample size that would have a high probability of rejecting H</a:t>
            </a:r>
            <a:r>
              <a:rPr lang="en-US" sz="3600" baseline="-25000" dirty="0"/>
              <a:t>0</a:t>
            </a:r>
            <a:r>
              <a:rPr lang="en-US" sz="3600" dirty="0"/>
              <a:t> if the absolute value of the difference between the means,          | μ1−μ2 |, is at least as great as a specified value D. </a:t>
            </a:r>
            <a:endParaRPr lang="en-US" sz="3600" dirty="0">
              <a:effectLst/>
            </a:endParaRPr>
          </a:p>
          <a:p>
            <a:pPr marL="0" indent="0">
              <a:buNone/>
            </a:pPr>
            <a:endParaRPr lang="en-US" dirty="0"/>
          </a:p>
        </p:txBody>
      </p:sp>
    </p:spTree>
    <p:extLst>
      <p:ext uri="{BB962C8B-B14F-4D97-AF65-F5344CB8AC3E}">
        <p14:creationId xmlns:p14="http://schemas.microsoft.com/office/powerpoint/2010/main" val="3590124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EE0E3-4066-52B9-72AD-CE469DD3A408}"/>
              </a:ext>
            </a:extLst>
          </p:cNvPr>
          <p:cNvSpPr>
            <a:spLocks noGrp="1"/>
          </p:cNvSpPr>
          <p:nvPr>
            <p:ph type="title"/>
          </p:nvPr>
        </p:nvSpPr>
        <p:spPr/>
        <p:txBody>
          <a:bodyPr>
            <a:normAutofit/>
          </a:bodyPr>
          <a:lstStyle/>
          <a:p>
            <a:r>
              <a:rPr lang="en-US" sz="5400" dirty="0"/>
              <a:t>Power Analysis</a:t>
            </a:r>
          </a:p>
        </p:txBody>
      </p:sp>
      <p:sp>
        <p:nvSpPr>
          <p:cNvPr id="3" name="Content Placeholder 2">
            <a:extLst>
              <a:ext uri="{FF2B5EF4-FFF2-40B4-BE49-F238E27FC236}">
                <a16:creationId xmlns:a16="http://schemas.microsoft.com/office/drawing/2014/main" id="{74CF4C75-FEF6-AAA1-B246-BC97C03DAE82}"/>
              </a:ext>
            </a:extLst>
          </p:cNvPr>
          <p:cNvSpPr>
            <a:spLocks noGrp="1"/>
          </p:cNvSpPr>
          <p:nvPr>
            <p:ph idx="1"/>
          </p:nvPr>
        </p:nvSpPr>
        <p:spPr>
          <a:xfrm>
            <a:off x="838201" y="1825625"/>
            <a:ext cx="7961026" cy="4351338"/>
          </a:xfrm>
        </p:spPr>
        <p:txBody>
          <a:bodyPr/>
          <a:lstStyle/>
          <a:p>
            <a:pPr marL="0" indent="0">
              <a:buNone/>
            </a:pPr>
            <a:r>
              <a:rPr lang="en-US" dirty="0"/>
              <a:t>A conventional power to aim for is 0.80. That is, if H</a:t>
            </a:r>
            <a:r>
              <a:rPr lang="en-US" baseline="-25000" dirty="0"/>
              <a:t>0</a:t>
            </a:r>
            <a:r>
              <a:rPr lang="en-US" dirty="0"/>
              <a:t> is false, we aim to demonstrate that it is false in 80% of the experiments. </a:t>
            </a:r>
            <a:endParaRPr lang="en-US" dirty="0">
              <a:effectLst/>
            </a:endParaRPr>
          </a:p>
          <a:p>
            <a:r>
              <a:rPr lang="en-US" dirty="0"/>
              <a:t>Assuming a power of 0.80 and a conventional significance level of α=0.05, then a quick approximation to the planned sample size n in each of two groups:</a:t>
            </a:r>
            <a:endParaRPr lang="en-US" dirty="0">
              <a:effectLst/>
            </a:endParaRPr>
          </a:p>
          <a:p>
            <a:r>
              <a:rPr lang="en-US" dirty="0"/>
              <a:t>Assumes that the two populations are normally distributed and have the same standard deviation (</a:t>
            </a:r>
            <a:r>
              <a:rPr lang="en-US" dirty="0" err="1"/>
              <a:t>σ</a:t>
            </a:r>
            <a:r>
              <a:rPr lang="en-US" dirty="0"/>
              <a:t>) </a:t>
            </a:r>
            <a:endParaRPr lang="en-US" dirty="0">
              <a:effectLst/>
            </a:endParaRPr>
          </a:p>
          <a:p>
            <a:endParaRPr lang="en-US" dirty="0"/>
          </a:p>
        </p:txBody>
      </p:sp>
      <p:pic>
        <p:nvPicPr>
          <p:cNvPr id="8" name="Picture 7">
            <a:extLst>
              <a:ext uri="{FF2B5EF4-FFF2-40B4-BE49-F238E27FC236}">
                <a16:creationId xmlns:a16="http://schemas.microsoft.com/office/drawing/2014/main" id="{D5B4BA92-2CC5-7D4A-598D-50731015E9F7}"/>
              </a:ext>
            </a:extLst>
          </p:cNvPr>
          <p:cNvPicPr>
            <a:picLocks noChangeAspect="1"/>
          </p:cNvPicPr>
          <p:nvPr/>
        </p:nvPicPr>
        <p:blipFill>
          <a:blip r:embed="rId3"/>
          <a:stretch>
            <a:fillRect/>
          </a:stretch>
        </p:blipFill>
        <p:spPr>
          <a:xfrm>
            <a:off x="8799227" y="3076866"/>
            <a:ext cx="2698698" cy="1153642"/>
          </a:xfrm>
          <a:prstGeom prst="rect">
            <a:avLst/>
          </a:prstGeom>
          <a:ln w="28575">
            <a:solidFill>
              <a:schemeClr val="accent6">
                <a:lumMod val="75000"/>
              </a:schemeClr>
            </a:solidFill>
          </a:ln>
        </p:spPr>
      </p:pic>
    </p:spTree>
    <p:extLst>
      <p:ext uri="{BB962C8B-B14F-4D97-AF65-F5344CB8AC3E}">
        <p14:creationId xmlns:p14="http://schemas.microsoft.com/office/powerpoint/2010/main" val="239894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6AE1-70F9-DC97-6DA4-3BC2F57FE9ED}"/>
              </a:ext>
            </a:extLst>
          </p:cNvPr>
          <p:cNvSpPr>
            <a:spLocks noGrp="1"/>
          </p:cNvSpPr>
          <p:nvPr>
            <p:ph type="title"/>
          </p:nvPr>
        </p:nvSpPr>
        <p:spPr/>
        <p:txBody>
          <a:bodyPr>
            <a:normAutofit/>
          </a:bodyPr>
          <a:lstStyle/>
          <a:p>
            <a:r>
              <a:rPr lang="en-US" dirty="0"/>
              <a:t>Case Studies in Ecological Experimentation</a:t>
            </a:r>
          </a:p>
        </p:txBody>
      </p:sp>
      <p:sp>
        <p:nvSpPr>
          <p:cNvPr id="3" name="Content Placeholder 2">
            <a:extLst>
              <a:ext uri="{FF2B5EF4-FFF2-40B4-BE49-F238E27FC236}">
                <a16:creationId xmlns:a16="http://schemas.microsoft.com/office/drawing/2014/main" id="{3ED28829-7CCB-E85E-0FE2-A00FBEC4133D}"/>
              </a:ext>
            </a:extLst>
          </p:cNvPr>
          <p:cNvSpPr>
            <a:spLocks noGrp="1"/>
          </p:cNvSpPr>
          <p:nvPr>
            <p:ph idx="1"/>
          </p:nvPr>
        </p:nvSpPr>
        <p:spPr/>
        <p:txBody>
          <a:bodyPr>
            <a:normAutofit lnSpcReduction="10000"/>
          </a:bodyPr>
          <a:lstStyle/>
          <a:p>
            <a:pPr marL="0" indent="0">
              <a:buNone/>
            </a:pPr>
            <a:r>
              <a:rPr lang="en-US" sz="3200" b="1" dirty="0"/>
              <a:t>Hubbard Brook </a:t>
            </a:r>
          </a:p>
          <a:p>
            <a:pPr marL="0" indent="0">
              <a:buNone/>
            </a:pPr>
            <a:r>
              <a:rPr lang="en-US" sz="3200" dirty="0"/>
              <a:t>Objective: Study the impact of deforestation on nutrient cycling and water quality. </a:t>
            </a:r>
            <a:br>
              <a:rPr lang="en-US" sz="3200" dirty="0"/>
            </a:br>
            <a:r>
              <a:rPr lang="en-US" sz="3200" dirty="0"/>
              <a:t>Method: Clear-cutting a watershed and monitoring changes compared to untouched areas.</a:t>
            </a:r>
          </a:p>
          <a:p>
            <a:pPr marL="0" indent="0">
              <a:buNone/>
            </a:pPr>
            <a:r>
              <a:rPr lang="en-US" sz="3200" dirty="0"/>
              <a:t>Findings: Increases in nutrient loss, such as nitrates, and water runoff were observed post-deforestation. </a:t>
            </a:r>
            <a:br>
              <a:rPr lang="en-US" sz="3200" dirty="0"/>
            </a:br>
            <a:br>
              <a:rPr lang="en-US" sz="3200" dirty="0"/>
            </a:br>
            <a:r>
              <a:rPr lang="en-US" sz="3200" dirty="0"/>
              <a:t>This highlighted the critical role of vegetation in regulating ecosystem processes.</a:t>
            </a:r>
          </a:p>
        </p:txBody>
      </p:sp>
    </p:spTree>
    <p:extLst>
      <p:ext uri="{BB962C8B-B14F-4D97-AF65-F5344CB8AC3E}">
        <p14:creationId xmlns:p14="http://schemas.microsoft.com/office/powerpoint/2010/main" val="3089296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8D50F9-31FF-95D0-B517-4E5E972B43CA}"/>
              </a:ext>
            </a:extLst>
          </p:cNvPr>
          <p:cNvSpPr>
            <a:spLocks noGrp="1"/>
          </p:cNvSpPr>
          <p:nvPr>
            <p:ph idx="1"/>
          </p:nvPr>
        </p:nvSpPr>
        <p:spPr/>
        <p:txBody>
          <a:bodyPr>
            <a:normAutofit fontScale="92500"/>
          </a:bodyPr>
          <a:lstStyle/>
          <a:p>
            <a:pPr marL="0" indent="0">
              <a:buNone/>
            </a:pPr>
            <a:r>
              <a:rPr lang="en-US" sz="3200" b="1" dirty="0"/>
              <a:t>Tilman's Biodiversity Experiments</a:t>
            </a:r>
          </a:p>
          <a:p>
            <a:pPr marL="0" indent="0">
              <a:buNone/>
            </a:pPr>
            <a:r>
              <a:rPr lang="en-US" sz="3200" dirty="0"/>
              <a:t>Objective: Investigate how plant diversity affects ecosystem functioning. </a:t>
            </a:r>
          </a:p>
          <a:p>
            <a:pPr marL="0" indent="0">
              <a:buNone/>
            </a:pPr>
            <a:r>
              <a:rPr lang="en-US" sz="3200" dirty="0"/>
              <a:t>Method: Manipulating species richness in experimental plots and measuring productivity, nutrient retention, and resilience. </a:t>
            </a:r>
          </a:p>
          <a:p>
            <a:pPr marL="0" indent="0">
              <a:buNone/>
            </a:pPr>
            <a:r>
              <a:rPr lang="en-US" sz="3200" dirty="0"/>
              <a:t>Findings: Plots with higher species diversity showed increased productivity and stability, providing empirical support for the importance of biodiversity in ecosystem health.</a:t>
            </a:r>
          </a:p>
        </p:txBody>
      </p:sp>
      <p:sp>
        <p:nvSpPr>
          <p:cNvPr id="4" name="Title 1">
            <a:extLst>
              <a:ext uri="{FF2B5EF4-FFF2-40B4-BE49-F238E27FC236}">
                <a16:creationId xmlns:a16="http://schemas.microsoft.com/office/drawing/2014/main" id="{74BD8CB0-FB14-5DB2-3A30-88AB07A89CE2}"/>
              </a:ext>
            </a:extLst>
          </p:cNvPr>
          <p:cNvSpPr>
            <a:spLocks noGrp="1"/>
          </p:cNvSpPr>
          <p:nvPr>
            <p:ph type="title"/>
          </p:nvPr>
        </p:nvSpPr>
        <p:spPr>
          <a:xfrm>
            <a:off x="838200" y="365125"/>
            <a:ext cx="10515600" cy="1325563"/>
          </a:xfrm>
        </p:spPr>
        <p:txBody>
          <a:bodyPr>
            <a:normAutofit/>
          </a:bodyPr>
          <a:lstStyle/>
          <a:p>
            <a:r>
              <a:rPr lang="en-US" dirty="0"/>
              <a:t>Case Studies in Ecological Experimentation</a:t>
            </a:r>
          </a:p>
        </p:txBody>
      </p:sp>
    </p:spTree>
    <p:extLst>
      <p:ext uri="{BB962C8B-B14F-4D97-AF65-F5344CB8AC3E}">
        <p14:creationId xmlns:p14="http://schemas.microsoft.com/office/powerpoint/2010/main" val="4026537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E590CA-DDDB-354D-B9A8-C140001C6273}"/>
              </a:ext>
            </a:extLst>
          </p:cNvPr>
          <p:cNvSpPr>
            <a:spLocks noGrp="1"/>
          </p:cNvSpPr>
          <p:nvPr>
            <p:ph idx="1"/>
          </p:nvPr>
        </p:nvSpPr>
        <p:spPr/>
        <p:txBody>
          <a:bodyPr>
            <a:normAutofit/>
          </a:bodyPr>
          <a:lstStyle/>
          <a:p>
            <a:pPr marL="0" indent="0">
              <a:buNone/>
            </a:pPr>
            <a:r>
              <a:rPr lang="en-US" sz="3200" b="1" dirty="0"/>
              <a:t>Lessons Learned</a:t>
            </a:r>
          </a:p>
          <a:p>
            <a:r>
              <a:rPr lang="en-US" sz="3200" dirty="0"/>
              <a:t>Successes: Demonstrated the value of long-term, large-scale experiments in ecology. </a:t>
            </a:r>
            <a:endParaRPr lang="en-US" sz="3200" dirty="0">
              <a:effectLst/>
            </a:endParaRPr>
          </a:p>
          <a:p>
            <a:r>
              <a:rPr lang="en-US" sz="3200" dirty="0"/>
              <a:t>Challenges: Complexity of ecological systems requires careful experimental design to isolate effects.</a:t>
            </a:r>
            <a:endParaRPr lang="en-US" sz="3200" dirty="0">
              <a:effectLst/>
            </a:endParaRPr>
          </a:p>
          <a:p>
            <a:r>
              <a:rPr lang="en-US" sz="3200" dirty="0"/>
              <a:t>Broader Implications: These case studies emphasize the interconnectedness of ecosystems and the necessity for informed conservation strategies.</a:t>
            </a:r>
          </a:p>
        </p:txBody>
      </p:sp>
      <p:sp>
        <p:nvSpPr>
          <p:cNvPr id="4" name="Title 1">
            <a:extLst>
              <a:ext uri="{FF2B5EF4-FFF2-40B4-BE49-F238E27FC236}">
                <a16:creationId xmlns:a16="http://schemas.microsoft.com/office/drawing/2014/main" id="{D240F163-0FA5-9836-A658-7D5128612F48}"/>
              </a:ext>
            </a:extLst>
          </p:cNvPr>
          <p:cNvSpPr>
            <a:spLocks noGrp="1"/>
          </p:cNvSpPr>
          <p:nvPr>
            <p:ph type="title"/>
          </p:nvPr>
        </p:nvSpPr>
        <p:spPr>
          <a:xfrm>
            <a:off x="838200" y="365125"/>
            <a:ext cx="10515600" cy="1325563"/>
          </a:xfrm>
        </p:spPr>
        <p:txBody>
          <a:bodyPr>
            <a:normAutofit/>
          </a:bodyPr>
          <a:lstStyle/>
          <a:p>
            <a:r>
              <a:rPr lang="en-US" dirty="0"/>
              <a:t>Case Studies in Ecological Experimentation</a:t>
            </a:r>
          </a:p>
        </p:txBody>
      </p:sp>
    </p:spTree>
    <p:extLst>
      <p:ext uri="{BB962C8B-B14F-4D97-AF65-F5344CB8AC3E}">
        <p14:creationId xmlns:p14="http://schemas.microsoft.com/office/powerpoint/2010/main" val="514122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4F242-56BC-9BF3-892E-3412A10FB6B9}"/>
              </a:ext>
            </a:extLst>
          </p:cNvPr>
          <p:cNvSpPr>
            <a:spLocks noGrp="1"/>
          </p:cNvSpPr>
          <p:nvPr>
            <p:ph type="title"/>
          </p:nvPr>
        </p:nvSpPr>
        <p:spPr/>
        <p:txBody>
          <a:bodyPr>
            <a:normAutofit/>
          </a:bodyPr>
          <a:lstStyle/>
          <a:p>
            <a:r>
              <a:rPr lang="en-US" sz="5400" dirty="0"/>
              <a:t>Common Pitfalls and Best Practices</a:t>
            </a:r>
          </a:p>
        </p:txBody>
      </p:sp>
      <p:sp>
        <p:nvSpPr>
          <p:cNvPr id="3" name="Content Placeholder 2">
            <a:extLst>
              <a:ext uri="{FF2B5EF4-FFF2-40B4-BE49-F238E27FC236}">
                <a16:creationId xmlns:a16="http://schemas.microsoft.com/office/drawing/2014/main" id="{CF0D5562-B76A-115B-7F8C-B712E4530ED0}"/>
              </a:ext>
            </a:extLst>
          </p:cNvPr>
          <p:cNvSpPr>
            <a:spLocks noGrp="1"/>
          </p:cNvSpPr>
          <p:nvPr>
            <p:ph idx="1"/>
          </p:nvPr>
        </p:nvSpPr>
        <p:spPr>
          <a:xfrm>
            <a:off x="838200" y="1548535"/>
            <a:ext cx="10515600" cy="4944340"/>
          </a:xfrm>
        </p:spPr>
        <p:txBody>
          <a:bodyPr>
            <a:normAutofit fontScale="92500" lnSpcReduction="20000"/>
          </a:bodyPr>
          <a:lstStyle/>
          <a:p>
            <a:pPr marL="0" indent="0">
              <a:buNone/>
            </a:pPr>
            <a:r>
              <a:rPr lang="en-US" sz="2400" b="1" dirty="0"/>
              <a:t>Avoiding Bias and Error: </a:t>
            </a:r>
            <a:r>
              <a:rPr lang="en-US" sz="2400" dirty="0"/>
              <a:t>Be aware of confirmation bias, which can lead to overlooking data that contradicts your hypothesis. </a:t>
            </a:r>
            <a:endParaRPr lang="en-US" sz="2400" b="0" dirty="0">
              <a:effectLst/>
            </a:endParaRPr>
          </a:p>
          <a:p>
            <a:r>
              <a:rPr lang="en-US" sz="2400" dirty="0"/>
              <a:t>Regularly calibrate instruments to prevent instrumental errors, and implement double-entry systems to reduce data entry errors.</a:t>
            </a:r>
            <a:endParaRPr lang="en-US" sz="2400" b="0" dirty="0">
              <a:effectLst/>
            </a:endParaRPr>
          </a:p>
          <a:p>
            <a:pPr marL="0" indent="0">
              <a:buNone/>
            </a:pPr>
            <a:r>
              <a:rPr lang="en-US" sz="2400" b="1" dirty="0"/>
              <a:t>Best Practices: </a:t>
            </a:r>
            <a:r>
              <a:rPr lang="en-US" sz="2400" dirty="0"/>
              <a:t>Conduct pilot studies to refine methodologies before full-scale experiments. </a:t>
            </a:r>
            <a:endParaRPr lang="en-US" sz="2400" b="0" dirty="0">
              <a:effectLst/>
            </a:endParaRPr>
          </a:p>
          <a:p>
            <a:r>
              <a:rPr lang="en-US" sz="2400" dirty="0"/>
              <a:t>Collaborate with statisticians during the design phase to ensure appropriate statistical methods are applied. </a:t>
            </a:r>
            <a:endParaRPr lang="en-US" sz="2400" b="0" dirty="0">
              <a:effectLst/>
            </a:endParaRPr>
          </a:p>
          <a:p>
            <a:pPr marL="0" indent="0">
              <a:buNone/>
            </a:pPr>
            <a:r>
              <a:rPr lang="en-US" sz="2400" b="1" dirty="0"/>
              <a:t>Future Directions: </a:t>
            </a:r>
            <a:r>
              <a:rPr lang="en-US" sz="2400" dirty="0"/>
              <a:t>Explore emerging technologies such as machine learning for data analysis and environmental DNA (eDNA) for species detection. </a:t>
            </a:r>
            <a:endParaRPr lang="en-US" sz="2400" b="0" dirty="0">
              <a:effectLst/>
            </a:endParaRPr>
          </a:p>
          <a:p>
            <a:r>
              <a:rPr lang="en-US" sz="2400" dirty="0"/>
              <a:t>Integrate interdisciplinary approaches to understand human-ecological interactions better.</a:t>
            </a:r>
            <a:endParaRPr lang="en-US" sz="2400" b="0" dirty="0">
              <a:effectLst/>
            </a:endParaRPr>
          </a:p>
          <a:p>
            <a:pPr marL="0" indent="0">
              <a:buNone/>
            </a:pPr>
            <a:r>
              <a:rPr lang="en-US" sz="2400" b="1" dirty="0"/>
              <a:t>Example: Citizen Science Projects: </a:t>
            </a:r>
            <a:r>
              <a:rPr lang="en-US" sz="2400" dirty="0"/>
              <a:t>Programs like eBird and iNaturalist engage the public in recording species observations. </a:t>
            </a:r>
            <a:endParaRPr lang="en-US" sz="2400" b="0" dirty="0">
              <a:effectLst/>
            </a:endParaRPr>
          </a:p>
          <a:p>
            <a:r>
              <a:rPr lang="en-US" sz="2400" dirty="0"/>
              <a:t>These initiatives expand data collection across wider spatial and temporal scales and require training participants in standardized data collection methods.</a:t>
            </a:r>
            <a:endParaRPr lang="en-US" sz="2400" b="0" dirty="0">
              <a:effectLst/>
            </a:endParaRPr>
          </a:p>
        </p:txBody>
      </p:sp>
    </p:spTree>
    <p:extLst>
      <p:ext uri="{BB962C8B-B14F-4D97-AF65-F5344CB8AC3E}">
        <p14:creationId xmlns:p14="http://schemas.microsoft.com/office/powerpoint/2010/main" val="1912658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9C169-5D0C-302E-4FA8-52EEDA088396}"/>
              </a:ext>
            </a:extLst>
          </p:cNvPr>
          <p:cNvSpPr>
            <a:spLocks noGrp="1"/>
          </p:cNvSpPr>
          <p:nvPr>
            <p:ph type="title"/>
          </p:nvPr>
        </p:nvSpPr>
        <p:spPr/>
        <p:txBody>
          <a:bodyPr>
            <a:normAutofit/>
          </a:bodyPr>
          <a:lstStyle/>
          <a:p>
            <a:r>
              <a:rPr lang="en-US" sz="5400" dirty="0"/>
              <a:t>Introduction to Ecological Sampling</a:t>
            </a:r>
          </a:p>
        </p:txBody>
      </p:sp>
      <p:sp>
        <p:nvSpPr>
          <p:cNvPr id="3" name="Content Placeholder 2">
            <a:extLst>
              <a:ext uri="{FF2B5EF4-FFF2-40B4-BE49-F238E27FC236}">
                <a16:creationId xmlns:a16="http://schemas.microsoft.com/office/drawing/2014/main" id="{43C82D64-41E5-7834-3385-A13FAE1E366D}"/>
              </a:ext>
            </a:extLst>
          </p:cNvPr>
          <p:cNvSpPr>
            <a:spLocks noGrp="1"/>
          </p:cNvSpPr>
          <p:nvPr>
            <p:ph idx="1"/>
          </p:nvPr>
        </p:nvSpPr>
        <p:spPr>
          <a:xfrm>
            <a:off x="838200" y="1825625"/>
            <a:ext cx="6920753" cy="4351338"/>
          </a:xfrm>
        </p:spPr>
        <p:txBody>
          <a:bodyPr>
            <a:normAutofit lnSpcReduction="10000"/>
          </a:bodyPr>
          <a:lstStyle/>
          <a:p>
            <a:pPr marL="0" indent="0">
              <a:buNone/>
            </a:pPr>
            <a:r>
              <a:rPr lang="en-US" sz="3600" dirty="0"/>
              <a:t>Ecological sampling methods help researchers understand ecosystems effectively!</a:t>
            </a:r>
            <a:endParaRPr lang="en-US" sz="3600" b="0" dirty="0">
              <a:effectLst/>
            </a:endParaRPr>
          </a:p>
          <a:p>
            <a:r>
              <a:rPr lang="en-US" sz="3600" dirty="0"/>
              <a:t>These methods include random, systematic, stratified, transect, and quadrat sampling.</a:t>
            </a:r>
            <a:endParaRPr lang="en-US" sz="3600" b="0" dirty="0">
              <a:effectLst/>
            </a:endParaRPr>
          </a:p>
          <a:p>
            <a:r>
              <a:rPr lang="en-US" sz="3600" dirty="0"/>
              <a:t>Each method serves specific applications for various ecological inquiries.</a:t>
            </a:r>
          </a:p>
        </p:txBody>
      </p:sp>
      <p:pic>
        <p:nvPicPr>
          <p:cNvPr id="7" name="Picture 6">
            <a:extLst>
              <a:ext uri="{FF2B5EF4-FFF2-40B4-BE49-F238E27FC236}">
                <a16:creationId xmlns:a16="http://schemas.microsoft.com/office/drawing/2014/main" id="{D1CAAC67-097B-76B9-19EA-D69350D6D84B}"/>
              </a:ext>
            </a:extLst>
          </p:cNvPr>
          <p:cNvPicPr>
            <a:picLocks noChangeAspect="1"/>
          </p:cNvPicPr>
          <p:nvPr/>
        </p:nvPicPr>
        <p:blipFill>
          <a:blip r:embed="rId3"/>
          <a:stretch>
            <a:fillRect/>
          </a:stretch>
        </p:blipFill>
        <p:spPr>
          <a:xfrm>
            <a:off x="8539018" y="2782239"/>
            <a:ext cx="3271982" cy="3271982"/>
          </a:xfrm>
          <a:prstGeom prst="rect">
            <a:avLst/>
          </a:prstGeom>
        </p:spPr>
      </p:pic>
      <p:pic>
        <p:nvPicPr>
          <p:cNvPr id="5" name="Picture 4">
            <a:extLst>
              <a:ext uri="{FF2B5EF4-FFF2-40B4-BE49-F238E27FC236}">
                <a16:creationId xmlns:a16="http://schemas.microsoft.com/office/drawing/2014/main" id="{273E1CBC-DF6F-22BC-7C21-E5A63020ED4E}"/>
              </a:ext>
            </a:extLst>
          </p:cNvPr>
          <p:cNvPicPr>
            <a:picLocks noChangeAspect="1"/>
          </p:cNvPicPr>
          <p:nvPr/>
        </p:nvPicPr>
        <p:blipFill>
          <a:blip r:embed="rId4"/>
          <a:stretch>
            <a:fillRect/>
          </a:stretch>
        </p:blipFill>
        <p:spPr>
          <a:xfrm>
            <a:off x="7758953" y="1440297"/>
            <a:ext cx="3271982" cy="3271982"/>
          </a:xfrm>
          <a:prstGeom prst="rect">
            <a:avLst/>
          </a:prstGeom>
        </p:spPr>
      </p:pic>
    </p:spTree>
    <p:extLst>
      <p:ext uri="{BB962C8B-B14F-4D97-AF65-F5344CB8AC3E}">
        <p14:creationId xmlns:p14="http://schemas.microsoft.com/office/powerpoint/2010/main" val="4024487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451B2-FF8E-2286-BF03-333D2676BB66}"/>
              </a:ext>
            </a:extLst>
          </p:cNvPr>
          <p:cNvSpPr>
            <a:spLocks noGrp="1"/>
          </p:cNvSpPr>
          <p:nvPr>
            <p:ph type="title"/>
          </p:nvPr>
        </p:nvSpPr>
        <p:spPr/>
        <p:txBody>
          <a:bodyPr>
            <a:normAutofit/>
          </a:bodyPr>
          <a:lstStyle/>
          <a:p>
            <a:r>
              <a:rPr lang="en-US" sz="5400" dirty="0"/>
              <a:t>Why Sampling is Essential</a:t>
            </a:r>
          </a:p>
        </p:txBody>
      </p:sp>
      <p:sp>
        <p:nvSpPr>
          <p:cNvPr id="3" name="Content Placeholder 2">
            <a:extLst>
              <a:ext uri="{FF2B5EF4-FFF2-40B4-BE49-F238E27FC236}">
                <a16:creationId xmlns:a16="http://schemas.microsoft.com/office/drawing/2014/main" id="{D0F6BAD6-948F-25AF-E86E-0FB100C98F46}"/>
              </a:ext>
            </a:extLst>
          </p:cNvPr>
          <p:cNvSpPr>
            <a:spLocks noGrp="1"/>
          </p:cNvSpPr>
          <p:nvPr>
            <p:ph idx="1"/>
          </p:nvPr>
        </p:nvSpPr>
        <p:spPr/>
        <p:txBody>
          <a:bodyPr>
            <a:normAutofit/>
          </a:bodyPr>
          <a:lstStyle/>
          <a:p>
            <a:pPr marL="0" lvl="0" indent="0" fontAlgn="base">
              <a:buNone/>
            </a:pPr>
            <a:r>
              <a:rPr lang="en-US" sz="3600" dirty="0"/>
              <a:t>Population censuses can be impractical and costly in large ecosystems.</a:t>
            </a:r>
          </a:p>
          <a:p>
            <a:pPr lvl="0" fontAlgn="base"/>
            <a:r>
              <a:rPr lang="en-US" sz="3600" dirty="0"/>
              <a:t>Representative samples offer insights into population dynamics and trends.</a:t>
            </a:r>
          </a:p>
          <a:p>
            <a:pPr lvl="0" fontAlgn="base"/>
            <a:r>
              <a:rPr lang="en-US" sz="3600" dirty="0"/>
              <a:t>Choosing the right sampling method reduces bias and improves accuracy.</a:t>
            </a:r>
          </a:p>
        </p:txBody>
      </p:sp>
      <p:pic>
        <p:nvPicPr>
          <p:cNvPr id="5" name="Picture 4">
            <a:extLst>
              <a:ext uri="{FF2B5EF4-FFF2-40B4-BE49-F238E27FC236}">
                <a16:creationId xmlns:a16="http://schemas.microsoft.com/office/drawing/2014/main" id="{B91D3992-DA4A-15B7-4EF3-0504FC05BB7E}"/>
              </a:ext>
            </a:extLst>
          </p:cNvPr>
          <p:cNvPicPr>
            <a:picLocks noChangeAspect="1"/>
          </p:cNvPicPr>
          <p:nvPr/>
        </p:nvPicPr>
        <p:blipFill>
          <a:blip r:embed="rId3"/>
          <a:stretch>
            <a:fillRect/>
          </a:stretch>
        </p:blipFill>
        <p:spPr>
          <a:xfrm>
            <a:off x="9223188" y="4468532"/>
            <a:ext cx="2540000" cy="2197100"/>
          </a:xfrm>
          <a:prstGeom prst="rect">
            <a:avLst/>
          </a:prstGeom>
        </p:spPr>
      </p:pic>
    </p:spTree>
    <p:extLst>
      <p:ext uri="{BB962C8B-B14F-4D97-AF65-F5344CB8AC3E}">
        <p14:creationId xmlns:p14="http://schemas.microsoft.com/office/powerpoint/2010/main" val="139976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CB96F-D8D4-AF5E-9C82-40148E837D3F}"/>
              </a:ext>
            </a:extLst>
          </p:cNvPr>
          <p:cNvSpPr>
            <a:spLocks noGrp="1"/>
          </p:cNvSpPr>
          <p:nvPr>
            <p:ph type="title"/>
          </p:nvPr>
        </p:nvSpPr>
        <p:spPr/>
        <p:txBody>
          <a:bodyPr>
            <a:normAutofit/>
          </a:bodyPr>
          <a:lstStyle/>
          <a:p>
            <a:r>
              <a:rPr lang="en-US" sz="5400" dirty="0"/>
              <a:t>Random Sampling</a:t>
            </a:r>
          </a:p>
        </p:txBody>
      </p:sp>
      <p:sp>
        <p:nvSpPr>
          <p:cNvPr id="3" name="Content Placeholder 2">
            <a:extLst>
              <a:ext uri="{FF2B5EF4-FFF2-40B4-BE49-F238E27FC236}">
                <a16:creationId xmlns:a16="http://schemas.microsoft.com/office/drawing/2014/main" id="{09D0BC40-8E74-2DC4-5269-F3D76E6A8860}"/>
              </a:ext>
            </a:extLst>
          </p:cNvPr>
          <p:cNvSpPr>
            <a:spLocks noGrp="1"/>
          </p:cNvSpPr>
          <p:nvPr>
            <p:ph idx="1"/>
          </p:nvPr>
        </p:nvSpPr>
        <p:spPr>
          <a:xfrm>
            <a:off x="838200" y="1690688"/>
            <a:ext cx="5160217" cy="4351338"/>
          </a:xfrm>
        </p:spPr>
        <p:txBody>
          <a:bodyPr>
            <a:normAutofit lnSpcReduction="10000"/>
          </a:bodyPr>
          <a:lstStyle/>
          <a:p>
            <a:pPr marL="0" indent="0">
              <a:buNone/>
            </a:pPr>
            <a:r>
              <a:rPr lang="en-US" sz="3600" dirty="0"/>
              <a:t>Random sampling gives each individual an equal selection chance, reducing bias.</a:t>
            </a:r>
          </a:p>
          <a:p>
            <a:r>
              <a:rPr lang="en-US" sz="3600" dirty="0"/>
              <a:t>Example: For a plant diversity study, 10 quadrats are randomly placed in a hectare of grassland.</a:t>
            </a:r>
          </a:p>
        </p:txBody>
      </p:sp>
      <p:pic>
        <p:nvPicPr>
          <p:cNvPr id="4" name="Picture 3">
            <a:extLst>
              <a:ext uri="{FF2B5EF4-FFF2-40B4-BE49-F238E27FC236}">
                <a16:creationId xmlns:a16="http://schemas.microsoft.com/office/drawing/2014/main" id="{860EEBBB-83EF-DEDD-4949-36D960878CC8}"/>
              </a:ext>
            </a:extLst>
          </p:cNvPr>
          <p:cNvPicPr>
            <a:picLocks noChangeAspect="1"/>
          </p:cNvPicPr>
          <p:nvPr/>
        </p:nvPicPr>
        <p:blipFill>
          <a:blip r:embed="rId3">
            <a:alphaModFix/>
          </a:blip>
          <a:stretch>
            <a:fillRect/>
          </a:stretch>
        </p:blipFill>
        <p:spPr>
          <a:xfrm>
            <a:off x="7517912" y="378197"/>
            <a:ext cx="3933472" cy="2943227"/>
          </a:xfrm>
          <a:prstGeom prst="rect">
            <a:avLst/>
          </a:prstGeom>
          <a:ln w="28575">
            <a:solidFill>
              <a:schemeClr val="accent6">
                <a:lumMod val="75000"/>
              </a:schemeClr>
            </a:solidFill>
          </a:ln>
        </p:spPr>
      </p:pic>
      <p:pic>
        <p:nvPicPr>
          <p:cNvPr id="5" name="Picture 4">
            <a:extLst>
              <a:ext uri="{FF2B5EF4-FFF2-40B4-BE49-F238E27FC236}">
                <a16:creationId xmlns:a16="http://schemas.microsoft.com/office/drawing/2014/main" id="{43AEBB3E-1202-A147-9798-2EA89936C2FB}"/>
              </a:ext>
            </a:extLst>
          </p:cNvPr>
          <p:cNvPicPr>
            <a:picLocks noChangeAspect="1"/>
          </p:cNvPicPr>
          <p:nvPr/>
        </p:nvPicPr>
        <p:blipFill>
          <a:blip r:embed="rId4">
            <a:alphaModFix/>
          </a:blip>
          <a:stretch>
            <a:fillRect/>
          </a:stretch>
        </p:blipFill>
        <p:spPr>
          <a:xfrm>
            <a:off x="7517912" y="3583538"/>
            <a:ext cx="3933472" cy="2943227"/>
          </a:xfrm>
          <a:prstGeom prst="rect">
            <a:avLst/>
          </a:prstGeom>
          <a:ln w="28575">
            <a:solidFill>
              <a:schemeClr val="accent6">
                <a:lumMod val="75000"/>
              </a:schemeClr>
            </a:solidFill>
          </a:ln>
        </p:spPr>
      </p:pic>
    </p:spTree>
    <p:extLst>
      <p:ext uri="{BB962C8B-B14F-4D97-AF65-F5344CB8AC3E}">
        <p14:creationId xmlns:p14="http://schemas.microsoft.com/office/powerpoint/2010/main" val="377635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0C26D-B086-A6D2-8404-ED478D6ED287}"/>
              </a:ext>
            </a:extLst>
          </p:cNvPr>
          <p:cNvSpPr>
            <a:spLocks noGrp="1"/>
          </p:cNvSpPr>
          <p:nvPr>
            <p:ph type="title"/>
          </p:nvPr>
        </p:nvSpPr>
        <p:spPr/>
        <p:txBody>
          <a:bodyPr>
            <a:normAutofit/>
          </a:bodyPr>
          <a:lstStyle/>
          <a:p>
            <a:r>
              <a:rPr lang="en-US" sz="5400" dirty="0"/>
              <a:t>Systematic Sampling</a:t>
            </a:r>
          </a:p>
        </p:txBody>
      </p:sp>
      <p:sp>
        <p:nvSpPr>
          <p:cNvPr id="3" name="Content Placeholder 2">
            <a:extLst>
              <a:ext uri="{FF2B5EF4-FFF2-40B4-BE49-F238E27FC236}">
                <a16:creationId xmlns:a16="http://schemas.microsoft.com/office/drawing/2014/main" id="{0B082C01-0D44-3873-5745-91F7C6C9CB0D}"/>
              </a:ext>
            </a:extLst>
          </p:cNvPr>
          <p:cNvSpPr>
            <a:spLocks noGrp="1"/>
          </p:cNvSpPr>
          <p:nvPr>
            <p:ph idx="1"/>
          </p:nvPr>
        </p:nvSpPr>
        <p:spPr>
          <a:xfrm>
            <a:off x="6481482" y="1825625"/>
            <a:ext cx="4872318" cy="4351338"/>
          </a:xfrm>
        </p:spPr>
        <p:txBody>
          <a:bodyPr>
            <a:normAutofit lnSpcReduction="10000"/>
          </a:bodyPr>
          <a:lstStyle/>
          <a:p>
            <a:pPr marL="0" indent="0">
              <a:buNone/>
            </a:pPr>
            <a:r>
              <a:rPr lang="en-US" sz="3600" dirty="0"/>
              <a:t>Systematic sampling places units at regular intervals for even coverage.</a:t>
            </a:r>
          </a:p>
          <a:p>
            <a:r>
              <a:rPr lang="en-US" sz="3600" dirty="0"/>
              <a:t>Example:  A benthic organism study collects samples every 10 meters along the shoreline.</a:t>
            </a:r>
          </a:p>
        </p:txBody>
      </p:sp>
      <p:pic>
        <p:nvPicPr>
          <p:cNvPr id="5" name="Picture 4">
            <a:extLst>
              <a:ext uri="{FF2B5EF4-FFF2-40B4-BE49-F238E27FC236}">
                <a16:creationId xmlns:a16="http://schemas.microsoft.com/office/drawing/2014/main" id="{D36B7425-2F78-AA55-0578-D208F0BA886A}"/>
              </a:ext>
            </a:extLst>
          </p:cNvPr>
          <p:cNvPicPr>
            <a:picLocks noChangeAspect="1"/>
          </p:cNvPicPr>
          <p:nvPr/>
        </p:nvPicPr>
        <p:blipFill>
          <a:blip r:embed="rId3"/>
          <a:stretch>
            <a:fillRect/>
          </a:stretch>
        </p:blipFill>
        <p:spPr>
          <a:xfrm>
            <a:off x="1519393" y="1825625"/>
            <a:ext cx="3551200" cy="1763183"/>
          </a:xfrm>
          <a:prstGeom prst="rect">
            <a:avLst/>
          </a:prstGeom>
          <a:ln w="28575">
            <a:solidFill>
              <a:schemeClr val="accent6">
                <a:lumMod val="75000"/>
              </a:schemeClr>
            </a:solidFill>
          </a:ln>
        </p:spPr>
      </p:pic>
      <p:pic>
        <p:nvPicPr>
          <p:cNvPr id="6" name="Picture 5">
            <a:extLst>
              <a:ext uri="{FF2B5EF4-FFF2-40B4-BE49-F238E27FC236}">
                <a16:creationId xmlns:a16="http://schemas.microsoft.com/office/drawing/2014/main" id="{6DA4AD77-3094-E51D-A70D-B814B927CE2A}"/>
              </a:ext>
            </a:extLst>
          </p:cNvPr>
          <p:cNvPicPr>
            <a:picLocks noChangeAspect="1"/>
          </p:cNvPicPr>
          <p:nvPr/>
        </p:nvPicPr>
        <p:blipFill>
          <a:blip r:embed="rId4"/>
          <a:stretch>
            <a:fillRect/>
          </a:stretch>
        </p:blipFill>
        <p:spPr>
          <a:xfrm>
            <a:off x="1519393" y="4190687"/>
            <a:ext cx="3551200" cy="1763183"/>
          </a:xfrm>
          <a:prstGeom prst="rect">
            <a:avLst/>
          </a:prstGeom>
          <a:ln w="28575">
            <a:solidFill>
              <a:schemeClr val="accent6">
                <a:lumMod val="75000"/>
              </a:schemeClr>
            </a:solidFill>
          </a:ln>
        </p:spPr>
      </p:pic>
    </p:spTree>
    <p:extLst>
      <p:ext uri="{BB962C8B-B14F-4D97-AF65-F5344CB8AC3E}">
        <p14:creationId xmlns:p14="http://schemas.microsoft.com/office/powerpoint/2010/main" val="8403888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58122-ECE3-9624-ADDE-1F550AE52C74}"/>
              </a:ext>
            </a:extLst>
          </p:cNvPr>
          <p:cNvSpPr>
            <a:spLocks noGrp="1"/>
          </p:cNvSpPr>
          <p:nvPr>
            <p:ph type="title"/>
          </p:nvPr>
        </p:nvSpPr>
        <p:spPr/>
        <p:txBody>
          <a:bodyPr>
            <a:normAutofit/>
          </a:bodyPr>
          <a:lstStyle/>
          <a:p>
            <a:r>
              <a:rPr lang="en-US" sz="5400" dirty="0"/>
              <a:t>Stratified Sampling</a:t>
            </a:r>
          </a:p>
        </p:txBody>
      </p:sp>
      <p:sp>
        <p:nvSpPr>
          <p:cNvPr id="3" name="Content Placeholder 2">
            <a:extLst>
              <a:ext uri="{FF2B5EF4-FFF2-40B4-BE49-F238E27FC236}">
                <a16:creationId xmlns:a16="http://schemas.microsoft.com/office/drawing/2014/main" id="{0E22369C-FBE4-9E3C-2C24-DD9EC97A7EA9}"/>
              </a:ext>
            </a:extLst>
          </p:cNvPr>
          <p:cNvSpPr>
            <a:spLocks noGrp="1"/>
          </p:cNvSpPr>
          <p:nvPr>
            <p:ph idx="1"/>
          </p:nvPr>
        </p:nvSpPr>
        <p:spPr>
          <a:xfrm>
            <a:off x="838200" y="1825625"/>
            <a:ext cx="5495365" cy="4351338"/>
          </a:xfrm>
        </p:spPr>
        <p:txBody>
          <a:bodyPr>
            <a:normAutofit/>
          </a:bodyPr>
          <a:lstStyle/>
          <a:p>
            <a:pPr marL="0" indent="0">
              <a:buNone/>
            </a:pPr>
            <a:r>
              <a:rPr lang="en-US" sz="3600" dirty="0"/>
              <a:t>Stratified sampling segments the area into habitats for complete representation.</a:t>
            </a:r>
          </a:p>
          <a:p>
            <a:r>
              <a:rPr lang="en-US" sz="3600" dirty="0"/>
              <a:t>Example: Researchers categorize a lake's zones by depth to evaluate fish populations accurately.</a:t>
            </a:r>
          </a:p>
        </p:txBody>
      </p:sp>
      <p:pic>
        <p:nvPicPr>
          <p:cNvPr id="4" name="Picture 3">
            <a:extLst>
              <a:ext uri="{FF2B5EF4-FFF2-40B4-BE49-F238E27FC236}">
                <a16:creationId xmlns:a16="http://schemas.microsoft.com/office/drawing/2014/main" id="{96673B43-A8E7-A6F0-06B2-51ADCBD8350F}"/>
              </a:ext>
            </a:extLst>
          </p:cNvPr>
          <p:cNvPicPr>
            <a:picLocks noChangeAspect="1"/>
          </p:cNvPicPr>
          <p:nvPr/>
        </p:nvPicPr>
        <p:blipFill>
          <a:blip r:embed="rId3"/>
          <a:stretch>
            <a:fillRect/>
          </a:stretch>
        </p:blipFill>
        <p:spPr>
          <a:xfrm>
            <a:off x="6713709" y="282678"/>
            <a:ext cx="2681476" cy="2006419"/>
          </a:xfrm>
          <a:prstGeom prst="rect">
            <a:avLst/>
          </a:prstGeom>
          <a:ln w="28575">
            <a:solidFill>
              <a:schemeClr val="accent6">
                <a:lumMod val="75000"/>
              </a:schemeClr>
            </a:solidFill>
          </a:ln>
        </p:spPr>
      </p:pic>
      <p:pic>
        <p:nvPicPr>
          <p:cNvPr id="5" name="Picture 4">
            <a:extLst>
              <a:ext uri="{FF2B5EF4-FFF2-40B4-BE49-F238E27FC236}">
                <a16:creationId xmlns:a16="http://schemas.microsoft.com/office/drawing/2014/main" id="{C9B979A0-F9DF-CF01-CE85-F37802DA188D}"/>
              </a:ext>
            </a:extLst>
          </p:cNvPr>
          <p:cNvPicPr>
            <a:picLocks noChangeAspect="1"/>
          </p:cNvPicPr>
          <p:nvPr/>
        </p:nvPicPr>
        <p:blipFill>
          <a:blip r:embed="rId4"/>
          <a:stretch>
            <a:fillRect/>
          </a:stretch>
        </p:blipFill>
        <p:spPr>
          <a:xfrm>
            <a:off x="8861611" y="2413109"/>
            <a:ext cx="2956485" cy="2212195"/>
          </a:xfrm>
          <a:prstGeom prst="rect">
            <a:avLst/>
          </a:prstGeom>
          <a:ln w="28575">
            <a:solidFill>
              <a:schemeClr val="accent6">
                <a:lumMod val="75000"/>
              </a:schemeClr>
            </a:solidFill>
          </a:ln>
        </p:spPr>
      </p:pic>
      <p:pic>
        <p:nvPicPr>
          <p:cNvPr id="6" name="Picture 5" descr="Classification Processes - Ecosystems - QCE Biology Revision">
            <a:extLst>
              <a:ext uri="{FF2B5EF4-FFF2-40B4-BE49-F238E27FC236}">
                <a16:creationId xmlns:a16="http://schemas.microsoft.com/office/drawing/2014/main" id="{6E155FF5-3C84-D43A-C139-867B837BCB0F}"/>
              </a:ext>
            </a:extLst>
          </p:cNvPr>
          <p:cNvPicPr>
            <a:picLocks noChangeAspect="1"/>
          </p:cNvPicPr>
          <p:nvPr/>
        </p:nvPicPr>
        <p:blipFill>
          <a:blip r:embed="rId5"/>
          <a:stretch>
            <a:fillRect/>
          </a:stretch>
        </p:blipFill>
        <p:spPr>
          <a:xfrm>
            <a:off x="6763188" y="4748633"/>
            <a:ext cx="4365074" cy="1826689"/>
          </a:xfrm>
          <a:prstGeom prst="rect">
            <a:avLst/>
          </a:prstGeom>
          <a:ln w="28575">
            <a:solidFill>
              <a:schemeClr val="accent6">
                <a:lumMod val="75000"/>
              </a:schemeClr>
            </a:solidFill>
          </a:ln>
        </p:spPr>
      </p:pic>
    </p:spTree>
    <p:extLst>
      <p:ext uri="{BB962C8B-B14F-4D97-AF65-F5344CB8AC3E}">
        <p14:creationId xmlns:p14="http://schemas.microsoft.com/office/powerpoint/2010/main" val="294417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6F334-45B0-DC2D-AEA9-8CF2426B33C4}"/>
              </a:ext>
            </a:extLst>
          </p:cNvPr>
          <p:cNvSpPr>
            <a:spLocks noGrp="1"/>
          </p:cNvSpPr>
          <p:nvPr>
            <p:ph type="title"/>
          </p:nvPr>
        </p:nvSpPr>
        <p:spPr/>
        <p:txBody>
          <a:bodyPr>
            <a:normAutofit/>
          </a:bodyPr>
          <a:lstStyle/>
          <a:p>
            <a:r>
              <a:rPr lang="en-US" sz="5400" dirty="0"/>
              <a:t>Transect Sampling Method</a:t>
            </a:r>
          </a:p>
        </p:txBody>
      </p:sp>
      <p:sp>
        <p:nvSpPr>
          <p:cNvPr id="3" name="Content Placeholder 2">
            <a:extLst>
              <a:ext uri="{FF2B5EF4-FFF2-40B4-BE49-F238E27FC236}">
                <a16:creationId xmlns:a16="http://schemas.microsoft.com/office/drawing/2014/main" id="{3EB4B641-F0EA-D11E-6D77-A7A3CDF30B5A}"/>
              </a:ext>
            </a:extLst>
          </p:cNvPr>
          <p:cNvSpPr>
            <a:spLocks noGrp="1"/>
          </p:cNvSpPr>
          <p:nvPr>
            <p:ph idx="1"/>
          </p:nvPr>
        </p:nvSpPr>
        <p:spPr>
          <a:xfrm>
            <a:off x="6096000" y="1825625"/>
            <a:ext cx="5257800" cy="4351338"/>
          </a:xfrm>
        </p:spPr>
        <p:txBody>
          <a:bodyPr>
            <a:normAutofit fontScale="92500"/>
          </a:bodyPr>
          <a:lstStyle/>
          <a:p>
            <a:pPr marL="0" indent="0">
              <a:buNone/>
            </a:pPr>
            <a:r>
              <a:rPr lang="en-US" sz="3600" dirty="0"/>
              <a:t>Transect sampling collects data along a straight line in a study area.</a:t>
            </a:r>
          </a:p>
          <a:p>
            <a:r>
              <a:rPr lang="en-US" sz="3600" dirty="0"/>
              <a:t>Example: In a rocky intertidal study, a 50-meter transect samples small quadrats for invertebrates every 5 meters.</a:t>
            </a:r>
          </a:p>
        </p:txBody>
      </p:sp>
      <p:pic>
        <p:nvPicPr>
          <p:cNvPr id="4" name="Picture 3">
            <a:extLst>
              <a:ext uri="{FF2B5EF4-FFF2-40B4-BE49-F238E27FC236}">
                <a16:creationId xmlns:a16="http://schemas.microsoft.com/office/drawing/2014/main" id="{304AF868-EDA2-91D3-2883-20875DDC8A64}"/>
              </a:ext>
            </a:extLst>
          </p:cNvPr>
          <p:cNvPicPr>
            <a:picLocks noChangeAspect="1"/>
          </p:cNvPicPr>
          <p:nvPr/>
        </p:nvPicPr>
        <p:blipFill>
          <a:blip r:embed="rId3"/>
          <a:stretch>
            <a:fillRect/>
          </a:stretch>
        </p:blipFill>
        <p:spPr>
          <a:xfrm>
            <a:off x="1207911" y="4123091"/>
            <a:ext cx="4136672" cy="2053872"/>
          </a:xfrm>
          <a:prstGeom prst="rect">
            <a:avLst/>
          </a:prstGeom>
          <a:ln w="28575">
            <a:solidFill>
              <a:schemeClr val="accent6">
                <a:lumMod val="75000"/>
              </a:schemeClr>
            </a:solidFill>
          </a:ln>
        </p:spPr>
      </p:pic>
      <p:pic>
        <p:nvPicPr>
          <p:cNvPr id="5" name="Picture 4">
            <a:extLst>
              <a:ext uri="{FF2B5EF4-FFF2-40B4-BE49-F238E27FC236}">
                <a16:creationId xmlns:a16="http://schemas.microsoft.com/office/drawing/2014/main" id="{56D16D54-0732-E57F-7DB4-18E244697BB7}"/>
              </a:ext>
            </a:extLst>
          </p:cNvPr>
          <p:cNvPicPr>
            <a:picLocks noChangeAspect="1"/>
          </p:cNvPicPr>
          <p:nvPr/>
        </p:nvPicPr>
        <p:blipFill>
          <a:blip r:embed="rId4"/>
          <a:stretch>
            <a:fillRect/>
          </a:stretch>
        </p:blipFill>
        <p:spPr>
          <a:xfrm>
            <a:off x="1434391" y="1992401"/>
            <a:ext cx="3683712" cy="1828976"/>
          </a:xfrm>
          <a:prstGeom prst="rect">
            <a:avLst/>
          </a:prstGeom>
          <a:ln w="28575">
            <a:solidFill>
              <a:schemeClr val="accent6">
                <a:lumMod val="75000"/>
              </a:schemeClr>
            </a:solidFill>
          </a:ln>
        </p:spPr>
      </p:pic>
    </p:spTree>
    <p:extLst>
      <p:ext uri="{BB962C8B-B14F-4D97-AF65-F5344CB8AC3E}">
        <p14:creationId xmlns:p14="http://schemas.microsoft.com/office/powerpoint/2010/main" val="21667418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092B-0013-5842-A23D-04EB0F91F13D}"/>
              </a:ext>
            </a:extLst>
          </p:cNvPr>
          <p:cNvSpPr>
            <a:spLocks noGrp="1"/>
          </p:cNvSpPr>
          <p:nvPr>
            <p:ph type="title"/>
          </p:nvPr>
        </p:nvSpPr>
        <p:spPr/>
        <p:txBody>
          <a:bodyPr>
            <a:normAutofit/>
          </a:bodyPr>
          <a:lstStyle/>
          <a:p>
            <a:r>
              <a:rPr lang="en-US" sz="5400" dirty="0"/>
              <a:t>Quadrat Sampling Method</a:t>
            </a:r>
          </a:p>
        </p:txBody>
      </p:sp>
      <p:sp>
        <p:nvSpPr>
          <p:cNvPr id="3" name="Content Placeholder 2">
            <a:extLst>
              <a:ext uri="{FF2B5EF4-FFF2-40B4-BE49-F238E27FC236}">
                <a16:creationId xmlns:a16="http://schemas.microsoft.com/office/drawing/2014/main" id="{B325D99B-8E95-9FBC-6C97-2EB0D1F9DC59}"/>
              </a:ext>
            </a:extLst>
          </p:cNvPr>
          <p:cNvSpPr>
            <a:spLocks noGrp="1"/>
          </p:cNvSpPr>
          <p:nvPr>
            <p:ph idx="1"/>
          </p:nvPr>
        </p:nvSpPr>
        <p:spPr>
          <a:xfrm>
            <a:off x="838200" y="1825625"/>
            <a:ext cx="4823012" cy="4351338"/>
          </a:xfrm>
        </p:spPr>
        <p:txBody>
          <a:bodyPr>
            <a:normAutofit lnSpcReduction="10000"/>
          </a:bodyPr>
          <a:lstStyle/>
          <a:p>
            <a:r>
              <a:rPr lang="en-US" sz="3600" dirty="0"/>
              <a:t>Quadrat sampling uses a frame to mark a sample area for study.</a:t>
            </a:r>
          </a:p>
          <a:p>
            <a:r>
              <a:rPr lang="en-US" sz="3600" dirty="0"/>
              <a:t>Randomly or systematically place quadrats, then count organisms inside each one.</a:t>
            </a:r>
          </a:p>
        </p:txBody>
      </p:sp>
      <p:pic>
        <p:nvPicPr>
          <p:cNvPr id="5" name="Picture 4">
            <a:extLst>
              <a:ext uri="{FF2B5EF4-FFF2-40B4-BE49-F238E27FC236}">
                <a16:creationId xmlns:a16="http://schemas.microsoft.com/office/drawing/2014/main" id="{27A7B323-AB69-E94A-DD53-F60CE6B6986C}"/>
              </a:ext>
            </a:extLst>
          </p:cNvPr>
          <p:cNvPicPr>
            <a:picLocks noChangeAspect="1"/>
          </p:cNvPicPr>
          <p:nvPr/>
        </p:nvPicPr>
        <p:blipFill>
          <a:blip r:embed="rId2"/>
          <a:stretch>
            <a:fillRect/>
          </a:stretch>
        </p:blipFill>
        <p:spPr>
          <a:xfrm>
            <a:off x="8716558" y="1308106"/>
            <a:ext cx="2834466" cy="2120894"/>
          </a:xfrm>
          <a:prstGeom prst="rect">
            <a:avLst/>
          </a:prstGeom>
          <a:ln w="28575">
            <a:solidFill>
              <a:schemeClr val="accent6">
                <a:lumMod val="75000"/>
              </a:schemeClr>
            </a:solidFill>
          </a:ln>
        </p:spPr>
      </p:pic>
      <p:pic>
        <p:nvPicPr>
          <p:cNvPr id="6" name="Picture 5">
            <a:extLst>
              <a:ext uri="{FF2B5EF4-FFF2-40B4-BE49-F238E27FC236}">
                <a16:creationId xmlns:a16="http://schemas.microsoft.com/office/drawing/2014/main" id="{E6FFCD90-2392-BB0B-4DBD-4B5EE3ACB72B}"/>
              </a:ext>
            </a:extLst>
          </p:cNvPr>
          <p:cNvPicPr>
            <a:picLocks noChangeAspect="1"/>
          </p:cNvPicPr>
          <p:nvPr/>
        </p:nvPicPr>
        <p:blipFill>
          <a:blip r:embed="rId3"/>
          <a:stretch>
            <a:fillRect/>
          </a:stretch>
        </p:blipFill>
        <p:spPr>
          <a:xfrm>
            <a:off x="6978088" y="3718316"/>
            <a:ext cx="2834464" cy="2120893"/>
          </a:xfrm>
          <a:prstGeom prst="rect">
            <a:avLst/>
          </a:prstGeom>
          <a:ln w="28575">
            <a:solidFill>
              <a:schemeClr val="accent6">
                <a:lumMod val="75000"/>
              </a:schemeClr>
            </a:solidFill>
          </a:ln>
        </p:spPr>
      </p:pic>
    </p:spTree>
    <p:extLst>
      <p:ext uri="{BB962C8B-B14F-4D97-AF65-F5344CB8AC3E}">
        <p14:creationId xmlns:p14="http://schemas.microsoft.com/office/powerpoint/2010/main" val="3029666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93470-E38D-6288-7B06-84AA255194BC}"/>
              </a:ext>
            </a:extLst>
          </p:cNvPr>
          <p:cNvSpPr>
            <a:spLocks noGrp="1"/>
          </p:cNvSpPr>
          <p:nvPr>
            <p:ph type="title"/>
          </p:nvPr>
        </p:nvSpPr>
        <p:spPr/>
        <p:txBody>
          <a:bodyPr>
            <a:normAutofit/>
          </a:bodyPr>
          <a:lstStyle/>
          <a:p>
            <a:r>
              <a:rPr lang="en-US" sz="5400" dirty="0"/>
              <a:t>Considerations for Effective Sampling</a:t>
            </a:r>
          </a:p>
        </p:txBody>
      </p:sp>
      <p:sp>
        <p:nvSpPr>
          <p:cNvPr id="3" name="Content Placeholder 2">
            <a:extLst>
              <a:ext uri="{FF2B5EF4-FFF2-40B4-BE49-F238E27FC236}">
                <a16:creationId xmlns:a16="http://schemas.microsoft.com/office/drawing/2014/main" id="{674764D6-941B-34D2-0862-B740BB429A93}"/>
              </a:ext>
            </a:extLst>
          </p:cNvPr>
          <p:cNvSpPr>
            <a:spLocks noGrp="1"/>
          </p:cNvSpPr>
          <p:nvPr>
            <p:ph idx="1"/>
          </p:nvPr>
        </p:nvSpPr>
        <p:spPr>
          <a:xfrm>
            <a:off x="838200" y="1825625"/>
            <a:ext cx="7001435" cy="4667250"/>
          </a:xfrm>
        </p:spPr>
        <p:txBody>
          <a:bodyPr>
            <a:normAutofit/>
          </a:bodyPr>
          <a:lstStyle/>
          <a:p>
            <a:r>
              <a:rPr lang="en-US" b="1" dirty="0"/>
              <a:t>Sample Size and Effort: </a:t>
            </a:r>
            <a:r>
              <a:rPr lang="en-US" dirty="0"/>
              <a:t>Larger samples help capture rare species and improve estimate accuracy. </a:t>
            </a:r>
          </a:p>
          <a:p>
            <a:r>
              <a:rPr lang="en-US" b="1" dirty="0"/>
              <a:t>Species Accumulation Curves: </a:t>
            </a:r>
            <a:r>
              <a:rPr lang="en-US" dirty="0"/>
              <a:t>Accumulation curves show the link between sampling effort and species count detected.</a:t>
            </a:r>
          </a:p>
          <a:p>
            <a:r>
              <a:rPr lang="en-US" b="1" dirty="0"/>
              <a:t>Common Sampling Biases: </a:t>
            </a:r>
            <a:r>
              <a:rPr lang="en-US" dirty="0"/>
              <a:t>Biases like selection and temporal bias may result in inaccurate estimates. Proper planning helps.</a:t>
            </a:r>
          </a:p>
        </p:txBody>
      </p:sp>
      <p:pic>
        <p:nvPicPr>
          <p:cNvPr id="5" name="Picture 4">
            <a:extLst>
              <a:ext uri="{FF2B5EF4-FFF2-40B4-BE49-F238E27FC236}">
                <a16:creationId xmlns:a16="http://schemas.microsoft.com/office/drawing/2014/main" id="{4CFD6185-2A40-28EF-7D6D-42B6CE0AFD97}"/>
              </a:ext>
            </a:extLst>
          </p:cNvPr>
          <p:cNvPicPr>
            <a:picLocks noChangeAspect="1"/>
          </p:cNvPicPr>
          <p:nvPr/>
        </p:nvPicPr>
        <p:blipFill>
          <a:blip r:embed="rId3"/>
          <a:stretch>
            <a:fillRect/>
          </a:stretch>
        </p:blipFill>
        <p:spPr>
          <a:xfrm>
            <a:off x="7691718" y="2312895"/>
            <a:ext cx="4252152" cy="3133164"/>
          </a:xfrm>
          <a:prstGeom prst="rect">
            <a:avLst/>
          </a:prstGeom>
          <a:ln w="28575">
            <a:solidFill>
              <a:schemeClr val="accent6">
                <a:lumMod val="75000"/>
              </a:schemeClr>
            </a:solidFill>
          </a:ln>
        </p:spPr>
      </p:pic>
    </p:spTree>
    <p:extLst>
      <p:ext uri="{BB962C8B-B14F-4D97-AF65-F5344CB8AC3E}">
        <p14:creationId xmlns:p14="http://schemas.microsoft.com/office/powerpoint/2010/main" val="4026749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D3F6C-5A1D-B3B9-1212-709C4CB09A48}"/>
              </a:ext>
            </a:extLst>
          </p:cNvPr>
          <p:cNvSpPr>
            <a:spLocks noGrp="1"/>
          </p:cNvSpPr>
          <p:nvPr>
            <p:ph type="title"/>
          </p:nvPr>
        </p:nvSpPr>
        <p:spPr/>
        <p:txBody>
          <a:bodyPr>
            <a:normAutofit/>
          </a:bodyPr>
          <a:lstStyle/>
          <a:p>
            <a:r>
              <a:rPr lang="en-US" sz="5400" dirty="0"/>
              <a:t>Case Study: Sampling Coral Reefs</a:t>
            </a:r>
          </a:p>
        </p:txBody>
      </p:sp>
      <p:sp>
        <p:nvSpPr>
          <p:cNvPr id="3" name="Content Placeholder 2">
            <a:extLst>
              <a:ext uri="{FF2B5EF4-FFF2-40B4-BE49-F238E27FC236}">
                <a16:creationId xmlns:a16="http://schemas.microsoft.com/office/drawing/2014/main" id="{4D0A476F-93BD-B2ED-8E22-20D08024A75D}"/>
              </a:ext>
            </a:extLst>
          </p:cNvPr>
          <p:cNvSpPr>
            <a:spLocks noGrp="1"/>
          </p:cNvSpPr>
          <p:nvPr>
            <p:ph idx="1"/>
          </p:nvPr>
        </p:nvSpPr>
        <p:spPr>
          <a:xfrm>
            <a:off x="838200" y="1825625"/>
            <a:ext cx="7942729" cy="2060575"/>
          </a:xfrm>
        </p:spPr>
        <p:txBody>
          <a:bodyPr>
            <a:normAutofit fontScale="85000" lnSpcReduction="20000"/>
          </a:bodyPr>
          <a:lstStyle/>
          <a:p>
            <a:pPr marL="0" indent="0">
              <a:buNone/>
            </a:pPr>
            <a:r>
              <a:rPr lang="en-US" sz="3000" dirty="0"/>
              <a:t>A marine biologist uses transect sampling to evaluate coral health and fish diversity. </a:t>
            </a:r>
            <a:endParaRPr lang="en-US" sz="3000" b="0" dirty="0">
              <a:effectLst/>
            </a:endParaRPr>
          </a:p>
          <a:p>
            <a:r>
              <a:rPr lang="en-US" sz="3000" dirty="0"/>
              <a:t>Transects are laid at 10 m, 20 m, and 30 m depths to collect data.</a:t>
            </a:r>
          </a:p>
          <a:p>
            <a:pPr marL="0" indent="0">
              <a:buNone/>
            </a:pPr>
            <a:br>
              <a:rPr lang="en-US" dirty="0"/>
            </a:br>
            <a:endParaRPr lang="en-US" dirty="0"/>
          </a:p>
        </p:txBody>
      </p:sp>
      <p:pic>
        <p:nvPicPr>
          <p:cNvPr id="4" name="Picture 3">
            <a:extLst>
              <a:ext uri="{FF2B5EF4-FFF2-40B4-BE49-F238E27FC236}">
                <a16:creationId xmlns:a16="http://schemas.microsoft.com/office/drawing/2014/main" id="{0A5D4697-BFAC-6C6D-6A2D-AA6DD1292354}"/>
              </a:ext>
            </a:extLst>
          </p:cNvPr>
          <p:cNvPicPr>
            <a:picLocks noChangeAspect="1"/>
          </p:cNvPicPr>
          <p:nvPr/>
        </p:nvPicPr>
        <p:blipFill>
          <a:blip r:embed="rId3"/>
          <a:stretch>
            <a:fillRect/>
          </a:stretch>
        </p:blipFill>
        <p:spPr>
          <a:xfrm>
            <a:off x="8263429" y="4681648"/>
            <a:ext cx="3528090" cy="1828426"/>
          </a:xfrm>
          <a:prstGeom prst="rect">
            <a:avLst/>
          </a:prstGeom>
          <a:ln w="28575">
            <a:solidFill>
              <a:schemeClr val="accent6">
                <a:lumMod val="75000"/>
              </a:schemeClr>
            </a:solidFill>
          </a:ln>
        </p:spPr>
      </p:pic>
      <p:pic>
        <p:nvPicPr>
          <p:cNvPr id="5" name="Picture 4">
            <a:extLst>
              <a:ext uri="{FF2B5EF4-FFF2-40B4-BE49-F238E27FC236}">
                <a16:creationId xmlns:a16="http://schemas.microsoft.com/office/drawing/2014/main" id="{78D79DBE-B82E-9719-82F8-B007554D5361}"/>
              </a:ext>
            </a:extLst>
          </p:cNvPr>
          <p:cNvPicPr>
            <a:picLocks noChangeAspect="1"/>
          </p:cNvPicPr>
          <p:nvPr/>
        </p:nvPicPr>
        <p:blipFill>
          <a:blip r:embed="rId4"/>
          <a:stretch>
            <a:fillRect/>
          </a:stretch>
        </p:blipFill>
        <p:spPr>
          <a:xfrm>
            <a:off x="9238129" y="2100075"/>
            <a:ext cx="2547382" cy="2172186"/>
          </a:xfrm>
          <a:prstGeom prst="rect">
            <a:avLst/>
          </a:prstGeom>
          <a:ln w="28575">
            <a:solidFill>
              <a:schemeClr val="accent6">
                <a:lumMod val="75000"/>
              </a:schemeClr>
            </a:solidFill>
          </a:ln>
        </p:spPr>
      </p:pic>
      <p:sp>
        <p:nvSpPr>
          <p:cNvPr id="6" name="TextBox 5">
            <a:extLst>
              <a:ext uri="{FF2B5EF4-FFF2-40B4-BE49-F238E27FC236}">
                <a16:creationId xmlns:a16="http://schemas.microsoft.com/office/drawing/2014/main" id="{757F51C7-6EEB-FA7F-26B8-4789ECD73641}"/>
              </a:ext>
            </a:extLst>
          </p:cNvPr>
          <p:cNvSpPr txBox="1"/>
          <p:nvPr/>
        </p:nvSpPr>
        <p:spPr>
          <a:xfrm>
            <a:off x="838199" y="3102871"/>
            <a:ext cx="7942729" cy="2893100"/>
          </a:xfrm>
          <a:prstGeom prst="rect">
            <a:avLst/>
          </a:prstGeom>
          <a:noFill/>
        </p:spPr>
        <p:txBody>
          <a:bodyPr wrap="square" rtlCol="0">
            <a:spAutoFit/>
          </a:bodyPr>
          <a:lstStyle/>
          <a:p>
            <a:pPr marL="285750" indent="-285750">
              <a:buFont typeface="Arial" panose="020B0604020202020204" pitchFamily="34" charset="0"/>
              <a:buChar char="•"/>
            </a:pPr>
            <a:r>
              <a:rPr lang="en-US" sz="2600" dirty="0"/>
              <a:t>Along the transects, species abundance and composition within a 1m</a:t>
            </a:r>
            <a:r>
              <a:rPr lang="en-US" sz="2600" baseline="30000" dirty="0"/>
              <a:t>2</a:t>
            </a:r>
            <a:r>
              <a:rPr lang="en-US" sz="2600" dirty="0"/>
              <a:t> quadrat is recorded every 5 meters.</a:t>
            </a:r>
          </a:p>
          <a:p>
            <a:pPr marL="285750" indent="-285750">
              <a:buFont typeface="Arial" panose="020B0604020202020204" pitchFamily="34" charset="0"/>
              <a:buChar char="•"/>
            </a:pPr>
            <a:r>
              <a:rPr lang="en-US" sz="2600" b="0" dirty="0">
                <a:effectLst/>
              </a:rPr>
              <a:t>Fish within 2.5m of the transect are recorded.</a:t>
            </a:r>
          </a:p>
          <a:p>
            <a:endParaRPr lang="en-US" sz="2600" dirty="0"/>
          </a:p>
          <a:p>
            <a:r>
              <a:rPr lang="en-US" sz="2600" dirty="0"/>
              <a:t>This reveals shifts in species composition and abundance with depth changes.</a:t>
            </a:r>
          </a:p>
        </p:txBody>
      </p:sp>
    </p:spTree>
    <p:extLst>
      <p:ext uri="{BB962C8B-B14F-4D97-AF65-F5344CB8AC3E}">
        <p14:creationId xmlns:p14="http://schemas.microsoft.com/office/powerpoint/2010/main" val="417326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4BC5A-1E70-C386-465A-1B2A51FAEC95}"/>
              </a:ext>
            </a:extLst>
          </p:cNvPr>
          <p:cNvSpPr>
            <a:spLocks noGrp="1"/>
          </p:cNvSpPr>
          <p:nvPr>
            <p:ph type="title"/>
          </p:nvPr>
        </p:nvSpPr>
        <p:spPr/>
        <p:txBody>
          <a:bodyPr/>
          <a:lstStyle/>
          <a:p>
            <a:r>
              <a:rPr lang="en-US" dirty="0"/>
              <a:t>Case Study: Stratified Sampling in Rainforests</a:t>
            </a:r>
          </a:p>
        </p:txBody>
      </p:sp>
      <p:sp>
        <p:nvSpPr>
          <p:cNvPr id="3" name="Content Placeholder 2">
            <a:extLst>
              <a:ext uri="{FF2B5EF4-FFF2-40B4-BE49-F238E27FC236}">
                <a16:creationId xmlns:a16="http://schemas.microsoft.com/office/drawing/2014/main" id="{A8B2CBF5-1F69-011E-9991-3BC98A7FE7E6}"/>
              </a:ext>
            </a:extLst>
          </p:cNvPr>
          <p:cNvSpPr>
            <a:spLocks noGrp="1"/>
          </p:cNvSpPr>
          <p:nvPr>
            <p:ph idx="1"/>
          </p:nvPr>
        </p:nvSpPr>
        <p:spPr>
          <a:xfrm>
            <a:off x="4773706" y="1606364"/>
            <a:ext cx="6580094" cy="4351338"/>
          </a:xfrm>
        </p:spPr>
        <p:txBody>
          <a:bodyPr>
            <a:normAutofit fontScale="92500" lnSpcReduction="10000"/>
          </a:bodyPr>
          <a:lstStyle/>
          <a:p>
            <a:pPr marL="0" indent="0">
              <a:buNone/>
            </a:pPr>
            <a:r>
              <a:rPr lang="en-US" sz="3200" dirty="0"/>
              <a:t>Ecologists studied biodiversity in tropical rainforests using stratified sampling methods. </a:t>
            </a:r>
            <a:endParaRPr lang="en-US" sz="3200" b="0" dirty="0">
              <a:effectLst/>
            </a:endParaRPr>
          </a:p>
          <a:p>
            <a:r>
              <a:rPr lang="en-US" sz="3200" dirty="0"/>
              <a:t>They focused on different canopy layers: ground, mid-canopy, and upper canopy. </a:t>
            </a:r>
            <a:endParaRPr lang="en-US" sz="3200" b="0" dirty="0">
              <a:effectLst/>
            </a:endParaRPr>
          </a:p>
          <a:p>
            <a:r>
              <a:rPr lang="en-US" sz="3200" dirty="0"/>
              <a:t>Dividing the forest into strata ensured each layer was represented. Results showed species richness was highest in the mid-canopy layer.</a:t>
            </a:r>
            <a:br>
              <a:rPr lang="en-US" dirty="0"/>
            </a:br>
            <a:endParaRPr lang="en-US" dirty="0"/>
          </a:p>
        </p:txBody>
      </p:sp>
      <p:pic>
        <p:nvPicPr>
          <p:cNvPr id="5" name="Picture 4">
            <a:extLst>
              <a:ext uri="{FF2B5EF4-FFF2-40B4-BE49-F238E27FC236}">
                <a16:creationId xmlns:a16="http://schemas.microsoft.com/office/drawing/2014/main" id="{618A11B8-8F16-235B-D8FF-ED8D1F10C268}"/>
              </a:ext>
            </a:extLst>
          </p:cNvPr>
          <p:cNvPicPr>
            <a:picLocks noChangeAspect="1"/>
          </p:cNvPicPr>
          <p:nvPr/>
        </p:nvPicPr>
        <p:blipFill>
          <a:blip r:embed="rId3"/>
          <a:stretch>
            <a:fillRect/>
          </a:stretch>
        </p:blipFill>
        <p:spPr>
          <a:xfrm>
            <a:off x="838200" y="1690688"/>
            <a:ext cx="3568888" cy="2324473"/>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6E656424-0AB3-454C-429A-59B7FA1625E9}"/>
              </a:ext>
            </a:extLst>
          </p:cNvPr>
          <p:cNvPicPr>
            <a:picLocks noChangeAspect="1"/>
          </p:cNvPicPr>
          <p:nvPr/>
        </p:nvPicPr>
        <p:blipFill>
          <a:blip r:embed="rId4"/>
          <a:stretch>
            <a:fillRect/>
          </a:stretch>
        </p:blipFill>
        <p:spPr>
          <a:xfrm>
            <a:off x="1223818" y="4070724"/>
            <a:ext cx="2540000" cy="2540000"/>
          </a:xfrm>
          <a:prstGeom prst="rect">
            <a:avLst/>
          </a:prstGeom>
        </p:spPr>
      </p:pic>
    </p:spTree>
    <p:extLst>
      <p:ext uri="{BB962C8B-B14F-4D97-AF65-F5344CB8AC3E}">
        <p14:creationId xmlns:p14="http://schemas.microsoft.com/office/powerpoint/2010/main" val="2156462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3C3FD-F819-8E67-6F19-6FEA7A699F06}"/>
              </a:ext>
            </a:extLst>
          </p:cNvPr>
          <p:cNvSpPr>
            <a:spLocks noGrp="1"/>
          </p:cNvSpPr>
          <p:nvPr>
            <p:ph type="title"/>
          </p:nvPr>
        </p:nvSpPr>
        <p:spPr/>
        <p:txBody>
          <a:bodyPr>
            <a:normAutofit/>
          </a:bodyPr>
          <a:lstStyle/>
          <a:p>
            <a:r>
              <a:rPr lang="en-US" sz="4800" dirty="0"/>
              <a:t>Organizing and Visualizing Ecological Data</a:t>
            </a:r>
          </a:p>
        </p:txBody>
      </p:sp>
      <p:sp>
        <p:nvSpPr>
          <p:cNvPr id="3" name="Content Placeholder 2">
            <a:extLst>
              <a:ext uri="{FF2B5EF4-FFF2-40B4-BE49-F238E27FC236}">
                <a16:creationId xmlns:a16="http://schemas.microsoft.com/office/drawing/2014/main" id="{433A4C98-94F8-3D72-FF42-1E0F57858A8B}"/>
              </a:ext>
            </a:extLst>
          </p:cNvPr>
          <p:cNvSpPr>
            <a:spLocks noGrp="1"/>
          </p:cNvSpPr>
          <p:nvPr>
            <p:ph idx="1"/>
          </p:nvPr>
        </p:nvSpPr>
        <p:spPr/>
        <p:txBody>
          <a:bodyPr/>
          <a:lstStyle/>
          <a:p>
            <a:pPr marL="0" indent="0">
              <a:buNone/>
            </a:pPr>
            <a:r>
              <a:rPr lang="en-US" b="1" dirty="0"/>
              <a:t>Importance of Data Organization: </a:t>
            </a:r>
            <a:r>
              <a:rPr lang="en-US" dirty="0"/>
              <a:t>Data organization and visualization are crucial in ecology as they facilitate the effective interpretation of complex ecological data, enabling researchers to identify patterns and relationships.</a:t>
            </a:r>
          </a:p>
          <a:p>
            <a:pPr marL="0" indent="0">
              <a:buNone/>
            </a:pPr>
            <a:r>
              <a:rPr lang="en-US" b="1" dirty="0"/>
              <a:t>Common Data Types: </a:t>
            </a:r>
            <a:r>
              <a:rPr lang="en-US" dirty="0"/>
              <a:t>Ecological data can be categorized into common types: categorical (fish names), numerical (individual counts), spatial (geographical coordinates), and temporal (e.g., time series data).</a:t>
            </a:r>
          </a:p>
          <a:p>
            <a:pPr marL="0" indent="0">
              <a:buNone/>
            </a:pPr>
            <a:r>
              <a:rPr lang="en-US" b="1" dirty="0"/>
              <a:t>Challenges and Goals: </a:t>
            </a:r>
            <a:r>
              <a:rPr lang="en-US" dirty="0"/>
              <a:t>The main challenges of data organization include handling errors, inconsistencies, and missing values.</a:t>
            </a:r>
          </a:p>
        </p:txBody>
      </p:sp>
    </p:spTree>
    <p:extLst>
      <p:ext uri="{BB962C8B-B14F-4D97-AF65-F5344CB8AC3E}">
        <p14:creationId xmlns:p14="http://schemas.microsoft.com/office/powerpoint/2010/main" val="24590377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A3E28-5689-41C2-219C-94FA2FA0F424}"/>
              </a:ext>
            </a:extLst>
          </p:cNvPr>
          <p:cNvSpPr>
            <a:spLocks noGrp="1"/>
          </p:cNvSpPr>
          <p:nvPr>
            <p:ph type="title"/>
          </p:nvPr>
        </p:nvSpPr>
        <p:spPr/>
        <p:txBody>
          <a:bodyPr>
            <a:normAutofit/>
          </a:bodyPr>
          <a:lstStyle/>
          <a:p>
            <a:r>
              <a:rPr lang="en-US" sz="5400" dirty="0"/>
              <a:t>Data Cleaning and Preparation</a:t>
            </a:r>
          </a:p>
        </p:txBody>
      </p:sp>
      <p:sp>
        <p:nvSpPr>
          <p:cNvPr id="3" name="Content Placeholder 2">
            <a:extLst>
              <a:ext uri="{FF2B5EF4-FFF2-40B4-BE49-F238E27FC236}">
                <a16:creationId xmlns:a16="http://schemas.microsoft.com/office/drawing/2014/main" id="{58E7C1C2-54A8-5120-8757-270A6DD10F8B}"/>
              </a:ext>
            </a:extLst>
          </p:cNvPr>
          <p:cNvSpPr>
            <a:spLocks noGrp="1"/>
          </p:cNvSpPr>
          <p:nvPr>
            <p:ph idx="1"/>
          </p:nvPr>
        </p:nvSpPr>
        <p:spPr/>
        <p:txBody>
          <a:bodyPr>
            <a:normAutofit fontScale="92500" lnSpcReduction="20000"/>
          </a:bodyPr>
          <a:lstStyle/>
          <a:p>
            <a:pPr marL="0" indent="0">
              <a:buNone/>
            </a:pPr>
            <a:r>
              <a:rPr lang="en-US" b="1" dirty="0"/>
              <a:t>Data cleaning </a:t>
            </a:r>
            <a:r>
              <a:rPr lang="en-US" dirty="0"/>
              <a:t>involves identifying and correcting errors, inconsistencies, and missing values in datasets.</a:t>
            </a:r>
          </a:p>
          <a:p>
            <a:pPr marL="0" indent="0">
              <a:buNone/>
            </a:pPr>
            <a:r>
              <a:rPr lang="en-US" b="1" dirty="0"/>
              <a:t>Data transformation </a:t>
            </a:r>
            <a:r>
              <a:rPr lang="en-US" dirty="0"/>
              <a:t>includes standardizing, normalizing, and transforming data as needed, such as applying log transformations or square root transformations to meet analysis assumptions.</a:t>
            </a:r>
          </a:p>
          <a:p>
            <a:pPr marL="0" indent="0">
              <a:buNone/>
            </a:pPr>
            <a:r>
              <a:rPr lang="en-US" b="1" dirty="0"/>
              <a:t>Handling Missing Values: </a:t>
            </a:r>
            <a:r>
              <a:rPr lang="en-US" dirty="0"/>
              <a:t>Data imputation is a technique used to handle missing data. Common methods include mean imputation and regression imputation.</a:t>
            </a:r>
          </a:p>
          <a:p>
            <a:pPr marL="0" indent="0">
              <a:buNone/>
            </a:pPr>
            <a:r>
              <a:rPr lang="en-US" b="1" dirty="0"/>
              <a:t>Importance of Preparation: </a:t>
            </a:r>
            <a:r>
              <a:rPr lang="en-US" dirty="0"/>
              <a:t>Proper data cleaning and preparation are essential to facilitate accurate analysis and meaningful results in ecological research.</a:t>
            </a:r>
            <a:br>
              <a:rPr lang="en-US" dirty="0"/>
            </a:br>
            <a:br>
              <a:rPr lang="en-US" dirty="0"/>
            </a:br>
            <a:r>
              <a:rPr lang="en-US" dirty="0"/>
              <a:t>All actions during this process have to be documented.</a:t>
            </a:r>
          </a:p>
        </p:txBody>
      </p:sp>
    </p:spTree>
    <p:extLst>
      <p:ext uri="{BB962C8B-B14F-4D97-AF65-F5344CB8AC3E}">
        <p14:creationId xmlns:p14="http://schemas.microsoft.com/office/powerpoint/2010/main" val="23598153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5B89B-320C-097C-8DA0-E525DFDC9061}"/>
              </a:ext>
            </a:extLst>
          </p:cNvPr>
          <p:cNvSpPr>
            <a:spLocks noGrp="1"/>
          </p:cNvSpPr>
          <p:nvPr>
            <p:ph type="title"/>
          </p:nvPr>
        </p:nvSpPr>
        <p:spPr/>
        <p:txBody>
          <a:bodyPr>
            <a:normAutofit/>
          </a:bodyPr>
          <a:lstStyle/>
          <a:p>
            <a:r>
              <a:rPr lang="en-US" sz="5400" dirty="0"/>
              <a:t>Data Imputation</a:t>
            </a:r>
          </a:p>
        </p:txBody>
      </p:sp>
      <p:sp>
        <p:nvSpPr>
          <p:cNvPr id="3" name="Content Placeholder 2">
            <a:extLst>
              <a:ext uri="{FF2B5EF4-FFF2-40B4-BE49-F238E27FC236}">
                <a16:creationId xmlns:a16="http://schemas.microsoft.com/office/drawing/2014/main" id="{F1E9786A-21C8-9BBF-3827-41DE9CEA49A2}"/>
              </a:ext>
            </a:extLst>
          </p:cNvPr>
          <p:cNvSpPr>
            <a:spLocks noGrp="1"/>
          </p:cNvSpPr>
          <p:nvPr>
            <p:ph idx="1"/>
          </p:nvPr>
        </p:nvSpPr>
        <p:spPr/>
        <p:txBody>
          <a:bodyPr>
            <a:normAutofit lnSpcReduction="10000"/>
          </a:bodyPr>
          <a:lstStyle/>
          <a:p>
            <a:pPr marL="0" indent="0">
              <a:buNone/>
            </a:pPr>
            <a:r>
              <a:rPr lang="en-US" sz="3200" dirty="0"/>
              <a:t>The process of replacing missing data with substituted values.</a:t>
            </a:r>
          </a:p>
          <a:p>
            <a:r>
              <a:rPr lang="en-US" sz="3200" dirty="0"/>
              <a:t>Mean Imputation: calculate the average of the non-missing values for your variable of interest, and substitute it for your missing values. </a:t>
            </a:r>
          </a:p>
          <a:p>
            <a:r>
              <a:rPr lang="en-US" sz="3200" dirty="0"/>
              <a:t>Regression Imputation: uses a model to predict missing values. </a:t>
            </a:r>
          </a:p>
          <a:p>
            <a:endParaRPr lang="en-US" sz="3200" dirty="0"/>
          </a:p>
          <a:p>
            <a:pPr marL="0" indent="0">
              <a:buNone/>
            </a:pPr>
            <a:r>
              <a:rPr lang="en-US" sz="3200" dirty="0"/>
              <a:t>These are not without cons!</a:t>
            </a:r>
          </a:p>
        </p:txBody>
      </p:sp>
    </p:spTree>
    <p:extLst>
      <p:ext uri="{BB962C8B-B14F-4D97-AF65-F5344CB8AC3E}">
        <p14:creationId xmlns:p14="http://schemas.microsoft.com/office/powerpoint/2010/main" val="1206216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C157C-C130-77CC-AE18-5F84289E0892}"/>
              </a:ext>
            </a:extLst>
          </p:cNvPr>
          <p:cNvSpPr>
            <a:spLocks noGrp="1"/>
          </p:cNvSpPr>
          <p:nvPr>
            <p:ph type="title"/>
          </p:nvPr>
        </p:nvSpPr>
        <p:spPr/>
        <p:txBody>
          <a:bodyPr>
            <a:normAutofit/>
          </a:bodyPr>
          <a:lstStyle/>
          <a:p>
            <a:r>
              <a:rPr lang="en-US" sz="5400" dirty="0"/>
              <a:t>Organizing and Managing Data</a:t>
            </a:r>
          </a:p>
        </p:txBody>
      </p:sp>
      <p:sp>
        <p:nvSpPr>
          <p:cNvPr id="3" name="Content Placeholder 2">
            <a:extLst>
              <a:ext uri="{FF2B5EF4-FFF2-40B4-BE49-F238E27FC236}">
                <a16:creationId xmlns:a16="http://schemas.microsoft.com/office/drawing/2014/main" id="{23EF5FF0-35EE-8011-0840-B6283E6AC228}"/>
              </a:ext>
            </a:extLst>
          </p:cNvPr>
          <p:cNvSpPr>
            <a:spLocks noGrp="1"/>
          </p:cNvSpPr>
          <p:nvPr>
            <p:ph idx="1"/>
          </p:nvPr>
        </p:nvSpPr>
        <p:spPr/>
        <p:txBody>
          <a:bodyPr>
            <a:normAutofit fontScale="92500" lnSpcReduction="10000"/>
          </a:bodyPr>
          <a:lstStyle/>
          <a:p>
            <a:pPr marL="0" lvl="0" indent="0" fontAlgn="base">
              <a:buNone/>
            </a:pPr>
            <a:r>
              <a:rPr lang="en-US" b="1" dirty="0"/>
              <a:t>Data Structures: </a:t>
            </a:r>
            <a:r>
              <a:rPr lang="en-US" dirty="0"/>
              <a:t>Understanding different data structures is crucial for effective data management.</a:t>
            </a:r>
          </a:p>
          <a:p>
            <a:pPr lvl="0" fontAlgn="base"/>
            <a:r>
              <a:rPr lang="en-US" dirty="0"/>
              <a:t>Common structures include matrices, data frames, and databases.</a:t>
            </a:r>
          </a:p>
          <a:p>
            <a:pPr lvl="0" fontAlgn="base"/>
            <a:r>
              <a:rPr lang="en-US" dirty="0"/>
              <a:t>Matrices are used for numerical data representation, while data frames allow mixed data types.</a:t>
            </a:r>
          </a:p>
          <a:p>
            <a:pPr marL="0" lvl="0" indent="0" fontAlgn="base">
              <a:buNone/>
            </a:pPr>
            <a:r>
              <a:rPr lang="en-US" b="1" dirty="0"/>
              <a:t>Data Storage and Metadata Management: </a:t>
            </a:r>
            <a:r>
              <a:rPr lang="en-US" dirty="0"/>
              <a:t>Appropriate storage methods include CSV files, spreadsheets, and relational databases.</a:t>
            </a:r>
          </a:p>
          <a:p>
            <a:pPr lvl="0" fontAlgn="base"/>
            <a:r>
              <a:rPr lang="en-US" dirty="0"/>
              <a:t>CSV files are simple text files that store data in a tabular format. Common and preferred.</a:t>
            </a:r>
          </a:p>
          <a:p>
            <a:pPr lvl="0" fontAlgn="base"/>
            <a:r>
              <a:rPr lang="en-US" dirty="0"/>
              <a:t>Metadata management involves documenting data attributes, sources, and processing steps to enhance data usability. </a:t>
            </a:r>
            <a:r>
              <a:rPr lang="en-US" i="1" dirty="0"/>
              <a:t>“Data about data.”</a:t>
            </a:r>
            <a:endParaRPr lang="en-US" dirty="0"/>
          </a:p>
          <a:p>
            <a:endParaRPr lang="en-US" dirty="0"/>
          </a:p>
        </p:txBody>
      </p:sp>
    </p:spTree>
    <p:extLst>
      <p:ext uri="{BB962C8B-B14F-4D97-AF65-F5344CB8AC3E}">
        <p14:creationId xmlns:p14="http://schemas.microsoft.com/office/powerpoint/2010/main" val="1965518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54E05-DC50-325D-A573-19AA3E0CB252}"/>
              </a:ext>
            </a:extLst>
          </p:cNvPr>
          <p:cNvSpPr>
            <a:spLocks noGrp="1"/>
          </p:cNvSpPr>
          <p:nvPr>
            <p:ph type="title"/>
          </p:nvPr>
        </p:nvSpPr>
        <p:spPr/>
        <p:txBody>
          <a:bodyPr>
            <a:normAutofit/>
          </a:bodyPr>
          <a:lstStyle/>
          <a:p>
            <a:r>
              <a:rPr lang="en-US" sz="4800" dirty="0"/>
              <a:t>Data Frames &amp; Databases</a:t>
            </a:r>
          </a:p>
        </p:txBody>
      </p:sp>
      <p:pic>
        <p:nvPicPr>
          <p:cNvPr id="7" name="Content Placeholder 6">
            <a:extLst>
              <a:ext uri="{FF2B5EF4-FFF2-40B4-BE49-F238E27FC236}">
                <a16:creationId xmlns:a16="http://schemas.microsoft.com/office/drawing/2014/main" id="{00F2D4F0-FEB8-A6D5-9968-86E6CFAEE897}"/>
              </a:ext>
            </a:extLst>
          </p:cNvPr>
          <p:cNvPicPr>
            <a:picLocks noGrp="1" noChangeAspect="1"/>
          </p:cNvPicPr>
          <p:nvPr>
            <p:ph idx="1"/>
          </p:nvPr>
        </p:nvPicPr>
        <p:blipFill>
          <a:blip r:embed="rId3"/>
          <a:stretch>
            <a:fillRect/>
          </a:stretch>
        </p:blipFill>
        <p:spPr>
          <a:xfrm>
            <a:off x="7834523" y="0"/>
            <a:ext cx="4357477" cy="6858000"/>
          </a:xfrm>
          <a:prstGeom prst="rect">
            <a:avLst/>
          </a:prstGeom>
        </p:spPr>
      </p:pic>
      <p:pic>
        <p:nvPicPr>
          <p:cNvPr id="4" name="Picture 3">
            <a:extLst>
              <a:ext uri="{FF2B5EF4-FFF2-40B4-BE49-F238E27FC236}">
                <a16:creationId xmlns:a16="http://schemas.microsoft.com/office/drawing/2014/main" id="{E18D1156-9250-37D5-C604-2CF54CE94640}"/>
              </a:ext>
            </a:extLst>
          </p:cNvPr>
          <p:cNvPicPr>
            <a:picLocks noChangeAspect="1"/>
          </p:cNvPicPr>
          <p:nvPr/>
        </p:nvPicPr>
        <p:blipFill>
          <a:blip r:embed="rId4"/>
          <a:stretch>
            <a:fillRect/>
          </a:stretch>
        </p:blipFill>
        <p:spPr>
          <a:xfrm>
            <a:off x="838200" y="2055813"/>
            <a:ext cx="5930209" cy="2943618"/>
          </a:xfrm>
          <a:prstGeom prst="rect">
            <a:avLst/>
          </a:prstGeom>
        </p:spPr>
      </p:pic>
    </p:spTree>
    <p:extLst>
      <p:ext uri="{BB962C8B-B14F-4D97-AF65-F5344CB8AC3E}">
        <p14:creationId xmlns:p14="http://schemas.microsoft.com/office/powerpoint/2010/main" val="26986336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CBE5-2EE3-4CFE-5F35-E845481D3E20}"/>
              </a:ext>
            </a:extLst>
          </p:cNvPr>
          <p:cNvSpPr>
            <a:spLocks noGrp="1"/>
          </p:cNvSpPr>
          <p:nvPr>
            <p:ph type="title"/>
          </p:nvPr>
        </p:nvSpPr>
        <p:spPr/>
        <p:txBody>
          <a:bodyPr/>
          <a:lstStyle/>
          <a:p>
            <a:r>
              <a:rPr lang="en-US" b="1" dirty="0"/>
              <a:t>Metadata</a:t>
            </a:r>
            <a:endParaRPr lang="en-US" dirty="0"/>
          </a:p>
        </p:txBody>
      </p:sp>
      <p:pic>
        <p:nvPicPr>
          <p:cNvPr id="4" name="Picture 3" descr="Metadata in data table example">
            <a:extLst>
              <a:ext uri="{FF2B5EF4-FFF2-40B4-BE49-F238E27FC236}">
                <a16:creationId xmlns:a16="http://schemas.microsoft.com/office/drawing/2014/main" id="{93CE08FD-4195-DC98-E066-5AB51BFDA42B}"/>
              </a:ext>
            </a:extLst>
          </p:cNvPr>
          <p:cNvPicPr>
            <a:picLocks noChangeAspect="1"/>
          </p:cNvPicPr>
          <p:nvPr/>
        </p:nvPicPr>
        <p:blipFill>
          <a:blip r:embed="rId2"/>
          <a:stretch>
            <a:fillRect/>
          </a:stretch>
        </p:blipFill>
        <p:spPr>
          <a:xfrm>
            <a:off x="1503654" y="1690688"/>
            <a:ext cx="8884530" cy="4476349"/>
          </a:xfrm>
          <a:prstGeom prst="rect">
            <a:avLst/>
          </a:prstGeom>
        </p:spPr>
      </p:pic>
    </p:spTree>
    <p:extLst>
      <p:ext uri="{BB962C8B-B14F-4D97-AF65-F5344CB8AC3E}">
        <p14:creationId xmlns:p14="http://schemas.microsoft.com/office/powerpoint/2010/main" val="12348455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C97D-F69A-E1CB-EFD9-FFFD4465C586}"/>
              </a:ext>
            </a:extLst>
          </p:cNvPr>
          <p:cNvSpPr>
            <a:spLocks noGrp="1"/>
          </p:cNvSpPr>
          <p:nvPr>
            <p:ph type="title"/>
          </p:nvPr>
        </p:nvSpPr>
        <p:spPr/>
        <p:txBody>
          <a:bodyPr>
            <a:normAutofit/>
          </a:bodyPr>
          <a:lstStyle/>
          <a:p>
            <a:r>
              <a:rPr lang="en-US" dirty="0"/>
              <a:t>Exploratory Data Analysis (EDA) Techniques</a:t>
            </a:r>
          </a:p>
        </p:txBody>
      </p:sp>
      <p:sp>
        <p:nvSpPr>
          <p:cNvPr id="3" name="Content Placeholder 2">
            <a:extLst>
              <a:ext uri="{FF2B5EF4-FFF2-40B4-BE49-F238E27FC236}">
                <a16:creationId xmlns:a16="http://schemas.microsoft.com/office/drawing/2014/main" id="{3BB21CCE-D819-8DC1-7D5E-B149DF7282E7}"/>
              </a:ext>
            </a:extLst>
          </p:cNvPr>
          <p:cNvSpPr>
            <a:spLocks noGrp="1"/>
          </p:cNvSpPr>
          <p:nvPr>
            <p:ph idx="1"/>
          </p:nvPr>
        </p:nvSpPr>
        <p:spPr/>
        <p:txBody>
          <a:bodyPr>
            <a:normAutofit/>
          </a:bodyPr>
          <a:lstStyle/>
          <a:p>
            <a:pPr marL="0" indent="0">
              <a:buNone/>
            </a:pPr>
            <a:r>
              <a:rPr lang="en-US" sz="3200" b="1" dirty="0"/>
              <a:t>Summary Statistics: </a:t>
            </a:r>
            <a:r>
              <a:rPr lang="en-US" sz="3200" dirty="0"/>
              <a:t>Calculate measures of central tendency such as mean, median, and mode, alongside measures of dispersion like variance and standard deviation.</a:t>
            </a:r>
          </a:p>
          <a:p>
            <a:pPr marL="0" indent="0">
              <a:buNone/>
            </a:pPr>
            <a:r>
              <a:rPr lang="en-US" sz="3200" b="1" dirty="0"/>
              <a:t>Frequency Distributions: </a:t>
            </a:r>
            <a:r>
              <a:rPr lang="en-US" sz="3200" dirty="0"/>
              <a:t>Visualize the distribution of data using techniques like histograms and bar charts.</a:t>
            </a:r>
          </a:p>
          <a:p>
            <a:pPr marL="0" indent="0">
              <a:buNone/>
            </a:pPr>
            <a:r>
              <a:rPr lang="en-US" sz="3200" b="1" dirty="0"/>
              <a:t>Visualization Techniques: </a:t>
            </a:r>
            <a:r>
              <a:rPr lang="en-US" sz="3200" dirty="0"/>
              <a:t>Utilize plots and graphs to explore data patterns, including scatter plots, line plots, and box plots.</a:t>
            </a:r>
          </a:p>
        </p:txBody>
      </p:sp>
    </p:spTree>
    <p:extLst>
      <p:ext uri="{BB962C8B-B14F-4D97-AF65-F5344CB8AC3E}">
        <p14:creationId xmlns:p14="http://schemas.microsoft.com/office/powerpoint/2010/main" val="2859074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607A-1C25-6D62-766F-B9B51C609740}"/>
              </a:ext>
            </a:extLst>
          </p:cNvPr>
          <p:cNvSpPr>
            <a:spLocks noGrp="1"/>
          </p:cNvSpPr>
          <p:nvPr>
            <p:ph type="title"/>
          </p:nvPr>
        </p:nvSpPr>
        <p:spPr/>
        <p:txBody>
          <a:bodyPr>
            <a:normAutofit/>
          </a:bodyPr>
          <a:lstStyle/>
          <a:p>
            <a:r>
              <a:rPr lang="en-US" dirty="0"/>
              <a:t>Exploratory Data Analysis (EDA) Techniques</a:t>
            </a:r>
          </a:p>
        </p:txBody>
      </p:sp>
      <p:sp>
        <p:nvSpPr>
          <p:cNvPr id="3" name="Content Placeholder 2">
            <a:extLst>
              <a:ext uri="{FF2B5EF4-FFF2-40B4-BE49-F238E27FC236}">
                <a16:creationId xmlns:a16="http://schemas.microsoft.com/office/drawing/2014/main" id="{3BA452CD-4C72-ACD0-DE8C-1A31341DAB92}"/>
              </a:ext>
            </a:extLst>
          </p:cNvPr>
          <p:cNvSpPr>
            <a:spLocks noGrp="1"/>
          </p:cNvSpPr>
          <p:nvPr>
            <p:ph idx="1"/>
          </p:nvPr>
        </p:nvSpPr>
        <p:spPr>
          <a:xfrm>
            <a:off x="838200" y="1825625"/>
            <a:ext cx="10515600" cy="4351338"/>
          </a:xfrm>
        </p:spPr>
        <p:txBody>
          <a:bodyPr/>
          <a:lstStyle/>
          <a:p>
            <a:pPr marL="0" indent="0">
              <a:buNone/>
            </a:pPr>
            <a:r>
              <a:rPr lang="en-US" sz="3200" b="1" dirty="0"/>
              <a:t>Explore Data Patterns: </a:t>
            </a:r>
            <a:r>
              <a:rPr lang="en-US" sz="3200" dirty="0"/>
              <a:t>Employ visual methods to identify trends, outliers, and relationships within the dataset.</a:t>
            </a:r>
          </a:p>
          <a:p>
            <a:pPr marL="0" indent="0">
              <a:buNone/>
            </a:pPr>
            <a:r>
              <a:rPr lang="en-US" sz="3200" b="1" dirty="0"/>
              <a:t>Correlation Analysis: </a:t>
            </a:r>
            <a:r>
              <a:rPr lang="en-US" sz="3200" dirty="0"/>
              <a:t>Assess relationships between variables by employing methods such as Pearson correlation and Spearman correlation.</a:t>
            </a:r>
          </a:p>
          <a:p>
            <a:pPr marL="0" indent="0">
              <a:buNone/>
            </a:pPr>
            <a:r>
              <a:rPr lang="en-US" sz="3200" b="1" dirty="0"/>
              <a:t>Importance of EDA: </a:t>
            </a:r>
            <a:r>
              <a:rPr lang="en-US" sz="3200" dirty="0"/>
              <a:t>Critical for understanding data structure and informing further analyses and modeling choices.</a:t>
            </a:r>
          </a:p>
          <a:p>
            <a:endParaRPr lang="en-US" dirty="0"/>
          </a:p>
        </p:txBody>
      </p:sp>
      <p:pic>
        <p:nvPicPr>
          <p:cNvPr id="5" name="Picture 4">
            <a:extLst>
              <a:ext uri="{FF2B5EF4-FFF2-40B4-BE49-F238E27FC236}">
                <a16:creationId xmlns:a16="http://schemas.microsoft.com/office/drawing/2014/main" id="{8FD6CB83-5D65-597C-2D6D-560A770BA688}"/>
              </a:ext>
            </a:extLst>
          </p:cNvPr>
          <p:cNvPicPr>
            <a:picLocks noChangeAspect="1"/>
          </p:cNvPicPr>
          <p:nvPr/>
        </p:nvPicPr>
        <p:blipFill>
          <a:blip r:embed="rId3"/>
          <a:stretch>
            <a:fillRect/>
          </a:stretch>
        </p:blipFill>
        <p:spPr>
          <a:xfrm>
            <a:off x="10175587" y="2366818"/>
            <a:ext cx="1816100" cy="2540000"/>
          </a:xfrm>
          <a:prstGeom prst="rect">
            <a:avLst/>
          </a:prstGeom>
        </p:spPr>
      </p:pic>
    </p:spTree>
    <p:extLst>
      <p:ext uri="{BB962C8B-B14F-4D97-AF65-F5344CB8AC3E}">
        <p14:creationId xmlns:p14="http://schemas.microsoft.com/office/powerpoint/2010/main" val="6296182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4DFA-D8D2-255C-51D3-5AA36612D783}"/>
              </a:ext>
            </a:extLst>
          </p:cNvPr>
          <p:cNvSpPr>
            <a:spLocks noGrp="1"/>
          </p:cNvSpPr>
          <p:nvPr>
            <p:ph type="title"/>
          </p:nvPr>
        </p:nvSpPr>
        <p:spPr/>
        <p:txBody>
          <a:bodyPr>
            <a:normAutofit/>
          </a:bodyPr>
          <a:lstStyle/>
          <a:p>
            <a:r>
              <a:rPr lang="en-US" sz="5400" dirty="0"/>
              <a:t>Histograms &amp; Boxplots</a:t>
            </a:r>
          </a:p>
        </p:txBody>
      </p:sp>
      <p:pic>
        <p:nvPicPr>
          <p:cNvPr id="4" name="Content Placeholder 3" descr="Histogram and boxplot of the real and simulated phenotypes. Histogram... |  Download Scientific Diagram">
            <a:extLst>
              <a:ext uri="{FF2B5EF4-FFF2-40B4-BE49-F238E27FC236}">
                <a16:creationId xmlns:a16="http://schemas.microsoft.com/office/drawing/2014/main" id="{C92CE669-E7D8-CC71-2F02-87DF27AD960F}"/>
              </a:ext>
            </a:extLst>
          </p:cNvPr>
          <p:cNvPicPr>
            <a:picLocks noGrp="1" noChangeAspect="1"/>
          </p:cNvPicPr>
          <p:nvPr>
            <p:ph idx="1"/>
          </p:nvPr>
        </p:nvPicPr>
        <p:blipFill>
          <a:blip r:embed="rId3"/>
          <a:stretch>
            <a:fillRect/>
          </a:stretch>
        </p:blipFill>
        <p:spPr>
          <a:xfrm>
            <a:off x="1650204" y="1795619"/>
            <a:ext cx="8891591" cy="4179047"/>
          </a:xfrm>
          <a:prstGeom prst="rect">
            <a:avLst/>
          </a:prstGeom>
          <a:ln w="28575">
            <a:solidFill>
              <a:schemeClr val="accent6">
                <a:lumMod val="75000"/>
              </a:schemeClr>
            </a:solidFill>
          </a:ln>
        </p:spPr>
      </p:pic>
    </p:spTree>
    <p:extLst>
      <p:ext uri="{BB962C8B-B14F-4D97-AF65-F5344CB8AC3E}">
        <p14:creationId xmlns:p14="http://schemas.microsoft.com/office/powerpoint/2010/main" val="19736700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DC996-A3A0-929E-8AA6-10847E222D28}"/>
              </a:ext>
            </a:extLst>
          </p:cNvPr>
          <p:cNvSpPr>
            <a:spLocks noGrp="1"/>
          </p:cNvSpPr>
          <p:nvPr>
            <p:ph type="title"/>
          </p:nvPr>
        </p:nvSpPr>
        <p:spPr/>
        <p:txBody>
          <a:bodyPr>
            <a:normAutofit/>
          </a:bodyPr>
          <a:lstStyle/>
          <a:p>
            <a:r>
              <a:rPr lang="en-US" sz="5400" dirty="0"/>
              <a:t>Scatterplots &amp; Line Charts</a:t>
            </a:r>
          </a:p>
        </p:txBody>
      </p:sp>
      <p:pic>
        <p:nvPicPr>
          <p:cNvPr id="6" name="Picture 5">
            <a:extLst>
              <a:ext uri="{FF2B5EF4-FFF2-40B4-BE49-F238E27FC236}">
                <a16:creationId xmlns:a16="http://schemas.microsoft.com/office/drawing/2014/main" id="{E04914F5-1F10-0C7E-1FCF-9D0F881083F8}"/>
              </a:ext>
            </a:extLst>
          </p:cNvPr>
          <p:cNvPicPr>
            <a:picLocks noChangeAspect="1"/>
          </p:cNvPicPr>
          <p:nvPr/>
        </p:nvPicPr>
        <p:blipFill>
          <a:blip r:embed="rId3"/>
          <a:stretch>
            <a:fillRect/>
          </a:stretch>
        </p:blipFill>
        <p:spPr>
          <a:xfrm>
            <a:off x="593382" y="1978702"/>
            <a:ext cx="5490992" cy="4076923"/>
          </a:xfrm>
          <a:prstGeom prst="rect">
            <a:avLst/>
          </a:prstGeom>
          <a:ln w="28575">
            <a:solidFill>
              <a:schemeClr val="accent6">
                <a:lumMod val="75000"/>
              </a:schemeClr>
            </a:solidFill>
          </a:ln>
        </p:spPr>
      </p:pic>
      <p:pic>
        <p:nvPicPr>
          <p:cNvPr id="8" name="Picture 7">
            <a:extLst>
              <a:ext uri="{FF2B5EF4-FFF2-40B4-BE49-F238E27FC236}">
                <a16:creationId xmlns:a16="http://schemas.microsoft.com/office/drawing/2014/main" id="{94974536-95A3-A91E-0921-5A0E134DB6F8}"/>
              </a:ext>
            </a:extLst>
          </p:cNvPr>
          <p:cNvPicPr>
            <a:picLocks noChangeAspect="1"/>
          </p:cNvPicPr>
          <p:nvPr/>
        </p:nvPicPr>
        <p:blipFill>
          <a:blip r:embed="rId4"/>
          <a:stretch>
            <a:fillRect/>
          </a:stretch>
        </p:blipFill>
        <p:spPr>
          <a:xfrm>
            <a:off x="6404318" y="2353463"/>
            <a:ext cx="5194300" cy="3327400"/>
          </a:xfrm>
          <a:prstGeom prst="rect">
            <a:avLst/>
          </a:prstGeom>
          <a:ln w="28575">
            <a:solidFill>
              <a:schemeClr val="accent6">
                <a:lumMod val="75000"/>
              </a:schemeClr>
            </a:solidFill>
          </a:ln>
        </p:spPr>
      </p:pic>
    </p:spTree>
    <p:extLst>
      <p:ext uri="{BB962C8B-B14F-4D97-AF65-F5344CB8AC3E}">
        <p14:creationId xmlns:p14="http://schemas.microsoft.com/office/powerpoint/2010/main" val="26265461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8D650-CCB5-7F04-214F-CA808E818858}"/>
              </a:ext>
            </a:extLst>
          </p:cNvPr>
          <p:cNvSpPr>
            <a:spLocks noGrp="1"/>
          </p:cNvSpPr>
          <p:nvPr>
            <p:ph type="title"/>
          </p:nvPr>
        </p:nvSpPr>
        <p:spPr/>
        <p:txBody>
          <a:bodyPr>
            <a:normAutofit/>
          </a:bodyPr>
          <a:lstStyle/>
          <a:p>
            <a:r>
              <a:rPr lang="en-US" sz="5400" dirty="0"/>
              <a:t>Visualizing Outliers</a:t>
            </a:r>
          </a:p>
        </p:txBody>
      </p:sp>
      <p:pic>
        <p:nvPicPr>
          <p:cNvPr id="4" name="Picture 3" descr="8 methods to find outliers in R (with examples)">
            <a:extLst>
              <a:ext uri="{FF2B5EF4-FFF2-40B4-BE49-F238E27FC236}">
                <a16:creationId xmlns:a16="http://schemas.microsoft.com/office/drawing/2014/main" id="{632CB157-40EE-B0EB-24D2-AF950194E0D7}"/>
              </a:ext>
            </a:extLst>
          </p:cNvPr>
          <p:cNvPicPr>
            <a:picLocks noChangeAspect="1"/>
          </p:cNvPicPr>
          <p:nvPr/>
        </p:nvPicPr>
        <p:blipFill>
          <a:blip r:embed="rId3"/>
          <a:stretch>
            <a:fillRect/>
          </a:stretch>
        </p:blipFill>
        <p:spPr>
          <a:xfrm>
            <a:off x="1488777" y="1990516"/>
            <a:ext cx="9214445" cy="4092928"/>
          </a:xfrm>
          <a:prstGeom prst="rect">
            <a:avLst/>
          </a:prstGeom>
          <a:ln w="28575">
            <a:solidFill>
              <a:schemeClr val="accent6">
                <a:lumMod val="75000"/>
              </a:schemeClr>
            </a:solidFill>
          </a:ln>
        </p:spPr>
      </p:pic>
    </p:spTree>
    <p:extLst>
      <p:ext uri="{BB962C8B-B14F-4D97-AF65-F5344CB8AC3E}">
        <p14:creationId xmlns:p14="http://schemas.microsoft.com/office/powerpoint/2010/main" val="12257100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59749-F71C-CAE4-3F09-799D230C2333}"/>
              </a:ext>
            </a:extLst>
          </p:cNvPr>
          <p:cNvSpPr>
            <a:spLocks noGrp="1"/>
          </p:cNvSpPr>
          <p:nvPr>
            <p:ph type="title"/>
          </p:nvPr>
        </p:nvSpPr>
        <p:spPr/>
        <p:txBody>
          <a:bodyPr>
            <a:normAutofit/>
          </a:bodyPr>
          <a:lstStyle/>
          <a:p>
            <a:r>
              <a:rPr lang="en-US" sz="5400" dirty="0"/>
              <a:t>Visualizing Ecological Data</a:t>
            </a:r>
          </a:p>
        </p:txBody>
      </p:sp>
      <p:sp>
        <p:nvSpPr>
          <p:cNvPr id="3" name="Content Placeholder 2">
            <a:extLst>
              <a:ext uri="{FF2B5EF4-FFF2-40B4-BE49-F238E27FC236}">
                <a16:creationId xmlns:a16="http://schemas.microsoft.com/office/drawing/2014/main" id="{10649907-4E30-716F-3EEC-CFEC615DF42E}"/>
              </a:ext>
            </a:extLst>
          </p:cNvPr>
          <p:cNvSpPr>
            <a:spLocks noGrp="1"/>
          </p:cNvSpPr>
          <p:nvPr>
            <p:ph idx="1"/>
          </p:nvPr>
        </p:nvSpPr>
        <p:spPr>
          <a:xfrm>
            <a:off x="838200" y="1825625"/>
            <a:ext cx="6611911" cy="4351338"/>
          </a:xfrm>
        </p:spPr>
        <p:txBody>
          <a:bodyPr>
            <a:normAutofit fontScale="85000" lnSpcReduction="20000"/>
          </a:bodyPr>
          <a:lstStyle/>
          <a:p>
            <a:r>
              <a:rPr lang="en-US" b="1" dirty="0"/>
              <a:t>Spatial Data Visualization: </a:t>
            </a:r>
            <a:r>
              <a:rPr lang="en-US" dirty="0"/>
              <a:t>Creating maps and spatial distributions using techniques such as choropleth maps and point maps enhances the understanding of ecological data across geographical areas.</a:t>
            </a:r>
          </a:p>
          <a:p>
            <a:r>
              <a:rPr lang="en-US" b="1" dirty="0"/>
              <a:t>Temporal Data Visualization: </a:t>
            </a:r>
            <a:r>
              <a:rPr lang="en-US" dirty="0"/>
              <a:t>Plotting time series data, for instance, using line charts and time series analysis, allows for the examination of trends and changes over time in ecological metrics.</a:t>
            </a:r>
          </a:p>
          <a:p>
            <a:r>
              <a:rPr lang="en-US" b="1" dirty="0"/>
              <a:t>Multivariate Data Visualization: </a:t>
            </a:r>
            <a:r>
              <a:rPr lang="en-US" dirty="0"/>
              <a:t>Representing multiple variables simultaneously through techniques like parallel coordinate plots and scatterplot matrices provides insights into complex ecological relationships.</a:t>
            </a:r>
          </a:p>
        </p:txBody>
      </p:sp>
      <p:pic>
        <p:nvPicPr>
          <p:cNvPr id="4" name="Picture 3">
            <a:extLst>
              <a:ext uri="{FF2B5EF4-FFF2-40B4-BE49-F238E27FC236}">
                <a16:creationId xmlns:a16="http://schemas.microsoft.com/office/drawing/2014/main" id="{3B4D042A-0439-F6F5-AD56-BCED58A778BA}"/>
              </a:ext>
            </a:extLst>
          </p:cNvPr>
          <p:cNvPicPr>
            <a:picLocks noChangeAspect="1"/>
          </p:cNvPicPr>
          <p:nvPr/>
        </p:nvPicPr>
        <p:blipFill>
          <a:blip r:embed="rId2"/>
          <a:stretch>
            <a:fillRect/>
          </a:stretch>
        </p:blipFill>
        <p:spPr>
          <a:xfrm>
            <a:off x="8291782" y="1480825"/>
            <a:ext cx="3062018" cy="1531009"/>
          </a:xfrm>
          <a:prstGeom prst="rect">
            <a:avLst/>
          </a:prstGeom>
          <a:ln w="28575">
            <a:solidFill>
              <a:schemeClr val="accent6">
                <a:lumMod val="75000"/>
              </a:schemeClr>
            </a:solidFill>
          </a:ln>
        </p:spPr>
      </p:pic>
      <p:pic>
        <p:nvPicPr>
          <p:cNvPr id="8" name="Picture 7">
            <a:extLst>
              <a:ext uri="{FF2B5EF4-FFF2-40B4-BE49-F238E27FC236}">
                <a16:creationId xmlns:a16="http://schemas.microsoft.com/office/drawing/2014/main" id="{16860F22-CF10-82B3-065F-56C2AF9847FE}"/>
              </a:ext>
            </a:extLst>
          </p:cNvPr>
          <p:cNvPicPr>
            <a:picLocks noChangeAspect="1"/>
          </p:cNvPicPr>
          <p:nvPr/>
        </p:nvPicPr>
        <p:blipFill>
          <a:blip r:embed="rId3"/>
          <a:stretch>
            <a:fillRect/>
          </a:stretch>
        </p:blipFill>
        <p:spPr>
          <a:xfrm>
            <a:off x="7988924" y="3124200"/>
            <a:ext cx="3553501" cy="3553501"/>
          </a:xfrm>
          <a:prstGeom prst="rect">
            <a:avLst/>
          </a:prstGeom>
        </p:spPr>
      </p:pic>
    </p:spTree>
    <p:extLst>
      <p:ext uri="{BB962C8B-B14F-4D97-AF65-F5344CB8AC3E}">
        <p14:creationId xmlns:p14="http://schemas.microsoft.com/office/powerpoint/2010/main" val="35775603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F6078-CF04-BC34-D04F-BC3BA0940FF3}"/>
              </a:ext>
            </a:extLst>
          </p:cNvPr>
          <p:cNvSpPr>
            <a:spLocks noGrp="1"/>
          </p:cNvSpPr>
          <p:nvPr>
            <p:ph type="title"/>
          </p:nvPr>
        </p:nvSpPr>
        <p:spPr/>
        <p:txBody>
          <a:bodyPr>
            <a:normAutofit/>
          </a:bodyPr>
          <a:lstStyle/>
          <a:p>
            <a:r>
              <a:rPr lang="en-US" sz="5400" dirty="0"/>
              <a:t>Choosing Visualization Techniques</a:t>
            </a:r>
          </a:p>
        </p:txBody>
      </p:sp>
      <p:sp>
        <p:nvSpPr>
          <p:cNvPr id="3" name="Content Placeholder 2">
            <a:extLst>
              <a:ext uri="{FF2B5EF4-FFF2-40B4-BE49-F238E27FC236}">
                <a16:creationId xmlns:a16="http://schemas.microsoft.com/office/drawing/2014/main" id="{58D04F0F-DC95-4ED0-4E41-FB2F27E80534}"/>
              </a:ext>
            </a:extLst>
          </p:cNvPr>
          <p:cNvSpPr>
            <a:spLocks noGrp="1"/>
          </p:cNvSpPr>
          <p:nvPr>
            <p:ph idx="1"/>
          </p:nvPr>
        </p:nvSpPr>
        <p:spPr/>
        <p:txBody>
          <a:bodyPr>
            <a:normAutofit/>
          </a:bodyPr>
          <a:lstStyle/>
          <a:p>
            <a:r>
              <a:rPr lang="en-US" b="1" dirty="0"/>
              <a:t>Data Type Consideration: </a:t>
            </a:r>
            <a:r>
              <a:rPr lang="en-US" dirty="0"/>
              <a:t>Choosing the right visualization technique begins with understanding the data type. Common types include categorical, numerical, spatial, and temporal data, each requiring specific visualization approaches.</a:t>
            </a:r>
          </a:p>
          <a:p>
            <a:r>
              <a:rPr lang="en-US" b="1" dirty="0"/>
              <a:t>Research Question Alignment: </a:t>
            </a:r>
            <a:r>
              <a:rPr lang="en-US" dirty="0"/>
              <a:t>The visualization must align with the research question. Determine what insights are needed and select techniques that effectively communicate those insights.</a:t>
            </a:r>
          </a:p>
          <a:p>
            <a:r>
              <a:rPr lang="en-US" b="1" dirty="0"/>
              <a:t>Clarity and Effectiveness: </a:t>
            </a:r>
            <a:r>
              <a:rPr lang="en-US" dirty="0"/>
              <a:t>Emphasize clarity and effectiveness in visualizations. Use appropriate scales, labels, and legends.</a:t>
            </a:r>
          </a:p>
        </p:txBody>
      </p:sp>
    </p:spTree>
    <p:extLst>
      <p:ext uri="{BB962C8B-B14F-4D97-AF65-F5344CB8AC3E}">
        <p14:creationId xmlns:p14="http://schemas.microsoft.com/office/powerpoint/2010/main" val="1267086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C710EE-E6DE-81F0-FBA7-C4EE372FAD97}"/>
              </a:ext>
            </a:extLst>
          </p:cNvPr>
          <p:cNvSpPr>
            <a:spLocks noGrp="1"/>
          </p:cNvSpPr>
          <p:nvPr>
            <p:ph type="title"/>
          </p:nvPr>
        </p:nvSpPr>
        <p:spPr/>
        <p:txBody>
          <a:bodyPr>
            <a:normAutofit fontScale="90000"/>
          </a:bodyPr>
          <a:lstStyle/>
          <a:p>
            <a:r>
              <a:rPr lang="en-US" sz="6000" dirty="0"/>
              <a:t>Try it Yourself!</a:t>
            </a:r>
          </a:p>
        </p:txBody>
      </p:sp>
      <p:sp>
        <p:nvSpPr>
          <p:cNvPr id="6" name="Text Placeholder 5">
            <a:extLst>
              <a:ext uri="{FF2B5EF4-FFF2-40B4-BE49-F238E27FC236}">
                <a16:creationId xmlns:a16="http://schemas.microsoft.com/office/drawing/2014/main" id="{CC374A0E-7E58-26A2-6037-8E12920F5146}"/>
              </a:ext>
            </a:extLst>
          </p:cNvPr>
          <p:cNvSpPr>
            <a:spLocks noGrp="1"/>
          </p:cNvSpPr>
          <p:nvPr>
            <p:ph type="body" sz="half" idx="2"/>
          </p:nvPr>
        </p:nvSpPr>
        <p:spPr/>
        <p:txBody>
          <a:bodyPr>
            <a:normAutofit/>
          </a:bodyPr>
          <a:lstStyle/>
          <a:p>
            <a:r>
              <a:rPr lang="en-US" sz="2800" dirty="0"/>
              <a:t>Four groups, four different scenarios. Not necessarily any right or wrong answers! </a:t>
            </a:r>
          </a:p>
        </p:txBody>
      </p:sp>
      <p:pic>
        <p:nvPicPr>
          <p:cNvPr id="12" name="Picture 11">
            <a:extLst>
              <a:ext uri="{FF2B5EF4-FFF2-40B4-BE49-F238E27FC236}">
                <a16:creationId xmlns:a16="http://schemas.microsoft.com/office/drawing/2014/main" id="{4A1F3D2B-CA19-F1A4-1352-B6A6E8FA202B}"/>
              </a:ext>
            </a:extLst>
          </p:cNvPr>
          <p:cNvPicPr>
            <a:picLocks noChangeAspect="1"/>
          </p:cNvPicPr>
          <p:nvPr/>
        </p:nvPicPr>
        <p:blipFill>
          <a:blip r:embed="rId2"/>
          <a:stretch>
            <a:fillRect/>
          </a:stretch>
        </p:blipFill>
        <p:spPr>
          <a:xfrm>
            <a:off x="6287655" y="1909618"/>
            <a:ext cx="4200236" cy="4468336"/>
          </a:xfrm>
          <a:prstGeom prst="rect">
            <a:avLst/>
          </a:prstGeom>
        </p:spPr>
      </p:pic>
      <p:pic>
        <p:nvPicPr>
          <p:cNvPr id="14" name="Picture 13">
            <a:extLst>
              <a:ext uri="{FF2B5EF4-FFF2-40B4-BE49-F238E27FC236}">
                <a16:creationId xmlns:a16="http://schemas.microsoft.com/office/drawing/2014/main" id="{3865B2E6-CE6F-F672-7B44-7C487F125575}"/>
              </a:ext>
            </a:extLst>
          </p:cNvPr>
          <p:cNvPicPr>
            <a:picLocks noChangeAspect="1"/>
          </p:cNvPicPr>
          <p:nvPr/>
        </p:nvPicPr>
        <p:blipFill>
          <a:blip r:embed="rId3"/>
          <a:stretch>
            <a:fillRect/>
          </a:stretch>
        </p:blipFill>
        <p:spPr>
          <a:xfrm rot="8439708">
            <a:off x="4988128" y="313460"/>
            <a:ext cx="2540000" cy="2184400"/>
          </a:xfrm>
          <a:prstGeom prst="rect">
            <a:avLst/>
          </a:prstGeom>
        </p:spPr>
      </p:pic>
      <p:pic>
        <p:nvPicPr>
          <p:cNvPr id="16" name="Picture 15">
            <a:extLst>
              <a:ext uri="{FF2B5EF4-FFF2-40B4-BE49-F238E27FC236}">
                <a16:creationId xmlns:a16="http://schemas.microsoft.com/office/drawing/2014/main" id="{AE277897-EDB8-716A-0A50-A2E78CCB5BC4}"/>
              </a:ext>
            </a:extLst>
          </p:cNvPr>
          <p:cNvPicPr>
            <a:picLocks noChangeAspect="1"/>
          </p:cNvPicPr>
          <p:nvPr/>
        </p:nvPicPr>
        <p:blipFill>
          <a:blip r:embed="rId4"/>
          <a:stretch>
            <a:fillRect/>
          </a:stretch>
        </p:blipFill>
        <p:spPr>
          <a:xfrm>
            <a:off x="9057959" y="292100"/>
            <a:ext cx="2540000" cy="2527300"/>
          </a:xfrm>
          <a:prstGeom prst="rect">
            <a:avLst/>
          </a:prstGeom>
        </p:spPr>
      </p:pic>
    </p:spTree>
    <p:extLst>
      <p:ext uri="{BB962C8B-B14F-4D97-AF65-F5344CB8AC3E}">
        <p14:creationId xmlns:p14="http://schemas.microsoft.com/office/powerpoint/2010/main" val="3767660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4820</TotalTime>
  <Words>4532</Words>
  <Application>Microsoft Macintosh PowerPoint</Application>
  <PresentationFormat>Widescreen</PresentationFormat>
  <Paragraphs>366</Paragraphs>
  <Slides>52</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Aptos</vt:lpstr>
      <vt:lpstr>Aptos Display</vt:lpstr>
      <vt:lpstr>Arial</vt:lpstr>
      <vt:lpstr>Office Theme</vt:lpstr>
      <vt:lpstr>Ecological Experiments: Design and Implementation</vt:lpstr>
      <vt:lpstr>Introduction to Ecological Experimental Design</vt:lpstr>
      <vt:lpstr>Research Questions and Hypotheses</vt:lpstr>
      <vt:lpstr>Research Questions and Hypotheses: Example</vt:lpstr>
      <vt:lpstr>Types of Ecological Experiments</vt:lpstr>
      <vt:lpstr>Types of Ecological Experiments</vt:lpstr>
      <vt:lpstr>Types of Ecological Experiments</vt:lpstr>
      <vt:lpstr>Explanatory vs. Response</vt:lpstr>
      <vt:lpstr>Factors and Treatments</vt:lpstr>
      <vt:lpstr>Controls and Control Treatments</vt:lpstr>
      <vt:lpstr>Experimental Units and Sampling Design</vt:lpstr>
      <vt:lpstr>Randomization and Blocking</vt:lpstr>
      <vt:lpstr>Example: Crop Yield Experiment</vt:lpstr>
      <vt:lpstr>Understanding CRD vs. RBD</vt:lpstr>
      <vt:lpstr>Understanding Factorial Designs</vt:lpstr>
      <vt:lpstr>Factorial Treatments &amp; Interactions</vt:lpstr>
      <vt:lpstr>Balance</vt:lpstr>
      <vt:lpstr>Replication and Sample Size</vt:lpstr>
      <vt:lpstr>Temporal and Spatial Considerations</vt:lpstr>
      <vt:lpstr>Dealing with Environmental Variability</vt:lpstr>
      <vt:lpstr>Data Collection Methods</vt:lpstr>
      <vt:lpstr>Statistical Considerations</vt:lpstr>
      <vt:lpstr>Recall: Power</vt:lpstr>
      <vt:lpstr>Power Analysis</vt:lpstr>
      <vt:lpstr>Case Studies in Ecological Experimentation</vt:lpstr>
      <vt:lpstr>Case Studies in Ecological Experimentation</vt:lpstr>
      <vt:lpstr>Case Studies in Ecological Experimentation</vt:lpstr>
      <vt:lpstr>Common Pitfalls and Best Practices</vt:lpstr>
      <vt:lpstr>Introduction to Ecological Sampling</vt:lpstr>
      <vt:lpstr>Why Sampling is Essential</vt:lpstr>
      <vt:lpstr>Random Sampling</vt:lpstr>
      <vt:lpstr>Systematic Sampling</vt:lpstr>
      <vt:lpstr>Stratified Sampling</vt:lpstr>
      <vt:lpstr>Transect Sampling Method</vt:lpstr>
      <vt:lpstr>Quadrat Sampling Method</vt:lpstr>
      <vt:lpstr>Considerations for Effective Sampling</vt:lpstr>
      <vt:lpstr>Case Study: Sampling Coral Reefs</vt:lpstr>
      <vt:lpstr>Case Study: Stratified Sampling in Rainforests</vt:lpstr>
      <vt:lpstr>Organizing and Visualizing Ecological Data</vt:lpstr>
      <vt:lpstr>Data Cleaning and Preparation</vt:lpstr>
      <vt:lpstr>Data Imputation</vt:lpstr>
      <vt:lpstr>Organizing and Managing Data</vt:lpstr>
      <vt:lpstr>Data Frames &amp; Databases</vt:lpstr>
      <vt:lpstr>Metadata</vt:lpstr>
      <vt:lpstr>Exploratory Data Analysis (EDA) Techniques</vt:lpstr>
      <vt:lpstr>Exploratory Data Analysis (EDA) Techniques</vt:lpstr>
      <vt:lpstr>Histograms &amp; Boxplots</vt:lpstr>
      <vt:lpstr>Scatterplots &amp; Line Charts</vt:lpstr>
      <vt:lpstr>Visualizing Outliers</vt:lpstr>
      <vt:lpstr>Visualizing Ecological Data</vt:lpstr>
      <vt:lpstr>Choosing Visualization Techniques</vt:lpstr>
      <vt:lpstr>Try it Yourself!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Mothersole</dc:creator>
  <cp:lastModifiedBy>Anna Mothersole</cp:lastModifiedBy>
  <cp:revision>14</cp:revision>
  <dcterms:created xsi:type="dcterms:W3CDTF">2026-09-06T17:38:04Z</dcterms:created>
  <dcterms:modified xsi:type="dcterms:W3CDTF">2026-09-11T19:21:53Z</dcterms:modified>
</cp:coreProperties>
</file>