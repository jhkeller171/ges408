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0" r:id="rId5"/>
    <p:sldId id="274" r:id="rId6"/>
    <p:sldId id="259" r:id="rId7"/>
    <p:sldId id="271" r:id="rId8"/>
    <p:sldId id="260" r:id="rId9"/>
    <p:sldId id="261" r:id="rId10"/>
    <p:sldId id="272" r:id="rId11"/>
    <p:sldId id="277" r:id="rId12"/>
    <p:sldId id="273" r:id="rId13"/>
    <p:sldId id="262" r:id="rId14"/>
    <p:sldId id="263" r:id="rId15"/>
    <p:sldId id="267" r:id="rId16"/>
    <p:sldId id="264" r:id="rId17"/>
    <p:sldId id="265" r:id="rId18"/>
    <p:sldId id="278" r:id="rId19"/>
    <p:sldId id="279" r:id="rId20"/>
    <p:sldId id="268" r:id="rId21"/>
    <p:sldId id="275" r:id="rId22"/>
    <p:sldId id="266" r:id="rId23"/>
    <p:sldId id="276" r:id="rId24"/>
    <p:sldId id="26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F4B2"/>
    <a:srgbClr val="D9FF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79"/>
    <p:restoredTop sz="70184"/>
  </p:normalViewPr>
  <p:slideViewPr>
    <p:cSldViewPr snapToGrid="0">
      <p:cViewPr varScale="1">
        <p:scale>
          <a:sx n="84" d="100"/>
          <a:sy n="84" d="100"/>
        </p:scale>
        <p:origin x="1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146CB-4492-A24F-9C1A-1D88117B8992}" type="datetimeFigureOut">
              <a:rPr lang="en-US" smtClean="0"/>
              <a:t>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B8732-48DF-8346-B503-0A17D0129231}" type="slidenum">
              <a:rPr lang="en-US" smtClean="0"/>
              <a:t>‹#›</a:t>
            </a:fld>
            <a:endParaRPr lang="en-US"/>
          </a:p>
        </p:txBody>
      </p:sp>
    </p:spTree>
    <p:extLst>
      <p:ext uri="{BB962C8B-B14F-4D97-AF65-F5344CB8AC3E}">
        <p14:creationId xmlns:p14="http://schemas.microsoft.com/office/powerpoint/2010/main" val="3198350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meet each other! It’s a small class, take a couple of minutes and have everyone introduce themselves (name)</a:t>
            </a:r>
          </a:p>
        </p:txBody>
      </p:sp>
      <p:sp>
        <p:nvSpPr>
          <p:cNvPr id="4" name="Slide Number Placeholder 3"/>
          <p:cNvSpPr>
            <a:spLocks noGrp="1"/>
          </p:cNvSpPr>
          <p:nvPr>
            <p:ph type="sldNum" sz="quarter" idx="5"/>
          </p:nvPr>
        </p:nvSpPr>
        <p:spPr/>
        <p:txBody>
          <a:bodyPr/>
          <a:lstStyle/>
          <a:p>
            <a:fld id="{7B7B8732-48DF-8346-B503-0A17D0129231}" type="slidenum">
              <a:rPr lang="en-US" smtClean="0"/>
              <a:t>2</a:t>
            </a:fld>
            <a:endParaRPr lang="en-US"/>
          </a:p>
        </p:txBody>
      </p:sp>
    </p:spTree>
    <p:extLst>
      <p:ext uri="{BB962C8B-B14F-4D97-AF65-F5344CB8AC3E}">
        <p14:creationId xmlns:p14="http://schemas.microsoft.com/office/powerpoint/2010/main" val="186741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office hours are 2:15-3 on Tuesdays after class, or you can make an appointment with me!</a:t>
            </a:r>
          </a:p>
          <a:p>
            <a:r>
              <a:rPr lang="en-US" dirty="0"/>
              <a:t>Assignments – I will be as clear as possible about when assignments are due, with verbal and written reminders. It is your responsibility to turn things in on time. If something comes up, please endeavor to email me before rather than after something is due. </a:t>
            </a:r>
          </a:p>
          <a:p>
            <a:r>
              <a:rPr lang="en-US" dirty="0"/>
              <a:t>Take a look at the grading schema together</a:t>
            </a:r>
          </a:p>
          <a:p>
            <a:r>
              <a:rPr lang="en-US" dirty="0"/>
              <a:t>Please read the AI statement in the syllabus!!! TLDR, you can use it for some things, but not others. Do not copy and paste directly from AI into work that you submit, and do not use it to interpret the results of a study. AI is a tool, and should be used accordingly – it’s there to help you, not to do things for you. If you use AI in any way on an assignment, please add a statement saying what you used it for. </a:t>
            </a:r>
          </a:p>
          <a:p>
            <a:r>
              <a:rPr lang="en-US" dirty="0"/>
              <a:t>You are expected to attend all of the lecture and lab sections of this course, unless I tell you otherwise! If I have to cancel class I will let you know ASAP, or if there are optional attendance days I will let you know about those as well. Otherwise, you’re expected to be here. If you miss more than half of class meetings, you cannot pass. </a:t>
            </a:r>
          </a:p>
          <a:p>
            <a:endParaRPr lang="en-US" dirty="0"/>
          </a:p>
          <a:p>
            <a:r>
              <a:rPr lang="en-US" dirty="0"/>
              <a:t>Pause for questions</a:t>
            </a:r>
          </a:p>
        </p:txBody>
      </p:sp>
      <p:sp>
        <p:nvSpPr>
          <p:cNvPr id="4" name="Slide Number Placeholder 3"/>
          <p:cNvSpPr>
            <a:spLocks noGrp="1"/>
          </p:cNvSpPr>
          <p:nvPr>
            <p:ph type="sldNum" sz="quarter" idx="5"/>
          </p:nvPr>
        </p:nvSpPr>
        <p:spPr/>
        <p:txBody>
          <a:bodyPr/>
          <a:lstStyle/>
          <a:p>
            <a:fld id="{7B7B8732-48DF-8346-B503-0A17D0129231}" type="slidenum">
              <a:rPr lang="en-US" smtClean="0"/>
              <a:t>3</a:t>
            </a:fld>
            <a:endParaRPr lang="en-US"/>
          </a:p>
        </p:txBody>
      </p:sp>
    </p:spTree>
    <p:extLst>
      <p:ext uri="{BB962C8B-B14F-4D97-AF65-F5344CB8AC3E}">
        <p14:creationId xmlns:p14="http://schemas.microsoft.com/office/powerpoint/2010/main" val="2497754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discuss with neighbors ~ 2 min, have a couple groups share out</a:t>
            </a:r>
          </a:p>
        </p:txBody>
      </p:sp>
      <p:sp>
        <p:nvSpPr>
          <p:cNvPr id="4" name="Slide Number Placeholder 3"/>
          <p:cNvSpPr>
            <a:spLocks noGrp="1"/>
          </p:cNvSpPr>
          <p:nvPr>
            <p:ph type="sldNum" sz="quarter" idx="5"/>
          </p:nvPr>
        </p:nvSpPr>
        <p:spPr/>
        <p:txBody>
          <a:bodyPr/>
          <a:lstStyle/>
          <a:p>
            <a:fld id="{7B7B8732-48DF-8346-B503-0A17D0129231}" type="slidenum">
              <a:rPr lang="en-US" smtClean="0"/>
              <a:t>6</a:t>
            </a:fld>
            <a:endParaRPr lang="en-US"/>
          </a:p>
        </p:txBody>
      </p:sp>
    </p:spTree>
    <p:extLst>
      <p:ext uri="{BB962C8B-B14F-4D97-AF65-F5344CB8AC3E}">
        <p14:creationId xmlns:p14="http://schemas.microsoft.com/office/powerpoint/2010/main" val="3248255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Table from Lehman, </a:t>
            </a:r>
            <a:r>
              <a:rPr lang="en-US" dirty="0" err="1"/>
              <a:t>Loburg</a:t>
            </a:r>
            <a:r>
              <a:rPr lang="en-US" dirty="0"/>
              <a:t>, and Clark 2019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Haeckel coined ecology and did a lot of good work on invertebrate anatomy but was also super racist</a:t>
            </a:r>
          </a:p>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7</a:t>
            </a:fld>
            <a:endParaRPr lang="en-US"/>
          </a:p>
        </p:txBody>
      </p:sp>
    </p:spTree>
    <p:extLst>
      <p:ext uri="{BB962C8B-B14F-4D97-AF65-F5344CB8AC3E}">
        <p14:creationId xmlns:p14="http://schemas.microsoft.com/office/powerpoint/2010/main" val="2678498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Some what questions: (ASK)</a:t>
            </a:r>
          </a:p>
          <a:p>
            <a:pPr marL="171450" indent="-171450">
              <a:buFontTx/>
              <a:buChar char="-"/>
            </a:pPr>
            <a:r>
              <a:rPr lang="en-US" dirty="0"/>
              <a:t>What are the different kinds of trees in the forest?</a:t>
            </a:r>
          </a:p>
          <a:p>
            <a:pPr marL="171450" indent="-171450">
              <a:buFontTx/>
              <a:buChar char="-"/>
            </a:pPr>
            <a:r>
              <a:rPr lang="en-US" dirty="0"/>
              <a:t>What does the raccoon eat?</a:t>
            </a:r>
          </a:p>
          <a:p>
            <a:pPr marL="171450" indent="-171450">
              <a:buFontTx/>
              <a:buChar char="-"/>
            </a:pPr>
            <a:r>
              <a:rPr lang="en-US" dirty="0"/>
              <a:t>What are the times of year when a plant produces fruit?</a:t>
            </a:r>
          </a:p>
          <a:p>
            <a:pPr marL="171450" indent="-171450">
              <a:buFontTx/>
              <a:buChar char="-"/>
            </a:pPr>
            <a:r>
              <a:rPr lang="en-US" dirty="0"/>
              <a:t>Some how questions: (ASK)</a:t>
            </a:r>
          </a:p>
          <a:p>
            <a:pPr marL="171450" indent="-171450">
              <a:buFontTx/>
              <a:buChar char="-"/>
            </a:pPr>
            <a:r>
              <a:rPr lang="en-US" dirty="0"/>
              <a:t>How do the leaves of oak trees turn color in the fall?</a:t>
            </a:r>
          </a:p>
          <a:p>
            <a:pPr marL="628650" lvl="1" indent="-171450">
              <a:buFontTx/>
              <a:buChar char="-"/>
            </a:pPr>
            <a:r>
              <a:rPr lang="en-US" dirty="0"/>
              <a:t>Physiological mechanisms</a:t>
            </a:r>
          </a:p>
          <a:p>
            <a:pPr marL="171450" lvl="0" indent="-171450">
              <a:buFontTx/>
              <a:buChar char="-"/>
            </a:pPr>
            <a:r>
              <a:rPr lang="en-US" dirty="0"/>
              <a:t>How does the female wolf spider choose a mate?</a:t>
            </a:r>
          </a:p>
          <a:p>
            <a:pPr marL="628650" lvl="1" indent="-171450">
              <a:buFontTx/>
              <a:buChar char="-"/>
            </a:pPr>
            <a:r>
              <a:rPr lang="en-US" dirty="0"/>
              <a:t>Ask about male-female communication</a:t>
            </a:r>
          </a:p>
        </p:txBody>
      </p:sp>
      <p:sp>
        <p:nvSpPr>
          <p:cNvPr id="4" name="Slide Number Placeholder 3"/>
          <p:cNvSpPr>
            <a:spLocks noGrp="1"/>
          </p:cNvSpPr>
          <p:nvPr>
            <p:ph type="sldNum" sz="quarter" idx="5"/>
          </p:nvPr>
        </p:nvSpPr>
        <p:spPr/>
        <p:txBody>
          <a:bodyPr/>
          <a:lstStyle/>
          <a:p>
            <a:fld id="{7B7B8732-48DF-8346-B503-0A17D0129231}" type="slidenum">
              <a:rPr lang="en-US" smtClean="0"/>
              <a:t>8</a:t>
            </a:fld>
            <a:endParaRPr lang="en-US"/>
          </a:p>
        </p:txBody>
      </p:sp>
    </p:spTree>
    <p:extLst>
      <p:ext uri="{BB962C8B-B14F-4D97-AF65-F5344CB8AC3E}">
        <p14:creationId xmlns:p14="http://schemas.microsoft.com/office/powerpoint/2010/main" val="2049684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second bullet:</a:t>
            </a:r>
          </a:p>
          <a:p>
            <a:pPr marL="171450" indent="-171450">
              <a:buFont typeface="Arial" panose="020B0604020202020204" pitchFamily="34" charset="0"/>
              <a:buChar char="•"/>
            </a:pPr>
            <a:r>
              <a:rPr lang="en-US" dirty="0"/>
              <a:t>Do all trees do the same thing, at the same rate?</a:t>
            </a:r>
          </a:p>
          <a:p>
            <a:pPr marL="171450" indent="-171450">
              <a:buFont typeface="Arial" panose="020B0604020202020204" pitchFamily="34" charset="0"/>
              <a:buChar char="•"/>
            </a:pPr>
            <a:r>
              <a:rPr lang="en-US" dirty="0"/>
              <a:t>Why does a spider place its web in a certain location over another?</a:t>
            </a:r>
          </a:p>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9</a:t>
            </a:fld>
            <a:endParaRPr lang="en-US"/>
          </a:p>
        </p:txBody>
      </p:sp>
    </p:spTree>
    <p:extLst>
      <p:ext uri="{BB962C8B-B14F-4D97-AF65-F5344CB8AC3E}">
        <p14:creationId xmlns:p14="http://schemas.microsoft.com/office/powerpoint/2010/main" val="3218394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Empirically observed patterns often precede causative principles that generated that pattern</a:t>
            </a:r>
          </a:p>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10</a:t>
            </a:fld>
            <a:endParaRPr lang="en-US"/>
          </a:p>
        </p:txBody>
      </p:sp>
    </p:spTree>
    <p:extLst>
      <p:ext uri="{BB962C8B-B14F-4D97-AF65-F5344CB8AC3E}">
        <p14:creationId xmlns:p14="http://schemas.microsoft.com/office/powerpoint/2010/main" val="454837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something to think about while you’re asking questions</a:t>
            </a:r>
          </a:p>
        </p:txBody>
      </p:sp>
      <p:sp>
        <p:nvSpPr>
          <p:cNvPr id="4" name="Slide Number Placeholder 3"/>
          <p:cNvSpPr>
            <a:spLocks noGrp="1"/>
          </p:cNvSpPr>
          <p:nvPr>
            <p:ph type="sldNum" sz="quarter" idx="5"/>
          </p:nvPr>
        </p:nvSpPr>
        <p:spPr/>
        <p:txBody>
          <a:bodyPr/>
          <a:lstStyle/>
          <a:p>
            <a:fld id="{7B7B8732-48DF-8346-B503-0A17D0129231}" type="slidenum">
              <a:rPr lang="en-US" smtClean="0"/>
              <a:t>12</a:t>
            </a:fld>
            <a:endParaRPr lang="en-US"/>
          </a:p>
        </p:txBody>
      </p:sp>
    </p:spTree>
    <p:extLst>
      <p:ext uri="{BB962C8B-B14F-4D97-AF65-F5344CB8AC3E}">
        <p14:creationId xmlns:p14="http://schemas.microsoft.com/office/powerpoint/2010/main" val="20194159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Organisms modify ecosystems via disturbance, post-herbivory sometimes nitrogen in the soil can decrease but burrowing can increase soil nitrogen – grizzly digging could affect soil nitrogen and plant revegetation. Bears regularly dig for glacier lily bulbs!</a:t>
            </a:r>
          </a:p>
          <a:p>
            <a:pPr marL="228600" indent="-228600">
              <a:buAutoNum type="arabicPeriod"/>
            </a:pPr>
            <a:r>
              <a:rPr lang="en-US" dirty="0"/>
              <a:t>Explicitly stated in abstract (overall) and at the end of the introduction (specific predictions) </a:t>
            </a:r>
          </a:p>
          <a:p>
            <a:pPr marL="228600" indent="-228600">
              <a:buAutoNum type="arabicPeriod"/>
            </a:pPr>
            <a:r>
              <a:rPr lang="en-US" dirty="0"/>
              <a:t>Had 3 separate meadows, mapped where bear digs were. Used ion exchange resin bags to determine soil nitrogen, randomly collected lily bulbs, counted seeds, </a:t>
            </a:r>
          </a:p>
          <a:p>
            <a:pPr marL="228600" indent="-228600">
              <a:buAutoNum type="arabicPeriod"/>
            </a:pPr>
            <a:r>
              <a:rPr lang="en-US" dirty="0"/>
              <a:t>Undisturbed meadow around the digs, did their experimental dig (ion exchange bags placed in future disturbed and undisturbed areas first, then disturbed and tested again the same way)</a:t>
            </a:r>
          </a:p>
          <a:p>
            <a:pPr marL="228600" indent="-228600">
              <a:buAutoNum type="arabicPeriod"/>
            </a:pPr>
            <a:r>
              <a:rPr lang="en-US" dirty="0"/>
              <a:t>Digs had more soil nitrogen, glacier lilies in digs had more nitrogen, digs had more seeds, and experimental digs also had more soil nitrogen</a:t>
            </a:r>
          </a:p>
          <a:p>
            <a:pPr marL="228600" indent="-228600">
              <a:buAutoNum type="arabicPeriod"/>
            </a:pPr>
            <a:r>
              <a:rPr lang="en-US" dirty="0"/>
              <a:t>Cross site comparisons to meadows without any bear digs to see if they house plant species with higher </a:t>
            </a:r>
            <a:r>
              <a:rPr lang="en-US" dirty="0" err="1"/>
              <a:t>c/n</a:t>
            </a:r>
            <a:r>
              <a:rPr lang="en-US" dirty="0"/>
              <a:t> ratios and even less soil nitrogen</a:t>
            </a:r>
          </a:p>
        </p:txBody>
      </p:sp>
      <p:sp>
        <p:nvSpPr>
          <p:cNvPr id="4" name="Slide Number Placeholder 3"/>
          <p:cNvSpPr>
            <a:spLocks noGrp="1"/>
          </p:cNvSpPr>
          <p:nvPr>
            <p:ph type="sldNum" sz="quarter" idx="5"/>
          </p:nvPr>
        </p:nvSpPr>
        <p:spPr/>
        <p:txBody>
          <a:bodyPr/>
          <a:lstStyle/>
          <a:p>
            <a:fld id="{7B7B8732-48DF-8346-B503-0A17D0129231}" type="slidenum">
              <a:rPr lang="en-US" smtClean="0"/>
              <a:t>17</a:t>
            </a:fld>
            <a:endParaRPr lang="en-US"/>
          </a:p>
        </p:txBody>
      </p:sp>
    </p:spTree>
    <p:extLst>
      <p:ext uri="{BB962C8B-B14F-4D97-AF65-F5344CB8AC3E}">
        <p14:creationId xmlns:p14="http://schemas.microsoft.com/office/powerpoint/2010/main" val="1901633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soil nitrogen, you can see its higher inside the digs than outside,</a:t>
            </a:r>
          </a:p>
          <a:p>
            <a:r>
              <a:rPr lang="en-US" dirty="0"/>
              <a:t>Right is glacier lily nitrogen, you can see its higher inside the digs than outside</a:t>
            </a:r>
          </a:p>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18</a:t>
            </a:fld>
            <a:endParaRPr lang="en-US"/>
          </a:p>
        </p:txBody>
      </p:sp>
    </p:spTree>
    <p:extLst>
      <p:ext uri="{BB962C8B-B14F-4D97-AF65-F5344CB8AC3E}">
        <p14:creationId xmlns:p14="http://schemas.microsoft.com/office/powerpoint/2010/main" val="2029650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seeds per plant, inside digs had more</a:t>
            </a:r>
          </a:p>
          <a:p>
            <a:r>
              <a:rPr lang="en-US" dirty="0"/>
              <a:t>Right is experimental digs, before is up top and after is the bottom two. You can see that afterwards, the inside dig sites had more nitrogen. </a:t>
            </a:r>
          </a:p>
        </p:txBody>
      </p:sp>
      <p:sp>
        <p:nvSpPr>
          <p:cNvPr id="4" name="Slide Number Placeholder 3"/>
          <p:cNvSpPr>
            <a:spLocks noGrp="1"/>
          </p:cNvSpPr>
          <p:nvPr>
            <p:ph type="sldNum" sz="quarter" idx="5"/>
          </p:nvPr>
        </p:nvSpPr>
        <p:spPr/>
        <p:txBody>
          <a:bodyPr/>
          <a:lstStyle/>
          <a:p>
            <a:fld id="{7B7B8732-48DF-8346-B503-0A17D0129231}" type="slidenum">
              <a:rPr lang="en-US" smtClean="0"/>
              <a:t>19</a:t>
            </a:fld>
            <a:endParaRPr lang="en-US"/>
          </a:p>
        </p:txBody>
      </p:sp>
    </p:spTree>
    <p:extLst>
      <p:ext uri="{BB962C8B-B14F-4D97-AF65-F5344CB8AC3E}">
        <p14:creationId xmlns:p14="http://schemas.microsoft.com/office/powerpoint/2010/main" val="181326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22</a:t>
            </a:fld>
            <a:endParaRPr lang="en-US"/>
          </a:p>
        </p:txBody>
      </p:sp>
    </p:spTree>
    <p:extLst>
      <p:ext uri="{BB962C8B-B14F-4D97-AF65-F5344CB8AC3E}">
        <p14:creationId xmlns:p14="http://schemas.microsoft.com/office/powerpoint/2010/main" val="61183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Guess what JASP stands for LOL… </a:t>
            </a:r>
            <a:r>
              <a:rPr lang="en-US" sz="1200" kern="1200" dirty="0">
                <a:solidFill>
                  <a:schemeClr val="tx1"/>
                </a:solidFill>
                <a:effectLst/>
                <a:latin typeface="+mn-lt"/>
                <a:ea typeface="+mn-ea"/>
                <a:cs typeface="+mn-cs"/>
              </a:rPr>
              <a:t>Jeffrey’s Amazing Statistics Program in recognition of the pioneer of Bayesian inference Sir Harold Jeffreys.</a:t>
            </a:r>
          </a:p>
          <a:p>
            <a:endParaRPr lang="en-US" dirty="0"/>
          </a:p>
        </p:txBody>
      </p:sp>
      <p:sp>
        <p:nvSpPr>
          <p:cNvPr id="4" name="Slide Number Placeholder 3"/>
          <p:cNvSpPr>
            <a:spLocks noGrp="1"/>
          </p:cNvSpPr>
          <p:nvPr>
            <p:ph type="sldNum" sz="quarter" idx="5"/>
          </p:nvPr>
        </p:nvSpPr>
        <p:spPr/>
        <p:txBody>
          <a:bodyPr/>
          <a:lstStyle/>
          <a:p>
            <a:fld id="{7B7B8732-48DF-8346-B503-0A17D0129231}" type="slidenum">
              <a:rPr lang="en-US" smtClean="0"/>
              <a:t>24</a:t>
            </a:fld>
            <a:endParaRPr lang="en-US"/>
          </a:p>
        </p:txBody>
      </p:sp>
    </p:spTree>
    <p:extLst>
      <p:ext uri="{BB962C8B-B14F-4D97-AF65-F5344CB8AC3E}">
        <p14:creationId xmlns:p14="http://schemas.microsoft.com/office/powerpoint/2010/main" val="1240626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27FCE-68B6-3A1C-7C96-E3AAE81A0F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87C4A4-7B4B-75F3-EB15-A254E1453E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F48B70-530C-3B94-1AE4-EC3AA47EF95F}"/>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793B16B1-19BA-470C-AF45-21757A0B70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F5E4F-7A61-B713-53B9-B15A03F225B8}"/>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1155992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EA0F-7604-85CD-F0B2-FC7B8100E7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0D97D2-9ACE-8F66-4073-FB3DC990D0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1ECB02-884D-9877-E996-C6B8C937C39F}"/>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1AA3BFFD-DF1F-E3BE-4140-AF79826CF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84251-80E1-343A-0A4D-4790B55FB0C1}"/>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320802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816D3-9004-113D-929C-C65E85533C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29941B-1B3C-1E12-8C15-AA6F29C4FD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6CC209-5B65-5456-4E48-3877A473D28E}"/>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E20CFFF1-97DC-48E9-84EB-9544EBA6F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CA48C-5487-D542-1B4E-9211762393FF}"/>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156952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322F-676E-96B3-7C3D-24879CC5E9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BFC60C-4AE8-62B4-3A12-59B63139AD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664B9A-722B-8B8A-792A-B3BCFE86C9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8EFA4F-77A0-B5CC-2AC2-1B4654191E9A}"/>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6" name="Footer Placeholder 5">
            <a:extLst>
              <a:ext uri="{FF2B5EF4-FFF2-40B4-BE49-F238E27FC236}">
                <a16:creationId xmlns:a16="http://schemas.microsoft.com/office/drawing/2014/main" id="{38824C40-1A82-094D-1E36-EDCF7D5B8B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13613F-5553-EA9F-511C-D0AEB0F93E20}"/>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2159245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AAF0-2432-E802-C228-633AB6B5ED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2B1EF0-DDCA-9B78-D6D5-FB0C7B06F9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0641BB-27B1-36BA-3685-C9FE57B77D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C2F55-A11C-72D0-F272-7F4CBC7D48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10B14A-1898-FE0B-F7CC-BD0012426D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608E6D-FE6A-D7F4-4DF8-0F4A8A1BADF1}"/>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8" name="Footer Placeholder 7">
            <a:extLst>
              <a:ext uri="{FF2B5EF4-FFF2-40B4-BE49-F238E27FC236}">
                <a16:creationId xmlns:a16="http://schemas.microsoft.com/office/drawing/2014/main" id="{191DB5F5-A41D-67A3-707F-5CB185BC7E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195906-E017-6A4B-3BD5-6BA72F3959E0}"/>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1163590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E187-1A27-BE53-798C-5A372C57D7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4A6101-EA6E-2051-5578-00453E0D2D10}"/>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4" name="Footer Placeholder 3">
            <a:extLst>
              <a:ext uri="{FF2B5EF4-FFF2-40B4-BE49-F238E27FC236}">
                <a16:creationId xmlns:a16="http://schemas.microsoft.com/office/drawing/2014/main" id="{1E811833-4BE9-331E-0A84-13CB31ED70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B0A6AF-FC9A-4FDF-A5A1-474F1517DD9B}"/>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911329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AF7472-0C90-42BE-51D7-BDFD633D9D39}"/>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3" name="Footer Placeholder 2">
            <a:extLst>
              <a:ext uri="{FF2B5EF4-FFF2-40B4-BE49-F238E27FC236}">
                <a16:creationId xmlns:a16="http://schemas.microsoft.com/office/drawing/2014/main" id="{B3359B84-0682-7B1F-07DE-1518C673A5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57565E-81C7-9C68-9E91-99BC2AA627FD}"/>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2374329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7EE-D4E1-FCAC-EE88-AB757B2113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ED5EAC-BD0B-6ACE-6196-685B878CFA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4B9315-5548-DB60-618E-646C384CA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7B26D5-AD31-8549-A4B1-927108EF37AF}"/>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6" name="Footer Placeholder 5">
            <a:extLst>
              <a:ext uri="{FF2B5EF4-FFF2-40B4-BE49-F238E27FC236}">
                <a16:creationId xmlns:a16="http://schemas.microsoft.com/office/drawing/2014/main" id="{EF8A6465-BC55-D7F1-592B-21844F9A34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F60DCC-7D37-D703-012C-616771748AFC}"/>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900234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53D9-DADB-2F67-92B3-16B16BA41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3048FE-BD73-8643-9AC0-C767A5C02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FDD5CB-9369-9D89-3417-608649C2A5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2FD9CA-BE40-ADD0-7F47-E29A521213AF}"/>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6" name="Footer Placeholder 5">
            <a:extLst>
              <a:ext uri="{FF2B5EF4-FFF2-40B4-BE49-F238E27FC236}">
                <a16:creationId xmlns:a16="http://schemas.microsoft.com/office/drawing/2014/main" id="{2AC525BD-B073-03F4-AD14-4370F9519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C0837-326D-55C3-D6A4-E2DB9D9F3CAE}"/>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1374868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C374-A57E-6ECC-58CF-0F39133BD7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4D3954-F4EC-1A49-41C2-871AD84EFB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7ECDE8-431F-A83D-A480-288B08C6E2D2}"/>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47170459-F01E-FC81-9190-5E9FEFA46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526A0-4889-965F-A18F-03AC3E176CF5}"/>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3722667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FE14CB-3E65-91C1-2094-A334304B18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894738-7545-3241-F156-2D9C29F0E9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299666-047B-4D0D-7694-353A65C7D042}"/>
              </a:ext>
            </a:extLst>
          </p:cNvPr>
          <p:cNvSpPr>
            <a:spLocks noGrp="1"/>
          </p:cNvSpPr>
          <p:nvPr>
            <p:ph type="dt" sz="half" idx="10"/>
          </p:nvPr>
        </p:nvSpPr>
        <p:spPr/>
        <p:txBody>
          <a:body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0A9735B9-67FC-7A6C-EFA7-74A3824B87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8FF0F3-5822-86FB-305D-75BE2B3417F9}"/>
              </a:ext>
            </a:extLst>
          </p:cNvPr>
          <p:cNvSpPr>
            <a:spLocks noGrp="1"/>
          </p:cNvSpPr>
          <p:nvPr>
            <p:ph type="sldNum" sz="quarter" idx="12"/>
          </p:nvPr>
        </p:nvSpPr>
        <p:spPr/>
        <p:txBody>
          <a:bodyPr/>
          <a:lstStyle/>
          <a:p>
            <a:fld id="{A833B7A6-2C7C-8B4F-BC98-1C7821698EC7}" type="slidenum">
              <a:rPr lang="en-US" smtClean="0"/>
              <a:t>‹#›</a:t>
            </a:fld>
            <a:endParaRPr lang="en-US"/>
          </a:p>
        </p:txBody>
      </p:sp>
    </p:spTree>
    <p:extLst>
      <p:ext uri="{BB962C8B-B14F-4D97-AF65-F5344CB8AC3E}">
        <p14:creationId xmlns:p14="http://schemas.microsoft.com/office/powerpoint/2010/main" val="186284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9747B-BC6D-2C41-E47B-27E85CAB87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833EA4-2722-EDEC-D1CB-A039C3220F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FC5A5F-5F6C-EB69-76EB-66116E1E4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1057CE-1570-FE49-B16A-F2E753A677C9}" type="datetimeFigureOut">
              <a:rPr lang="en-US" smtClean="0"/>
              <a:t>8/20/26</a:t>
            </a:fld>
            <a:endParaRPr lang="en-US"/>
          </a:p>
        </p:txBody>
      </p:sp>
      <p:sp>
        <p:nvSpPr>
          <p:cNvPr id="5" name="Footer Placeholder 4">
            <a:extLst>
              <a:ext uri="{FF2B5EF4-FFF2-40B4-BE49-F238E27FC236}">
                <a16:creationId xmlns:a16="http://schemas.microsoft.com/office/drawing/2014/main" id="{0D0D8DFC-6AED-86EE-7AEA-DE4EA5835D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B168343-E9FB-3130-43ED-9EBBE9EEE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33B7A6-2C7C-8B4F-BC98-1C7821698EC7}" type="slidenum">
              <a:rPr lang="en-US" smtClean="0"/>
              <a:t>‹#›</a:t>
            </a:fld>
            <a:endParaRPr lang="en-US"/>
          </a:p>
        </p:txBody>
      </p:sp>
    </p:spTree>
    <p:extLst>
      <p:ext uri="{BB962C8B-B14F-4D97-AF65-F5344CB8AC3E}">
        <p14:creationId xmlns:p14="http://schemas.microsoft.com/office/powerpoint/2010/main" val="2869822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mailto:amother1@umbc.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B0C86-A6B8-9303-E180-AC0612C63732}"/>
              </a:ext>
            </a:extLst>
          </p:cNvPr>
          <p:cNvSpPr>
            <a:spLocks noGrp="1"/>
          </p:cNvSpPr>
          <p:nvPr>
            <p:ph type="ctrTitle"/>
          </p:nvPr>
        </p:nvSpPr>
        <p:spPr>
          <a:xfrm>
            <a:off x="1524000" y="2130892"/>
            <a:ext cx="9144000" cy="2387600"/>
          </a:xfrm>
        </p:spPr>
        <p:txBody>
          <a:bodyPr>
            <a:noAutofit/>
          </a:bodyPr>
          <a:lstStyle/>
          <a:p>
            <a:r>
              <a:rPr lang="en-US" sz="8000" dirty="0"/>
              <a:t>Welcome to Quantitative Field Ecology!</a:t>
            </a:r>
          </a:p>
        </p:txBody>
      </p:sp>
      <p:sp>
        <p:nvSpPr>
          <p:cNvPr id="3" name="Subtitle 2">
            <a:extLst>
              <a:ext uri="{FF2B5EF4-FFF2-40B4-BE49-F238E27FC236}">
                <a16:creationId xmlns:a16="http://schemas.microsoft.com/office/drawing/2014/main" id="{F0009F6B-53EF-DE1B-207E-8FBDF92B2919}"/>
              </a:ext>
            </a:extLst>
          </p:cNvPr>
          <p:cNvSpPr>
            <a:spLocks noGrp="1"/>
          </p:cNvSpPr>
          <p:nvPr>
            <p:ph type="subTitle" idx="1"/>
          </p:nvPr>
        </p:nvSpPr>
        <p:spPr>
          <a:xfrm>
            <a:off x="1524000" y="4908456"/>
            <a:ext cx="9144000" cy="1655762"/>
          </a:xfrm>
        </p:spPr>
        <p:txBody>
          <a:bodyPr>
            <a:normAutofit/>
          </a:bodyPr>
          <a:lstStyle/>
          <a:p>
            <a:r>
              <a:rPr lang="en-US" sz="4400" dirty="0"/>
              <a:t>GES 408/608 Fall 2026</a:t>
            </a:r>
          </a:p>
        </p:txBody>
      </p:sp>
      <p:pic>
        <p:nvPicPr>
          <p:cNvPr id="5" name="Picture 4">
            <a:extLst>
              <a:ext uri="{FF2B5EF4-FFF2-40B4-BE49-F238E27FC236}">
                <a16:creationId xmlns:a16="http://schemas.microsoft.com/office/drawing/2014/main" id="{5D77FF7B-46C0-58B1-163F-5C3CD946959B}"/>
              </a:ext>
            </a:extLst>
          </p:cNvPr>
          <p:cNvPicPr>
            <a:picLocks noChangeAspect="1"/>
          </p:cNvPicPr>
          <p:nvPr/>
        </p:nvPicPr>
        <p:blipFill>
          <a:blip r:embed="rId2"/>
          <a:stretch>
            <a:fillRect/>
          </a:stretch>
        </p:blipFill>
        <p:spPr>
          <a:xfrm>
            <a:off x="452120" y="160020"/>
            <a:ext cx="2540000" cy="2362200"/>
          </a:xfrm>
          <a:prstGeom prst="rect">
            <a:avLst/>
          </a:prstGeom>
        </p:spPr>
      </p:pic>
      <p:pic>
        <p:nvPicPr>
          <p:cNvPr id="11" name="Picture 10">
            <a:extLst>
              <a:ext uri="{FF2B5EF4-FFF2-40B4-BE49-F238E27FC236}">
                <a16:creationId xmlns:a16="http://schemas.microsoft.com/office/drawing/2014/main" id="{B7868DB6-BC44-5999-0449-55C15231EE38}"/>
              </a:ext>
            </a:extLst>
          </p:cNvPr>
          <p:cNvPicPr>
            <a:picLocks noChangeAspect="1"/>
          </p:cNvPicPr>
          <p:nvPr/>
        </p:nvPicPr>
        <p:blipFill>
          <a:blip r:embed="rId3"/>
          <a:stretch>
            <a:fillRect/>
          </a:stretch>
        </p:blipFill>
        <p:spPr>
          <a:xfrm>
            <a:off x="10454640" y="2646947"/>
            <a:ext cx="2133600" cy="4211053"/>
          </a:xfrm>
          <a:prstGeom prst="rect">
            <a:avLst/>
          </a:prstGeom>
        </p:spPr>
      </p:pic>
      <p:pic>
        <p:nvPicPr>
          <p:cNvPr id="9" name="Picture 8">
            <a:extLst>
              <a:ext uri="{FF2B5EF4-FFF2-40B4-BE49-F238E27FC236}">
                <a16:creationId xmlns:a16="http://schemas.microsoft.com/office/drawing/2014/main" id="{BF0C9389-9F69-3823-24D5-12FD564CA87E}"/>
              </a:ext>
            </a:extLst>
          </p:cNvPr>
          <p:cNvPicPr>
            <a:picLocks noChangeAspect="1"/>
          </p:cNvPicPr>
          <p:nvPr/>
        </p:nvPicPr>
        <p:blipFill>
          <a:blip r:embed="rId4"/>
          <a:stretch>
            <a:fillRect/>
          </a:stretch>
        </p:blipFill>
        <p:spPr>
          <a:xfrm>
            <a:off x="9682480" y="4000500"/>
            <a:ext cx="2133600" cy="2857500"/>
          </a:xfrm>
          <a:prstGeom prst="rect">
            <a:avLst/>
          </a:prstGeom>
        </p:spPr>
      </p:pic>
      <p:pic>
        <p:nvPicPr>
          <p:cNvPr id="7" name="Picture 6">
            <a:extLst>
              <a:ext uri="{FF2B5EF4-FFF2-40B4-BE49-F238E27FC236}">
                <a16:creationId xmlns:a16="http://schemas.microsoft.com/office/drawing/2014/main" id="{0977B6AB-85D1-C05F-0BE8-019649BC59C7}"/>
              </a:ext>
            </a:extLst>
          </p:cNvPr>
          <p:cNvPicPr>
            <a:picLocks noChangeAspect="1"/>
          </p:cNvPicPr>
          <p:nvPr/>
        </p:nvPicPr>
        <p:blipFill>
          <a:blip r:embed="rId5"/>
          <a:stretch>
            <a:fillRect/>
          </a:stretch>
        </p:blipFill>
        <p:spPr>
          <a:xfrm>
            <a:off x="8736330" y="4318000"/>
            <a:ext cx="1892300" cy="2540000"/>
          </a:xfrm>
          <a:prstGeom prst="rect">
            <a:avLst/>
          </a:prstGeom>
        </p:spPr>
      </p:pic>
    </p:spTree>
    <p:extLst>
      <p:ext uri="{BB962C8B-B14F-4D97-AF65-F5344CB8AC3E}">
        <p14:creationId xmlns:p14="http://schemas.microsoft.com/office/powerpoint/2010/main" val="3184013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9DE5E-34F8-1603-B528-DDB3AFF4DF80}"/>
              </a:ext>
            </a:extLst>
          </p:cNvPr>
          <p:cNvSpPr>
            <a:spLocks noGrp="1"/>
          </p:cNvSpPr>
          <p:nvPr>
            <p:ph type="title"/>
          </p:nvPr>
        </p:nvSpPr>
        <p:spPr/>
        <p:txBody>
          <a:bodyPr>
            <a:normAutofit/>
          </a:bodyPr>
          <a:lstStyle/>
          <a:p>
            <a:r>
              <a:rPr lang="en-US" sz="5400" dirty="0"/>
              <a:t>Meet Your Instructor</a:t>
            </a:r>
          </a:p>
        </p:txBody>
      </p:sp>
      <p:sp>
        <p:nvSpPr>
          <p:cNvPr id="3" name="Content Placeholder 2">
            <a:extLst>
              <a:ext uri="{FF2B5EF4-FFF2-40B4-BE49-F238E27FC236}">
                <a16:creationId xmlns:a16="http://schemas.microsoft.com/office/drawing/2014/main" id="{5A271B02-3C88-10AC-7548-1E8E3DB612E3}"/>
              </a:ext>
            </a:extLst>
          </p:cNvPr>
          <p:cNvSpPr>
            <a:spLocks noGrp="1"/>
          </p:cNvSpPr>
          <p:nvPr>
            <p:ph idx="1"/>
          </p:nvPr>
        </p:nvSpPr>
        <p:spPr/>
        <p:txBody>
          <a:bodyPr>
            <a:noAutofit/>
          </a:bodyPr>
          <a:lstStyle/>
          <a:p>
            <a:pPr marL="0" indent="0">
              <a:buNone/>
            </a:pPr>
            <a:r>
              <a:rPr lang="en-US" sz="3200" dirty="0"/>
              <a:t>My name is Anna!</a:t>
            </a:r>
          </a:p>
          <a:p>
            <a:pPr marL="0" indent="0">
              <a:buNone/>
            </a:pPr>
            <a:r>
              <a:rPr lang="en-US" sz="3200" dirty="0"/>
              <a:t>I’m excited to teach this course – I’m going to try to make it as fun and informative as possible for you all!</a:t>
            </a:r>
          </a:p>
          <a:p>
            <a:pPr marL="0" indent="0">
              <a:buNone/>
            </a:pPr>
            <a:r>
              <a:rPr lang="en-US" sz="3200" dirty="0"/>
              <a:t>Need to get in contact? Email me: </a:t>
            </a:r>
            <a:r>
              <a:rPr lang="en-US" sz="3200" dirty="0">
                <a:hlinkClick r:id="rId3"/>
              </a:rPr>
              <a:t>amother1@umbc.edu</a:t>
            </a:r>
            <a:r>
              <a:rPr lang="en-US" sz="3200" dirty="0"/>
              <a:t> </a:t>
            </a:r>
          </a:p>
          <a:p>
            <a:pPr marL="0" indent="0">
              <a:buNone/>
            </a:pPr>
            <a:endParaRPr lang="en-US" sz="3200" dirty="0"/>
          </a:p>
          <a:p>
            <a:pPr marL="0" indent="0">
              <a:buNone/>
            </a:pPr>
            <a:r>
              <a:rPr lang="en-US" sz="3200" dirty="0"/>
              <a:t>I’m a PhD student studying leaf litter breakdown, macroinvertebrate traits, and urbanization.</a:t>
            </a:r>
          </a:p>
          <a:p>
            <a:pPr marL="0" indent="0">
              <a:buNone/>
            </a:pPr>
            <a:r>
              <a:rPr lang="en-US" sz="3200" dirty="0"/>
              <a:t>In my free time, I love arts and crafts, reading, and Animal Crossing.</a:t>
            </a:r>
          </a:p>
        </p:txBody>
      </p:sp>
      <p:pic>
        <p:nvPicPr>
          <p:cNvPr id="5" name="Picture 4">
            <a:extLst>
              <a:ext uri="{FF2B5EF4-FFF2-40B4-BE49-F238E27FC236}">
                <a16:creationId xmlns:a16="http://schemas.microsoft.com/office/drawing/2014/main" id="{D85BE3CB-9F8C-443F-FB13-5838F3C2A942}"/>
              </a:ext>
            </a:extLst>
          </p:cNvPr>
          <p:cNvPicPr>
            <a:picLocks noChangeAspect="1"/>
          </p:cNvPicPr>
          <p:nvPr/>
        </p:nvPicPr>
        <p:blipFill>
          <a:blip r:embed="rId4"/>
          <a:stretch>
            <a:fillRect/>
          </a:stretch>
        </p:blipFill>
        <p:spPr>
          <a:xfrm>
            <a:off x="8453120" y="349885"/>
            <a:ext cx="2540000" cy="1968500"/>
          </a:xfrm>
          <a:prstGeom prst="rect">
            <a:avLst/>
          </a:prstGeom>
        </p:spPr>
      </p:pic>
    </p:spTree>
    <p:extLst>
      <p:ext uri="{BB962C8B-B14F-4D97-AF65-F5344CB8AC3E}">
        <p14:creationId xmlns:p14="http://schemas.microsoft.com/office/powerpoint/2010/main" val="31107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88067-CAA6-6DBF-6FF7-E7D6A60B6E21}"/>
              </a:ext>
            </a:extLst>
          </p:cNvPr>
          <p:cNvSpPr>
            <a:spLocks noGrp="1"/>
          </p:cNvSpPr>
          <p:nvPr>
            <p:ph type="title"/>
          </p:nvPr>
        </p:nvSpPr>
        <p:spPr/>
        <p:txBody>
          <a:bodyPr>
            <a:normAutofit/>
          </a:bodyPr>
          <a:lstStyle/>
          <a:p>
            <a:r>
              <a:rPr lang="en-US" sz="5400" dirty="0"/>
              <a:t>Syllabus Information</a:t>
            </a:r>
          </a:p>
        </p:txBody>
      </p:sp>
      <p:sp>
        <p:nvSpPr>
          <p:cNvPr id="3" name="Content Placeholder 2">
            <a:extLst>
              <a:ext uri="{FF2B5EF4-FFF2-40B4-BE49-F238E27FC236}">
                <a16:creationId xmlns:a16="http://schemas.microsoft.com/office/drawing/2014/main" id="{D2AEA3BB-9541-F36D-B1E7-575E5CC11B7A}"/>
              </a:ext>
            </a:extLst>
          </p:cNvPr>
          <p:cNvSpPr>
            <a:spLocks noGrp="1"/>
          </p:cNvSpPr>
          <p:nvPr>
            <p:ph idx="1"/>
          </p:nvPr>
        </p:nvSpPr>
        <p:spPr/>
        <p:txBody>
          <a:bodyPr>
            <a:normAutofit/>
          </a:bodyPr>
          <a:lstStyle/>
          <a:p>
            <a:r>
              <a:rPr lang="en-US" sz="3600" dirty="0"/>
              <a:t>Office hours are 2:15-3 on Tuesdays (after class) and by appointment – send an email </a:t>
            </a:r>
          </a:p>
          <a:p>
            <a:r>
              <a:rPr lang="en-US" sz="3600" dirty="0"/>
              <a:t>Assignments – please turn things in on time!</a:t>
            </a:r>
          </a:p>
          <a:p>
            <a:r>
              <a:rPr lang="en-US" sz="3600" dirty="0"/>
              <a:t>Grading: see next slide/syllabus</a:t>
            </a:r>
          </a:p>
          <a:p>
            <a:r>
              <a:rPr lang="en-US" sz="3600" dirty="0"/>
              <a:t>Use of AI – policy in the syllabus</a:t>
            </a:r>
          </a:p>
          <a:p>
            <a:r>
              <a:rPr lang="en-US" sz="3600" dirty="0"/>
              <a:t>Attendance – please be here!</a:t>
            </a:r>
          </a:p>
        </p:txBody>
      </p:sp>
      <p:pic>
        <p:nvPicPr>
          <p:cNvPr id="5" name="Picture 4">
            <a:extLst>
              <a:ext uri="{FF2B5EF4-FFF2-40B4-BE49-F238E27FC236}">
                <a16:creationId xmlns:a16="http://schemas.microsoft.com/office/drawing/2014/main" id="{1527BFD7-DCDD-5F3F-C85E-FA99221BA29B}"/>
              </a:ext>
            </a:extLst>
          </p:cNvPr>
          <p:cNvPicPr>
            <a:picLocks noChangeAspect="1"/>
          </p:cNvPicPr>
          <p:nvPr/>
        </p:nvPicPr>
        <p:blipFill>
          <a:blip r:embed="rId3"/>
          <a:stretch>
            <a:fillRect/>
          </a:stretch>
        </p:blipFill>
        <p:spPr>
          <a:xfrm>
            <a:off x="9225280" y="3429000"/>
            <a:ext cx="2582672" cy="3228340"/>
          </a:xfrm>
          <a:prstGeom prst="rect">
            <a:avLst/>
          </a:prstGeom>
        </p:spPr>
      </p:pic>
    </p:spTree>
    <p:extLst>
      <p:ext uri="{BB962C8B-B14F-4D97-AF65-F5344CB8AC3E}">
        <p14:creationId xmlns:p14="http://schemas.microsoft.com/office/powerpoint/2010/main" val="382232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658869-46D9-4C58-EC94-BAF5ABD180EA}"/>
              </a:ext>
            </a:extLst>
          </p:cNvPr>
          <p:cNvSpPr>
            <a:spLocks noGrp="1"/>
          </p:cNvSpPr>
          <p:nvPr>
            <p:ph type="title"/>
          </p:nvPr>
        </p:nvSpPr>
        <p:spPr/>
        <p:txBody>
          <a:bodyPr>
            <a:normAutofit/>
          </a:bodyPr>
          <a:lstStyle/>
          <a:p>
            <a:r>
              <a:rPr lang="en-US" sz="5400" dirty="0"/>
              <a:t>Grading Schema</a:t>
            </a:r>
          </a:p>
        </p:txBody>
      </p:sp>
      <p:graphicFrame>
        <p:nvGraphicFramePr>
          <p:cNvPr id="4" name="Content Placeholder 3">
            <a:extLst>
              <a:ext uri="{FF2B5EF4-FFF2-40B4-BE49-F238E27FC236}">
                <a16:creationId xmlns:a16="http://schemas.microsoft.com/office/drawing/2014/main" id="{A3261344-7DE0-2D7E-5A96-78F240CB0664}"/>
              </a:ext>
            </a:extLst>
          </p:cNvPr>
          <p:cNvGraphicFramePr>
            <a:graphicFrameLocks noGrp="1"/>
          </p:cNvGraphicFramePr>
          <p:nvPr>
            <p:ph idx="1"/>
            <p:extLst>
              <p:ext uri="{D42A27DB-BD31-4B8C-83A1-F6EECF244321}">
                <p14:modId xmlns:p14="http://schemas.microsoft.com/office/powerpoint/2010/main" val="1576943512"/>
              </p:ext>
            </p:extLst>
          </p:nvPr>
        </p:nvGraphicFramePr>
        <p:xfrm>
          <a:off x="838200" y="1825625"/>
          <a:ext cx="10515599" cy="4002912"/>
        </p:xfrm>
        <a:graphic>
          <a:graphicData uri="http://schemas.openxmlformats.org/drawingml/2006/table">
            <a:tbl>
              <a:tblPr firstRow="1" firstCol="1" bandRow="1">
                <a:tableStyleId>{5C22544A-7EE6-4342-B048-85BDC9FD1C3A}</a:tableStyleId>
              </a:tblPr>
              <a:tblGrid>
                <a:gridCol w="3504449">
                  <a:extLst>
                    <a:ext uri="{9D8B030D-6E8A-4147-A177-3AD203B41FA5}">
                      <a16:colId xmlns:a16="http://schemas.microsoft.com/office/drawing/2014/main" val="2596233285"/>
                    </a:ext>
                  </a:extLst>
                </a:gridCol>
                <a:gridCol w="3505575">
                  <a:extLst>
                    <a:ext uri="{9D8B030D-6E8A-4147-A177-3AD203B41FA5}">
                      <a16:colId xmlns:a16="http://schemas.microsoft.com/office/drawing/2014/main" val="452153329"/>
                    </a:ext>
                  </a:extLst>
                </a:gridCol>
                <a:gridCol w="3505575">
                  <a:extLst>
                    <a:ext uri="{9D8B030D-6E8A-4147-A177-3AD203B41FA5}">
                      <a16:colId xmlns:a16="http://schemas.microsoft.com/office/drawing/2014/main" val="477985646"/>
                    </a:ext>
                  </a:extLst>
                </a:gridCol>
              </a:tblGrid>
              <a:tr h="667152">
                <a:tc>
                  <a:txBody>
                    <a:bodyPr/>
                    <a:lstStyle/>
                    <a:p>
                      <a:pPr marL="0" marR="0">
                        <a:buNone/>
                      </a:pPr>
                      <a:r>
                        <a:rPr lang="en-US" sz="3200" kern="100" dirty="0">
                          <a:effectLst/>
                        </a:rPr>
                        <a:t> </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dirty="0">
                          <a:effectLst/>
                        </a:rPr>
                        <a:t>Undergraduate</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dirty="0">
                          <a:effectLst/>
                        </a:rPr>
                        <a:t>Graduate</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extLst>
                  <a:ext uri="{0D108BD9-81ED-4DB2-BD59-A6C34878D82A}">
                    <a16:rowId xmlns:a16="http://schemas.microsoft.com/office/drawing/2014/main" val="203321583"/>
                  </a:ext>
                </a:extLst>
              </a:tr>
              <a:tr h="667152">
                <a:tc>
                  <a:txBody>
                    <a:bodyPr/>
                    <a:lstStyle/>
                    <a:p>
                      <a:pPr marL="0" marR="0">
                        <a:buNone/>
                      </a:pPr>
                      <a:r>
                        <a:rPr lang="en-US" sz="3200" kern="100" dirty="0">
                          <a:effectLst/>
                        </a:rPr>
                        <a:t>Exercises</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dirty="0">
                          <a:effectLst/>
                        </a:rPr>
                        <a:t>50%</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US" sz="3200" kern="100" dirty="0">
                          <a:effectLst/>
                        </a:rPr>
                        <a:t>40%</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753851616"/>
                  </a:ext>
                </a:extLst>
              </a:tr>
              <a:tr h="667152">
                <a:tc>
                  <a:txBody>
                    <a:bodyPr/>
                    <a:lstStyle/>
                    <a:p>
                      <a:pPr marL="0" marR="0">
                        <a:buNone/>
                      </a:pPr>
                      <a:r>
                        <a:rPr lang="en-US" sz="3200" kern="100" dirty="0">
                          <a:effectLst/>
                        </a:rPr>
                        <a:t>Exam I</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a:effectLst/>
                        </a:rPr>
                        <a:t>20%</a:t>
                      </a:r>
                      <a:endParaRPr lang="en-US" sz="3200" kern="1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US" sz="3200" kern="100">
                          <a:effectLst/>
                        </a:rPr>
                        <a:t>20%</a:t>
                      </a:r>
                      <a:endParaRPr lang="en-US" sz="3200" kern="100">
                        <a:effectLst/>
                        <a:latin typeface="Aptos" panose="020B00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1457983768"/>
                  </a:ext>
                </a:extLst>
              </a:tr>
              <a:tr h="667152">
                <a:tc>
                  <a:txBody>
                    <a:bodyPr/>
                    <a:lstStyle/>
                    <a:p>
                      <a:pPr marL="0" marR="0">
                        <a:buNone/>
                      </a:pPr>
                      <a:r>
                        <a:rPr lang="en-US" sz="3200" kern="100" dirty="0">
                          <a:effectLst/>
                        </a:rPr>
                        <a:t>Exam II</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a:effectLst/>
                        </a:rPr>
                        <a:t>20%</a:t>
                      </a:r>
                      <a:endParaRPr lang="en-US" sz="3200" kern="1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US" sz="3200" kern="100">
                          <a:effectLst/>
                        </a:rPr>
                        <a:t>20%</a:t>
                      </a:r>
                      <a:endParaRPr lang="en-US" sz="3200" kern="100">
                        <a:effectLst/>
                        <a:latin typeface="Aptos" panose="020B00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883048914"/>
                  </a:ext>
                </a:extLst>
              </a:tr>
              <a:tr h="667152">
                <a:tc>
                  <a:txBody>
                    <a:bodyPr/>
                    <a:lstStyle/>
                    <a:p>
                      <a:pPr marL="0" marR="0">
                        <a:buNone/>
                      </a:pPr>
                      <a:r>
                        <a:rPr lang="en-US" sz="3200" kern="100" dirty="0">
                          <a:effectLst/>
                        </a:rPr>
                        <a:t>Final Project</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a:effectLst/>
                        </a:rPr>
                        <a:t>10%</a:t>
                      </a:r>
                      <a:endParaRPr lang="en-US" sz="3200" kern="1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US" sz="3200" kern="100">
                          <a:effectLst/>
                        </a:rPr>
                        <a:t>10%</a:t>
                      </a:r>
                      <a:endParaRPr lang="en-US" sz="3200" kern="100">
                        <a:effectLst/>
                        <a:latin typeface="Aptos" panose="020B00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2416048293"/>
                  </a:ext>
                </a:extLst>
              </a:tr>
              <a:tr h="667152">
                <a:tc>
                  <a:txBody>
                    <a:bodyPr/>
                    <a:lstStyle/>
                    <a:p>
                      <a:pPr marL="0" marR="0">
                        <a:buNone/>
                      </a:pPr>
                      <a:r>
                        <a:rPr lang="en-US" sz="3200" kern="100" dirty="0">
                          <a:effectLst/>
                        </a:rPr>
                        <a:t>Literature Review</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solidFill>
                      <a:schemeClr val="accent6">
                        <a:lumMod val="75000"/>
                      </a:schemeClr>
                    </a:solidFill>
                  </a:tcPr>
                </a:tc>
                <a:tc>
                  <a:txBody>
                    <a:bodyPr/>
                    <a:lstStyle/>
                    <a:p>
                      <a:pPr marL="0" marR="0" algn="ctr">
                        <a:buNone/>
                      </a:pPr>
                      <a:r>
                        <a:rPr lang="en-US" sz="3200" kern="100">
                          <a:effectLst/>
                        </a:rPr>
                        <a:t>---</a:t>
                      </a:r>
                      <a:endParaRPr lang="en-US" sz="3200" kern="100">
                        <a:effectLst/>
                        <a:latin typeface="Aptos" panose="020B0004020202020204" pitchFamily="34" charset="0"/>
                        <a:ea typeface="Times New Roman" panose="02020603050405020304" pitchFamily="18" charset="0"/>
                      </a:endParaRPr>
                    </a:p>
                  </a:txBody>
                  <a:tcPr marL="68580" marR="68580" marT="0" marB="0" anchor="ctr"/>
                </a:tc>
                <a:tc>
                  <a:txBody>
                    <a:bodyPr/>
                    <a:lstStyle/>
                    <a:p>
                      <a:pPr marL="0" marR="0" algn="ctr">
                        <a:buNone/>
                      </a:pPr>
                      <a:r>
                        <a:rPr lang="en-US" sz="3200" kern="100" dirty="0">
                          <a:effectLst/>
                        </a:rPr>
                        <a:t>10%</a:t>
                      </a:r>
                      <a:endParaRPr lang="en-US" sz="3200" kern="100" dirty="0">
                        <a:effectLst/>
                        <a:latin typeface="Aptos" panose="020B00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1950683425"/>
                  </a:ext>
                </a:extLst>
              </a:tr>
            </a:tbl>
          </a:graphicData>
        </a:graphic>
      </p:graphicFrame>
    </p:spTree>
    <p:extLst>
      <p:ext uri="{BB962C8B-B14F-4D97-AF65-F5344CB8AC3E}">
        <p14:creationId xmlns:p14="http://schemas.microsoft.com/office/powerpoint/2010/main" val="15697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FBFBCA-A9C6-5C38-E891-D4D6CF160F92}"/>
              </a:ext>
            </a:extLst>
          </p:cNvPr>
          <p:cNvSpPr>
            <a:spLocks noGrp="1"/>
          </p:cNvSpPr>
          <p:nvPr>
            <p:ph type="title"/>
          </p:nvPr>
        </p:nvSpPr>
        <p:spPr/>
        <p:txBody>
          <a:bodyPr>
            <a:normAutofit/>
          </a:bodyPr>
          <a:lstStyle/>
          <a:p>
            <a:r>
              <a:rPr lang="en-US" sz="5400" dirty="0"/>
              <a:t>Our Textbook</a:t>
            </a:r>
          </a:p>
        </p:txBody>
      </p:sp>
      <p:sp>
        <p:nvSpPr>
          <p:cNvPr id="3" name="Content Placeholder 2">
            <a:extLst>
              <a:ext uri="{FF2B5EF4-FFF2-40B4-BE49-F238E27FC236}">
                <a16:creationId xmlns:a16="http://schemas.microsoft.com/office/drawing/2014/main" id="{D024AF0A-8673-E8A1-148D-D3683299D600}"/>
              </a:ext>
            </a:extLst>
          </p:cNvPr>
          <p:cNvSpPr>
            <a:spLocks noGrp="1"/>
          </p:cNvSpPr>
          <p:nvPr>
            <p:ph idx="1"/>
          </p:nvPr>
        </p:nvSpPr>
        <p:spPr>
          <a:xfrm>
            <a:off x="396240" y="1810385"/>
            <a:ext cx="5078730" cy="4351338"/>
          </a:xfrm>
        </p:spPr>
        <p:txBody>
          <a:bodyPr>
            <a:noAutofit/>
          </a:bodyPr>
          <a:lstStyle/>
          <a:p>
            <a:r>
              <a:rPr lang="en-US" sz="3200" dirty="0"/>
              <a:t>Free!</a:t>
            </a:r>
          </a:p>
          <a:p>
            <a:r>
              <a:rPr lang="en-US" sz="3200" dirty="0"/>
              <a:t>Instructions for access are on </a:t>
            </a:r>
            <a:r>
              <a:rPr lang="en-US" sz="3200" dirty="0" err="1"/>
              <a:t>BlackBoard</a:t>
            </a:r>
            <a:endParaRPr lang="en-US" sz="3200" dirty="0"/>
          </a:p>
          <a:p>
            <a:r>
              <a:rPr lang="en-US" sz="3200" dirty="0"/>
              <a:t>If you need to read something from it or if there are ever required problems, I will make it very clear. Mostly this is an optional resource to help you!</a:t>
            </a:r>
          </a:p>
        </p:txBody>
      </p:sp>
      <p:pic>
        <p:nvPicPr>
          <p:cNvPr id="5" name="Picture 4">
            <a:extLst>
              <a:ext uri="{FF2B5EF4-FFF2-40B4-BE49-F238E27FC236}">
                <a16:creationId xmlns:a16="http://schemas.microsoft.com/office/drawing/2014/main" id="{C72C32D9-490F-6B5D-C7AB-15FDBFD623AD}"/>
              </a:ext>
            </a:extLst>
          </p:cNvPr>
          <p:cNvPicPr>
            <a:picLocks noChangeAspect="1"/>
          </p:cNvPicPr>
          <p:nvPr/>
        </p:nvPicPr>
        <p:blipFill>
          <a:blip r:embed="rId2"/>
          <a:srcRect l="12977" r="12519"/>
          <a:stretch>
            <a:fillRect/>
          </a:stretch>
        </p:blipFill>
        <p:spPr>
          <a:xfrm>
            <a:off x="5916930" y="0"/>
            <a:ext cx="6275070" cy="6858000"/>
          </a:xfrm>
          <a:prstGeom prst="rect">
            <a:avLst/>
          </a:prstGeom>
        </p:spPr>
      </p:pic>
    </p:spTree>
    <p:extLst>
      <p:ext uri="{BB962C8B-B14F-4D97-AF65-F5344CB8AC3E}">
        <p14:creationId xmlns:p14="http://schemas.microsoft.com/office/powerpoint/2010/main" val="3989990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A5BC-2107-4A3F-7A3D-ADF994C6111C}"/>
              </a:ext>
            </a:extLst>
          </p:cNvPr>
          <p:cNvSpPr>
            <a:spLocks noGrp="1"/>
          </p:cNvSpPr>
          <p:nvPr>
            <p:ph type="title"/>
          </p:nvPr>
        </p:nvSpPr>
        <p:spPr>
          <a:xfrm>
            <a:off x="831850" y="768350"/>
            <a:ext cx="10515600" cy="2852737"/>
          </a:xfrm>
        </p:spPr>
        <p:txBody>
          <a:bodyPr/>
          <a:lstStyle/>
          <a:p>
            <a:r>
              <a:rPr lang="en-US" dirty="0"/>
              <a:t>What is ecology?</a:t>
            </a:r>
          </a:p>
        </p:txBody>
      </p:sp>
      <p:sp>
        <p:nvSpPr>
          <p:cNvPr id="4" name="Text Placeholder 3">
            <a:extLst>
              <a:ext uri="{FF2B5EF4-FFF2-40B4-BE49-F238E27FC236}">
                <a16:creationId xmlns:a16="http://schemas.microsoft.com/office/drawing/2014/main" id="{66A3E83E-88F8-F384-CD64-3D8F7CC4064F}"/>
              </a:ext>
            </a:extLst>
          </p:cNvPr>
          <p:cNvSpPr>
            <a:spLocks noGrp="1"/>
          </p:cNvSpPr>
          <p:nvPr>
            <p:ph type="body" idx="1"/>
          </p:nvPr>
        </p:nvSpPr>
        <p:spPr>
          <a:xfrm>
            <a:off x="831850" y="3621087"/>
            <a:ext cx="6239510" cy="1500187"/>
          </a:xfrm>
        </p:spPr>
        <p:txBody>
          <a:bodyPr>
            <a:normAutofit/>
          </a:bodyPr>
          <a:lstStyle/>
          <a:p>
            <a:r>
              <a:rPr lang="en-US" sz="3200" dirty="0"/>
              <a:t>Take 2 minutes to talk with those around you!</a:t>
            </a:r>
          </a:p>
        </p:txBody>
      </p:sp>
      <p:pic>
        <p:nvPicPr>
          <p:cNvPr id="6" name="Picture 5">
            <a:extLst>
              <a:ext uri="{FF2B5EF4-FFF2-40B4-BE49-F238E27FC236}">
                <a16:creationId xmlns:a16="http://schemas.microsoft.com/office/drawing/2014/main" id="{78640E20-832E-C6A2-4D64-D6006D699445}"/>
              </a:ext>
            </a:extLst>
          </p:cNvPr>
          <p:cNvPicPr>
            <a:picLocks noChangeAspect="1"/>
          </p:cNvPicPr>
          <p:nvPr/>
        </p:nvPicPr>
        <p:blipFill>
          <a:blip r:embed="rId3"/>
          <a:stretch>
            <a:fillRect/>
          </a:stretch>
        </p:blipFill>
        <p:spPr>
          <a:xfrm>
            <a:off x="7797122" y="1637664"/>
            <a:ext cx="3550328" cy="3966846"/>
          </a:xfrm>
          <a:prstGeom prst="rect">
            <a:avLst/>
          </a:prstGeom>
        </p:spPr>
      </p:pic>
    </p:spTree>
    <p:extLst>
      <p:ext uri="{BB962C8B-B14F-4D97-AF65-F5344CB8AC3E}">
        <p14:creationId xmlns:p14="http://schemas.microsoft.com/office/powerpoint/2010/main" val="2496551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BF04-B157-6DCF-66E6-D144991E4FF2}"/>
              </a:ext>
            </a:extLst>
          </p:cNvPr>
          <p:cNvSpPr>
            <a:spLocks noGrp="1"/>
          </p:cNvSpPr>
          <p:nvPr>
            <p:ph type="title"/>
          </p:nvPr>
        </p:nvSpPr>
        <p:spPr>
          <a:xfrm>
            <a:off x="7827818" y="263931"/>
            <a:ext cx="3976832" cy="2493124"/>
          </a:xfrm>
        </p:spPr>
        <p:txBody>
          <a:bodyPr/>
          <a:lstStyle/>
          <a:p>
            <a:r>
              <a:rPr lang="en-US" dirty="0"/>
              <a:t>Ecology is….</a:t>
            </a:r>
          </a:p>
        </p:txBody>
      </p:sp>
      <p:sp>
        <p:nvSpPr>
          <p:cNvPr id="3" name="Text Placeholder 2">
            <a:extLst>
              <a:ext uri="{FF2B5EF4-FFF2-40B4-BE49-F238E27FC236}">
                <a16:creationId xmlns:a16="http://schemas.microsoft.com/office/drawing/2014/main" id="{ECE0EA7D-E14D-1444-9555-400742334200}"/>
              </a:ext>
            </a:extLst>
          </p:cNvPr>
          <p:cNvSpPr>
            <a:spLocks noGrp="1"/>
          </p:cNvSpPr>
          <p:nvPr>
            <p:ph type="body" idx="1"/>
          </p:nvPr>
        </p:nvSpPr>
        <p:spPr>
          <a:xfrm>
            <a:off x="7827817" y="2879102"/>
            <a:ext cx="3976831" cy="2316353"/>
          </a:xfrm>
        </p:spPr>
        <p:txBody>
          <a:bodyPr>
            <a:normAutofit fontScale="92500"/>
          </a:bodyPr>
          <a:lstStyle/>
          <a:p>
            <a:r>
              <a:rPr lang="en-US" sz="3200" dirty="0"/>
              <a:t>the study of the interactions among organisms, and between organisms and their environment</a:t>
            </a:r>
          </a:p>
        </p:txBody>
      </p:sp>
      <p:pic>
        <p:nvPicPr>
          <p:cNvPr id="5" name="Picture 4">
            <a:extLst>
              <a:ext uri="{FF2B5EF4-FFF2-40B4-BE49-F238E27FC236}">
                <a16:creationId xmlns:a16="http://schemas.microsoft.com/office/drawing/2014/main" id="{5D37613C-16C3-48C9-0A49-54E462E3D15E}"/>
              </a:ext>
            </a:extLst>
          </p:cNvPr>
          <p:cNvPicPr>
            <a:picLocks noChangeAspect="1"/>
          </p:cNvPicPr>
          <p:nvPr/>
        </p:nvPicPr>
        <p:blipFill>
          <a:blip r:embed="rId3"/>
          <a:stretch>
            <a:fillRect/>
          </a:stretch>
        </p:blipFill>
        <p:spPr>
          <a:xfrm>
            <a:off x="-1" y="0"/>
            <a:ext cx="7170373" cy="6858000"/>
          </a:xfrm>
          <a:prstGeom prst="rect">
            <a:avLst/>
          </a:prstGeom>
        </p:spPr>
      </p:pic>
    </p:spTree>
    <p:extLst>
      <p:ext uri="{BB962C8B-B14F-4D97-AF65-F5344CB8AC3E}">
        <p14:creationId xmlns:p14="http://schemas.microsoft.com/office/powerpoint/2010/main" val="1670245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FFFE8-DEC6-9B1F-BF77-37A555F3A864}"/>
              </a:ext>
            </a:extLst>
          </p:cNvPr>
          <p:cNvSpPr>
            <a:spLocks noGrp="1"/>
          </p:cNvSpPr>
          <p:nvPr>
            <p:ph type="title"/>
          </p:nvPr>
        </p:nvSpPr>
        <p:spPr/>
        <p:txBody>
          <a:bodyPr>
            <a:normAutofit/>
          </a:bodyPr>
          <a:lstStyle/>
          <a:p>
            <a:r>
              <a:rPr lang="en-US" sz="5400" dirty="0"/>
              <a:t>Questions in Ecology</a:t>
            </a:r>
          </a:p>
        </p:txBody>
      </p:sp>
      <p:sp>
        <p:nvSpPr>
          <p:cNvPr id="3" name="Content Placeholder 2">
            <a:extLst>
              <a:ext uri="{FF2B5EF4-FFF2-40B4-BE49-F238E27FC236}">
                <a16:creationId xmlns:a16="http://schemas.microsoft.com/office/drawing/2014/main" id="{CDEFA294-1553-2744-F21F-7EF0E507DA7C}"/>
              </a:ext>
            </a:extLst>
          </p:cNvPr>
          <p:cNvSpPr>
            <a:spLocks noGrp="1"/>
          </p:cNvSpPr>
          <p:nvPr>
            <p:ph idx="1"/>
          </p:nvPr>
        </p:nvSpPr>
        <p:spPr/>
        <p:txBody>
          <a:bodyPr>
            <a:normAutofit/>
          </a:bodyPr>
          <a:lstStyle/>
          <a:p>
            <a:pPr marL="0" indent="0">
              <a:buNone/>
            </a:pPr>
            <a:r>
              <a:rPr lang="en-US" sz="3600" dirty="0"/>
              <a:t>Ecologists work by asking questions. </a:t>
            </a:r>
          </a:p>
          <a:p>
            <a:r>
              <a:rPr lang="en-US" sz="3600" dirty="0"/>
              <a:t>“What” questions drive initial discovery! </a:t>
            </a:r>
          </a:p>
          <a:p>
            <a:r>
              <a:rPr lang="en-US" sz="3600" dirty="0"/>
              <a:t>Other questions focus on a mechanism or function: “How?”</a:t>
            </a:r>
          </a:p>
          <a:p>
            <a:pPr marL="0" indent="0">
              <a:buNone/>
            </a:pPr>
            <a:endParaRPr lang="en-US" sz="3600" dirty="0"/>
          </a:p>
          <a:p>
            <a:pPr marL="0" indent="0">
              <a:buNone/>
            </a:pPr>
            <a:r>
              <a:rPr lang="en-US" sz="3600" dirty="0"/>
              <a:t>Mechanistic questions are more difficult, but necessary as they explain how the world works.</a:t>
            </a:r>
          </a:p>
        </p:txBody>
      </p:sp>
    </p:spTree>
    <p:extLst>
      <p:ext uri="{BB962C8B-B14F-4D97-AF65-F5344CB8AC3E}">
        <p14:creationId xmlns:p14="http://schemas.microsoft.com/office/powerpoint/2010/main" val="1952606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6C1F-A2A0-B917-37D2-A18D48C313F3}"/>
              </a:ext>
            </a:extLst>
          </p:cNvPr>
          <p:cNvSpPr>
            <a:spLocks noGrp="1"/>
          </p:cNvSpPr>
          <p:nvPr>
            <p:ph type="title"/>
          </p:nvPr>
        </p:nvSpPr>
        <p:spPr/>
        <p:txBody>
          <a:bodyPr>
            <a:normAutofit/>
          </a:bodyPr>
          <a:lstStyle/>
          <a:p>
            <a:r>
              <a:rPr lang="en-US" sz="5400" dirty="0"/>
              <a:t>Questioning Nature</a:t>
            </a:r>
          </a:p>
        </p:txBody>
      </p:sp>
      <p:sp>
        <p:nvSpPr>
          <p:cNvPr id="3" name="Content Placeholder 2">
            <a:extLst>
              <a:ext uri="{FF2B5EF4-FFF2-40B4-BE49-F238E27FC236}">
                <a16:creationId xmlns:a16="http://schemas.microsoft.com/office/drawing/2014/main" id="{4DD3E268-BC9D-6443-0957-20448FF1B7A4}"/>
              </a:ext>
            </a:extLst>
          </p:cNvPr>
          <p:cNvSpPr>
            <a:spLocks noGrp="1"/>
          </p:cNvSpPr>
          <p:nvPr>
            <p:ph idx="1"/>
          </p:nvPr>
        </p:nvSpPr>
        <p:spPr/>
        <p:txBody>
          <a:bodyPr>
            <a:normAutofit/>
          </a:bodyPr>
          <a:lstStyle/>
          <a:p>
            <a:pPr marL="0" indent="0">
              <a:buNone/>
            </a:pPr>
            <a:r>
              <a:rPr lang="en-US" sz="3600" dirty="0"/>
              <a:t>When we question nature, we OBSERVE!</a:t>
            </a:r>
          </a:p>
          <a:p>
            <a:r>
              <a:rPr lang="en-US" sz="3200" dirty="0"/>
              <a:t>Distinguish pattern from chaos: the natural world is diverse, complex, and interconnected.</a:t>
            </a:r>
          </a:p>
          <a:p>
            <a:pPr lvl="1"/>
            <a:r>
              <a:rPr lang="en-US" sz="2800" dirty="0"/>
              <a:t>The natural world is dynamic, but also stable and self-replenishing.</a:t>
            </a:r>
          </a:p>
          <a:p>
            <a:pPr lvl="1"/>
            <a:r>
              <a:rPr lang="en-US" sz="2800" dirty="0"/>
              <a:t>Issues of disturbance and how communities respond to change</a:t>
            </a:r>
          </a:p>
          <a:p>
            <a:r>
              <a:rPr lang="en-US" sz="3200" dirty="0"/>
              <a:t>The natural world is organized by physical and biological processes – we can find </a:t>
            </a:r>
            <a:r>
              <a:rPr lang="en-US" sz="3200" b="1" dirty="0"/>
              <a:t>patterns.</a:t>
            </a:r>
          </a:p>
        </p:txBody>
      </p:sp>
      <p:pic>
        <p:nvPicPr>
          <p:cNvPr id="5" name="Picture 4">
            <a:extLst>
              <a:ext uri="{FF2B5EF4-FFF2-40B4-BE49-F238E27FC236}">
                <a16:creationId xmlns:a16="http://schemas.microsoft.com/office/drawing/2014/main" id="{94411023-555B-2446-FCB8-546F93F7CBBC}"/>
              </a:ext>
            </a:extLst>
          </p:cNvPr>
          <p:cNvPicPr>
            <a:picLocks noChangeAspect="1"/>
          </p:cNvPicPr>
          <p:nvPr/>
        </p:nvPicPr>
        <p:blipFill>
          <a:blip r:embed="rId3"/>
          <a:stretch>
            <a:fillRect/>
          </a:stretch>
        </p:blipFill>
        <p:spPr>
          <a:xfrm>
            <a:off x="9276080" y="365125"/>
            <a:ext cx="2540000" cy="2387600"/>
          </a:xfrm>
          <a:prstGeom prst="rect">
            <a:avLst/>
          </a:prstGeom>
        </p:spPr>
      </p:pic>
    </p:spTree>
    <p:extLst>
      <p:ext uri="{BB962C8B-B14F-4D97-AF65-F5344CB8AC3E}">
        <p14:creationId xmlns:p14="http://schemas.microsoft.com/office/powerpoint/2010/main" val="282702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DD42-EC07-E79B-8EE9-5DA9DC24253E}"/>
              </a:ext>
            </a:extLst>
          </p:cNvPr>
          <p:cNvSpPr>
            <a:spLocks noGrp="1"/>
          </p:cNvSpPr>
          <p:nvPr>
            <p:ph type="title"/>
          </p:nvPr>
        </p:nvSpPr>
        <p:spPr/>
        <p:txBody>
          <a:bodyPr>
            <a:normAutofit/>
          </a:bodyPr>
          <a:lstStyle/>
          <a:p>
            <a:r>
              <a:rPr lang="en-US" sz="5400" dirty="0"/>
              <a:t>Questioning Nature</a:t>
            </a:r>
          </a:p>
        </p:txBody>
      </p:sp>
      <p:sp>
        <p:nvSpPr>
          <p:cNvPr id="3" name="Content Placeholder 2">
            <a:extLst>
              <a:ext uri="{FF2B5EF4-FFF2-40B4-BE49-F238E27FC236}">
                <a16:creationId xmlns:a16="http://schemas.microsoft.com/office/drawing/2014/main" id="{63727F73-B495-4899-E8F7-A2E26009A745}"/>
              </a:ext>
            </a:extLst>
          </p:cNvPr>
          <p:cNvSpPr>
            <a:spLocks noGrp="1"/>
          </p:cNvSpPr>
          <p:nvPr>
            <p:ph idx="1"/>
          </p:nvPr>
        </p:nvSpPr>
        <p:spPr/>
        <p:txBody>
          <a:bodyPr>
            <a:normAutofit/>
          </a:bodyPr>
          <a:lstStyle/>
          <a:p>
            <a:pPr marL="0" indent="0">
              <a:buNone/>
            </a:pPr>
            <a:r>
              <a:rPr lang="en-US" sz="3600" dirty="0"/>
              <a:t>Patterns have two sources of predictability:</a:t>
            </a:r>
          </a:p>
          <a:p>
            <a:r>
              <a:rPr lang="en-US" dirty="0"/>
              <a:t> </a:t>
            </a:r>
            <a:r>
              <a:rPr lang="en-US" sz="3200" dirty="0"/>
              <a:t>Reliance on observation</a:t>
            </a:r>
          </a:p>
          <a:p>
            <a:pPr lvl="1"/>
            <a:r>
              <a:rPr lang="en-US" sz="2800" dirty="0"/>
              <a:t>Predictions made by extrapolating previous observations to new but similar situations</a:t>
            </a:r>
          </a:p>
          <a:p>
            <a:r>
              <a:rPr lang="en-US" sz="3200" dirty="0"/>
              <a:t>Understanding the mechanism</a:t>
            </a:r>
          </a:p>
          <a:p>
            <a:pPr lvl="1"/>
            <a:r>
              <a:rPr lang="en-US" sz="2800" dirty="0"/>
              <a:t>Knowing the form and function of animals and plants allow us to predict what types of animals would exist in unexplored habitat</a:t>
            </a:r>
          </a:p>
        </p:txBody>
      </p:sp>
      <p:pic>
        <p:nvPicPr>
          <p:cNvPr id="5" name="Picture 4">
            <a:extLst>
              <a:ext uri="{FF2B5EF4-FFF2-40B4-BE49-F238E27FC236}">
                <a16:creationId xmlns:a16="http://schemas.microsoft.com/office/drawing/2014/main" id="{83D9CADA-07B8-183D-B3CE-16CC0661720B}"/>
              </a:ext>
            </a:extLst>
          </p:cNvPr>
          <p:cNvPicPr>
            <a:picLocks noChangeAspect="1"/>
          </p:cNvPicPr>
          <p:nvPr/>
        </p:nvPicPr>
        <p:blipFill>
          <a:blip r:embed="rId3"/>
          <a:stretch>
            <a:fillRect/>
          </a:stretch>
        </p:blipFill>
        <p:spPr>
          <a:xfrm>
            <a:off x="9714230" y="0"/>
            <a:ext cx="2019310" cy="2824209"/>
          </a:xfrm>
          <a:prstGeom prst="rect">
            <a:avLst/>
          </a:prstGeom>
        </p:spPr>
      </p:pic>
    </p:spTree>
    <p:extLst>
      <p:ext uri="{BB962C8B-B14F-4D97-AF65-F5344CB8AC3E}">
        <p14:creationId xmlns:p14="http://schemas.microsoft.com/office/powerpoint/2010/main" val="681786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B3D4F-78C5-D0B9-4EE4-5BAD85E5895B}"/>
              </a:ext>
            </a:extLst>
          </p:cNvPr>
          <p:cNvSpPr>
            <a:spLocks noGrp="1"/>
          </p:cNvSpPr>
          <p:nvPr>
            <p:ph type="title"/>
          </p:nvPr>
        </p:nvSpPr>
        <p:spPr/>
        <p:txBody>
          <a:bodyPr>
            <a:normAutofit/>
          </a:bodyPr>
          <a:lstStyle/>
          <a:p>
            <a:r>
              <a:rPr lang="en-US" sz="5400" dirty="0"/>
              <a:t>Questioning Nature</a:t>
            </a:r>
          </a:p>
        </p:txBody>
      </p:sp>
      <p:sp>
        <p:nvSpPr>
          <p:cNvPr id="3" name="Content Placeholder 2">
            <a:extLst>
              <a:ext uri="{FF2B5EF4-FFF2-40B4-BE49-F238E27FC236}">
                <a16:creationId xmlns:a16="http://schemas.microsoft.com/office/drawing/2014/main" id="{715A4D80-818C-E389-9EEC-DFD7C65C68E9}"/>
              </a:ext>
            </a:extLst>
          </p:cNvPr>
          <p:cNvSpPr>
            <a:spLocks noGrp="1"/>
          </p:cNvSpPr>
          <p:nvPr>
            <p:ph idx="1"/>
          </p:nvPr>
        </p:nvSpPr>
        <p:spPr/>
        <p:txBody>
          <a:bodyPr/>
          <a:lstStyle/>
          <a:p>
            <a:r>
              <a:rPr lang="en-US" sz="3600" dirty="0"/>
              <a:t>Patterns can be understood in terms of evolution by natural selection</a:t>
            </a:r>
          </a:p>
          <a:p>
            <a:pPr lvl="1"/>
            <a:r>
              <a:rPr lang="en-US" sz="3200" dirty="0"/>
              <a:t>Variety in form and function in a species</a:t>
            </a:r>
          </a:p>
          <a:p>
            <a:pPr lvl="1"/>
            <a:r>
              <a:rPr lang="en-US" sz="3200" dirty="0"/>
              <a:t>Nature “selects” for those traits that lead to successful reproduction</a:t>
            </a:r>
          </a:p>
          <a:p>
            <a:pPr lvl="1"/>
            <a:r>
              <a:rPr lang="en-US" sz="3200" dirty="0"/>
              <a:t>This is how adaptation occurs</a:t>
            </a:r>
          </a:p>
          <a:p>
            <a:pPr lvl="1"/>
            <a:r>
              <a:rPr lang="en-US" sz="3200" dirty="0"/>
              <a:t>Selection favors traits that give organisms an advantage in nature</a:t>
            </a:r>
          </a:p>
          <a:p>
            <a:endParaRPr lang="en-US" dirty="0"/>
          </a:p>
        </p:txBody>
      </p:sp>
    </p:spTree>
    <p:extLst>
      <p:ext uri="{BB962C8B-B14F-4D97-AF65-F5344CB8AC3E}">
        <p14:creationId xmlns:p14="http://schemas.microsoft.com/office/powerpoint/2010/main" val="3118335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E9B8-5CDE-8544-FDBE-78BBFC901B0B}"/>
              </a:ext>
            </a:extLst>
          </p:cNvPr>
          <p:cNvSpPr>
            <a:spLocks noGrp="1"/>
          </p:cNvSpPr>
          <p:nvPr>
            <p:ph type="title"/>
          </p:nvPr>
        </p:nvSpPr>
        <p:spPr/>
        <p:txBody>
          <a:bodyPr>
            <a:normAutofit/>
          </a:bodyPr>
          <a:lstStyle/>
          <a:p>
            <a:r>
              <a:rPr lang="en-US" sz="5400" dirty="0"/>
              <a:t>Perception in Ecology</a:t>
            </a:r>
          </a:p>
        </p:txBody>
      </p:sp>
      <p:sp>
        <p:nvSpPr>
          <p:cNvPr id="3" name="Content Placeholder 2">
            <a:extLst>
              <a:ext uri="{FF2B5EF4-FFF2-40B4-BE49-F238E27FC236}">
                <a16:creationId xmlns:a16="http://schemas.microsoft.com/office/drawing/2014/main" id="{CCC317D4-278B-B97C-A28F-033644809BB9}"/>
              </a:ext>
            </a:extLst>
          </p:cNvPr>
          <p:cNvSpPr>
            <a:spLocks noGrp="1"/>
          </p:cNvSpPr>
          <p:nvPr>
            <p:ph idx="1"/>
          </p:nvPr>
        </p:nvSpPr>
        <p:spPr/>
        <p:txBody>
          <a:bodyPr>
            <a:normAutofit/>
          </a:bodyPr>
          <a:lstStyle/>
          <a:p>
            <a:pPr marL="0" indent="0">
              <a:buNone/>
            </a:pPr>
            <a:r>
              <a:rPr lang="en-US" sz="3600" dirty="0"/>
              <a:t>Our mode of existence influences our perspective of time and space!</a:t>
            </a:r>
          </a:p>
          <a:p>
            <a:r>
              <a:rPr lang="en-US" sz="3600" dirty="0"/>
              <a:t>Perception of distance is different for us than a housefly</a:t>
            </a:r>
          </a:p>
          <a:p>
            <a:r>
              <a:rPr lang="en-US" sz="3600" dirty="0"/>
              <a:t>A few decades are a lifetime for us, while a redwood tree exists for centuries</a:t>
            </a:r>
          </a:p>
        </p:txBody>
      </p:sp>
    </p:spTree>
    <p:extLst>
      <p:ext uri="{BB962C8B-B14F-4D97-AF65-F5344CB8AC3E}">
        <p14:creationId xmlns:p14="http://schemas.microsoft.com/office/powerpoint/2010/main" val="2258877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FCA06-8FE4-E7A5-3DF0-6D1B2A78BF85}"/>
              </a:ext>
            </a:extLst>
          </p:cNvPr>
          <p:cNvSpPr>
            <a:spLocks noGrp="1"/>
          </p:cNvSpPr>
          <p:nvPr>
            <p:ph type="title"/>
          </p:nvPr>
        </p:nvSpPr>
        <p:spPr/>
        <p:txBody>
          <a:bodyPr>
            <a:normAutofit/>
          </a:bodyPr>
          <a:lstStyle/>
          <a:p>
            <a:r>
              <a:rPr lang="en-US" sz="5400" dirty="0"/>
              <a:t>Natural history and human impacts</a:t>
            </a:r>
          </a:p>
        </p:txBody>
      </p:sp>
      <p:sp>
        <p:nvSpPr>
          <p:cNvPr id="3" name="Content Placeholder 2">
            <a:extLst>
              <a:ext uri="{FF2B5EF4-FFF2-40B4-BE49-F238E27FC236}">
                <a16:creationId xmlns:a16="http://schemas.microsoft.com/office/drawing/2014/main" id="{BB0E2AF5-DB28-D919-BEA7-D50F198EBEE3}"/>
              </a:ext>
            </a:extLst>
          </p:cNvPr>
          <p:cNvSpPr>
            <a:spLocks noGrp="1"/>
          </p:cNvSpPr>
          <p:nvPr>
            <p:ph idx="1"/>
          </p:nvPr>
        </p:nvSpPr>
        <p:spPr/>
        <p:txBody>
          <a:bodyPr>
            <a:noAutofit/>
          </a:bodyPr>
          <a:lstStyle/>
          <a:p>
            <a:pPr marL="0" indent="0">
              <a:buNone/>
            </a:pPr>
            <a:r>
              <a:rPr lang="en-US" sz="3200" dirty="0"/>
              <a:t>Natural history forms the basis of ecological inquiry</a:t>
            </a:r>
          </a:p>
          <a:p>
            <a:r>
              <a:rPr lang="en-US" sz="3200" dirty="0"/>
              <a:t>Describes the activity, characteristics and role of an organism in the environment</a:t>
            </a:r>
          </a:p>
          <a:p>
            <a:r>
              <a:rPr lang="en-US" sz="3200" dirty="0"/>
              <a:t>Often, our curiosity about an animal or plant drives our mode of inquiry</a:t>
            </a:r>
          </a:p>
          <a:p>
            <a:pPr marL="0" indent="0">
              <a:buNone/>
            </a:pPr>
            <a:r>
              <a:rPr lang="en-US" sz="3200" dirty="0"/>
              <a:t>Nature is affected by human activity (Issues of disturbance?)</a:t>
            </a:r>
          </a:p>
          <a:p>
            <a:r>
              <a:rPr lang="en-US" sz="3200" dirty="0"/>
              <a:t>Incidence of forest fire</a:t>
            </a:r>
          </a:p>
          <a:p>
            <a:r>
              <a:rPr lang="en-US" sz="3200" dirty="0"/>
              <a:t>Habitat simplification</a:t>
            </a:r>
          </a:p>
        </p:txBody>
      </p:sp>
    </p:spTree>
    <p:extLst>
      <p:ext uri="{BB962C8B-B14F-4D97-AF65-F5344CB8AC3E}">
        <p14:creationId xmlns:p14="http://schemas.microsoft.com/office/powerpoint/2010/main" val="1626575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E0ED-B412-3EA4-EAF8-19065D989C0C}"/>
              </a:ext>
            </a:extLst>
          </p:cNvPr>
          <p:cNvSpPr>
            <a:spLocks noGrp="1"/>
          </p:cNvSpPr>
          <p:nvPr>
            <p:ph type="title"/>
          </p:nvPr>
        </p:nvSpPr>
        <p:spPr/>
        <p:txBody>
          <a:bodyPr>
            <a:normAutofit/>
          </a:bodyPr>
          <a:lstStyle/>
          <a:p>
            <a:r>
              <a:rPr lang="en-US" sz="5400" dirty="0"/>
              <a:t>Scientific Method</a:t>
            </a:r>
          </a:p>
        </p:txBody>
      </p:sp>
      <p:sp>
        <p:nvSpPr>
          <p:cNvPr id="3" name="Content Placeholder 2">
            <a:extLst>
              <a:ext uri="{FF2B5EF4-FFF2-40B4-BE49-F238E27FC236}">
                <a16:creationId xmlns:a16="http://schemas.microsoft.com/office/drawing/2014/main" id="{AA58692E-15E9-9FD3-7E2F-A2F788DACF66}"/>
              </a:ext>
            </a:extLst>
          </p:cNvPr>
          <p:cNvSpPr>
            <a:spLocks noGrp="1"/>
          </p:cNvSpPr>
          <p:nvPr>
            <p:ph idx="1"/>
          </p:nvPr>
        </p:nvSpPr>
        <p:spPr/>
        <p:txBody>
          <a:bodyPr>
            <a:normAutofit/>
          </a:bodyPr>
          <a:lstStyle/>
          <a:p>
            <a:pPr marL="0" indent="0">
              <a:buNone/>
            </a:pPr>
            <a:r>
              <a:rPr lang="en-US" sz="3600" b="1" dirty="0"/>
              <a:t>5 Steps:</a:t>
            </a:r>
          </a:p>
          <a:p>
            <a:pPr marL="514350" indent="-514350">
              <a:buAutoNum type="arabicPeriod"/>
            </a:pPr>
            <a:r>
              <a:rPr lang="en-US" dirty="0"/>
              <a:t>Observe some aspect of the natural world</a:t>
            </a:r>
          </a:p>
          <a:p>
            <a:pPr marL="514350" indent="-514350">
              <a:buAutoNum type="arabicPeriod"/>
            </a:pPr>
            <a:r>
              <a:rPr lang="en-US" dirty="0"/>
              <a:t>Invent a tentative description, called a hypothesis, that is consistent with what you have observed</a:t>
            </a:r>
          </a:p>
          <a:p>
            <a:pPr marL="514350" indent="-514350">
              <a:buAutoNum type="arabicPeriod"/>
            </a:pPr>
            <a:r>
              <a:rPr lang="en-US" dirty="0"/>
              <a:t>Use the hypothesis to make predictions</a:t>
            </a:r>
          </a:p>
          <a:p>
            <a:pPr marL="514350" indent="-514350">
              <a:buAutoNum type="arabicPeriod"/>
            </a:pPr>
            <a:r>
              <a:rPr lang="en-US" dirty="0"/>
              <a:t>Test those predictions by experiments or further observations and modify the hypothesis in the light of your results</a:t>
            </a:r>
          </a:p>
          <a:p>
            <a:pPr marL="514350" indent="-514350">
              <a:buAutoNum type="arabicPeriod"/>
            </a:pPr>
            <a:r>
              <a:rPr lang="en-US" dirty="0"/>
              <a:t>Repeat steps 3 and 4 until there are no discrepancies between theory and experiment and/or observation</a:t>
            </a:r>
          </a:p>
        </p:txBody>
      </p:sp>
      <p:pic>
        <p:nvPicPr>
          <p:cNvPr id="5" name="Picture 4">
            <a:extLst>
              <a:ext uri="{FF2B5EF4-FFF2-40B4-BE49-F238E27FC236}">
                <a16:creationId xmlns:a16="http://schemas.microsoft.com/office/drawing/2014/main" id="{D261F6C1-6568-7BD5-7D6F-DCB9111853D9}"/>
              </a:ext>
            </a:extLst>
          </p:cNvPr>
          <p:cNvPicPr>
            <a:picLocks noChangeAspect="1"/>
          </p:cNvPicPr>
          <p:nvPr/>
        </p:nvPicPr>
        <p:blipFill>
          <a:blip r:embed="rId2"/>
          <a:stretch>
            <a:fillRect/>
          </a:stretch>
        </p:blipFill>
        <p:spPr>
          <a:xfrm>
            <a:off x="8956040" y="274955"/>
            <a:ext cx="2565400" cy="2501265"/>
          </a:xfrm>
          <a:prstGeom prst="rect">
            <a:avLst/>
          </a:prstGeom>
        </p:spPr>
      </p:pic>
    </p:spTree>
    <p:extLst>
      <p:ext uri="{BB962C8B-B14F-4D97-AF65-F5344CB8AC3E}">
        <p14:creationId xmlns:p14="http://schemas.microsoft.com/office/powerpoint/2010/main" val="453160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7C14-4BEE-5AC1-4E7E-1B00F652022A}"/>
              </a:ext>
            </a:extLst>
          </p:cNvPr>
          <p:cNvSpPr>
            <a:spLocks noGrp="1"/>
          </p:cNvSpPr>
          <p:nvPr>
            <p:ph type="title"/>
          </p:nvPr>
        </p:nvSpPr>
        <p:spPr/>
        <p:txBody>
          <a:bodyPr>
            <a:normAutofit/>
          </a:bodyPr>
          <a:lstStyle/>
          <a:p>
            <a:r>
              <a:rPr lang="en-US" sz="5400" dirty="0"/>
              <a:t>Scientific Method Example</a:t>
            </a:r>
          </a:p>
        </p:txBody>
      </p:sp>
      <p:sp>
        <p:nvSpPr>
          <p:cNvPr id="3" name="Content Placeholder 2">
            <a:extLst>
              <a:ext uri="{FF2B5EF4-FFF2-40B4-BE49-F238E27FC236}">
                <a16:creationId xmlns:a16="http://schemas.microsoft.com/office/drawing/2014/main" id="{EA2F260C-BE2D-935E-5F87-ECB14A34CC56}"/>
              </a:ext>
            </a:extLst>
          </p:cNvPr>
          <p:cNvSpPr>
            <a:spLocks noGrp="1"/>
          </p:cNvSpPr>
          <p:nvPr>
            <p:ph idx="1"/>
          </p:nvPr>
        </p:nvSpPr>
        <p:spPr/>
        <p:txBody>
          <a:bodyPr>
            <a:normAutofit fontScale="85000" lnSpcReduction="20000"/>
          </a:bodyPr>
          <a:lstStyle/>
          <a:p>
            <a:pPr marL="0" indent="0">
              <a:buNone/>
            </a:pPr>
            <a:r>
              <a:rPr lang="en-US" dirty="0"/>
              <a:t>You have a bowling ball and a feather, Which one will hit the ground first if both are dropped from the same height at the same time? </a:t>
            </a:r>
          </a:p>
          <a:p>
            <a:r>
              <a:rPr lang="en-US" dirty="0"/>
              <a:t>Hypothesis: "I believe that the bowling ball will hit the ground before the feather if I drop them both from the same height at the same time.”</a:t>
            </a:r>
          </a:p>
          <a:p>
            <a:pPr marL="0" indent="0">
              <a:buNone/>
            </a:pPr>
            <a:r>
              <a:rPr lang="en-US" dirty="0"/>
              <a:t>Drop the bowling ball and the feather a number of times, collecting data by keeping track of which item hit the ground first each time. After dropping the ball and the feather 5 times, sum up the number of times each item hit the ground first.</a:t>
            </a:r>
          </a:p>
          <a:p>
            <a:pPr marL="0" indent="0">
              <a:buNone/>
            </a:pPr>
            <a:r>
              <a:rPr lang="en-US" dirty="0"/>
              <a:t>Finally, after demonstrating that the ball hit first each of the five times, the person could conclude that their hypothesis appears correct, the bowling ball DOES hit the ground first!!</a:t>
            </a:r>
          </a:p>
          <a:p>
            <a:pPr marL="0" indent="0">
              <a:buNone/>
            </a:pPr>
            <a:endParaRPr lang="en-US" dirty="0"/>
          </a:p>
          <a:p>
            <a:pPr marL="0" indent="0">
              <a:buNone/>
            </a:pPr>
            <a:r>
              <a:rPr lang="en-US" dirty="0"/>
              <a:t>So, often data is collected to test a hypothesis, and the analysis of the data is used to prove or disprove the theory.</a:t>
            </a:r>
          </a:p>
        </p:txBody>
      </p:sp>
    </p:spTree>
    <p:extLst>
      <p:ext uri="{BB962C8B-B14F-4D97-AF65-F5344CB8AC3E}">
        <p14:creationId xmlns:p14="http://schemas.microsoft.com/office/powerpoint/2010/main" val="3141437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0CA5-E146-C8F8-A3D1-D301DB7FFE06}"/>
              </a:ext>
            </a:extLst>
          </p:cNvPr>
          <p:cNvSpPr>
            <a:spLocks noGrp="1"/>
          </p:cNvSpPr>
          <p:nvPr>
            <p:ph type="title"/>
          </p:nvPr>
        </p:nvSpPr>
        <p:spPr>
          <a:xfrm>
            <a:off x="274320" y="334645"/>
            <a:ext cx="6903720" cy="1325563"/>
          </a:xfrm>
        </p:spPr>
        <p:txBody>
          <a:bodyPr>
            <a:normAutofit/>
          </a:bodyPr>
          <a:lstStyle/>
          <a:p>
            <a:r>
              <a:rPr lang="en-US" sz="4800" dirty="0"/>
              <a:t>Tardiff and Stanford 1998</a:t>
            </a:r>
          </a:p>
        </p:txBody>
      </p:sp>
      <p:sp>
        <p:nvSpPr>
          <p:cNvPr id="3" name="Content Placeholder 2">
            <a:extLst>
              <a:ext uri="{FF2B5EF4-FFF2-40B4-BE49-F238E27FC236}">
                <a16:creationId xmlns:a16="http://schemas.microsoft.com/office/drawing/2014/main" id="{5A316E4D-28AF-A520-EF54-74D19F860D3F}"/>
              </a:ext>
            </a:extLst>
          </p:cNvPr>
          <p:cNvSpPr>
            <a:spLocks noGrp="1"/>
          </p:cNvSpPr>
          <p:nvPr>
            <p:ph idx="1"/>
          </p:nvPr>
        </p:nvSpPr>
        <p:spPr>
          <a:xfrm>
            <a:off x="556260" y="1795145"/>
            <a:ext cx="6339840" cy="4351338"/>
          </a:xfrm>
        </p:spPr>
        <p:txBody>
          <a:bodyPr>
            <a:noAutofit/>
          </a:bodyPr>
          <a:lstStyle/>
          <a:p>
            <a:r>
              <a:rPr lang="en-US" sz="3600" dirty="0"/>
              <a:t>Please get into 3 groups!</a:t>
            </a:r>
          </a:p>
          <a:p>
            <a:r>
              <a:rPr lang="en-US" sz="3600" dirty="0"/>
              <a:t>15 minutes to read/skim paper and discuss with classmates</a:t>
            </a:r>
          </a:p>
          <a:p>
            <a:r>
              <a:rPr lang="en-US" sz="3600" dirty="0"/>
              <a:t>Questions we will talk about are on next slide – each group will get two questions to discuss, and then share out with the class!</a:t>
            </a:r>
          </a:p>
        </p:txBody>
      </p:sp>
      <p:pic>
        <p:nvPicPr>
          <p:cNvPr id="5" name="Picture 4">
            <a:extLst>
              <a:ext uri="{FF2B5EF4-FFF2-40B4-BE49-F238E27FC236}">
                <a16:creationId xmlns:a16="http://schemas.microsoft.com/office/drawing/2014/main" id="{A97D8049-0530-B717-464A-023072FCB23A}"/>
              </a:ext>
            </a:extLst>
          </p:cNvPr>
          <p:cNvPicPr>
            <a:picLocks noChangeAspect="1"/>
          </p:cNvPicPr>
          <p:nvPr/>
        </p:nvPicPr>
        <p:blipFill>
          <a:blip r:embed="rId2"/>
          <a:stretch>
            <a:fillRect/>
          </a:stretch>
        </p:blipFill>
        <p:spPr>
          <a:xfrm>
            <a:off x="7384532" y="0"/>
            <a:ext cx="4807468" cy="6858000"/>
          </a:xfrm>
          <a:prstGeom prst="rect">
            <a:avLst/>
          </a:prstGeom>
        </p:spPr>
      </p:pic>
    </p:spTree>
    <p:extLst>
      <p:ext uri="{BB962C8B-B14F-4D97-AF65-F5344CB8AC3E}">
        <p14:creationId xmlns:p14="http://schemas.microsoft.com/office/powerpoint/2010/main" val="2598445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E3D0-AF77-1351-31ED-BA93EEE240DF}"/>
              </a:ext>
            </a:extLst>
          </p:cNvPr>
          <p:cNvSpPr>
            <a:spLocks noGrp="1"/>
          </p:cNvSpPr>
          <p:nvPr>
            <p:ph type="title"/>
          </p:nvPr>
        </p:nvSpPr>
        <p:spPr/>
        <p:txBody>
          <a:bodyPr>
            <a:normAutofit/>
          </a:bodyPr>
          <a:lstStyle/>
          <a:p>
            <a:r>
              <a:rPr lang="en-US" sz="5400" dirty="0"/>
              <a:t>Tardiff and Stanford 1998 Discussion</a:t>
            </a:r>
          </a:p>
        </p:txBody>
      </p:sp>
      <p:sp>
        <p:nvSpPr>
          <p:cNvPr id="3" name="Content Placeholder 2">
            <a:extLst>
              <a:ext uri="{FF2B5EF4-FFF2-40B4-BE49-F238E27FC236}">
                <a16:creationId xmlns:a16="http://schemas.microsoft.com/office/drawing/2014/main" id="{4B57E681-97B3-25EF-7B89-1382B020F68A}"/>
              </a:ext>
            </a:extLst>
          </p:cNvPr>
          <p:cNvSpPr>
            <a:spLocks noGrp="1"/>
          </p:cNvSpPr>
          <p:nvPr>
            <p:ph idx="1"/>
          </p:nvPr>
        </p:nvSpPr>
        <p:spPr/>
        <p:txBody>
          <a:bodyPr>
            <a:normAutofit lnSpcReduction="10000"/>
          </a:bodyPr>
          <a:lstStyle/>
          <a:p>
            <a:pPr marL="514350" indent="-514350">
              <a:buAutoNum type="arabicPeriod"/>
            </a:pPr>
            <a:r>
              <a:rPr lang="en-US" sz="3600" dirty="0"/>
              <a:t>What pattern were they observing prior to doing the experiment?</a:t>
            </a:r>
          </a:p>
          <a:p>
            <a:pPr marL="514350" indent="-514350">
              <a:buAutoNum type="arabicPeriod"/>
            </a:pPr>
            <a:r>
              <a:rPr lang="en-US" sz="3600" dirty="0"/>
              <a:t>What were the hypotheses?</a:t>
            </a:r>
          </a:p>
          <a:p>
            <a:pPr marL="514350" indent="-514350">
              <a:buAutoNum type="arabicPeriod"/>
            </a:pPr>
            <a:r>
              <a:rPr lang="en-US" sz="3600" dirty="0"/>
              <a:t>How did they test them?</a:t>
            </a:r>
          </a:p>
          <a:p>
            <a:pPr marL="514350" indent="-514350">
              <a:buAutoNum type="arabicPeriod"/>
            </a:pPr>
            <a:r>
              <a:rPr lang="en-US" sz="3600" dirty="0"/>
              <a:t>What was their control?</a:t>
            </a:r>
          </a:p>
          <a:p>
            <a:pPr marL="514350" indent="-514350">
              <a:buAutoNum type="arabicPeriod"/>
            </a:pPr>
            <a:r>
              <a:rPr lang="en-US" sz="3600" dirty="0"/>
              <a:t>What was their conclusion?</a:t>
            </a:r>
          </a:p>
          <a:p>
            <a:pPr marL="514350" indent="-514350">
              <a:buAutoNum type="arabicPeriod"/>
            </a:pPr>
            <a:r>
              <a:rPr lang="en-US" sz="3600" dirty="0"/>
              <a:t>What did they suggest should be incorporated in future studies of this nature?</a:t>
            </a:r>
          </a:p>
          <a:p>
            <a:endParaRPr lang="en-US" dirty="0"/>
          </a:p>
        </p:txBody>
      </p:sp>
      <p:pic>
        <p:nvPicPr>
          <p:cNvPr id="5" name="Picture 4">
            <a:extLst>
              <a:ext uri="{FF2B5EF4-FFF2-40B4-BE49-F238E27FC236}">
                <a16:creationId xmlns:a16="http://schemas.microsoft.com/office/drawing/2014/main" id="{FB62E6A9-AB3D-4B83-CF7B-69D6F01B4010}"/>
              </a:ext>
            </a:extLst>
          </p:cNvPr>
          <p:cNvPicPr>
            <a:picLocks noChangeAspect="1"/>
          </p:cNvPicPr>
          <p:nvPr/>
        </p:nvPicPr>
        <p:blipFill>
          <a:blip r:embed="rId3"/>
          <a:stretch>
            <a:fillRect/>
          </a:stretch>
        </p:blipFill>
        <p:spPr>
          <a:xfrm>
            <a:off x="8209280" y="2346808"/>
            <a:ext cx="3144520" cy="2735732"/>
          </a:xfrm>
          <a:prstGeom prst="rect">
            <a:avLst/>
          </a:prstGeom>
        </p:spPr>
      </p:pic>
    </p:spTree>
    <p:extLst>
      <p:ext uri="{BB962C8B-B14F-4D97-AF65-F5344CB8AC3E}">
        <p14:creationId xmlns:p14="http://schemas.microsoft.com/office/powerpoint/2010/main" val="3625054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72E380-E414-4591-B00D-37A203EF1C56}"/>
              </a:ext>
            </a:extLst>
          </p:cNvPr>
          <p:cNvPicPr>
            <a:picLocks noGrp="1" noChangeAspect="1"/>
          </p:cNvPicPr>
          <p:nvPr>
            <p:ph idx="1"/>
          </p:nvPr>
        </p:nvPicPr>
        <p:blipFill>
          <a:blip r:embed="rId3"/>
          <a:stretch>
            <a:fillRect/>
          </a:stretch>
        </p:blipFill>
        <p:spPr>
          <a:xfrm>
            <a:off x="777240" y="532497"/>
            <a:ext cx="4038600" cy="5509529"/>
          </a:xfrm>
          <a:prstGeom prst="rect">
            <a:avLst/>
          </a:prstGeom>
        </p:spPr>
      </p:pic>
      <p:pic>
        <p:nvPicPr>
          <p:cNvPr id="7" name="Picture 6">
            <a:extLst>
              <a:ext uri="{FF2B5EF4-FFF2-40B4-BE49-F238E27FC236}">
                <a16:creationId xmlns:a16="http://schemas.microsoft.com/office/drawing/2014/main" id="{3F12DDB2-71F4-3032-FC7F-B9E358D5D673}"/>
              </a:ext>
            </a:extLst>
          </p:cNvPr>
          <p:cNvPicPr>
            <a:picLocks noChangeAspect="1"/>
          </p:cNvPicPr>
          <p:nvPr/>
        </p:nvPicPr>
        <p:blipFill>
          <a:blip r:embed="rId4"/>
          <a:stretch>
            <a:fillRect/>
          </a:stretch>
        </p:blipFill>
        <p:spPr>
          <a:xfrm>
            <a:off x="6774180" y="496558"/>
            <a:ext cx="4229100" cy="5864884"/>
          </a:xfrm>
          <a:prstGeom prst="rect">
            <a:avLst/>
          </a:prstGeom>
        </p:spPr>
      </p:pic>
    </p:spTree>
    <p:extLst>
      <p:ext uri="{BB962C8B-B14F-4D97-AF65-F5344CB8AC3E}">
        <p14:creationId xmlns:p14="http://schemas.microsoft.com/office/powerpoint/2010/main" val="2131895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416C37B-4BFC-C322-C269-CE317F77AF02}"/>
              </a:ext>
            </a:extLst>
          </p:cNvPr>
          <p:cNvPicPr>
            <a:picLocks noGrp="1" noChangeAspect="1"/>
          </p:cNvPicPr>
          <p:nvPr>
            <p:ph idx="1"/>
          </p:nvPr>
        </p:nvPicPr>
        <p:blipFill>
          <a:blip r:embed="rId3"/>
          <a:stretch>
            <a:fillRect/>
          </a:stretch>
        </p:blipFill>
        <p:spPr>
          <a:xfrm>
            <a:off x="346710" y="1653876"/>
            <a:ext cx="4133850" cy="3550248"/>
          </a:xfrm>
          <a:prstGeom prst="rect">
            <a:avLst/>
          </a:prstGeom>
        </p:spPr>
      </p:pic>
      <p:pic>
        <p:nvPicPr>
          <p:cNvPr id="7" name="Picture 6">
            <a:extLst>
              <a:ext uri="{FF2B5EF4-FFF2-40B4-BE49-F238E27FC236}">
                <a16:creationId xmlns:a16="http://schemas.microsoft.com/office/drawing/2014/main" id="{DBB083E9-C701-C8D0-E3E1-38A6DF543BE4}"/>
              </a:ext>
            </a:extLst>
          </p:cNvPr>
          <p:cNvPicPr>
            <a:picLocks noChangeAspect="1"/>
          </p:cNvPicPr>
          <p:nvPr/>
        </p:nvPicPr>
        <p:blipFill>
          <a:blip r:embed="rId4"/>
          <a:stretch>
            <a:fillRect/>
          </a:stretch>
        </p:blipFill>
        <p:spPr>
          <a:xfrm>
            <a:off x="4950710" y="893445"/>
            <a:ext cx="6894580" cy="5071110"/>
          </a:xfrm>
          <a:prstGeom prst="rect">
            <a:avLst/>
          </a:prstGeom>
        </p:spPr>
      </p:pic>
    </p:spTree>
    <p:extLst>
      <p:ext uri="{BB962C8B-B14F-4D97-AF65-F5344CB8AC3E}">
        <p14:creationId xmlns:p14="http://schemas.microsoft.com/office/powerpoint/2010/main" val="35914318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944F-27B1-EFB4-B965-E5C6270B818A}"/>
              </a:ext>
            </a:extLst>
          </p:cNvPr>
          <p:cNvSpPr>
            <a:spLocks noGrp="1"/>
          </p:cNvSpPr>
          <p:nvPr>
            <p:ph type="title"/>
          </p:nvPr>
        </p:nvSpPr>
        <p:spPr/>
        <p:txBody>
          <a:bodyPr>
            <a:normAutofit/>
          </a:bodyPr>
          <a:lstStyle/>
          <a:p>
            <a:r>
              <a:rPr lang="en-US" sz="5400" dirty="0"/>
              <a:t>What is statistics?</a:t>
            </a:r>
          </a:p>
        </p:txBody>
      </p:sp>
      <p:sp>
        <p:nvSpPr>
          <p:cNvPr id="3" name="Content Placeholder 2">
            <a:extLst>
              <a:ext uri="{FF2B5EF4-FFF2-40B4-BE49-F238E27FC236}">
                <a16:creationId xmlns:a16="http://schemas.microsoft.com/office/drawing/2014/main" id="{914FBC5F-FB94-CA75-8621-D234BF39EA57}"/>
              </a:ext>
            </a:extLst>
          </p:cNvPr>
          <p:cNvSpPr>
            <a:spLocks noGrp="1"/>
          </p:cNvSpPr>
          <p:nvPr>
            <p:ph idx="1"/>
          </p:nvPr>
        </p:nvSpPr>
        <p:spPr>
          <a:xfrm>
            <a:off x="838200" y="1825625"/>
            <a:ext cx="5821680" cy="4351338"/>
          </a:xfrm>
        </p:spPr>
        <p:txBody>
          <a:bodyPr>
            <a:normAutofit fontScale="92500" lnSpcReduction="20000"/>
          </a:bodyPr>
          <a:lstStyle/>
          <a:p>
            <a:pPr marL="0" indent="0">
              <a:buNone/>
            </a:pPr>
            <a:r>
              <a:rPr lang="en-US" sz="3600" b="1" dirty="0"/>
              <a:t>“Statistics </a:t>
            </a:r>
            <a:r>
              <a:rPr lang="en-US" sz="3600" dirty="0"/>
              <a:t>is the study of methods to describe and measure aspects of nature from samples. Crucially, statistics gives us tools to </a:t>
            </a:r>
            <a:r>
              <a:rPr lang="en-US" sz="3600" i="1" dirty="0"/>
              <a:t>quantify the uncertainty </a:t>
            </a:r>
            <a:r>
              <a:rPr lang="en-US" sz="3600" dirty="0"/>
              <a:t>of these measures—that is, statistics makes it possible to determine the likely magnitude of a measure’s departure from the truth.” </a:t>
            </a:r>
            <a:endParaRPr lang="en-US" sz="3600" dirty="0">
              <a:effectLst/>
            </a:endParaRPr>
          </a:p>
          <a:p>
            <a:pPr marL="0" indent="0">
              <a:buNone/>
            </a:pPr>
            <a:endParaRPr lang="en-US" dirty="0"/>
          </a:p>
        </p:txBody>
      </p:sp>
      <p:pic>
        <p:nvPicPr>
          <p:cNvPr id="5" name="Picture 4">
            <a:extLst>
              <a:ext uri="{FF2B5EF4-FFF2-40B4-BE49-F238E27FC236}">
                <a16:creationId xmlns:a16="http://schemas.microsoft.com/office/drawing/2014/main" id="{5F7EF070-AABB-1FC9-B62D-FB68DA69588A}"/>
              </a:ext>
            </a:extLst>
          </p:cNvPr>
          <p:cNvPicPr>
            <a:picLocks noChangeAspect="1"/>
          </p:cNvPicPr>
          <p:nvPr/>
        </p:nvPicPr>
        <p:blipFill>
          <a:blip r:embed="rId2"/>
          <a:stretch>
            <a:fillRect/>
          </a:stretch>
        </p:blipFill>
        <p:spPr>
          <a:xfrm>
            <a:off x="7340330" y="0"/>
            <a:ext cx="4851670" cy="6858000"/>
          </a:xfrm>
          <a:prstGeom prst="rect">
            <a:avLst/>
          </a:prstGeom>
        </p:spPr>
      </p:pic>
    </p:spTree>
    <p:extLst>
      <p:ext uri="{BB962C8B-B14F-4D97-AF65-F5344CB8AC3E}">
        <p14:creationId xmlns:p14="http://schemas.microsoft.com/office/powerpoint/2010/main" val="16091710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184C4-5FA1-6090-F84E-E23548ECB17D}"/>
              </a:ext>
            </a:extLst>
          </p:cNvPr>
          <p:cNvSpPr>
            <a:spLocks noGrp="1"/>
          </p:cNvSpPr>
          <p:nvPr>
            <p:ph type="title"/>
          </p:nvPr>
        </p:nvSpPr>
        <p:spPr>
          <a:xfrm>
            <a:off x="6096000" y="1310640"/>
            <a:ext cx="5593080" cy="4236720"/>
          </a:xfrm>
        </p:spPr>
        <p:txBody>
          <a:bodyPr>
            <a:normAutofit/>
          </a:bodyPr>
          <a:lstStyle/>
          <a:p>
            <a:r>
              <a:rPr lang="en-US" dirty="0"/>
              <a:t>Statistics is a toolbox. I am going to give you some tools – not a finished house!</a:t>
            </a:r>
          </a:p>
        </p:txBody>
      </p:sp>
      <p:pic>
        <p:nvPicPr>
          <p:cNvPr id="6" name="Picture 5">
            <a:extLst>
              <a:ext uri="{FF2B5EF4-FFF2-40B4-BE49-F238E27FC236}">
                <a16:creationId xmlns:a16="http://schemas.microsoft.com/office/drawing/2014/main" id="{B7B6FDF2-A1EC-61A1-5113-BFD0FC0339FE}"/>
              </a:ext>
            </a:extLst>
          </p:cNvPr>
          <p:cNvPicPr>
            <a:picLocks noChangeAspect="1"/>
          </p:cNvPicPr>
          <p:nvPr/>
        </p:nvPicPr>
        <p:blipFill>
          <a:blip r:embed="rId2"/>
          <a:stretch>
            <a:fillRect/>
          </a:stretch>
        </p:blipFill>
        <p:spPr>
          <a:xfrm>
            <a:off x="1143000" y="1698498"/>
            <a:ext cx="3845560" cy="3461004"/>
          </a:xfrm>
          <a:prstGeom prst="rect">
            <a:avLst/>
          </a:prstGeom>
        </p:spPr>
      </p:pic>
    </p:spTree>
    <p:extLst>
      <p:ext uri="{BB962C8B-B14F-4D97-AF65-F5344CB8AC3E}">
        <p14:creationId xmlns:p14="http://schemas.microsoft.com/office/powerpoint/2010/main" val="4004787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D7D0-6728-4F03-74A4-BC0D3CF3BBBD}"/>
              </a:ext>
            </a:extLst>
          </p:cNvPr>
          <p:cNvSpPr>
            <a:spLocks noGrp="1"/>
          </p:cNvSpPr>
          <p:nvPr>
            <p:ph type="title"/>
          </p:nvPr>
        </p:nvSpPr>
        <p:spPr/>
        <p:txBody>
          <a:bodyPr>
            <a:normAutofit/>
          </a:bodyPr>
          <a:lstStyle/>
          <a:p>
            <a:r>
              <a:rPr lang="en-US" sz="5400" dirty="0"/>
              <a:t>JASP and R</a:t>
            </a:r>
          </a:p>
        </p:txBody>
      </p:sp>
      <p:sp>
        <p:nvSpPr>
          <p:cNvPr id="3" name="Content Placeholder 2">
            <a:extLst>
              <a:ext uri="{FF2B5EF4-FFF2-40B4-BE49-F238E27FC236}">
                <a16:creationId xmlns:a16="http://schemas.microsoft.com/office/drawing/2014/main" id="{06E87379-CDE9-D5FF-E99F-555E8DD5AEFF}"/>
              </a:ext>
            </a:extLst>
          </p:cNvPr>
          <p:cNvSpPr>
            <a:spLocks noGrp="1"/>
          </p:cNvSpPr>
          <p:nvPr>
            <p:ph idx="1"/>
          </p:nvPr>
        </p:nvSpPr>
        <p:spPr/>
        <p:txBody>
          <a:bodyPr/>
          <a:lstStyle/>
          <a:p>
            <a:r>
              <a:rPr lang="en-US" sz="3600" dirty="0"/>
              <a:t>R is a programming language, free and open source.</a:t>
            </a:r>
          </a:p>
          <a:p>
            <a:pPr lvl="1"/>
            <a:r>
              <a:rPr lang="en-US" sz="3200" dirty="0"/>
              <a:t>Not a stats program or a GUI</a:t>
            </a:r>
          </a:p>
          <a:p>
            <a:r>
              <a:rPr lang="en-US" sz="3600" dirty="0"/>
              <a:t>JASP is a stats program built off of R</a:t>
            </a:r>
          </a:p>
          <a:p>
            <a:pPr lvl="1"/>
            <a:r>
              <a:rPr lang="en-US" sz="3200" dirty="0"/>
              <a:t>Also free and open source</a:t>
            </a:r>
          </a:p>
          <a:p>
            <a:pPr lvl="1"/>
            <a:endParaRPr lang="en-US" dirty="0"/>
          </a:p>
          <a:p>
            <a:pPr marL="0" indent="0">
              <a:buNone/>
            </a:pPr>
            <a:r>
              <a:rPr lang="en-US" sz="3600" dirty="0"/>
              <a:t>We will mostly be using JASP in this course, but I will teach you the very basics of how to use R! </a:t>
            </a:r>
          </a:p>
        </p:txBody>
      </p:sp>
    </p:spTree>
    <p:extLst>
      <p:ext uri="{BB962C8B-B14F-4D97-AF65-F5344CB8AC3E}">
        <p14:creationId xmlns:p14="http://schemas.microsoft.com/office/powerpoint/2010/main" val="2808058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E0AD-15F0-7398-AC58-4FB208CE7E42}"/>
              </a:ext>
            </a:extLst>
          </p:cNvPr>
          <p:cNvSpPr>
            <a:spLocks noGrp="1"/>
          </p:cNvSpPr>
          <p:nvPr>
            <p:ph type="title"/>
          </p:nvPr>
        </p:nvSpPr>
        <p:spPr/>
        <p:txBody>
          <a:bodyPr>
            <a:normAutofit/>
          </a:bodyPr>
          <a:lstStyle/>
          <a:p>
            <a:r>
              <a:rPr lang="en-US" sz="5400" dirty="0"/>
              <a:t>JASP and R</a:t>
            </a:r>
          </a:p>
        </p:txBody>
      </p:sp>
      <p:pic>
        <p:nvPicPr>
          <p:cNvPr id="5" name="Content Placeholder 4">
            <a:extLst>
              <a:ext uri="{FF2B5EF4-FFF2-40B4-BE49-F238E27FC236}">
                <a16:creationId xmlns:a16="http://schemas.microsoft.com/office/drawing/2014/main" id="{845EDB78-DEA7-CB65-0E52-AFCDD1AE0F5C}"/>
              </a:ext>
            </a:extLst>
          </p:cNvPr>
          <p:cNvPicPr>
            <a:picLocks noGrp="1" noChangeAspect="1"/>
          </p:cNvPicPr>
          <p:nvPr>
            <p:ph idx="1"/>
          </p:nvPr>
        </p:nvPicPr>
        <p:blipFill>
          <a:blip r:embed="rId2"/>
          <a:stretch>
            <a:fillRect/>
          </a:stretch>
        </p:blipFill>
        <p:spPr>
          <a:xfrm>
            <a:off x="471446" y="1711483"/>
            <a:ext cx="5364495" cy="3586163"/>
          </a:xfrm>
          <a:prstGeom prst="rect">
            <a:avLst/>
          </a:prstGeom>
        </p:spPr>
      </p:pic>
      <p:pic>
        <p:nvPicPr>
          <p:cNvPr id="7" name="Picture 6">
            <a:extLst>
              <a:ext uri="{FF2B5EF4-FFF2-40B4-BE49-F238E27FC236}">
                <a16:creationId xmlns:a16="http://schemas.microsoft.com/office/drawing/2014/main" id="{22F1EBAA-4999-AFE5-831B-7127B49D22FC}"/>
              </a:ext>
            </a:extLst>
          </p:cNvPr>
          <p:cNvPicPr>
            <a:picLocks noChangeAspect="1"/>
          </p:cNvPicPr>
          <p:nvPr/>
        </p:nvPicPr>
        <p:blipFill>
          <a:blip r:embed="rId3"/>
          <a:stretch>
            <a:fillRect/>
          </a:stretch>
        </p:blipFill>
        <p:spPr>
          <a:xfrm>
            <a:off x="7089634" y="365125"/>
            <a:ext cx="4806001" cy="3139440"/>
          </a:xfrm>
          <a:prstGeom prst="rect">
            <a:avLst/>
          </a:prstGeom>
        </p:spPr>
      </p:pic>
      <p:pic>
        <p:nvPicPr>
          <p:cNvPr id="9" name="Picture 8">
            <a:extLst>
              <a:ext uri="{FF2B5EF4-FFF2-40B4-BE49-F238E27FC236}">
                <a16:creationId xmlns:a16="http://schemas.microsoft.com/office/drawing/2014/main" id="{6428DC5C-3421-2EBF-10BC-C54D3364F4F9}"/>
              </a:ext>
            </a:extLst>
          </p:cNvPr>
          <p:cNvPicPr>
            <a:picLocks noChangeAspect="1"/>
          </p:cNvPicPr>
          <p:nvPr/>
        </p:nvPicPr>
        <p:blipFill>
          <a:blip r:embed="rId4"/>
          <a:stretch>
            <a:fillRect/>
          </a:stretch>
        </p:blipFill>
        <p:spPr>
          <a:xfrm>
            <a:off x="6253839" y="3210400"/>
            <a:ext cx="5099961" cy="2898637"/>
          </a:xfrm>
          <a:prstGeom prst="rect">
            <a:avLst/>
          </a:prstGeom>
        </p:spPr>
      </p:pic>
    </p:spTree>
    <p:extLst>
      <p:ext uri="{BB962C8B-B14F-4D97-AF65-F5344CB8AC3E}">
        <p14:creationId xmlns:p14="http://schemas.microsoft.com/office/powerpoint/2010/main" val="3628748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8D497-3259-BD2E-DFE1-EFF99A13D9FB}"/>
              </a:ext>
            </a:extLst>
          </p:cNvPr>
          <p:cNvSpPr>
            <a:spLocks noGrp="1"/>
          </p:cNvSpPr>
          <p:nvPr>
            <p:ph type="title"/>
          </p:nvPr>
        </p:nvSpPr>
        <p:spPr/>
        <p:txBody>
          <a:bodyPr>
            <a:normAutofit/>
          </a:bodyPr>
          <a:lstStyle/>
          <a:p>
            <a:r>
              <a:rPr lang="en-US" sz="5400" dirty="0"/>
              <a:t>Homework for Thursday</a:t>
            </a:r>
          </a:p>
        </p:txBody>
      </p:sp>
      <p:sp>
        <p:nvSpPr>
          <p:cNvPr id="3" name="Content Placeholder 2">
            <a:extLst>
              <a:ext uri="{FF2B5EF4-FFF2-40B4-BE49-F238E27FC236}">
                <a16:creationId xmlns:a16="http://schemas.microsoft.com/office/drawing/2014/main" id="{D477F189-3F27-2FCD-B1B0-D0E00AC1C850}"/>
              </a:ext>
            </a:extLst>
          </p:cNvPr>
          <p:cNvSpPr>
            <a:spLocks noGrp="1"/>
          </p:cNvSpPr>
          <p:nvPr>
            <p:ph idx="1"/>
          </p:nvPr>
        </p:nvSpPr>
        <p:spPr>
          <a:xfrm>
            <a:off x="939801" y="2802890"/>
            <a:ext cx="5821680" cy="1969135"/>
          </a:xfrm>
        </p:spPr>
        <p:txBody>
          <a:bodyPr>
            <a:normAutofit/>
          </a:bodyPr>
          <a:lstStyle/>
          <a:p>
            <a:pPr marL="0" indent="0">
              <a:buNone/>
            </a:pPr>
            <a:r>
              <a:rPr lang="en-US" sz="3600" dirty="0"/>
              <a:t>Download JASP and make sure you can open it on your laptop!</a:t>
            </a:r>
          </a:p>
        </p:txBody>
      </p:sp>
      <p:pic>
        <p:nvPicPr>
          <p:cNvPr id="5" name="Picture 4">
            <a:extLst>
              <a:ext uri="{FF2B5EF4-FFF2-40B4-BE49-F238E27FC236}">
                <a16:creationId xmlns:a16="http://schemas.microsoft.com/office/drawing/2014/main" id="{454BE8EF-F723-D065-D27A-C1F5E12F7666}"/>
              </a:ext>
            </a:extLst>
          </p:cNvPr>
          <p:cNvPicPr>
            <a:picLocks noChangeAspect="1"/>
          </p:cNvPicPr>
          <p:nvPr/>
        </p:nvPicPr>
        <p:blipFill>
          <a:blip r:embed="rId3"/>
          <a:stretch>
            <a:fillRect/>
          </a:stretch>
        </p:blipFill>
        <p:spPr>
          <a:xfrm>
            <a:off x="8310880" y="2219007"/>
            <a:ext cx="2509520" cy="3136900"/>
          </a:xfrm>
          <a:prstGeom prst="rect">
            <a:avLst/>
          </a:prstGeom>
        </p:spPr>
      </p:pic>
    </p:spTree>
    <p:extLst>
      <p:ext uri="{BB962C8B-B14F-4D97-AF65-F5344CB8AC3E}">
        <p14:creationId xmlns:p14="http://schemas.microsoft.com/office/powerpoint/2010/main" val="3444888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883150-8D91-6917-072D-63C855010B6A}"/>
              </a:ext>
            </a:extLst>
          </p:cNvPr>
          <p:cNvSpPr>
            <a:spLocks noGrp="1"/>
          </p:cNvSpPr>
          <p:nvPr>
            <p:ph type="title"/>
          </p:nvPr>
        </p:nvSpPr>
        <p:spPr>
          <a:xfrm>
            <a:off x="838200" y="576263"/>
            <a:ext cx="10515600" cy="2852737"/>
          </a:xfrm>
        </p:spPr>
        <p:txBody>
          <a:bodyPr/>
          <a:lstStyle/>
          <a:p>
            <a:r>
              <a:rPr lang="en-US" dirty="0"/>
              <a:t>There is a pre-course survey I’d like you to take!</a:t>
            </a:r>
          </a:p>
        </p:txBody>
      </p:sp>
      <p:sp>
        <p:nvSpPr>
          <p:cNvPr id="5" name="Text Placeholder 4">
            <a:extLst>
              <a:ext uri="{FF2B5EF4-FFF2-40B4-BE49-F238E27FC236}">
                <a16:creationId xmlns:a16="http://schemas.microsoft.com/office/drawing/2014/main" id="{0B59F70E-574D-D8EC-0699-F8700FF78D11}"/>
              </a:ext>
            </a:extLst>
          </p:cNvPr>
          <p:cNvSpPr>
            <a:spLocks noGrp="1"/>
          </p:cNvSpPr>
          <p:nvPr>
            <p:ph type="body" idx="1"/>
          </p:nvPr>
        </p:nvSpPr>
        <p:spPr>
          <a:xfrm>
            <a:off x="838200" y="3429000"/>
            <a:ext cx="9433560" cy="2540000"/>
          </a:xfrm>
        </p:spPr>
        <p:txBody>
          <a:bodyPr>
            <a:normAutofit/>
          </a:bodyPr>
          <a:lstStyle/>
          <a:p>
            <a:r>
              <a:rPr lang="en-US" sz="3200" dirty="0"/>
              <a:t>Anonymous, optional, no effect on grade, etc. </a:t>
            </a:r>
          </a:p>
          <a:p>
            <a:r>
              <a:rPr lang="en-US" sz="3200" dirty="0"/>
              <a:t>Link to the google form is on Blackboard!</a:t>
            </a:r>
          </a:p>
          <a:p>
            <a:r>
              <a:rPr lang="en-US" sz="3200" dirty="0"/>
              <a:t>This is to get to know all of you a bit better in the context of the course. </a:t>
            </a:r>
          </a:p>
        </p:txBody>
      </p:sp>
      <p:pic>
        <p:nvPicPr>
          <p:cNvPr id="7" name="Picture 6">
            <a:extLst>
              <a:ext uri="{FF2B5EF4-FFF2-40B4-BE49-F238E27FC236}">
                <a16:creationId xmlns:a16="http://schemas.microsoft.com/office/drawing/2014/main" id="{59336D2A-A024-5CAF-00C8-8762FFF34AD1}"/>
              </a:ext>
            </a:extLst>
          </p:cNvPr>
          <p:cNvPicPr>
            <a:picLocks noChangeAspect="1"/>
          </p:cNvPicPr>
          <p:nvPr/>
        </p:nvPicPr>
        <p:blipFill>
          <a:blip r:embed="rId2"/>
          <a:stretch>
            <a:fillRect/>
          </a:stretch>
        </p:blipFill>
        <p:spPr>
          <a:xfrm>
            <a:off x="9653270" y="2836862"/>
            <a:ext cx="1816100" cy="2540000"/>
          </a:xfrm>
          <a:prstGeom prst="rect">
            <a:avLst/>
          </a:prstGeom>
        </p:spPr>
      </p:pic>
    </p:spTree>
    <p:extLst>
      <p:ext uri="{BB962C8B-B14F-4D97-AF65-F5344CB8AC3E}">
        <p14:creationId xmlns:p14="http://schemas.microsoft.com/office/powerpoint/2010/main" val="394869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7246</TotalTime>
  <Words>1812</Words>
  <Application>Microsoft Macintosh PowerPoint</Application>
  <PresentationFormat>Widescreen</PresentationFormat>
  <Paragraphs>169</Paragraphs>
  <Slides>25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Welcome to Quantitative Field Ecology!</vt:lpstr>
      <vt:lpstr>Meet Your Instructor</vt:lpstr>
      <vt:lpstr>Syllabus Information</vt:lpstr>
      <vt:lpstr>Grading Schema</vt:lpstr>
      <vt:lpstr>Our Textbook</vt:lpstr>
      <vt:lpstr>What is ecology?</vt:lpstr>
      <vt:lpstr>Ecology is….</vt:lpstr>
      <vt:lpstr>Questions in Ecology</vt:lpstr>
      <vt:lpstr>Questioning Nature</vt:lpstr>
      <vt:lpstr>Questioning Nature</vt:lpstr>
      <vt:lpstr>Questioning Nature</vt:lpstr>
      <vt:lpstr>Perception in Ecology</vt:lpstr>
      <vt:lpstr>Natural history and human impacts</vt:lpstr>
      <vt:lpstr>Scientific Method</vt:lpstr>
      <vt:lpstr>Scientific Method Example</vt:lpstr>
      <vt:lpstr>Tardiff and Stanford 1998</vt:lpstr>
      <vt:lpstr>Tardiff and Stanford 1998 Discussion</vt:lpstr>
      <vt:lpstr>PowerPoint Presentation</vt:lpstr>
      <vt:lpstr>PowerPoint Presentation</vt:lpstr>
      <vt:lpstr>What is statistics?</vt:lpstr>
      <vt:lpstr>Statistics is a toolbox. I am going to give you some tools – not a finished house!</vt:lpstr>
      <vt:lpstr>JASP and R</vt:lpstr>
      <vt:lpstr>JASP and R</vt:lpstr>
      <vt:lpstr>Homework for Thursday</vt:lpstr>
      <vt:lpstr>There is a pre-course survey I’d like you to take!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14</cp:revision>
  <dcterms:created xsi:type="dcterms:W3CDTF">2026-08-13T21:42:19Z</dcterms:created>
  <dcterms:modified xsi:type="dcterms:W3CDTF">2026-08-20T17:33:37Z</dcterms:modified>
</cp:coreProperties>
</file>