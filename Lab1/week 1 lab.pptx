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0" r:id="rId4"/>
    <p:sldId id="258" r:id="rId5"/>
    <p:sldId id="259" r:id="rId6"/>
    <p:sldId id="261" r:id="rId7"/>
    <p:sldId id="262" r:id="rId8"/>
    <p:sldId id="264" r:id="rId9"/>
    <p:sldId id="265" r:id="rId10"/>
    <p:sldId id="266" r:id="rId11"/>
    <p:sldId id="267" r:id="rId12"/>
    <p:sldId id="263"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79958"/>
  </p:normalViewPr>
  <p:slideViewPr>
    <p:cSldViewPr snapToGrid="0">
      <p:cViewPr varScale="1">
        <p:scale>
          <a:sx n="97" d="100"/>
          <a:sy n="97" d="100"/>
        </p:scale>
        <p:origin x="12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05BC98-E615-9C40-AF1B-0E0237C19DF9}" type="datetimeFigureOut">
              <a:rPr lang="en-US" smtClean="0"/>
              <a:t>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69171F-C9DC-244B-9149-419498751B38}" type="slidenum">
              <a:rPr lang="en-US" smtClean="0"/>
              <a:t>‹#›</a:t>
            </a:fld>
            <a:endParaRPr lang="en-US"/>
          </a:p>
        </p:txBody>
      </p:sp>
    </p:spTree>
    <p:extLst>
      <p:ext uri="{BB962C8B-B14F-4D97-AF65-F5344CB8AC3E}">
        <p14:creationId xmlns:p14="http://schemas.microsoft.com/office/powerpoint/2010/main" val="2024783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lab will work is it’s mostly self-paced, but I will have some check-ins where I will explain some key things. Just call me over if you have a question, and of course you can team up with your classmates and help each other!! </a:t>
            </a:r>
          </a:p>
        </p:txBody>
      </p:sp>
      <p:sp>
        <p:nvSpPr>
          <p:cNvPr id="4" name="Slide Number Placeholder 3"/>
          <p:cNvSpPr>
            <a:spLocks noGrp="1"/>
          </p:cNvSpPr>
          <p:nvPr>
            <p:ph type="sldNum" sz="quarter" idx="5"/>
          </p:nvPr>
        </p:nvSpPr>
        <p:spPr/>
        <p:txBody>
          <a:bodyPr/>
          <a:lstStyle/>
          <a:p>
            <a:fld id="{8F69171F-C9DC-244B-9149-419498751B38}" type="slidenum">
              <a:rPr lang="en-US" smtClean="0"/>
              <a:t>1</a:t>
            </a:fld>
            <a:endParaRPr lang="en-US"/>
          </a:p>
        </p:txBody>
      </p:sp>
    </p:spTree>
    <p:extLst>
      <p:ext uri="{BB962C8B-B14F-4D97-AF65-F5344CB8AC3E}">
        <p14:creationId xmlns:p14="http://schemas.microsoft.com/office/powerpoint/2010/main" val="21646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but can be useful!</a:t>
            </a:r>
          </a:p>
        </p:txBody>
      </p:sp>
      <p:sp>
        <p:nvSpPr>
          <p:cNvPr id="4" name="Slide Number Placeholder 3"/>
          <p:cNvSpPr>
            <a:spLocks noGrp="1"/>
          </p:cNvSpPr>
          <p:nvPr>
            <p:ph type="sldNum" sz="quarter" idx="5"/>
          </p:nvPr>
        </p:nvSpPr>
        <p:spPr/>
        <p:txBody>
          <a:bodyPr/>
          <a:lstStyle/>
          <a:p>
            <a:fld id="{8F69171F-C9DC-244B-9149-419498751B38}" type="slidenum">
              <a:rPr lang="en-US" smtClean="0"/>
              <a:t>4</a:t>
            </a:fld>
            <a:endParaRPr lang="en-US"/>
          </a:p>
        </p:txBody>
      </p:sp>
    </p:spTree>
    <p:extLst>
      <p:ext uri="{BB962C8B-B14F-4D97-AF65-F5344CB8AC3E}">
        <p14:creationId xmlns:p14="http://schemas.microsoft.com/office/powerpoint/2010/main" val="2048947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your variables from the left side (storage) to the right side (using) with the arrow keys or drag/drop</a:t>
            </a:r>
          </a:p>
        </p:txBody>
      </p:sp>
      <p:sp>
        <p:nvSpPr>
          <p:cNvPr id="4" name="Slide Number Placeholder 3"/>
          <p:cNvSpPr>
            <a:spLocks noGrp="1"/>
          </p:cNvSpPr>
          <p:nvPr>
            <p:ph type="sldNum" sz="quarter" idx="5"/>
          </p:nvPr>
        </p:nvSpPr>
        <p:spPr/>
        <p:txBody>
          <a:bodyPr/>
          <a:lstStyle/>
          <a:p>
            <a:fld id="{8F69171F-C9DC-244B-9149-419498751B38}" type="slidenum">
              <a:rPr lang="en-US" smtClean="0"/>
              <a:t>5</a:t>
            </a:fld>
            <a:endParaRPr lang="en-US"/>
          </a:p>
        </p:txBody>
      </p:sp>
    </p:spTree>
    <p:extLst>
      <p:ext uri="{BB962C8B-B14F-4D97-AF65-F5344CB8AC3E}">
        <p14:creationId xmlns:p14="http://schemas.microsoft.com/office/powerpoint/2010/main" val="4253803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by a nominal variable – do the statistics on the shredders, but separate out each site!</a:t>
            </a:r>
          </a:p>
        </p:txBody>
      </p:sp>
      <p:sp>
        <p:nvSpPr>
          <p:cNvPr id="4" name="Slide Number Placeholder 3"/>
          <p:cNvSpPr>
            <a:spLocks noGrp="1"/>
          </p:cNvSpPr>
          <p:nvPr>
            <p:ph type="sldNum" sz="quarter" idx="5"/>
          </p:nvPr>
        </p:nvSpPr>
        <p:spPr/>
        <p:txBody>
          <a:bodyPr/>
          <a:lstStyle/>
          <a:p>
            <a:fld id="{8F69171F-C9DC-244B-9149-419498751B38}" type="slidenum">
              <a:rPr lang="en-US" smtClean="0"/>
              <a:t>6</a:t>
            </a:fld>
            <a:endParaRPr lang="en-US"/>
          </a:p>
        </p:txBody>
      </p:sp>
    </p:spTree>
    <p:extLst>
      <p:ext uri="{BB962C8B-B14F-4D97-AF65-F5344CB8AC3E}">
        <p14:creationId xmlns:p14="http://schemas.microsoft.com/office/powerpoint/2010/main" val="2231815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where you move your variables around, you can change up what the results show you, and there are options for different plots below this. </a:t>
            </a:r>
          </a:p>
        </p:txBody>
      </p:sp>
      <p:sp>
        <p:nvSpPr>
          <p:cNvPr id="4" name="Slide Number Placeholder 3"/>
          <p:cNvSpPr>
            <a:spLocks noGrp="1"/>
          </p:cNvSpPr>
          <p:nvPr>
            <p:ph type="sldNum" sz="quarter" idx="5"/>
          </p:nvPr>
        </p:nvSpPr>
        <p:spPr/>
        <p:txBody>
          <a:bodyPr/>
          <a:lstStyle/>
          <a:p>
            <a:fld id="{8F69171F-C9DC-244B-9149-419498751B38}" type="slidenum">
              <a:rPr lang="en-US" smtClean="0"/>
              <a:t>7</a:t>
            </a:fld>
            <a:endParaRPr lang="en-US"/>
          </a:p>
        </p:txBody>
      </p:sp>
    </p:spTree>
    <p:extLst>
      <p:ext uri="{BB962C8B-B14F-4D97-AF65-F5344CB8AC3E}">
        <p14:creationId xmlns:p14="http://schemas.microsoft.com/office/powerpoint/2010/main" val="2182559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click on the descriptive statistics button on the top menu bar again, it opens up a separate analysis dropdown for you. You can have a bunch of these open, and can rename them to help keep organized. </a:t>
            </a:r>
          </a:p>
        </p:txBody>
      </p:sp>
      <p:sp>
        <p:nvSpPr>
          <p:cNvPr id="4" name="Slide Number Placeholder 3"/>
          <p:cNvSpPr>
            <a:spLocks noGrp="1"/>
          </p:cNvSpPr>
          <p:nvPr>
            <p:ph type="sldNum" sz="quarter" idx="5"/>
          </p:nvPr>
        </p:nvSpPr>
        <p:spPr/>
        <p:txBody>
          <a:bodyPr/>
          <a:lstStyle/>
          <a:p>
            <a:fld id="{8F69171F-C9DC-244B-9149-419498751B38}" type="slidenum">
              <a:rPr lang="en-US" smtClean="0"/>
              <a:t>8</a:t>
            </a:fld>
            <a:endParaRPr lang="en-US"/>
          </a:p>
        </p:txBody>
      </p:sp>
    </p:spTree>
    <p:extLst>
      <p:ext uri="{BB962C8B-B14F-4D97-AF65-F5344CB8AC3E}">
        <p14:creationId xmlns:p14="http://schemas.microsoft.com/office/powerpoint/2010/main" val="155211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this little corner triangle if your plots seem squished together. </a:t>
            </a:r>
          </a:p>
        </p:txBody>
      </p:sp>
      <p:sp>
        <p:nvSpPr>
          <p:cNvPr id="4" name="Slide Number Placeholder 3"/>
          <p:cNvSpPr>
            <a:spLocks noGrp="1"/>
          </p:cNvSpPr>
          <p:nvPr>
            <p:ph type="sldNum" sz="quarter" idx="5"/>
          </p:nvPr>
        </p:nvSpPr>
        <p:spPr/>
        <p:txBody>
          <a:bodyPr/>
          <a:lstStyle/>
          <a:p>
            <a:fld id="{8F69171F-C9DC-244B-9149-419498751B38}" type="slidenum">
              <a:rPr lang="en-US" smtClean="0"/>
              <a:t>9</a:t>
            </a:fld>
            <a:endParaRPr lang="en-US"/>
          </a:p>
        </p:txBody>
      </p:sp>
    </p:spTree>
    <p:extLst>
      <p:ext uri="{BB962C8B-B14F-4D97-AF65-F5344CB8AC3E}">
        <p14:creationId xmlns:p14="http://schemas.microsoft.com/office/powerpoint/2010/main" val="510490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add a column on to your data, you can name it and there are options for computing the column based on other columns. </a:t>
            </a:r>
          </a:p>
          <a:p>
            <a:endParaRPr lang="en-US" dirty="0"/>
          </a:p>
          <a:p>
            <a:r>
              <a:rPr lang="en-US" dirty="0"/>
              <a:t>You can compute it with R code if you know how, or there is a drag/drop function where you click on the column you want the actions to be performed by. For instance, you can add two columns together so your new column is the sum of those two columns. </a:t>
            </a:r>
          </a:p>
        </p:txBody>
      </p:sp>
      <p:sp>
        <p:nvSpPr>
          <p:cNvPr id="4" name="Slide Number Placeholder 3"/>
          <p:cNvSpPr>
            <a:spLocks noGrp="1"/>
          </p:cNvSpPr>
          <p:nvPr>
            <p:ph type="sldNum" sz="quarter" idx="5"/>
          </p:nvPr>
        </p:nvSpPr>
        <p:spPr/>
        <p:txBody>
          <a:bodyPr/>
          <a:lstStyle/>
          <a:p>
            <a:fld id="{8F69171F-C9DC-244B-9149-419498751B38}" type="slidenum">
              <a:rPr lang="en-US" smtClean="0"/>
              <a:t>10</a:t>
            </a:fld>
            <a:endParaRPr lang="en-US"/>
          </a:p>
        </p:txBody>
      </p:sp>
    </p:spTree>
    <p:extLst>
      <p:ext uri="{BB962C8B-B14F-4D97-AF65-F5344CB8AC3E}">
        <p14:creationId xmlns:p14="http://schemas.microsoft.com/office/powerpoint/2010/main" val="1825929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builder function is something you can use to get more specific with the plots that you want! There are lots of options, but keep it simple for today. </a:t>
            </a:r>
          </a:p>
        </p:txBody>
      </p:sp>
      <p:sp>
        <p:nvSpPr>
          <p:cNvPr id="4" name="Slide Number Placeholder 3"/>
          <p:cNvSpPr>
            <a:spLocks noGrp="1"/>
          </p:cNvSpPr>
          <p:nvPr>
            <p:ph type="sldNum" sz="quarter" idx="5"/>
          </p:nvPr>
        </p:nvSpPr>
        <p:spPr/>
        <p:txBody>
          <a:bodyPr/>
          <a:lstStyle/>
          <a:p>
            <a:fld id="{8F69171F-C9DC-244B-9149-419498751B38}" type="slidenum">
              <a:rPr lang="en-US" smtClean="0"/>
              <a:t>11</a:t>
            </a:fld>
            <a:endParaRPr lang="en-US"/>
          </a:p>
        </p:txBody>
      </p:sp>
    </p:spTree>
    <p:extLst>
      <p:ext uri="{BB962C8B-B14F-4D97-AF65-F5344CB8AC3E}">
        <p14:creationId xmlns:p14="http://schemas.microsoft.com/office/powerpoint/2010/main" val="3217964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main menu to export your results, as this gives you the best options for it. </a:t>
            </a:r>
          </a:p>
        </p:txBody>
      </p:sp>
      <p:sp>
        <p:nvSpPr>
          <p:cNvPr id="4" name="Slide Number Placeholder 3"/>
          <p:cNvSpPr>
            <a:spLocks noGrp="1"/>
          </p:cNvSpPr>
          <p:nvPr>
            <p:ph type="sldNum" sz="quarter" idx="5"/>
          </p:nvPr>
        </p:nvSpPr>
        <p:spPr/>
        <p:txBody>
          <a:bodyPr/>
          <a:lstStyle/>
          <a:p>
            <a:fld id="{8F69171F-C9DC-244B-9149-419498751B38}" type="slidenum">
              <a:rPr lang="en-US" smtClean="0"/>
              <a:t>12</a:t>
            </a:fld>
            <a:endParaRPr lang="en-US"/>
          </a:p>
        </p:txBody>
      </p:sp>
    </p:spTree>
    <p:extLst>
      <p:ext uri="{BB962C8B-B14F-4D97-AF65-F5344CB8AC3E}">
        <p14:creationId xmlns:p14="http://schemas.microsoft.com/office/powerpoint/2010/main" val="1468423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7B1B-095C-0469-125F-2C50E13EDB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4E465F-287A-E04B-3FC1-835BC0C9FB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F849B0-76AB-CCB5-CB85-E33AEB459831}"/>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5" name="Footer Placeholder 4">
            <a:extLst>
              <a:ext uri="{FF2B5EF4-FFF2-40B4-BE49-F238E27FC236}">
                <a16:creationId xmlns:a16="http://schemas.microsoft.com/office/drawing/2014/main" id="{9031ED02-1449-E235-73CF-02E3E871B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98E90-1509-08F5-DF43-FB9961FEBA0F}"/>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2411322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759F-C0D1-2AB9-99CA-955A0A9E6A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671C12-7131-4615-56F8-10DAF76575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599D13-0D3D-4DB6-D513-551ED1C4257C}"/>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5" name="Footer Placeholder 4">
            <a:extLst>
              <a:ext uri="{FF2B5EF4-FFF2-40B4-BE49-F238E27FC236}">
                <a16:creationId xmlns:a16="http://schemas.microsoft.com/office/drawing/2014/main" id="{9A256928-2095-6BE2-01F3-86711CC27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5438BF-9724-1CF3-7DCF-AF5E69EF81F6}"/>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1311567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F21-D780-1EC9-BED7-30FF7480ED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A1B8E2-BB72-6676-FF91-0CE4756CFF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24D027-5EF3-E394-C01C-F31E9FDACAA7}"/>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5" name="Footer Placeholder 4">
            <a:extLst>
              <a:ext uri="{FF2B5EF4-FFF2-40B4-BE49-F238E27FC236}">
                <a16:creationId xmlns:a16="http://schemas.microsoft.com/office/drawing/2014/main" id="{1C23447A-B701-9E36-BBC2-98FACE9183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262C0-E993-BE86-0D5B-CCB69831A134}"/>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2008837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6E55F-4FD3-AC5F-EA76-BFE2A7EAB9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411E8-C1BD-B0BD-3512-D788455EA6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ADE46E-0C17-BC4C-AC72-16F8E439AF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867AE9-55A3-1184-42F4-AC55F0A5E033}"/>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6" name="Footer Placeholder 5">
            <a:extLst>
              <a:ext uri="{FF2B5EF4-FFF2-40B4-BE49-F238E27FC236}">
                <a16:creationId xmlns:a16="http://schemas.microsoft.com/office/drawing/2014/main" id="{EEA936C7-DD75-6084-BA1F-72534E76BB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57711-06C0-F0FC-5FBC-681890EA3ABF}"/>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525078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6E641-D8AE-A655-9855-AFF5C0F332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2ED6AA-7863-F6EF-1CE4-8B36EB040B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B5891C-B33A-6B56-D14F-90C0C5CBDB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B3947A-392C-879E-3164-73345593A3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1615BC-EE34-06DF-A026-608EB9F3A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2F879C-0CDD-F78A-FBBC-5289E98DDBB8}"/>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8" name="Footer Placeholder 7">
            <a:extLst>
              <a:ext uri="{FF2B5EF4-FFF2-40B4-BE49-F238E27FC236}">
                <a16:creationId xmlns:a16="http://schemas.microsoft.com/office/drawing/2014/main" id="{81395C8C-BF9F-FF11-F0EE-151D40107E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93FBF1-A48D-F7FF-7460-CD589699BFAA}"/>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3488626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D5633-3EBF-7D83-339C-F2D54EB457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D0554C-9517-2137-764B-5F6D75111953}"/>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4" name="Footer Placeholder 3">
            <a:extLst>
              <a:ext uri="{FF2B5EF4-FFF2-40B4-BE49-F238E27FC236}">
                <a16:creationId xmlns:a16="http://schemas.microsoft.com/office/drawing/2014/main" id="{727E9C51-A7BC-6AE4-6627-AB244EC34B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7498B1-C0AB-9395-0ADA-CB7687FC228F}"/>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895663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866549-2327-ABEB-D9CA-C1E721C9AC60}"/>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3" name="Footer Placeholder 2">
            <a:extLst>
              <a:ext uri="{FF2B5EF4-FFF2-40B4-BE49-F238E27FC236}">
                <a16:creationId xmlns:a16="http://schemas.microsoft.com/office/drawing/2014/main" id="{74A724E9-ABFA-09F5-CE93-C85289DB11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684964-A3F5-AA03-CD67-2FFA4CE29D2A}"/>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413218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C341-773F-F744-AA18-1971488092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17A71B-2422-69AA-4369-5544F20DEF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66E4E2-A34C-BD64-CAE7-B036808F89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5AF456-5B03-9690-1BF0-F5F17CFED35E}"/>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6" name="Footer Placeholder 5">
            <a:extLst>
              <a:ext uri="{FF2B5EF4-FFF2-40B4-BE49-F238E27FC236}">
                <a16:creationId xmlns:a16="http://schemas.microsoft.com/office/drawing/2014/main" id="{162926C2-0008-4447-F8B3-7460EFF28B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DD56FE-F429-6C8A-58AC-4E30C7AA5D7A}"/>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50373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D7412-91D1-0ADA-9006-F2C3A66F1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F6E9FD-B49F-C9C5-F1D2-0065BC8702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1B4330-DADD-DEB6-CC82-3D0C22E3F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FC448-026A-E21F-8BC7-7E7BA7B3DAA7}"/>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6" name="Footer Placeholder 5">
            <a:extLst>
              <a:ext uri="{FF2B5EF4-FFF2-40B4-BE49-F238E27FC236}">
                <a16:creationId xmlns:a16="http://schemas.microsoft.com/office/drawing/2014/main" id="{AC65EACE-86FF-6099-BF8C-A784D78DB1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CB6A70-6696-2AC7-CBFE-3E7BDDB3B0EF}"/>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1326590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B067-97C8-EA09-43F5-A1833002DA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9DEEB8-94A0-172C-F8A4-018254B051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26783F-6B2D-8E5B-F634-5C97004F3A82}"/>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5" name="Footer Placeholder 4">
            <a:extLst>
              <a:ext uri="{FF2B5EF4-FFF2-40B4-BE49-F238E27FC236}">
                <a16:creationId xmlns:a16="http://schemas.microsoft.com/office/drawing/2014/main" id="{17D4F88A-19ED-7ED6-9654-54D2A3A8A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43AEF-C8C9-ED56-DA5E-D328B6A61062}"/>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1548644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3CF012-0023-521C-EFA9-46C0EAB500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B8732D-F658-9529-14EC-217AC5CE06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813DF-11FC-EAAD-267E-904A15D81A5A}"/>
              </a:ext>
            </a:extLst>
          </p:cNvPr>
          <p:cNvSpPr>
            <a:spLocks noGrp="1"/>
          </p:cNvSpPr>
          <p:nvPr>
            <p:ph type="dt" sz="half" idx="10"/>
          </p:nvPr>
        </p:nvSpPr>
        <p:spPr/>
        <p:txBody>
          <a:bodyPr/>
          <a:lstStyle/>
          <a:p>
            <a:fld id="{1E8CA74B-EB58-DF40-9BA0-8B1B6D59C042}" type="datetimeFigureOut">
              <a:rPr lang="en-US" smtClean="0"/>
              <a:t>8/20/26</a:t>
            </a:fld>
            <a:endParaRPr lang="en-US"/>
          </a:p>
        </p:txBody>
      </p:sp>
      <p:sp>
        <p:nvSpPr>
          <p:cNvPr id="5" name="Footer Placeholder 4">
            <a:extLst>
              <a:ext uri="{FF2B5EF4-FFF2-40B4-BE49-F238E27FC236}">
                <a16:creationId xmlns:a16="http://schemas.microsoft.com/office/drawing/2014/main" id="{70CF6A3C-B675-BA95-8E48-B7C824941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3E3F8-D70F-5369-A34F-48268A5E77BA}"/>
              </a:ext>
            </a:extLst>
          </p:cNvPr>
          <p:cNvSpPr>
            <a:spLocks noGrp="1"/>
          </p:cNvSpPr>
          <p:nvPr>
            <p:ph type="sldNum" sz="quarter" idx="12"/>
          </p:nvPr>
        </p:nvSpPr>
        <p:spPr/>
        <p:txBody>
          <a:bodyPr/>
          <a:lstStyle/>
          <a:p>
            <a:fld id="{350DB5FC-893C-C943-AAD9-78CCA6AEC29B}" type="slidenum">
              <a:rPr lang="en-US" smtClean="0"/>
              <a:t>‹#›</a:t>
            </a:fld>
            <a:endParaRPr lang="en-US"/>
          </a:p>
        </p:txBody>
      </p:sp>
    </p:spTree>
    <p:extLst>
      <p:ext uri="{BB962C8B-B14F-4D97-AF65-F5344CB8AC3E}">
        <p14:creationId xmlns:p14="http://schemas.microsoft.com/office/powerpoint/2010/main" val="4101568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B5C6B9-CE52-99C2-DFF0-50C5B9FF8E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2011F5-C355-292C-69E8-1EF9914AC9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BB4522-A4FF-3426-6ECF-86C6A031C3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8CA74B-EB58-DF40-9BA0-8B1B6D59C042}" type="datetimeFigureOut">
              <a:rPr lang="en-US" smtClean="0"/>
              <a:t>8/20/26</a:t>
            </a:fld>
            <a:endParaRPr lang="en-US"/>
          </a:p>
        </p:txBody>
      </p:sp>
      <p:sp>
        <p:nvSpPr>
          <p:cNvPr id="5" name="Footer Placeholder 4">
            <a:extLst>
              <a:ext uri="{FF2B5EF4-FFF2-40B4-BE49-F238E27FC236}">
                <a16:creationId xmlns:a16="http://schemas.microsoft.com/office/drawing/2014/main" id="{AA6C4290-DE07-CDDB-C0CE-23017AFDCD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DA3A8A-775E-67D3-133E-2B2B5B378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0DB5FC-893C-C943-AAD9-78CCA6AEC29B}" type="slidenum">
              <a:rPr lang="en-US" smtClean="0"/>
              <a:t>‹#›</a:t>
            </a:fld>
            <a:endParaRPr lang="en-US"/>
          </a:p>
        </p:txBody>
      </p:sp>
    </p:spTree>
    <p:extLst>
      <p:ext uri="{BB962C8B-B14F-4D97-AF65-F5344CB8AC3E}">
        <p14:creationId xmlns:p14="http://schemas.microsoft.com/office/powerpoint/2010/main" val="87766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9808C-CC65-28D9-03B0-A1837D987AFD}"/>
              </a:ext>
            </a:extLst>
          </p:cNvPr>
          <p:cNvSpPr>
            <a:spLocks noGrp="1"/>
          </p:cNvSpPr>
          <p:nvPr>
            <p:ph type="ctrTitle"/>
          </p:nvPr>
        </p:nvSpPr>
        <p:spPr>
          <a:xfrm>
            <a:off x="1524000" y="1505571"/>
            <a:ext cx="9144000" cy="2387600"/>
          </a:xfrm>
        </p:spPr>
        <p:txBody>
          <a:bodyPr>
            <a:normAutofit/>
          </a:bodyPr>
          <a:lstStyle/>
          <a:p>
            <a:r>
              <a:rPr lang="en-US" sz="7200" dirty="0"/>
              <a:t>Week 1 Lab – Getting Oriented in JASP</a:t>
            </a:r>
          </a:p>
        </p:txBody>
      </p:sp>
      <p:sp>
        <p:nvSpPr>
          <p:cNvPr id="3" name="Subtitle 2">
            <a:extLst>
              <a:ext uri="{FF2B5EF4-FFF2-40B4-BE49-F238E27FC236}">
                <a16:creationId xmlns:a16="http://schemas.microsoft.com/office/drawing/2014/main" id="{98A26AE4-AA34-CBD7-DA99-6B995AD1C797}"/>
              </a:ext>
            </a:extLst>
          </p:cNvPr>
          <p:cNvSpPr>
            <a:spLocks noGrp="1"/>
          </p:cNvSpPr>
          <p:nvPr>
            <p:ph type="subTitle" idx="1"/>
          </p:nvPr>
        </p:nvSpPr>
        <p:spPr>
          <a:xfrm>
            <a:off x="1524000" y="4158629"/>
            <a:ext cx="9144000" cy="1655762"/>
          </a:xfrm>
        </p:spPr>
        <p:txBody>
          <a:bodyPr>
            <a:normAutofit/>
          </a:bodyPr>
          <a:lstStyle/>
          <a:p>
            <a:r>
              <a:rPr lang="en-US" sz="3600" dirty="0"/>
              <a:t>GES 408/608</a:t>
            </a:r>
          </a:p>
        </p:txBody>
      </p:sp>
      <p:pic>
        <p:nvPicPr>
          <p:cNvPr id="5" name="Picture 4">
            <a:extLst>
              <a:ext uri="{FF2B5EF4-FFF2-40B4-BE49-F238E27FC236}">
                <a16:creationId xmlns:a16="http://schemas.microsoft.com/office/drawing/2014/main" id="{64E35791-32AA-C550-62D3-3EB68108B640}"/>
              </a:ext>
            </a:extLst>
          </p:cNvPr>
          <p:cNvPicPr>
            <a:picLocks noChangeAspect="1"/>
          </p:cNvPicPr>
          <p:nvPr/>
        </p:nvPicPr>
        <p:blipFill>
          <a:blip r:embed="rId3"/>
          <a:stretch>
            <a:fillRect/>
          </a:stretch>
        </p:blipFill>
        <p:spPr>
          <a:xfrm>
            <a:off x="397565" y="3484194"/>
            <a:ext cx="3006036" cy="2930885"/>
          </a:xfrm>
          <a:prstGeom prst="rect">
            <a:avLst/>
          </a:prstGeom>
        </p:spPr>
      </p:pic>
    </p:spTree>
    <p:extLst>
      <p:ext uri="{BB962C8B-B14F-4D97-AF65-F5344CB8AC3E}">
        <p14:creationId xmlns:p14="http://schemas.microsoft.com/office/powerpoint/2010/main" val="2335363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26BD-057B-447C-5415-0B58ECED88FA}"/>
              </a:ext>
            </a:extLst>
          </p:cNvPr>
          <p:cNvSpPr>
            <a:spLocks noGrp="1"/>
          </p:cNvSpPr>
          <p:nvPr>
            <p:ph type="title"/>
          </p:nvPr>
        </p:nvSpPr>
        <p:spPr/>
        <p:txBody>
          <a:bodyPr>
            <a:normAutofit/>
          </a:bodyPr>
          <a:lstStyle/>
          <a:p>
            <a:r>
              <a:rPr lang="en-US" sz="5400" dirty="0"/>
              <a:t>The Week 1 Lab file is in </a:t>
            </a:r>
            <a:r>
              <a:rPr lang="en-US" sz="5400" dirty="0" err="1"/>
              <a:t>BlackBoard</a:t>
            </a:r>
            <a:endParaRPr lang="en-US" sz="5400" dirty="0"/>
          </a:p>
        </p:txBody>
      </p:sp>
      <p:sp>
        <p:nvSpPr>
          <p:cNvPr id="3" name="Content Placeholder 2">
            <a:extLst>
              <a:ext uri="{FF2B5EF4-FFF2-40B4-BE49-F238E27FC236}">
                <a16:creationId xmlns:a16="http://schemas.microsoft.com/office/drawing/2014/main" id="{8F139F7B-BB0B-ADEF-6AF4-24132A37F9B9}"/>
              </a:ext>
            </a:extLst>
          </p:cNvPr>
          <p:cNvSpPr>
            <a:spLocks noGrp="1"/>
          </p:cNvSpPr>
          <p:nvPr>
            <p:ph idx="1"/>
          </p:nvPr>
        </p:nvSpPr>
        <p:spPr/>
        <p:txBody>
          <a:bodyPr>
            <a:normAutofit/>
          </a:bodyPr>
          <a:lstStyle/>
          <a:p>
            <a:r>
              <a:rPr lang="en-US" sz="3600" dirty="0"/>
              <a:t>It is a text document that has all of the basic instructions on it.</a:t>
            </a:r>
          </a:p>
          <a:p>
            <a:r>
              <a:rPr lang="en-US" sz="3600" dirty="0"/>
              <a:t>Start by opening </a:t>
            </a:r>
            <a:r>
              <a:rPr lang="en-US" sz="3600" dirty="0" err="1"/>
              <a:t>Jasp</a:t>
            </a:r>
            <a:r>
              <a:rPr lang="en-US" sz="3600" dirty="0"/>
              <a:t> and clicking around!</a:t>
            </a:r>
          </a:p>
          <a:p>
            <a:r>
              <a:rPr lang="en-US" sz="3600" dirty="0"/>
              <a:t>Then go ahead and start on the data entry vs. importing section.</a:t>
            </a:r>
          </a:p>
          <a:p>
            <a:r>
              <a:rPr lang="en-US" sz="3600" dirty="0"/>
              <a:t>There is a separate assignment submission portal in the Week 1 folder for when you finish at the end!</a:t>
            </a:r>
          </a:p>
        </p:txBody>
      </p:sp>
    </p:spTree>
    <p:extLst>
      <p:ext uri="{BB962C8B-B14F-4D97-AF65-F5344CB8AC3E}">
        <p14:creationId xmlns:p14="http://schemas.microsoft.com/office/powerpoint/2010/main" val="3380635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B7CC-1F28-2740-2A88-BE9A952AE141}"/>
              </a:ext>
            </a:extLst>
          </p:cNvPr>
          <p:cNvSpPr>
            <a:spLocks noGrp="1"/>
          </p:cNvSpPr>
          <p:nvPr>
            <p:ph type="title"/>
          </p:nvPr>
        </p:nvSpPr>
        <p:spPr/>
        <p:txBody>
          <a:bodyPr>
            <a:normAutofit/>
          </a:bodyPr>
          <a:lstStyle/>
          <a:p>
            <a:r>
              <a:rPr lang="en-US" sz="5400" dirty="0"/>
              <a:t>3 Types of Data in JASP</a:t>
            </a:r>
          </a:p>
        </p:txBody>
      </p:sp>
      <p:pic>
        <p:nvPicPr>
          <p:cNvPr id="5" name="Content Placeholder 4">
            <a:extLst>
              <a:ext uri="{FF2B5EF4-FFF2-40B4-BE49-F238E27FC236}">
                <a16:creationId xmlns:a16="http://schemas.microsoft.com/office/drawing/2014/main" id="{98DE5EEC-9CD3-092F-D055-57408E5F3207}"/>
              </a:ext>
            </a:extLst>
          </p:cNvPr>
          <p:cNvPicPr>
            <a:picLocks noGrp="1" noChangeAspect="1"/>
          </p:cNvPicPr>
          <p:nvPr>
            <p:ph idx="1"/>
          </p:nvPr>
        </p:nvPicPr>
        <p:blipFill>
          <a:blip r:embed="rId2"/>
          <a:stretch>
            <a:fillRect/>
          </a:stretch>
        </p:blipFill>
        <p:spPr>
          <a:xfrm>
            <a:off x="838200" y="1795686"/>
            <a:ext cx="5257800" cy="3931718"/>
          </a:xfrm>
          <a:prstGeom prst="rect">
            <a:avLst/>
          </a:prstGeom>
        </p:spPr>
      </p:pic>
      <p:sp>
        <p:nvSpPr>
          <p:cNvPr id="6" name="TextBox 5">
            <a:extLst>
              <a:ext uri="{FF2B5EF4-FFF2-40B4-BE49-F238E27FC236}">
                <a16:creationId xmlns:a16="http://schemas.microsoft.com/office/drawing/2014/main" id="{E3E4568F-097B-DFCA-F289-76BC76CD3328}"/>
              </a:ext>
            </a:extLst>
          </p:cNvPr>
          <p:cNvSpPr txBox="1"/>
          <p:nvPr/>
        </p:nvSpPr>
        <p:spPr>
          <a:xfrm>
            <a:off x="6400801" y="1690688"/>
            <a:ext cx="5257800" cy="4154984"/>
          </a:xfrm>
          <a:prstGeom prst="rect">
            <a:avLst/>
          </a:prstGeom>
          <a:noFill/>
        </p:spPr>
        <p:txBody>
          <a:bodyPr wrap="square" rtlCol="0">
            <a:spAutoFit/>
          </a:bodyPr>
          <a:lstStyle/>
          <a:p>
            <a:r>
              <a:rPr lang="en-US" sz="2400" dirty="0"/>
              <a:t>Scale is for numerical variables (can be continuous or discrete).</a:t>
            </a:r>
          </a:p>
          <a:p>
            <a:endParaRPr lang="en-US" sz="2400" dirty="0"/>
          </a:p>
          <a:p>
            <a:r>
              <a:rPr lang="en-US" sz="2400" dirty="0"/>
              <a:t>Categorical variables have possible values called levels, and they can either be ordinal or nominal.</a:t>
            </a:r>
          </a:p>
          <a:p>
            <a:r>
              <a:rPr lang="en-US" sz="2400" dirty="0"/>
              <a:t>Nominal variables do not have a natural ordering. </a:t>
            </a:r>
          </a:p>
          <a:p>
            <a:r>
              <a:rPr lang="en-US" sz="2400" dirty="0"/>
              <a:t>Ordinal variables do have levels with a natural ordering (think age groups: 15-20, 21-25, etc.)</a:t>
            </a:r>
          </a:p>
        </p:txBody>
      </p:sp>
    </p:spTree>
    <p:extLst>
      <p:ext uri="{BB962C8B-B14F-4D97-AF65-F5344CB8AC3E}">
        <p14:creationId xmlns:p14="http://schemas.microsoft.com/office/powerpoint/2010/main" val="1273834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F8829-AF69-AF9B-A78E-F39BE1F7062B}"/>
              </a:ext>
            </a:extLst>
          </p:cNvPr>
          <p:cNvSpPr>
            <a:spLocks noGrp="1"/>
          </p:cNvSpPr>
          <p:nvPr>
            <p:ph type="title"/>
          </p:nvPr>
        </p:nvSpPr>
        <p:spPr>
          <a:xfrm>
            <a:off x="838200" y="577159"/>
            <a:ext cx="10515600" cy="1325563"/>
          </a:xfrm>
        </p:spPr>
        <p:txBody>
          <a:bodyPr>
            <a:noAutofit/>
          </a:bodyPr>
          <a:lstStyle/>
          <a:p>
            <a:r>
              <a:rPr lang="en-US" sz="5400" dirty="0"/>
              <a:t>You can describe your data for record-keeping purposes</a:t>
            </a:r>
          </a:p>
        </p:txBody>
      </p:sp>
      <p:pic>
        <p:nvPicPr>
          <p:cNvPr id="5" name="Content Placeholder 4">
            <a:extLst>
              <a:ext uri="{FF2B5EF4-FFF2-40B4-BE49-F238E27FC236}">
                <a16:creationId xmlns:a16="http://schemas.microsoft.com/office/drawing/2014/main" id="{2561C78C-C27D-BFD2-1986-6A31F88C5ECF}"/>
              </a:ext>
            </a:extLst>
          </p:cNvPr>
          <p:cNvPicPr>
            <a:picLocks noGrp="1" noChangeAspect="1"/>
          </p:cNvPicPr>
          <p:nvPr>
            <p:ph idx="1"/>
          </p:nvPr>
        </p:nvPicPr>
        <p:blipFill>
          <a:blip r:embed="rId3"/>
          <a:stretch>
            <a:fillRect/>
          </a:stretch>
        </p:blipFill>
        <p:spPr>
          <a:xfrm>
            <a:off x="1150608" y="2514651"/>
            <a:ext cx="9812009" cy="2379559"/>
          </a:xfrm>
          <a:prstGeom prst="rect">
            <a:avLst/>
          </a:prstGeom>
        </p:spPr>
      </p:pic>
      <p:sp>
        <p:nvSpPr>
          <p:cNvPr id="6" name="Oval 5">
            <a:extLst>
              <a:ext uri="{FF2B5EF4-FFF2-40B4-BE49-F238E27FC236}">
                <a16:creationId xmlns:a16="http://schemas.microsoft.com/office/drawing/2014/main" id="{FA78A621-0B7B-DBB7-D525-196C494C6D78}"/>
              </a:ext>
            </a:extLst>
          </p:cNvPr>
          <p:cNvSpPr/>
          <p:nvPr/>
        </p:nvSpPr>
        <p:spPr>
          <a:xfrm>
            <a:off x="5724940" y="3008243"/>
            <a:ext cx="3909391" cy="103367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656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97E0-95FE-CA28-31BA-895655310908}"/>
              </a:ext>
            </a:extLst>
          </p:cNvPr>
          <p:cNvSpPr>
            <a:spLocks noGrp="1"/>
          </p:cNvSpPr>
          <p:nvPr>
            <p:ph type="title"/>
          </p:nvPr>
        </p:nvSpPr>
        <p:spPr/>
        <p:txBody>
          <a:bodyPr>
            <a:normAutofit/>
          </a:bodyPr>
          <a:lstStyle/>
          <a:p>
            <a:r>
              <a:rPr lang="en-US" sz="5400" dirty="0"/>
              <a:t>Working in JASP</a:t>
            </a:r>
          </a:p>
        </p:txBody>
      </p:sp>
      <p:pic>
        <p:nvPicPr>
          <p:cNvPr id="5" name="Content Placeholder 4">
            <a:extLst>
              <a:ext uri="{FF2B5EF4-FFF2-40B4-BE49-F238E27FC236}">
                <a16:creationId xmlns:a16="http://schemas.microsoft.com/office/drawing/2014/main" id="{9D569524-2565-5088-10AD-D5F2A909DA14}"/>
              </a:ext>
            </a:extLst>
          </p:cNvPr>
          <p:cNvPicPr>
            <a:picLocks noGrp="1" noChangeAspect="1"/>
          </p:cNvPicPr>
          <p:nvPr>
            <p:ph idx="1"/>
          </p:nvPr>
        </p:nvPicPr>
        <p:blipFill>
          <a:blip r:embed="rId3"/>
          <a:stretch>
            <a:fillRect/>
          </a:stretch>
        </p:blipFill>
        <p:spPr>
          <a:xfrm>
            <a:off x="895365" y="1825625"/>
            <a:ext cx="10401270" cy="4351338"/>
          </a:xfrm>
          <a:prstGeom prst="rect">
            <a:avLst/>
          </a:prstGeom>
        </p:spPr>
      </p:pic>
      <p:sp>
        <p:nvSpPr>
          <p:cNvPr id="6" name="Oval 5">
            <a:extLst>
              <a:ext uri="{FF2B5EF4-FFF2-40B4-BE49-F238E27FC236}">
                <a16:creationId xmlns:a16="http://schemas.microsoft.com/office/drawing/2014/main" id="{A59F3B15-6284-5F1E-6321-E33E025D6D92}"/>
              </a:ext>
            </a:extLst>
          </p:cNvPr>
          <p:cNvSpPr/>
          <p:nvPr/>
        </p:nvSpPr>
        <p:spPr>
          <a:xfrm>
            <a:off x="3564837" y="2146852"/>
            <a:ext cx="1166190" cy="100716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0491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6D58-4551-8FF4-C0EB-A0BCF3A8501F}"/>
              </a:ext>
            </a:extLst>
          </p:cNvPr>
          <p:cNvSpPr>
            <a:spLocks noGrp="1"/>
          </p:cNvSpPr>
          <p:nvPr>
            <p:ph type="title"/>
          </p:nvPr>
        </p:nvSpPr>
        <p:spPr/>
        <p:txBody>
          <a:bodyPr>
            <a:normAutofit/>
          </a:bodyPr>
          <a:lstStyle/>
          <a:p>
            <a:r>
              <a:rPr lang="en-US" sz="5400" dirty="0"/>
              <a:t>Working in JASP</a:t>
            </a:r>
          </a:p>
        </p:txBody>
      </p:sp>
      <p:pic>
        <p:nvPicPr>
          <p:cNvPr id="5" name="Content Placeholder 4">
            <a:extLst>
              <a:ext uri="{FF2B5EF4-FFF2-40B4-BE49-F238E27FC236}">
                <a16:creationId xmlns:a16="http://schemas.microsoft.com/office/drawing/2014/main" id="{D86C16D2-5AFB-782C-E727-3B27E50C172A}"/>
              </a:ext>
            </a:extLst>
          </p:cNvPr>
          <p:cNvPicPr>
            <a:picLocks noGrp="1" noChangeAspect="1"/>
          </p:cNvPicPr>
          <p:nvPr>
            <p:ph idx="1"/>
          </p:nvPr>
        </p:nvPicPr>
        <p:blipFill>
          <a:blip r:embed="rId3"/>
          <a:stretch>
            <a:fillRect/>
          </a:stretch>
        </p:blipFill>
        <p:spPr>
          <a:xfrm>
            <a:off x="303928" y="2014331"/>
            <a:ext cx="11584143" cy="3468458"/>
          </a:xfrm>
          <a:prstGeom prst="rect">
            <a:avLst/>
          </a:prstGeom>
        </p:spPr>
      </p:pic>
      <p:sp>
        <p:nvSpPr>
          <p:cNvPr id="6" name="Oval 5">
            <a:extLst>
              <a:ext uri="{FF2B5EF4-FFF2-40B4-BE49-F238E27FC236}">
                <a16:creationId xmlns:a16="http://schemas.microsoft.com/office/drawing/2014/main" id="{425B6E17-8F52-B421-0CF7-E9231BEF388E}"/>
              </a:ext>
            </a:extLst>
          </p:cNvPr>
          <p:cNvSpPr/>
          <p:nvPr/>
        </p:nvSpPr>
        <p:spPr>
          <a:xfrm>
            <a:off x="2345637" y="2146851"/>
            <a:ext cx="1166190" cy="333593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Brace 6">
            <a:extLst>
              <a:ext uri="{FF2B5EF4-FFF2-40B4-BE49-F238E27FC236}">
                <a16:creationId xmlns:a16="http://schemas.microsoft.com/office/drawing/2014/main" id="{805B0036-1295-C9C8-DDB1-7152B1E8396E}"/>
              </a:ext>
            </a:extLst>
          </p:cNvPr>
          <p:cNvSpPr/>
          <p:nvPr/>
        </p:nvSpPr>
        <p:spPr>
          <a:xfrm rot="5400000">
            <a:off x="8885929" y="607741"/>
            <a:ext cx="928759" cy="4006979"/>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38432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895E-CD98-D0F3-C3CD-B24CBFAC4342}"/>
              </a:ext>
            </a:extLst>
          </p:cNvPr>
          <p:cNvSpPr>
            <a:spLocks noGrp="1"/>
          </p:cNvSpPr>
          <p:nvPr>
            <p:ph type="title"/>
          </p:nvPr>
        </p:nvSpPr>
        <p:spPr/>
        <p:txBody>
          <a:bodyPr>
            <a:normAutofit/>
          </a:bodyPr>
          <a:lstStyle/>
          <a:p>
            <a:r>
              <a:rPr lang="en-US" sz="5400" dirty="0"/>
              <a:t>What results do you want?</a:t>
            </a:r>
          </a:p>
        </p:txBody>
      </p:sp>
      <p:pic>
        <p:nvPicPr>
          <p:cNvPr id="5" name="Content Placeholder 4">
            <a:extLst>
              <a:ext uri="{FF2B5EF4-FFF2-40B4-BE49-F238E27FC236}">
                <a16:creationId xmlns:a16="http://schemas.microsoft.com/office/drawing/2014/main" id="{F019D19C-9C07-974D-2D43-80C4CC9788D9}"/>
              </a:ext>
            </a:extLst>
          </p:cNvPr>
          <p:cNvPicPr>
            <a:picLocks noGrp="1" noChangeAspect="1"/>
          </p:cNvPicPr>
          <p:nvPr>
            <p:ph idx="1"/>
          </p:nvPr>
        </p:nvPicPr>
        <p:blipFill>
          <a:blip r:embed="rId3"/>
          <a:stretch>
            <a:fillRect/>
          </a:stretch>
        </p:blipFill>
        <p:spPr>
          <a:xfrm>
            <a:off x="2677092" y="1825625"/>
            <a:ext cx="6837816" cy="4351338"/>
          </a:xfrm>
          <a:prstGeom prst="rect">
            <a:avLst/>
          </a:prstGeom>
        </p:spPr>
      </p:pic>
    </p:spTree>
    <p:extLst>
      <p:ext uri="{BB962C8B-B14F-4D97-AF65-F5344CB8AC3E}">
        <p14:creationId xmlns:p14="http://schemas.microsoft.com/office/powerpoint/2010/main" val="3534168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D79AB-7965-985D-6EBC-830D8A195B2C}"/>
              </a:ext>
            </a:extLst>
          </p:cNvPr>
          <p:cNvSpPr>
            <a:spLocks noGrp="1"/>
          </p:cNvSpPr>
          <p:nvPr>
            <p:ph type="title"/>
          </p:nvPr>
        </p:nvSpPr>
        <p:spPr/>
        <p:txBody>
          <a:bodyPr>
            <a:noAutofit/>
          </a:bodyPr>
          <a:lstStyle/>
          <a:p>
            <a:r>
              <a:rPr lang="en-US" sz="5400" dirty="0"/>
              <a:t>You are able to run separate analyses and rename each one!</a:t>
            </a:r>
          </a:p>
        </p:txBody>
      </p:sp>
      <p:pic>
        <p:nvPicPr>
          <p:cNvPr id="5" name="Content Placeholder 4">
            <a:extLst>
              <a:ext uri="{FF2B5EF4-FFF2-40B4-BE49-F238E27FC236}">
                <a16:creationId xmlns:a16="http://schemas.microsoft.com/office/drawing/2014/main" id="{C4BFC8E5-D61D-821D-2706-95881018D71F}"/>
              </a:ext>
            </a:extLst>
          </p:cNvPr>
          <p:cNvPicPr>
            <a:picLocks noGrp="1" noChangeAspect="1"/>
          </p:cNvPicPr>
          <p:nvPr>
            <p:ph idx="1"/>
          </p:nvPr>
        </p:nvPicPr>
        <p:blipFill>
          <a:blip r:embed="rId3"/>
          <a:stretch>
            <a:fillRect/>
          </a:stretch>
        </p:blipFill>
        <p:spPr>
          <a:xfrm>
            <a:off x="2793553" y="1997904"/>
            <a:ext cx="6604894" cy="4351338"/>
          </a:xfrm>
          <a:prstGeom prst="rect">
            <a:avLst/>
          </a:prstGeom>
        </p:spPr>
      </p:pic>
      <p:sp>
        <p:nvSpPr>
          <p:cNvPr id="6" name="Oval 5">
            <a:extLst>
              <a:ext uri="{FF2B5EF4-FFF2-40B4-BE49-F238E27FC236}">
                <a16:creationId xmlns:a16="http://schemas.microsoft.com/office/drawing/2014/main" id="{7A74A5C0-FFC2-BE47-FB6A-99D157E64B4B}"/>
              </a:ext>
            </a:extLst>
          </p:cNvPr>
          <p:cNvSpPr/>
          <p:nvPr/>
        </p:nvSpPr>
        <p:spPr>
          <a:xfrm>
            <a:off x="2517915" y="1802296"/>
            <a:ext cx="2531163" cy="100716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7634D64-3C5A-5250-1BF5-BF3E20B4C001}"/>
              </a:ext>
            </a:extLst>
          </p:cNvPr>
          <p:cNvSpPr/>
          <p:nvPr/>
        </p:nvSpPr>
        <p:spPr>
          <a:xfrm>
            <a:off x="7951307" y="1886296"/>
            <a:ext cx="596346" cy="69995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0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BD00-12B6-BE78-F5EE-7C7639CEF1D6}"/>
              </a:ext>
            </a:extLst>
          </p:cNvPr>
          <p:cNvSpPr>
            <a:spLocks noGrp="1"/>
          </p:cNvSpPr>
          <p:nvPr>
            <p:ph type="title"/>
          </p:nvPr>
        </p:nvSpPr>
        <p:spPr/>
        <p:txBody>
          <a:bodyPr>
            <a:normAutofit/>
          </a:bodyPr>
          <a:lstStyle/>
          <a:p>
            <a:r>
              <a:rPr lang="en-US" sz="5400" dirty="0"/>
              <a:t>You can adjust the size of your plots!</a:t>
            </a:r>
          </a:p>
        </p:txBody>
      </p:sp>
      <p:pic>
        <p:nvPicPr>
          <p:cNvPr id="5" name="Content Placeholder 4">
            <a:extLst>
              <a:ext uri="{FF2B5EF4-FFF2-40B4-BE49-F238E27FC236}">
                <a16:creationId xmlns:a16="http://schemas.microsoft.com/office/drawing/2014/main" id="{48F16C68-B1D8-A4A3-C799-34B4331B4C9D}"/>
              </a:ext>
            </a:extLst>
          </p:cNvPr>
          <p:cNvPicPr>
            <a:picLocks noGrp="1" noChangeAspect="1"/>
          </p:cNvPicPr>
          <p:nvPr>
            <p:ph idx="1"/>
          </p:nvPr>
        </p:nvPicPr>
        <p:blipFill>
          <a:blip r:embed="rId3"/>
          <a:stretch>
            <a:fillRect/>
          </a:stretch>
        </p:blipFill>
        <p:spPr>
          <a:xfrm>
            <a:off x="1873632" y="1825625"/>
            <a:ext cx="8444735" cy="4351338"/>
          </a:xfrm>
          <a:prstGeom prst="rect">
            <a:avLst/>
          </a:prstGeom>
        </p:spPr>
      </p:pic>
      <p:sp>
        <p:nvSpPr>
          <p:cNvPr id="6" name="Oval 5">
            <a:extLst>
              <a:ext uri="{FF2B5EF4-FFF2-40B4-BE49-F238E27FC236}">
                <a16:creationId xmlns:a16="http://schemas.microsoft.com/office/drawing/2014/main" id="{D99A2560-94A7-19CD-710A-53BB05744B68}"/>
              </a:ext>
            </a:extLst>
          </p:cNvPr>
          <p:cNvSpPr/>
          <p:nvPr/>
        </p:nvSpPr>
        <p:spPr>
          <a:xfrm>
            <a:off x="9735272" y="5579165"/>
            <a:ext cx="786954" cy="73273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7269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E739-DC23-8B72-F337-C8DD5DE9AD8B}"/>
              </a:ext>
            </a:extLst>
          </p:cNvPr>
          <p:cNvSpPr>
            <a:spLocks noGrp="1"/>
          </p:cNvSpPr>
          <p:nvPr>
            <p:ph type="title"/>
          </p:nvPr>
        </p:nvSpPr>
        <p:spPr>
          <a:xfrm>
            <a:off x="838200" y="848371"/>
            <a:ext cx="10515600" cy="1325563"/>
          </a:xfrm>
        </p:spPr>
        <p:txBody>
          <a:bodyPr>
            <a:noAutofit/>
          </a:bodyPr>
          <a:lstStyle/>
          <a:p>
            <a:r>
              <a:rPr lang="en-US" sz="5400" dirty="0"/>
              <a:t>You can compute columns – this will help with relative abundance (and other things in the future)</a:t>
            </a:r>
          </a:p>
        </p:txBody>
      </p:sp>
      <p:pic>
        <p:nvPicPr>
          <p:cNvPr id="5" name="Content Placeholder 4">
            <a:extLst>
              <a:ext uri="{FF2B5EF4-FFF2-40B4-BE49-F238E27FC236}">
                <a16:creationId xmlns:a16="http://schemas.microsoft.com/office/drawing/2014/main" id="{11F1D327-FF38-A3BA-3202-63D601131F40}"/>
              </a:ext>
            </a:extLst>
          </p:cNvPr>
          <p:cNvPicPr>
            <a:picLocks noGrp="1" noChangeAspect="1"/>
          </p:cNvPicPr>
          <p:nvPr>
            <p:ph idx="1"/>
          </p:nvPr>
        </p:nvPicPr>
        <p:blipFill>
          <a:blip r:embed="rId3"/>
          <a:stretch>
            <a:fillRect/>
          </a:stretch>
        </p:blipFill>
        <p:spPr>
          <a:xfrm>
            <a:off x="838200" y="2867602"/>
            <a:ext cx="10515600" cy="3142027"/>
          </a:xfrm>
          <a:prstGeom prst="rect">
            <a:avLst/>
          </a:prstGeom>
        </p:spPr>
      </p:pic>
      <p:cxnSp>
        <p:nvCxnSpPr>
          <p:cNvPr id="7" name="Straight Arrow Connector 6">
            <a:extLst>
              <a:ext uri="{FF2B5EF4-FFF2-40B4-BE49-F238E27FC236}">
                <a16:creationId xmlns:a16="http://schemas.microsoft.com/office/drawing/2014/main" id="{3E4F5551-61B3-D3FF-855F-15457AB46932}"/>
              </a:ext>
            </a:extLst>
          </p:cNvPr>
          <p:cNvCxnSpPr/>
          <p:nvPr/>
        </p:nvCxnSpPr>
        <p:spPr>
          <a:xfrm>
            <a:off x="198783" y="3429000"/>
            <a:ext cx="639417"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195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054B3-ADD5-4F25-3D06-A7197282FBB3}"/>
              </a:ext>
            </a:extLst>
          </p:cNvPr>
          <p:cNvSpPr>
            <a:spLocks noGrp="1"/>
          </p:cNvSpPr>
          <p:nvPr>
            <p:ph type="title"/>
          </p:nvPr>
        </p:nvSpPr>
        <p:spPr>
          <a:xfrm>
            <a:off x="732183" y="2511977"/>
            <a:ext cx="5867400" cy="1325563"/>
          </a:xfrm>
        </p:spPr>
        <p:txBody>
          <a:bodyPr>
            <a:noAutofit/>
          </a:bodyPr>
          <a:lstStyle/>
          <a:p>
            <a:r>
              <a:rPr lang="en-US" sz="5400" dirty="0"/>
              <a:t>There is a plot builder function – utilize this for creating more specific plots! </a:t>
            </a:r>
          </a:p>
        </p:txBody>
      </p:sp>
      <p:pic>
        <p:nvPicPr>
          <p:cNvPr id="5" name="Content Placeholder 4">
            <a:extLst>
              <a:ext uri="{FF2B5EF4-FFF2-40B4-BE49-F238E27FC236}">
                <a16:creationId xmlns:a16="http://schemas.microsoft.com/office/drawing/2014/main" id="{0A6F0518-A2F6-C855-7E62-B43936A006A0}"/>
              </a:ext>
            </a:extLst>
          </p:cNvPr>
          <p:cNvPicPr>
            <a:picLocks noGrp="1" noChangeAspect="1"/>
          </p:cNvPicPr>
          <p:nvPr>
            <p:ph idx="1"/>
          </p:nvPr>
        </p:nvPicPr>
        <p:blipFill>
          <a:blip r:embed="rId3"/>
          <a:stretch>
            <a:fillRect/>
          </a:stretch>
        </p:blipFill>
        <p:spPr>
          <a:xfrm>
            <a:off x="6798365" y="-1"/>
            <a:ext cx="5393635" cy="6865415"/>
          </a:xfrm>
          <a:prstGeom prst="rect">
            <a:avLst/>
          </a:prstGeom>
        </p:spPr>
      </p:pic>
    </p:spTree>
    <p:extLst>
      <p:ext uri="{BB962C8B-B14F-4D97-AF65-F5344CB8AC3E}">
        <p14:creationId xmlns:p14="http://schemas.microsoft.com/office/powerpoint/2010/main" val="822500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0E049-93EA-7938-3238-614BA08A5449}"/>
              </a:ext>
            </a:extLst>
          </p:cNvPr>
          <p:cNvSpPr>
            <a:spLocks noGrp="1"/>
          </p:cNvSpPr>
          <p:nvPr>
            <p:ph type="title"/>
          </p:nvPr>
        </p:nvSpPr>
        <p:spPr/>
        <p:txBody>
          <a:bodyPr>
            <a:normAutofit/>
          </a:bodyPr>
          <a:lstStyle/>
          <a:p>
            <a:r>
              <a:rPr lang="en-US" sz="5400" dirty="0"/>
              <a:t>Exporting your results</a:t>
            </a:r>
          </a:p>
        </p:txBody>
      </p:sp>
      <p:pic>
        <p:nvPicPr>
          <p:cNvPr id="5" name="Content Placeholder 4">
            <a:extLst>
              <a:ext uri="{FF2B5EF4-FFF2-40B4-BE49-F238E27FC236}">
                <a16:creationId xmlns:a16="http://schemas.microsoft.com/office/drawing/2014/main" id="{D99F6497-FFAB-3BA6-6AE8-1C84D280225D}"/>
              </a:ext>
            </a:extLst>
          </p:cNvPr>
          <p:cNvPicPr>
            <a:picLocks noGrp="1" noChangeAspect="1"/>
          </p:cNvPicPr>
          <p:nvPr>
            <p:ph idx="1"/>
          </p:nvPr>
        </p:nvPicPr>
        <p:blipFill>
          <a:blip r:embed="rId3"/>
          <a:stretch>
            <a:fillRect/>
          </a:stretch>
        </p:blipFill>
        <p:spPr>
          <a:xfrm>
            <a:off x="2679091" y="1690688"/>
            <a:ext cx="6833818" cy="4780814"/>
          </a:xfrm>
          <a:prstGeom prst="rect">
            <a:avLst/>
          </a:prstGeom>
        </p:spPr>
      </p:pic>
    </p:spTree>
    <p:extLst>
      <p:ext uri="{BB962C8B-B14F-4D97-AF65-F5344CB8AC3E}">
        <p14:creationId xmlns:p14="http://schemas.microsoft.com/office/powerpoint/2010/main" val="3061632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4E6AF3-35B4-9F5A-E4E0-AD6D02BC807D}"/>
              </a:ext>
            </a:extLst>
          </p:cNvPr>
          <p:cNvSpPr>
            <a:spLocks noGrp="1"/>
          </p:cNvSpPr>
          <p:nvPr>
            <p:ph type="title"/>
          </p:nvPr>
        </p:nvSpPr>
        <p:spPr>
          <a:xfrm>
            <a:off x="831850" y="994121"/>
            <a:ext cx="10515600" cy="2852737"/>
          </a:xfrm>
        </p:spPr>
        <p:txBody>
          <a:bodyPr/>
          <a:lstStyle/>
          <a:p>
            <a:r>
              <a:rPr lang="en-US" dirty="0"/>
              <a:t>The assignment for this lab is due at 11:59PM on Sunday 08/30!</a:t>
            </a:r>
          </a:p>
        </p:txBody>
      </p:sp>
      <p:sp>
        <p:nvSpPr>
          <p:cNvPr id="5" name="Text Placeholder 4">
            <a:extLst>
              <a:ext uri="{FF2B5EF4-FFF2-40B4-BE49-F238E27FC236}">
                <a16:creationId xmlns:a16="http://schemas.microsoft.com/office/drawing/2014/main" id="{5B28364F-DAB4-6A97-1B92-E0BE13DFAE97}"/>
              </a:ext>
            </a:extLst>
          </p:cNvPr>
          <p:cNvSpPr>
            <a:spLocks noGrp="1"/>
          </p:cNvSpPr>
          <p:nvPr>
            <p:ph type="body" idx="1"/>
          </p:nvPr>
        </p:nvSpPr>
        <p:spPr>
          <a:xfrm>
            <a:off x="844550" y="3846858"/>
            <a:ext cx="10515600" cy="1500187"/>
          </a:xfrm>
        </p:spPr>
        <p:txBody>
          <a:bodyPr>
            <a:normAutofit/>
          </a:bodyPr>
          <a:lstStyle/>
          <a:p>
            <a:r>
              <a:rPr lang="en-US" sz="3600" dirty="0"/>
              <a:t>If you don’t finish in class, you have some time at home as needed. </a:t>
            </a:r>
          </a:p>
        </p:txBody>
      </p:sp>
      <p:pic>
        <p:nvPicPr>
          <p:cNvPr id="3" name="Picture 2">
            <a:extLst>
              <a:ext uri="{FF2B5EF4-FFF2-40B4-BE49-F238E27FC236}">
                <a16:creationId xmlns:a16="http://schemas.microsoft.com/office/drawing/2014/main" id="{20782F03-DEF0-AA4D-7F27-9F9FF08EBA1B}"/>
              </a:ext>
            </a:extLst>
          </p:cNvPr>
          <p:cNvPicPr>
            <a:picLocks noChangeAspect="1"/>
          </p:cNvPicPr>
          <p:nvPr/>
        </p:nvPicPr>
        <p:blipFill>
          <a:blip r:embed="rId2"/>
          <a:stretch>
            <a:fillRect/>
          </a:stretch>
        </p:blipFill>
        <p:spPr>
          <a:xfrm>
            <a:off x="1273864" y="5453062"/>
            <a:ext cx="3520106" cy="1126434"/>
          </a:xfrm>
          <a:prstGeom prst="rect">
            <a:avLst/>
          </a:prstGeom>
        </p:spPr>
      </p:pic>
      <p:pic>
        <p:nvPicPr>
          <p:cNvPr id="6" name="Picture 5">
            <a:extLst>
              <a:ext uri="{FF2B5EF4-FFF2-40B4-BE49-F238E27FC236}">
                <a16:creationId xmlns:a16="http://schemas.microsoft.com/office/drawing/2014/main" id="{0C47A4F2-3BD7-99C4-34B9-5656BC499341}"/>
              </a:ext>
            </a:extLst>
          </p:cNvPr>
          <p:cNvPicPr>
            <a:picLocks noChangeAspect="1"/>
          </p:cNvPicPr>
          <p:nvPr/>
        </p:nvPicPr>
        <p:blipFill>
          <a:blip r:embed="rId2"/>
          <a:stretch>
            <a:fillRect/>
          </a:stretch>
        </p:blipFill>
        <p:spPr>
          <a:xfrm>
            <a:off x="4248977" y="5453062"/>
            <a:ext cx="3520106" cy="1126434"/>
          </a:xfrm>
          <a:prstGeom prst="rect">
            <a:avLst/>
          </a:prstGeom>
        </p:spPr>
      </p:pic>
      <p:pic>
        <p:nvPicPr>
          <p:cNvPr id="7" name="Picture 6">
            <a:extLst>
              <a:ext uri="{FF2B5EF4-FFF2-40B4-BE49-F238E27FC236}">
                <a16:creationId xmlns:a16="http://schemas.microsoft.com/office/drawing/2014/main" id="{E4814E54-B091-8F05-0BD3-ACAE93E5F5DB}"/>
              </a:ext>
            </a:extLst>
          </p:cNvPr>
          <p:cNvPicPr>
            <a:picLocks noChangeAspect="1"/>
          </p:cNvPicPr>
          <p:nvPr/>
        </p:nvPicPr>
        <p:blipFill>
          <a:blip r:embed="rId2"/>
          <a:stretch>
            <a:fillRect/>
          </a:stretch>
        </p:blipFill>
        <p:spPr>
          <a:xfrm flipH="1">
            <a:off x="7224090" y="5453062"/>
            <a:ext cx="3520106" cy="1126434"/>
          </a:xfrm>
          <a:prstGeom prst="rect">
            <a:avLst/>
          </a:prstGeom>
        </p:spPr>
      </p:pic>
    </p:spTree>
    <p:extLst>
      <p:ext uri="{BB962C8B-B14F-4D97-AF65-F5344CB8AC3E}">
        <p14:creationId xmlns:p14="http://schemas.microsoft.com/office/powerpoint/2010/main" val="645416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1844</TotalTime>
  <Words>575</Words>
  <Application>Microsoft Macintosh PowerPoint</Application>
  <PresentationFormat>Widescreen</PresentationFormat>
  <Paragraphs>46</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Week 1 Lab – Getting Oriented in JASP</vt:lpstr>
      <vt:lpstr>The Week 1 Lab file is in BlackBoard</vt:lpstr>
      <vt:lpstr>3 Types of Data in JASP</vt:lpstr>
      <vt:lpstr>You can describe your data for record-keeping purposes</vt:lpstr>
      <vt:lpstr>Working in JASP</vt:lpstr>
      <vt:lpstr>Working in JASP</vt:lpstr>
      <vt:lpstr>What results do you want?</vt:lpstr>
      <vt:lpstr>You are able to run separate analyses and rename each one!</vt:lpstr>
      <vt:lpstr>You can adjust the size of your plots!</vt:lpstr>
      <vt:lpstr>You can compute columns – this will help with relative abundance (and other things in the future)</vt:lpstr>
      <vt:lpstr>There is a plot builder function – utilize this for creating more specific plots! </vt:lpstr>
      <vt:lpstr>Exporting your results</vt:lpstr>
      <vt:lpstr>The assignment for this lab is due at 11:59PM on Sunday 08/30!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7</cp:revision>
  <dcterms:created xsi:type="dcterms:W3CDTF">2026-08-19T12:52:29Z</dcterms:created>
  <dcterms:modified xsi:type="dcterms:W3CDTF">2026-08-20T19:37:44Z</dcterms:modified>
</cp:coreProperties>
</file>