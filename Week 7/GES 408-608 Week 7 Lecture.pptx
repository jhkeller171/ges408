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8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2"/>
    <p:restoredTop sz="82071"/>
  </p:normalViewPr>
  <p:slideViewPr>
    <p:cSldViewPr snapToGrid="0">
      <p:cViewPr varScale="1">
        <p:scale>
          <a:sx n="87" d="100"/>
          <a:sy n="87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5841E-5DF2-DB4B-96A2-A6F02F13D401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0E199-C0DD-B14E-B212-E557F8EBC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42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Fisher’s method for partitioning 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testing for variation among groups is equivalent to asking whether the groups’ means differ </a:t>
            </a: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Variance ratio to determine how far apart means are by looking at variability of means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Example could be growth rate of three different plant species, or three different fertilizer treatments on the same plant species, </a:t>
            </a:r>
            <a:r>
              <a:rPr lang="en-US" altLang="en-US" sz="1200" dirty="0" err="1"/>
              <a:t>etc,etc</a:t>
            </a:r>
            <a:r>
              <a:rPr lang="en-US" altLang="en-US" sz="1200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Or it could be something even more ridiculous lol like…..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7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 people randomly assigned to one of three light treatments. Participants were awakened from sleep and subjected to a single three-hour episode of bright lights applied to the eyes only, to the knees only, or to neither (the control group).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Effects of treatment on the circadian rhythm were measured two days later by the magnitude of phase shift in each participant’s daily cycle of melatonin production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negative measurement indicates a delay in melatonin production, which is the predicted effect of light treatment; a positive number indicates an advance.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ASK: In this case what would the independent and dependent variables be?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have a categorical light treatment and they want to see if picking an individual from each of the three groups more different than picking three individuals from the same group</a:t>
            </a: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96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– no treatment effect, and all means are equal (with some random error thrown in)</a:t>
            </a:r>
          </a:p>
          <a:p>
            <a:r>
              <a:rPr lang="en-US" dirty="0"/>
              <a:t>Alternative – at least 1 mean is different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ASK: so what would the knee hypotheses be?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37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variation regardless of group</a:t>
            </a:r>
          </a:p>
          <a:p>
            <a:r>
              <a:rPr lang="en-US" dirty="0"/>
              <a:t>Deviation between each observation and the grand mean</a:t>
            </a:r>
          </a:p>
          <a:p>
            <a:endParaRPr lang="en-US" dirty="0"/>
          </a:p>
          <a:p>
            <a:r>
              <a:rPr lang="en-US" dirty="0"/>
              <a:t>This can be split into two parts…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15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Y-bar I is the mean of group I, do each one for the no of observations in each group</a:t>
            </a:r>
          </a:p>
          <a:p>
            <a:endParaRPr lang="en-US" dirty="0"/>
          </a:p>
          <a:p>
            <a:r>
              <a:rPr lang="en-US" dirty="0"/>
              <a:t>Can be read as </a:t>
            </a:r>
            <a:r>
              <a:rPr lang="en-US" dirty="0" err="1"/>
              <a:t>ssamong</a:t>
            </a:r>
            <a:r>
              <a:rPr lang="en-US" dirty="0"/>
              <a:t> or </a:t>
            </a:r>
            <a:r>
              <a:rPr lang="en-US" dirty="0" err="1"/>
              <a:t>ssgroup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baseline="-25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10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</a:t>
            </a:r>
            <a:r>
              <a:rPr lang="en-US" dirty="0" err="1"/>
              <a:t>ij</a:t>
            </a:r>
            <a:r>
              <a:rPr lang="en-US" dirty="0"/>
              <a:t> are individual observations and again y-bar I is the mean of group I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SS </a:t>
            </a:r>
            <a:r>
              <a:rPr lang="en-US" altLang="en-US" sz="1200" baseline="-25000" dirty="0"/>
              <a:t>total</a:t>
            </a:r>
            <a:r>
              <a:rPr lang="en-US" altLang="en-US" sz="1200" dirty="0"/>
              <a:t> = SS </a:t>
            </a:r>
            <a:r>
              <a:rPr lang="en-US" altLang="en-US" sz="1200" baseline="-25000" dirty="0"/>
              <a:t>among</a:t>
            </a:r>
            <a:r>
              <a:rPr lang="en-US" altLang="en-US" sz="1200" dirty="0"/>
              <a:t> + SS </a:t>
            </a:r>
            <a:r>
              <a:rPr lang="en-US" altLang="en-US" sz="1200" baseline="-25000" dirty="0"/>
              <a:t>within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baseline="-250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the variation in treatment means is BIGGER than the variation in individuals in the entire population, then there must exist some effect of the treatment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So, if </a:t>
            </a:r>
            <a:r>
              <a:rPr lang="en-US" altLang="en-US" sz="1100" dirty="0" err="1"/>
              <a:t>SS</a:t>
            </a:r>
            <a:r>
              <a:rPr lang="en-US" altLang="en-US" sz="1100" baseline="-25000" dirty="0" err="1"/>
              <a:t>among</a:t>
            </a:r>
            <a:r>
              <a:rPr lang="en-US" altLang="en-US" sz="1100" dirty="0"/>
              <a:t> = </a:t>
            </a:r>
            <a:r>
              <a:rPr lang="en-US" altLang="en-US" sz="1100" dirty="0" err="1"/>
              <a:t>SS</a:t>
            </a:r>
            <a:r>
              <a:rPr lang="en-US" altLang="en-US" sz="1100" baseline="-25000" dirty="0" err="1"/>
              <a:t>within</a:t>
            </a:r>
            <a:r>
              <a:rPr lang="en-US" altLang="en-US" sz="1100" dirty="0"/>
              <a:t>, there is NO treatment effect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So, if </a:t>
            </a:r>
            <a:r>
              <a:rPr lang="en-US" altLang="en-US" sz="1100" dirty="0" err="1"/>
              <a:t>SS</a:t>
            </a:r>
            <a:r>
              <a:rPr lang="en-US" altLang="en-US" sz="1100" baseline="-25000" dirty="0" err="1"/>
              <a:t>among</a:t>
            </a:r>
            <a:r>
              <a:rPr lang="en-US" altLang="en-US" sz="1100" dirty="0"/>
              <a:t> &gt;&gt; </a:t>
            </a:r>
            <a:r>
              <a:rPr lang="en-US" altLang="en-US" sz="1100" dirty="0" err="1"/>
              <a:t>SS</a:t>
            </a:r>
            <a:r>
              <a:rPr lang="en-US" altLang="en-US" sz="1100" baseline="-25000" dirty="0" err="1"/>
              <a:t>within</a:t>
            </a:r>
            <a:r>
              <a:rPr lang="en-US" altLang="en-US" sz="1100" dirty="0"/>
              <a:t>, there IS A treatment effect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34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Dotted line = total variability with the mean across all the groups with all the data</a:t>
            </a:r>
          </a:p>
          <a:p>
            <a:endParaRPr lang="en-US" dirty="0"/>
          </a:p>
          <a:p>
            <a:r>
              <a:rPr lang="en-US" dirty="0"/>
              <a:t>Data is split into groups and then you have the group means </a:t>
            </a:r>
            <a:r>
              <a:rPr lang="en-US" dirty="0" err="1"/>
              <a:t>abc</a:t>
            </a:r>
            <a:endParaRPr lang="en-US" dirty="0"/>
          </a:p>
          <a:p>
            <a:endParaRPr lang="en-US" dirty="0"/>
          </a:p>
          <a:p>
            <a:r>
              <a:rPr lang="en-US" dirty="0"/>
              <a:t>Ss within is the variance within each group, ss error</a:t>
            </a:r>
          </a:p>
          <a:p>
            <a:endParaRPr lang="en-US" dirty="0"/>
          </a:p>
          <a:p>
            <a:r>
              <a:rPr lang="en-US" dirty="0"/>
              <a:t>Ss among is how far is each group mean from the grand mean, ss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75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Ms</a:t>
            </a:r>
            <a:r>
              <a:rPr lang="en-US" dirty="0"/>
              <a:t> among / </a:t>
            </a:r>
            <a:r>
              <a:rPr lang="en-US" dirty="0" err="1"/>
              <a:t>ms</a:t>
            </a:r>
            <a:r>
              <a:rPr lang="en-US" dirty="0"/>
              <a:t> within</a:t>
            </a:r>
          </a:p>
          <a:p>
            <a:endParaRPr lang="en-US" dirty="0"/>
          </a:p>
          <a:p>
            <a:r>
              <a:rPr lang="en-US" dirty="0"/>
              <a:t>Drawing on sticky note – put on board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47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06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</a:t>
            </a:r>
            <a:r>
              <a:rPr lang="en-US" dirty="0" err="1"/>
              <a:t>ms</a:t>
            </a:r>
            <a:r>
              <a:rPr lang="en-US" dirty="0"/>
              <a:t> among = </a:t>
            </a:r>
            <a:r>
              <a:rPr lang="en-US" dirty="0" err="1"/>
              <a:t>ms</a:t>
            </a:r>
            <a:r>
              <a:rPr lang="en-US" dirty="0"/>
              <a:t> groups, </a:t>
            </a:r>
            <a:r>
              <a:rPr lang="en-US" dirty="0" err="1"/>
              <a:t>ms</a:t>
            </a:r>
            <a:r>
              <a:rPr lang="en-US" dirty="0"/>
              <a:t> within = </a:t>
            </a:r>
            <a:r>
              <a:rPr lang="en-US" dirty="0" err="1"/>
              <a:t>ms</a:t>
            </a:r>
            <a:r>
              <a:rPr lang="en-US" dirty="0"/>
              <a:t> error</a:t>
            </a:r>
          </a:p>
          <a:p>
            <a:endParaRPr lang="en-US" dirty="0"/>
          </a:p>
          <a:p>
            <a:r>
              <a:rPr lang="en-US" dirty="0"/>
              <a:t>ASK: 30 seconds talk to your classmates: can we accept or reject the null hypothesis, and then what does that mean in terms of the means of the groups? </a:t>
            </a:r>
          </a:p>
          <a:p>
            <a:endParaRPr lang="en-US" dirty="0"/>
          </a:p>
          <a:p>
            <a:r>
              <a:rPr lang="en-US" dirty="0"/>
              <a:t>Reject null – key point is that at least one mean is different, doesn’t mean they are </a:t>
            </a:r>
            <a:r>
              <a:rPr lang="en-US" dirty="0" err="1"/>
              <a:t>alllllll</a:t>
            </a:r>
            <a:r>
              <a:rPr lang="en-US" dirty="0"/>
              <a:t> different from each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96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transformation can help with the homogenous variance thing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Not the best to use Kruskal-</a:t>
            </a:r>
            <a:r>
              <a:rPr lang="en-US" altLang="en-US" dirty="0" err="1"/>
              <a:t>wallis</a:t>
            </a:r>
            <a:r>
              <a:rPr lang="en-US" altLang="en-US" dirty="0"/>
              <a:t> with small sample size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81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remind me what does an ANOVA tell us if it’s significant!!</a:t>
            </a:r>
          </a:p>
          <a:p>
            <a:r>
              <a:rPr lang="en-US" dirty="0"/>
              <a:t>One of the means is different!</a:t>
            </a:r>
          </a:p>
          <a:p>
            <a:endParaRPr lang="en-US" dirty="0"/>
          </a:p>
          <a:p>
            <a:r>
              <a:rPr lang="en-US" dirty="0"/>
              <a:t>A posteriori means afterwards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1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0.05 is just fine for ANOVA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91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Means of two groups have to be at least 4.76 units apart for them to be significantly different!!</a:t>
            </a:r>
          </a:p>
          <a:p>
            <a:endParaRPr lang="en-US" dirty="0"/>
          </a:p>
          <a:p>
            <a:r>
              <a:rPr lang="en-US" dirty="0"/>
              <a:t>Statistical software will give you a table with each comparison laid out with a p value for each, and you can see which pairs are significant and which are not!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236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two bars have the same letter they are not significantly different. Draw picture on board!!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7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use grassland herbs example that I drew on the board with the last slide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0E199-C0DD-B14E-B212-E557F8EBC0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9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0076-F55A-014A-7892-E3F5CEEE1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D29F2-29A2-0083-1634-C3D6B4C4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F16D4-CD27-1B11-51A4-B10376CEB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639F6-7D18-583F-BCFC-CAB1F947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E44B-CE25-3D2D-847F-CCFA8C76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2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ED91-9275-C6F2-72B9-043CB53D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0E5D-B844-88D2-FD71-BCB34157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D03B3-D6A1-6404-3323-5508C279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070B-B963-CDC0-08DA-1D538098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907EA-ADC4-D83B-764F-C5DBC103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B132-1C04-5C07-E069-CD7CF97F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8F996-DE00-5F1E-B80C-A3EBF339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016A1-48D6-73A7-3E72-D76F1305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0EADB-6AD1-B49F-6FAF-47BF8DA1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8FEB-2583-AEF9-C290-421C0816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5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2283-7856-A09D-4199-68CFD600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822DE-4351-0B3B-9E43-CA294FEFA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49002-DDDE-8170-03AD-78068369C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7FAF4-7F4C-FBB4-0768-07D5436C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F95F0-2D9E-BFF4-941F-EC7C9935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CD865-83DA-396A-D326-7859677B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8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05FC-2C41-363B-7594-55089C27E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7E120-F112-B0E0-39F7-AD46EE9DC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68EA5-5A54-73B5-8B6E-9DD55E80B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C475E-446D-4F71-0FC0-CF8414325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BB25D9-4570-6D77-F08F-D4B3D25BF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F117AA-3650-F95F-1418-42B43CBC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22629-65C0-EB53-7E7B-E64C41BF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B78A1-8352-9FEA-1610-C4AC3243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3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4178-8929-10BD-9290-E912707A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5D6FE-2FE3-0F07-B5BC-DDF96281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92B04-116D-C4DA-327D-69C63B76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1A4C7-F482-4C0F-3C4F-BBBF4D90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53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65F6F-A6C3-8593-B90F-F360C990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70F4A-963F-0CA1-E800-91F34D7F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01ADD-02FC-2C8B-30A4-B7AAC527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5F58-B062-4878-31A6-1E8B5C7D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978B2-11CC-F1F5-CA62-F66239773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586B3-7465-5EFB-0A42-B542FE221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5872C-7B6F-4FED-08E7-9AD5FEE0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CE42C-2695-FF67-F0BD-B447A302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24471-7191-F476-7FEC-5623D454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5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1233-380E-4065-A27D-D2432D19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83390-2FCD-D576-AA1B-742BB86FA9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8F142-34CA-59A2-0BB0-2AF13D26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73A-E2E2-263F-D7D8-0824A50D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3352F-3D8A-B97F-31DE-C1C33AF3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714DC-43E2-3534-60AF-CA6D611F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8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407BF-7916-B1B9-0391-3BC69C82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CDA17-9B14-50E3-EBCB-3A4A9B919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EBEF9-3EFD-A6D8-DD0B-2BE82744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99209-4DBE-1050-2B69-5117139E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635EB-68F4-A69A-212F-B915DA19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2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1531D-B738-F48E-7476-3859A1A8B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10D70-1CD4-191B-2AF5-870B30E00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778C-F651-BF89-F6F7-21CAFB19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AB3F1-C1AB-7F08-1384-AB454D4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623BD-4622-4F5C-86CC-1AA36339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2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B7E3B-868C-F3C4-1217-28406A44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3A4A6-D08A-3EC2-C09E-26FD50F29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3E9FF-3C27-1C5B-2E2E-55B74B7E9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6298-6973-954E-8D94-46F82DF0D0D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A7EE4-990E-A694-CB4E-62317B6C3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690DA-86BF-8012-FDE4-46C8A8586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3C1C5-202F-6242-B80E-1754A3C9C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5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2351-6EB7-3EA7-8656-FCC92DA63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/>
              <a:t>ANOVA!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27A7E-D40D-E398-C5C7-6B317BED2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GES 408/608</a:t>
            </a:r>
          </a:p>
        </p:txBody>
      </p:sp>
    </p:spTree>
    <p:extLst>
      <p:ext uri="{BB962C8B-B14F-4D97-AF65-F5344CB8AC3E}">
        <p14:creationId xmlns:p14="http://schemas.microsoft.com/office/powerpoint/2010/main" val="272550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09D2-92E0-E9FD-9D74-AE8F4E21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What is ANOVA?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0CB71-B0D9-D97C-934E-094E3E502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Stands for “Analysis of Variance”</a:t>
            </a:r>
          </a:p>
          <a:p>
            <a:r>
              <a:rPr lang="en-US" dirty="0"/>
              <a:t>Compares means of multiple groups simultaneously in a single analysis </a:t>
            </a:r>
          </a:p>
          <a:p>
            <a:r>
              <a:rPr lang="en-US" dirty="0"/>
              <a:t>Assesses whether individuals chosen from different groups are, on average, more different than individuals chosen from the same group </a:t>
            </a:r>
          </a:p>
          <a:p>
            <a:r>
              <a:rPr lang="en-US" altLang="en-US" dirty="0"/>
              <a:t>Class of sampling/experimental designs where:</a:t>
            </a:r>
          </a:p>
          <a:p>
            <a:pPr lvl="1"/>
            <a:r>
              <a:rPr lang="en-US" altLang="en-US" dirty="0"/>
              <a:t>Three or more “treatments”</a:t>
            </a:r>
          </a:p>
          <a:p>
            <a:pPr lvl="1"/>
            <a:r>
              <a:rPr lang="en-US" altLang="en-US" dirty="0"/>
              <a:t>Independent variable (treatments) is categorical</a:t>
            </a:r>
          </a:p>
          <a:p>
            <a:pPr lvl="1"/>
            <a:r>
              <a:rPr lang="en-US" altLang="en-US" dirty="0"/>
              <a:t>Dependent/response variable is continuous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4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8960-5B5D-C4B0-864D-2DA3EC9E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Example: Knees?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19E6-51BB-6774-1349-C78BA788E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662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Campbell &amp; Murphy 1998: the human circadian clock can also be reset by exposing the back of the </a:t>
            </a:r>
            <a:r>
              <a:rPr lang="en-US" sz="3200" i="1" dirty="0"/>
              <a:t>knee </a:t>
            </a:r>
            <a:r>
              <a:rPr lang="en-US" sz="3200" dirty="0"/>
              <a:t>to light </a:t>
            </a:r>
          </a:p>
          <a:p>
            <a:r>
              <a:rPr lang="en-US" sz="3200" dirty="0">
                <a:effectLst/>
              </a:rPr>
              <a:t>Wright </a:t>
            </a:r>
            <a:r>
              <a:rPr lang="en-US" sz="3200" dirty="0"/>
              <a:t>&amp; Czeisler 2002: are you sure?</a:t>
            </a:r>
          </a:p>
          <a:p>
            <a:r>
              <a:rPr lang="en-US" sz="3200" dirty="0"/>
              <a:t>Does light treatment affect phase shift? </a:t>
            </a:r>
            <a:endParaRPr lang="en-US" sz="320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6B1EF-E8FC-4621-219E-57B505F35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344" y="1825625"/>
            <a:ext cx="5278244" cy="3744395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A8C956-05FA-F972-D290-71D2C19C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900" y="0"/>
            <a:ext cx="24511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64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42C8-739B-85EC-E6FD-1E9A798B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Hypotheses in ANOVA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92017-E54A-47AB-4039-6AFDBCB34A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6945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200" dirty="0"/>
                  <a:t>Null: population means </a:t>
                </a:r>
                <a:r>
                  <a:rPr lang="en-US" sz="3200" dirty="0" err="1"/>
                  <a:t>μ</a:t>
                </a:r>
                <a:r>
                  <a:rPr lang="en-US" sz="3200" baseline="-25000" dirty="0" err="1"/>
                  <a:t>i</a:t>
                </a:r>
                <a:r>
                  <a:rPr lang="en-US" sz="3200" dirty="0"/>
                  <a:t> are the same for all treatments </a:t>
                </a:r>
                <a:endParaRPr lang="en-US" sz="3200" dirty="0">
                  <a:effectLst/>
                </a:endParaRPr>
              </a:p>
              <a:p>
                <a:pPr lvl="1"/>
                <a:r>
                  <a:rPr lang="en-US" sz="2800" dirty="0"/>
                  <a:t>Sample means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800" baseline="-25000" dirty="0"/>
                  <a:t>i</a:t>
                </a:r>
                <a:r>
                  <a:rPr lang="en-US" sz="2800" dirty="0"/>
                  <a:t> differ from each other solely because of random sampling error</a:t>
                </a:r>
              </a:p>
              <a:p>
                <a:pPr lvl="1"/>
                <a:r>
                  <a:rPr lang="en-US" sz="2800" dirty="0"/>
                  <a:t> True means are all the same </a:t>
                </a:r>
                <a:endParaRPr lang="en-US" sz="2800" dirty="0">
                  <a:effectLst/>
                </a:endParaRPr>
              </a:p>
              <a:p>
                <a:r>
                  <a:rPr lang="en-US" sz="3200" dirty="0"/>
                  <a:t>Alternative: mean is not the same in all treatment populations </a:t>
                </a:r>
                <a:endParaRPr lang="en-US" sz="3200" dirty="0">
                  <a:effectLst/>
                </a:endParaRPr>
              </a:p>
              <a:p>
                <a:pPr lvl="1"/>
                <a:r>
                  <a:rPr lang="en-US" sz="2800" dirty="0"/>
                  <a:t>Does not state that every mean is different from all the others</a:t>
                </a:r>
              </a:p>
              <a:p>
                <a:pPr lvl="1"/>
                <a:r>
                  <a:rPr lang="en-US" sz="2800" dirty="0"/>
                  <a:t>Only that at least one mean stands apart </a:t>
                </a:r>
                <a:endParaRPr lang="en-US" sz="2800" dirty="0">
                  <a:effectLst/>
                </a:endParaRPr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292017-E54A-47AB-4039-6AFDBCB34A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69459" cy="4351338"/>
              </a:xfrm>
              <a:blipFill>
                <a:blip r:embed="rId3"/>
                <a:stretch>
                  <a:fillRect l="-1868" t="-3779" r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D8FD71D-743D-7135-4D80-2C3DC0FDE5F2}"/>
              </a:ext>
            </a:extLst>
          </p:cNvPr>
          <p:cNvSpPr txBox="1"/>
          <p:nvPr/>
        </p:nvSpPr>
        <p:spPr>
          <a:xfrm>
            <a:off x="8307659" y="2383379"/>
            <a:ext cx="3720244" cy="286232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/>
              <a:t>H</a:t>
            </a:r>
            <a:r>
              <a:rPr lang="en-US" sz="3600" baseline="-25000" dirty="0"/>
              <a:t>0</a:t>
            </a:r>
            <a:r>
              <a:rPr lang="en-US" sz="3600" dirty="0"/>
              <a:t>: μ</a:t>
            </a:r>
            <a:r>
              <a:rPr lang="en-US" sz="3600" baseline="-25000" dirty="0"/>
              <a:t>1</a:t>
            </a:r>
            <a:r>
              <a:rPr lang="en-US" sz="3600" dirty="0"/>
              <a:t>=μ</a:t>
            </a:r>
            <a:r>
              <a:rPr lang="en-US" sz="3600" baseline="-25000" dirty="0"/>
              <a:t>2</a:t>
            </a:r>
            <a:r>
              <a:rPr lang="en-US" sz="3600" dirty="0"/>
              <a:t>=μ</a:t>
            </a:r>
            <a:r>
              <a:rPr lang="en-US" sz="3600" baseline="-25000" dirty="0"/>
              <a:t>3</a:t>
            </a:r>
            <a:r>
              <a:rPr lang="en-US" sz="3600" dirty="0"/>
              <a:t>...= </a:t>
            </a:r>
            <a:r>
              <a:rPr lang="en-US" sz="3600" dirty="0" err="1"/>
              <a:t>μ</a:t>
            </a:r>
            <a:r>
              <a:rPr lang="en-US" sz="3600" baseline="-25000" dirty="0" err="1"/>
              <a:t>i</a:t>
            </a:r>
            <a:br>
              <a:rPr lang="en-US" sz="3600" dirty="0"/>
            </a:br>
            <a:endParaRPr lang="en-US" sz="3600" dirty="0">
              <a:effectLst/>
            </a:endParaRPr>
          </a:p>
          <a:p>
            <a:r>
              <a:rPr lang="en-US" sz="3600" dirty="0"/>
              <a:t>H</a:t>
            </a:r>
            <a:r>
              <a:rPr lang="en-US" sz="3600" baseline="-25000" dirty="0"/>
              <a:t>A</a:t>
            </a:r>
            <a:r>
              <a:rPr lang="en-US" sz="3600" dirty="0"/>
              <a:t>: At least one </a:t>
            </a:r>
            <a:r>
              <a:rPr lang="en-US" sz="3600" dirty="0" err="1"/>
              <a:t>μ</a:t>
            </a:r>
            <a:r>
              <a:rPr lang="en-US" sz="3600" baseline="-25000" dirty="0" err="1"/>
              <a:t>i</a:t>
            </a:r>
            <a:r>
              <a:rPr lang="en-US" sz="3600" dirty="0"/>
              <a:t> is different from the others </a:t>
            </a:r>
            <a:endParaRPr lang="en-US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9262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BB68-A31B-AD1A-CA1C-869F58F9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Meaning of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CECF-BA50-FEA2-59EB-FCAC9EAB0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estimate how much variation among group means </a:t>
            </a:r>
            <a:r>
              <a:rPr lang="en-US" i="1" dirty="0"/>
              <a:t>ought </a:t>
            </a:r>
            <a:r>
              <a:rPr lang="en-US" dirty="0"/>
              <a:t>to be present from sampling error alone if the null hypothesis is true</a:t>
            </a:r>
          </a:p>
          <a:p>
            <a:pPr lvl="1"/>
            <a:r>
              <a:rPr lang="en-US" dirty="0"/>
              <a:t>Even with the same true mean, the data would likely show a different sample mean for each group (sampling error)</a:t>
            </a:r>
          </a:p>
          <a:p>
            <a:r>
              <a:rPr lang="en-US" dirty="0"/>
              <a:t>If the null hypothesis is </a:t>
            </a:r>
            <a:r>
              <a:rPr lang="en-US" i="1" dirty="0"/>
              <a:t>not </a:t>
            </a:r>
            <a:r>
              <a:rPr lang="en-US" dirty="0"/>
              <a:t>true, then there are real differences in means among the groups </a:t>
            </a:r>
          </a:p>
          <a:p>
            <a:pPr lvl="1"/>
            <a:r>
              <a:rPr lang="en-US" dirty="0"/>
              <a:t>Still differences among sample means caused by chance </a:t>
            </a:r>
          </a:p>
          <a:p>
            <a:pPr lvl="1"/>
            <a:r>
              <a:rPr lang="en-US" dirty="0"/>
              <a:t>Also differences among sample means caused by real variation among population means </a:t>
            </a:r>
          </a:p>
          <a:p>
            <a:pPr lvl="1"/>
            <a:r>
              <a:rPr lang="en-US" dirty="0"/>
              <a:t>ANOVA lets us determine whether there is more variance among the sample means than we would expect by chance alone 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36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7DD6-1EA3-1C04-D3FB-67AEEA4C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dirty="0"/>
              <a:t>Sum-of-Squares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D057F-5DE8-F1E0-39FF-0177E3F9D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Separates the two sources of variation in the data: within groups and among groups </a:t>
            </a:r>
            <a:endParaRPr lang="en-US" sz="3200" dirty="0">
              <a:effectLst/>
            </a:endParaRPr>
          </a:p>
          <a:p>
            <a:endParaRPr lang="en-US" sz="3200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31B80C7-9475-7CF1-34E7-BDF307254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258175"/>
              </p:ext>
            </p:extLst>
          </p:nvPr>
        </p:nvGraphicFramePr>
        <p:xfrm>
          <a:off x="1149779" y="2865577"/>
          <a:ext cx="6096000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924700" imgH="25158700" progId="Equation.3">
                  <p:embed/>
                </p:oleObj>
              </mc:Choice>
              <mc:Fallback>
                <p:oleObj name="Equation" r:id="rId3" imgW="57924700" imgH="251587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F69C5121-52D1-0649-9262-2296407A9E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779" y="2865577"/>
                        <a:ext cx="6096000" cy="26479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6">
                            <a:lumMod val="75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DE6CA6-D374-5089-AAA9-44FFFC568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69" y="2791227"/>
            <a:ext cx="3528331" cy="2796649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9075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32AD-F476-53D2-88B4-4FD3ED80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dirty="0"/>
              <a:t>Variation Among vs. Within Groups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77FD5-445F-EAAE-5234-22AD4ED3F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61494" cy="4351338"/>
          </a:xfrm>
        </p:spPr>
        <p:txBody>
          <a:bodyPr>
            <a:normAutofit/>
          </a:bodyPr>
          <a:lstStyle/>
          <a:p>
            <a:r>
              <a:rPr lang="en-US" dirty="0"/>
              <a:t>Deviation between the mean of the group to which the observation belongs and the grand mean (</a:t>
            </a:r>
            <a:r>
              <a:rPr lang="en-US" dirty="0" err="1"/>
              <a:t>SS</a:t>
            </a:r>
            <a:r>
              <a:rPr lang="en-US" baseline="-25000" dirty="0" err="1"/>
              <a:t>groups</a:t>
            </a:r>
            <a:r>
              <a:rPr lang="en-US" dirty="0"/>
              <a:t>)</a:t>
            </a:r>
            <a:endParaRPr lang="en-US" altLang="en-US" dirty="0"/>
          </a:p>
          <a:p>
            <a:r>
              <a:rPr lang="en-US" altLang="en-US" dirty="0"/>
              <a:t>Describes variation among treatment means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94EE6B1-CA84-CD97-27BC-0B3B3E2F2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994746"/>
              </p:ext>
            </p:extLst>
          </p:nvPr>
        </p:nvGraphicFramePr>
        <p:xfrm>
          <a:off x="1947022" y="3429000"/>
          <a:ext cx="3971925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94900" imgH="26327100" progId="Equation.3">
                  <p:embed/>
                </p:oleObj>
              </mc:Choice>
              <mc:Fallback>
                <p:oleObj name="Equation" r:id="rId3" imgW="35394900" imgH="26327100" progId="Equation.3">
                  <p:embed/>
                  <p:pic>
                    <p:nvPicPr>
                      <p:cNvPr id="6148" name="Object 4">
                        <a:extLst>
                          <a:ext uri="{FF2B5EF4-FFF2-40B4-BE49-F238E27FC236}">
                            <a16:creationId xmlns:a16="http://schemas.microsoft.com/office/drawing/2014/main" id="{806047EE-D299-394F-8E05-4DA51559EC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022" y="3429000"/>
                        <a:ext cx="3971925" cy="295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B0F935D-9EA0-1F3B-B746-719382D99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346" y="2877669"/>
            <a:ext cx="3402481" cy="3402481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7CF31E10-F4AD-AF67-DFAD-65D0547FD401}"/>
              </a:ext>
            </a:extLst>
          </p:cNvPr>
          <p:cNvSpPr/>
          <p:nvPr/>
        </p:nvSpPr>
        <p:spPr>
          <a:xfrm>
            <a:off x="605118" y="3765176"/>
            <a:ext cx="1075764" cy="49754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6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0DFFD-93F5-2DE3-BB06-66C60311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Deviation between each observation and its group mean (</a:t>
            </a:r>
            <a:r>
              <a:rPr lang="en-US" dirty="0" err="1"/>
              <a:t>SS</a:t>
            </a:r>
            <a:r>
              <a:rPr lang="en-US" baseline="-25000" dirty="0" err="1"/>
              <a:t>error</a:t>
            </a:r>
            <a:r>
              <a:rPr lang="en-US" dirty="0"/>
              <a:t>) </a:t>
            </a:r>
            <a:endParaRPr lang="en-US" dirty="0">
              <a:effectLst/>
            </a:endParaRPr>
          </a:p>
          <a:p>
            <a:r>
              <a:rPr lang="en-US" altLang="en-US" dirty="0"/>
              <a:t>Residual SS, residual variation, error variation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380CF-122E-7795-07A8-F4B8F4905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057" y="2983234"/>
            <a:ext cx="3192320" cy="3400104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48A6CD-C677-2511-1C65-88DA11EB2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sz="5400" dirty="0"/>
              <a:t>Variation Among vs. Within Groups</a:t>
            </a:r>
            <a:endParaRPr lang="en-US" sz="5400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60E3555-8278-FE84-D8F4-FCEB6843C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942319"/>
              </p:ext>
            </p:extLst>
          </p:nvPr>
        </p:nvGraphicFramePr>
        <p:xfrm>
          <a:off x="1947022" y="3429000"/>
          <a:ext cx="3971925" cy="295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94900" imgH="26327100" progId="Equation.3">
                  <p:embed/>
                </p:oleObj>
              </mc:Choice>
              <mc:Fallback>
                <p:oleObj name="Equation" r:id="rId4" imgW="35394900" imgH="2632710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94EE6B1-CA84-CD97-27BC-0B3B3E2F24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022" y="3429000"/>
                        <a:ext cx="3971925" cy="295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4313C197-28FF-8B4B-D555-861C1C8FAA77}"/>
              </a:ext>
            </a:extLst>
          </p:cNvPr>
          <p:cNvSpPr/>
          <p:nvPr/>
        </p:nvSpPr>
        <p:spPr>
          <a:xfrm>
            <a:off x="605118" y="5553627"/>
            <a:ext cx="1075764" cy="49754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8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A029F-A806-4C9A-250D-CB936F84E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8073" r="2421" b="3672"/>
          <a:stretch>
            <a:fillRect/>
          </a:stretch>
        </p:blipFill>
        <p:spPr>
          <a:xfrm>
            <a:off x="1727939" y="548051"/>
            <a:ext cx="8736121" cy="5761898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4159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D8AB-69B4-55D3-130F-C32261F5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Mean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F6D2F-9C25-9D48-375E-764DBEF9F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Group mean square </a:t>
            </a:r>
            <a:r>
              <a:rPr lang="en-US" sz="3600" dirty="0"/>
              <a:t>(</a:t>
            </a:r>
            <a:r>
              <a:rPr lang="en-US" sz="3600" dirty="0" err="1"/>
              <a:t>MS</a:t>
            </a:r>
            <a:r>
              <a:rPr lang="en-US" sz="3600" baseline="-25000" dirty="0" err="1"/>
              <a:t>groups</a:t>
            </a:r>
            <a:r>
              <a:rPr lang="en-US" sz="3600" dirty="0"/>
              <a:t> or </a:t>
            </a:r>
            <a:r>
              <a:rPr lang="en-US" sz="3600" dirty="0" err="1"/>
              <a:t>MS</a:t>
            </a:r>
            <a:r>
              <a:rPr lang="en-US" sz="3600" baseline="-25000" dirty="0" err="1"/>
              <a:t>among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SS</a:t>
            </a:r>
            <a:r>
              <a:rPr lang="en-US" sz="3600" baseline="-25000" dirty="0" err="1"/>
              <a:t>groups</a:t>
            </a:r>
            <a:r>
              <a:rPr lang="en-US" sz="3600" baseline="-25000" dirty="0"/>
              <a:t> or among</a:t>
            </a:r>
            <a:r>
              <a:rPr lang="en-US" sz="3600" dirty="0"/>
              <a:t> divided by </a:t>
            </a:r>
            <a:r>
              <a:rPr lang="en-US" sz="3600" dirty="0" err="1"/>
              <a:t>DF</a:t>
            </a:r>
            <a:r>
              <a:rPr lang="en-US" sz="3600" baseline="-25000" dirty="0" err="1"/>
              <a:t>groups</a:t>
            </a:r>
            <a:endParaRPr lang="en-US" sz="3600" baseline="-25000" dirty="0"/>
          </a:p>
          <a:p>
            <a:pPr lvl="1"/>
            <a:r>
              <a:rPr lang="en-US" sz="3200" dirty="0" err="1"/>
              <a:t>DF</a:t>
            </a:r>
            <a:r>
              <a:rPr lang="en-US" sz="3200" baseline="-25000" dirty="0" err="1"/>
              <a:t>groups</a:t>
            </a:r>
            <a:r>
              <a:rPr lang="en-US" sz="3200" dirty="0"/>
              <a:t> is one less than the number of groups</a:t>
            </a:r>
          </a:p>
          <a:p>
            <a:r>
              <a:rPr lang="en-US" sz="3600" dirty="0"/>
              <a:t>Measures the observed amount of variation among the sample means from different groups </a:t>
            </a:r>
            <a:endParaRPr lang="en-US" sz="3600" dirty="0">
              <a:effectLst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9491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C13D-78A9-34BB-28E2-FDDDC6F5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Mean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D8FB-3B05-5545-CBBE-4B3D3A03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Error mean square </a:t>
            </a:r>
            <a:r>
              <a:rPr lang="en-US" sz="3600" dirty="0"/>
              <a:t>(MS</a:t>
            </a:r>
            <a:r>
              <a:rPr lang="en-US" sz="3600" baseline="-25000" dirty="0"/>
              <a:t>error</a:t>
            </a:r>
            <a:r>
              <a:rPr lang="en-US" sz="3600" dirty="0"/>
              <a:t> or </a:t>
            </a:r>
            <a:r>
              <a:rPr lang="en-US" sz="3600" dirty="0" err="1"/>
              <a:t>MS</a:t>
            </a:r>
            <a:r>
              <a:rPr lang="en-US" sz="3600" baseline="-25000" dirty="0" err="1"/>
              <a:t>within</a:t>
            </a:r>
            <a:r>
              <a:rPr lang="en-US" sz="3600" dirty="0"/>
              <a:t>)</a:t>
            </a:r>
          </a:p>
          <a:p>
            <a:r>
              <a:rPr lang="en-US" sz="3600" dirty="0"/>
              <a:t>SS </a:t>
            </a:r>
            <a:r>
              <a:rPr lang="en-US" sz="3600" baseline="-25000" dirty="0"/>
              <a:t>error or within</a:t>
            </a:r>
            <a:r>
              <a:rPr lang="en-US" sz="3600" dirty="0"/>
              <a:t> divided by </a:t>
            </a:r>
            <a:r>
              <a:rPr lang="en-US" sz="3600" dirty="0" err="1"/>
              <a:t>DF</a:t>
            </a:r>
            <a:r>
              <a:rPr lang="en-US" sz="3600" baseline="-25000" dirty="0" err="1"/>
              <a:t>error</a:t>
            </a:r>
            <a:endParaRPr lang="en-US" sz="3600" baseline="-25000" dirty="0"/>
          </a:p>
          <a:p>
            <a:pPr lvl="1"/>
            <a:r>
              <a:rPr lang="en-US" sz="3200" dirty="0" err="1"/>
              <a:t>DF</a:t>
            </a:r>
            <a:r>
              <a:rPr lang="en-US" sz="3200" baseline="-25000" dirty="0" err="1"/>
              <a:t>error</a:t>
            </a:r>
            <a:r>
              <a:rPr lang="en-US" sz="3200" dirty="0"/>
              <a:t> is total number of data points minus the number of groups</a:t>
            </a:r>
          </a:p>
          <a:p>
            <a:r>
              <a:rPr lang="en-US" sz="3600" dirty="0"/>
              <a:t>Measures variance within groups (variation among individuals within the same groups) </a:t>
            </a:r>
            <a:endParaRPr lang="en-US" sz="3600" dirty="0">
              <a:effectLst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75707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5ED-E590-69CB-33D3-BC2AFDF7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F-ratio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CF40C-386F-A264-39A5-F94B30F3D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Null hypothesis: population means of all groups are the same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/>
                  <a:t> variation among individuals belonging to different groups will on average be the same as the variation among individuals belonging to the same group </a:t>
                </a:r>
                <a:endParaRPr lang="en-US" dirty="0">
                  <a:effectLst/>
                </a:endParaRPr>
              </a:p>
              <a:p>
                <a:r>
                  <a:rPr lang="en-US" dirty="0"/>
                  <a:t>Calculate F-ratio: </a:t>
                </a:r>
                <a:r>
                  <a:rPr lang="en-US" dirty="0" err="1"/>
                  <a:t>MS</a:t>
                </a:r>
                <a:r>
                  <a:rPr lang="en-US" baseline="-25000" dirty="0" err="1"/>
                  <a:t>groups</a:t>
                </a:r>
                <a:r>
                  <a:rPr lang="en-US" dirty="0"/>
                  <a:t>/MS</a:t>
                </a:r>
                <a:r>
                  <a:rPr lang="en-US" baseline="-25000" dirty="0"/>
                  <a:t>error</a:t>
                </a:r>
              </a:p>
              <a:p>
                <a:pPr lvl="1"/>
                <a:r>
                  <a:rPr lang="en-US" dirty="0"/>
                  <a:t>Test statistic in analysis of variance </a:t>
                </a:r>
                <a:endParaRPr lang="en-US" dirty="0">
                  <a:effectLst/>
                </a:endParaRPr>
              </a:p>
              <a:p>
                <a:r>
                  <a:rPr lang="en-US" dirty="0"/>
                  <a:t>Null: Relatively equal, F = close to one </a:t>
                </a:r>
                <a:endParaRPr lang="en-US" dirty="0">
                  <a:effectLst/>
                </a:endParaRPr>
              </a:p>
              <a:p>
                <a:r>
                  <a:rPr lang="en-US" dirty="0"/>
                  <a:t>Alternative: </a:t>
                </a:r>
                <a:r>
                  <a:rPr lang="en-US" dirty="0" err="1"/>
                  <a:t>MS</a:t>
                </a:r>
                <a:r>
                  <a:rPr lang="en-US" baseline="-25000" dirty="0" err="1"/>
                  <a:t>groups</a:t>
                </a:r>
                <a:r>
                  <a:rPr lang="en-US" dirty="0"/>
                  <a:t>&gt;MS</a:t>
                </a:r>
                <a:r>
                  <a:rPr lang="en-US" baseline="-25000" dirty="0"/>
                  <a:t>error </a:t>
                </a:r>
                <a:r>
                  <a:rPr lang="en-US" dirty="0"/>
                  <a:t>, F&gt;1</a:t>
                </a:r>
              </a:p>
              <a:p>
                <a:r>
                  <a:rPr lang="en-US" dirty="0"/>
                  <a:t>Use table, get p-value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/>
                  <a:t> or use software!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DCF40C-386F-A264-39A5-F94B30F3D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779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6F6F43CA-DC22-3438-B168-3C18E1AB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441" y="623694"/>
            <a:ext cx="7463118" cy="561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0FE3BE-85F0-0439-61AE-1C254FA87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722383">
            <a:off x="9865560" y="632501"/>
            <a:ext cx="2423144" cy="2423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C492D-1A2E-B415-DFC4-D1481724C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252" y="389931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7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CDC8501C-C11B-6463-16AF-776500B1A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906" y="456172"/>
            <a:ext cx="8588188" cy="143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A6091DF-89EB-0955-E70B-D6BD502D3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735" y="2301889"/>
            <a:ext cx="6342529" cy="4099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625FCE-CF94-CEF5-1393-71CAA594D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88190">
            <a:off x="568424" y="4148565"/>
            <a:ext cx="1880797" cy="2199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EC1929-8529-CC91-BD73-EEEE46727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11810" flipH="1">
            <a:off x="986296" y="3251976"/>
            <a:ext cx="1880797" cy="2199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498A6E-43E6-E3A8-9AD9-74BB9AB56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04959" flipH="1">
            <a:off x="9598545" y="3998907"/>
            <a:ext cx="1880797" cy="219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1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075E-49CD-29D7-EC7B-94B303929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dirty="0"/>
              <a:t>Assumptions of ANOVA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ACBF-0932-6257-086C-A2335257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3200" dirty="0"/>
              <a:t>Need to be true for all groups</a:t>
            </a:r>
          </a:p>
          <a:p>
            <a:pPr lvl="1"/>
            <a:r>
              <a:rPr lang="en-US" altLang="en-US" sz="2800" dirty="0"/>
              <a:t>Samples independent &amp; identically distributed (random sampling)</a:t>
            </a:r>
          </a:p>
          <a:p>
            <a:pPr lvl="1"/>
            <a:r>
              <a:rPr lang="en-US" altLang="en-US" sz="2800" dirty="0"/>
              <a:t>Variances are homogeneous among groups </a:t>
            </a:r>
          </a:p>
          <a:p>
            <a:pPr lvl="1"/>
            <a:r>
              <a:rPr lang="en-US" altLang="en-US" sz="2800" dirty="0"/>
              <a:t>Residuals are normally distributed</a:t>
            </a:r>
          </a:p>
          <a:p>
            <a:pPr lvl="1"/>
            <a:r>
              <a:rPr lang="en-US" altLang="en-US" sz="2800" dirty="0"/>
              <a:t>Samples treated identically</a:t>
            </a:r>
          </a:p>
          <a:p>
            <a:pPr lvl="1"/>
            <a:r>
              <a:rPr lang="en-US" altLang="en-US" sz="2800" dirty="0"/>
              <a:t>Main effects are additive (one does not influence the other)</a:t>
            </a:r>
          </a:p>
          <a:p>
            <a:r>
              <a:rPr lang="en-US" sz="3200" dirty="0"/>
              <a:t>The Kruskal–Wallis test, a nonparametric method based on ranks, is the equivalent of the Mann–Whitney U-test </a:t>
            </a:r>
          </a:p>
          <a:p>
            <a:pPr lvl="1"/>
            <a:r>
              <a:rPr lang="en-US" sz="2800" dirty="0"/>
              <a:t>Has nearly the same power as ANOVA when sample sizes are large </a:t>
            </a:r>
          </a:p>
          <a:p>
            <a:pPr lvl="1"/>
            <a:endParaRPr lang="en-US" altLang="en-US" sz="28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72421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012F-9459-0420-CB6F-94228C4A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Which groups are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52F8-881D-D108-C863-6A59DACB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You’ve already carried out an ANOVA and the null hypothesis of no differences among means has been rejected. What now? </a:t>
            </a:r>
          </a:p>
          <a:p>
            <a:r>
              <a:rPr lang="en-US" sz="3200" dirty="0"/>
              <a:t>Unplanned comparison: testing all pairs of means to find out which groups stand apart from the others</a:t>
            </a:r>
          </a:p>
          <a:p>
            <a:r>
              <a:rPr lang="en-US" sz="3200" b="1" dirty="0"/>
              <a:t>Tukey–Kramer test!</a:t>
            </a:r>
          </a:p>
          <a:p>
            <a:r>
              <a:rPr lang="en-US" altLang="en-US" sz="3200" dirty="0"/>
              <a:t>But the risk of committing a Type I error increases as you increase the number of comparison made </a:t>
            </a:r>
            <a:r>
              <a:rPr lang="en-US" altLang="en-US" sz="3200" i="1" dirty="0"/>
              <a:t>a posteriori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C5CD7-44A9-3AF5-5964-23345A58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953" y="365125"/>
            <a:ext cx="1550015" cy="21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52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BFB5-E4B8-9D39-ED67-2D404A4E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Tukey–Kramer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4E4B-A43B-F8A6-08F1-30A947548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Works like a series of two-sample t-tests, but it uses a larger critical value to limit the Type I error rate. </a:t>
            </a:r>
          </a:p>
          <a:p>
            <a:r>
              <a:rPr lang="en-US" sz="3200" dirty="0"/>
              <a:t>With the Tukey–Kramer test, the probability of making at least one Type I error throughout the course of testing </a:t>
            </a:r>
            <a:r>
              <a:rPr lang="en-US" sz="3200" i="1" dirty="0"/>
              <a:t>all pairs </a:t>
            </a:r>
            <a:r>
              <a:rPr lang="en-US" sz="3200" dirty="0"/>
              <a:t>of means is no greater than our significance level α. </a:t>
            </a:r>
          </a:p>
          <a:p>
            <a:pPr lvl="1"/>
            <a:r>
              <a:rPr lang="en-US" altLang="en-US" sz="2800" dirty="0"/>
              <a:t>Statistically controls for the fact that many comparisons are being made by downgrading </a:t>
            </a:r>
            <a:r>
              <a:rPr lang="en-US" altLang="en-US" sz="2800" dirty="0">
                <a:latin typeface="Symbol" pitchFamily="2" charset="2"/>
              </a:rPr>
              <a:t>a</a:t>
            </a:r>
          </a:p>
          <a:p>
            <a:r>
              <a:rPr lang="en-US" altLang="en-US" sz="3200" dirty="0">
                <a:latin typeface="Symbol" pitchFamily="2" charset="2"/>
              </a:rPr>
              <a:t>a</a:t>
            </a:r>
            <a:r>
              <a:rPr lang="en-US" altLang="en-US" sz="3200" dirty="0"/>
              <a:t>=0.05 for experiment</a:t>
            </a:r>
          </a:p>
          <a:p>
            <a:pPr marL="0" indent="0">
              <a:buNone/>
            </a:pPr>
            <a:endParaRPr lang="en-US" altLang="en-US" sz="3200" dirty="0">
              <a:latin typeface="Symbol" pitchFamily="2" charset="2"/>
            </a:endParaRPr>
          </a:p>
          <a:p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5EDFE-DF6D-B2FA-965D-5B5A03F05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851" y="284009"/>
            <a:ext cx="2191299" cy="223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91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32E0-197A-53B7-EF7A-9512672C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Tukey-Kramer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BBC75-8CA4-6908-A03E-963B009B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51439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Example: Any pair of means that differ by more than 4.76 are significantly different at </a:t>
            </a:r>
            <a:r>
              <a:rPr lang="en-US" altLang="en-US" dirty="0">
                <a:latin typeface="Symbol" pitchFamily="2" charset="2"/>
              </a:rPr>
              <a:t>a</a:t>
            </a:r>
            <a:r>
              <a:rPr lang="en-US" altLang="en-US" dirty="0"/>
              <a:t>=0.05</a:t>
            </a:r>
          </a:p>
          <a:p>
            <a:endParaRPr 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87EDA93C-2DBE-6B81-5A0A-1C2C6FA35D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213673"/>
              </p:ext>
            </p:extLst>
          </p:nvPr>
        </p:nvGraphicFramePr>
        <p:xfrm>
          <a:off x="7758029" y="3602830"/>
          <a:ext cx="3124200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710100" imgH="34518600" progId="Equation.3">
                  <p:embed/>
                </p:oleObj>
              </mc:Choice>
              <mc:Fallback>
                <p:oleObj name="Equation" r:id="rId3" imgW="42710100" imgH="34518600" progId="Equation.3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id="{FBE5E3DF-7FA1-2349-A84B-630D07A67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029" y="3602830"/>
                        <a:ext cx="3124200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24A3288C-FBE4-1938-53EA-B0241E3EF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067093"/>
              </p:ext>
            </p:extLst>
          </p:nvPr>
        </p:nvGraphicFramePr>
        <p:xfrm>
          <a:off x="1923051" y="3417887"/>
          <a:ext cx="3024188" cy="289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957500" imgH="39204900" progId="Equation.3">
                  <p:embed/>
                </p:oleObj>
              </mc:Choice>
              <mc:Fallback>
                <p:oleObj name="Equation" r:id="rId5" imgW="40957500" imgH="39204900" progId="Equation.3">
                  <p:embed/>
                  <p:pic>
                    <p:nvPicPr>
                      <p:cNvPr id="21510" name="Object 6">
                        <a:extLst>
                          <a:ext uri="{FF2B5EF4-FFF2-40B4-BE49-F238E27FC236}">
                            <a16:creationId xmlns:a16="http://schemas.microsoft.com/office/drawing/2014/main" id="{4D503002-90DB-2242-90FE-58B825BEDC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051" y="3417887"/>
                        <a:ext cx="3024188" cy="289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1A32AA-C2C4-4322-1C90-3EB1FB19B57E}"/>
              </a:ext>
            </a:extLst>
          </p:cNvPr>
          <p:cNvSpPr txBox="1"/>
          <p:nvPr/>
        </p:nvSpPr>
        <p:spPr>
          <a:xfrm>
            <a:off x="7881690" y="2611811"/>
            <a:ext cx="2876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General Formula: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C97B79-D92D-409B-CDF2-E50F0E0C1E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589639" y="229928"/>
            <a:ext cx="3124200" cy="318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8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F3168-EF25-59E8-B567-F4FA5784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Species richness of herbaceous plants: HSD = 4.76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FB471DD-A6EE-3EE1-5F08-4B05548BD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583" y="2801579"/>
            <a:ext cx="434175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dirty="0"/>
              <a:t>|Forest – Grassland| = 6.98</a:t>
            </a:r>
          </a:p>
          <a:p>
            <a:pPr>
              <a:spcBef>
                <a:spcPct val="50000"/>
              </a:spcBef>
            </a:pPr>
            <a:r>
              <a:rPr lang="en-US" altLang="en-US" sz="2400" dirty="0"/>
              <a:t>|Forest – Old Field| = 6.01</a:t>
            </a:r>
          </a:p>
          <a:p>
            <a:pPr>
              <a:spcBef>
                <a:spcPct val="50000"/>
              </a:spcBef>
            </a:pPr>
            <a:r>
              <a:rPr lang="en-US" altLang="en-US" sz="2400" dirty="0"/>
              <a:t>|Grassland – Old Field| = 12.99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E290347-144E-339C-84DB-9DC4030F7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1886660"/>
            <a:ext cx="6184747" cy="3997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618F08-C673-C4B3-C542-6082ECCE1A42}"/>
              </a:ext>
            </a:extLst>
          </p:cNvPr>
          <p:cNvSpPr txBox="1"/>
          <p:nvPr/>
        </p:nvSpPr>
        <p:spPr>
          <a:xfrm>
            <a:off x="2907470" y="3059668"/>
            <a:ext cx="335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65F70-93D1-090D-83E3-DD97280735C5}"/>
              </a:ext>
            </a:extLst>
          </p:cNvPr>
          <p:cNvSpPr txBox="1"/>
          <p:nvPr/>
        </p:nvSpPr>
        <p:spPr>
          <a:xfrm>
            <a:off x="4562421" y="3885633"/>
            <a:ext cx="342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85CE3-3AC9-E542-6B6D-F3AA859FC9C4}"/>
              </a:ext>
            </a:extLst>
          </p:cNvPr>
          <p:cNvSpPr txBox="1"/>
          <p:nvPr/>
        </p:nvSpPr>
        <p:spPr>
          <a:xfrm>
            <a:off x="6339737" y="2269919"/>
            <a:ext cx="335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5231F1-A262-B360-9399-FF2B56502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665" y="4782677"/>
            <a:ext cx="1607586" cy="17101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A9D5CE-D50E-3230-215F-22E89D981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55" y="4965709"/>
            <a:ext cx="1837794" cy="183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88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59A2-8D43-3E21-E02A-AB48C1AB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Tukey-Kramer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E9EC-BD52-8BEC-ABE2-16FA9D2F7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Results do not imply that pairs that are not significantly different have the same means</a:t>
            </a:r>
          </a:p>
          <a:p>
            <a:pPr lvl="1"/>
            <a:r>
              <a:rPr lang="en-US" sz="2800" dirty="0"/>
              <a:t>Assuming that they do would be making the mistake of accepting a null hypothesis </a:t>
            </a:r>
          </a:p>
          <a:p>
            <a:r>
              <a:rPr lang="en-US" sz="3600" dirty="0"/>
              <a:t>The results merely indicate that a test of their differences did not reject H</a:t>
            </a:r>
            <a:r>
              <a:rPr lang="en-US" sz="3600" baseline="-25000" dirty="0"/>
              <a:t>0</a:t>
            </a:r>
            <a:r>
              <a:rPr lang="en-US" sz="3600" dirty="0"/>
              <a:t> 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1A211-96AC-B423-73C4-4AC83C9A1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527458" y="3868022"/>
            <a:ext cx="2894903" cy="295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0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2BF1-A454-CD86-800D-00B38BE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Try it yourself!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8CCD-701E-54DC-CBDD-77963D77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92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ANOVA practice activity with leaf litter decomposition – do different canopy types affect the amount of leaf mass lost from experimental units placed in forests?</a:t>
            </a:r>
          </a:p>
          <a:p>
            <a:pPr marL="0" indent="0">
              <a:buNone/>
            </a:pPr>
            <a:r>
              <a:rPr lang="en-US" sz="3600" dirty="0"/>
              <a:t>Due after fall break on 10/14 at 11:59PM!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37F99-46F2-450A-FAEC-60C3FA58D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74856">
            <a:off x="9926819" y="445231"/>
            <a:ext cx="1674762" cy="1726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506164-BA3E-0091-B677-5A19FA279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40361">
            <a:off x="10028387" y="4570767"/>
            <a:ext cx="1460189" cy="1896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F0E075-BC16-E618-3BB5-7B2569D12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898089">
            <a:off x="10231301" y="2793314"/>
            <a:ext cx="1270000" cy="1231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F5112-053E-EAFF-68A1-61B793308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974560">
            <a:off x="8553267" y="3573843"/>
            <a:ext cx="1306833" cy="13756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47A891-3EF0-CA5F-4A87-CE8FBA136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324710">
            <a:off x="7821422" y="1155881"/>
            <a:ext cx="2055527" cy="250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0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4CA5-E3F3-7B2B-AFCB-F975CFA0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Reference: ANOVA Table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C1B491-95E0-0737-1E09-3AE950192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150" y="2191544"/>
            <a:ext cx="9791700" cy="3619500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608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1570</Words>
  <Application>Microsoft Macintosh PowerPoint</Application>
  <PresentationFormat>Widescreen</PresentationFormat>
  <Paragraphs>173</Paragraphs>
  <Slides>22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Symbol</vt:lpstr>
      <vt:lpstr>Office Theme</vt:lpstr>
      <vt:lpstr>Equation</vt:lpstr>
      <vt:lpstr>ANOVA!</vt:lpstr>
      <vt:lpstr>What is ANOVA?</vt:lpstr>
      <vt:lpstr>Example: Knees? </vt:lpstr>
      <vt:lpstr>Hypotheses in ANOVA</vt:lpstr>
      <vt:lpstr>Meaning of Hypotheses</vt:lpstr>
      <vt:lpstr>Sum-of-Squares</vt:lpstr>
      <vt:lpstr>Variation Among vs. Within Groups</vt:lpstr>
      <vt:lpstr>Variation Among vs. Within Groups</vt:lpstr>
      <vt:lpstr>PowerPoint Presentation</vt:lpstr>
      <vt:lpstr>Mean Squares</vt:lpstr>
      <vt:lpstr>Mean Squares</vt:lpstr>
      <vt:lpstr>F-ratio</vt:lpstr>
      <vt:lpstr>PowerPoint Presentation</vt:lpstr>
      <vt:lpstr>PowerPoint Presentation</vt:lpstr>
      <vt:lpstr>Assumptions of ANOVA</vt:lpstr>
      <vt:lpstr>Which groups are different?</vt:lpstr>
      <vt:lpstr>Tukey–Kramer</vt:lpstr>
      <vt:lpstr>Tukey-Kramer</vt:lpstr>
      <vt:lpstr>Species richness of herbaceous plants: HSD = 4.76</vt:lpstr>
      <vt:lpstr>Tukey-Kramer</vt:lpstr>
      <vt:lpstr>Try it yourself!</vt:lpstr>
      <vt:lpstr>Reference: ANOVA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Mothersole</dc:creator>
  <cp:lastModifiedBy>Anna Mothersole</cp:lastModifiedBy>
  <cp:revision>5</cp:revision>
  <dcterms:created xsi:type="dcterms:W3CDTF">2026-09-28T15:49:43Z</dcterms:created>
  <dcterms:modified xsi:type="dcterms:W3CDTF">2026-10-01T02:20:44Z</dcterms:modified>
</cp:coreProperties>
</file>