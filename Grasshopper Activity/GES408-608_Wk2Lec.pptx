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61" r:id="rId3"/>
    <p:sldId id="262" r:id="rId4"/>
    <p:sldId id="275" r:id="rId5"/>
    <p:sldId id="258" r:id="rId6"/>
    <p:sldId id="259" r:id="rId7"/>
    <p:sldId id="260" r:id="rId8"/>
    <p:sldId id="276" r:id="rId9"/>
    <p:sldId id="263" r:id="rId10"/>
    <p:sldId id="278" r:id="rId11"/>
    <p:sldId id="274" r:id="rId12"/>
    <p:sldId id="277" r:id="rId13"/>
    <p:sldId id="264" r:id="rId14"/>
    <p:sldId id="280" r:id="rId15"/>
    <p:sldId id="281" r:id="rId16"/>
    <p:sldId id="279" r:id="rId17"/>
    <p:sldId id="265" r:id="rId18"/>
    <p:sldId id="266" r:id="rId19"/>
    <p:sldId id="267" r:id="rId20"/>
    <p:sldId id="268" r:id="rId21"/>
    <p:sldId id="282" r:id="rId22"/>
    <p:sldId id="283" r:id="rId23"/>
    <p:sldId id="269" r:id="rId24"/>
    <p:sldId id="284" r:id="rId25"/>
    <p:sldId id="270" r:id="rId26"/>
    <p:sldId id="27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79"/>
    <p:restoredTop sz="78775"/>
  </p:normalViewPr>
  <p:slideViewPr>
    <p:cSldViewPr snapToGrid="0">
      <p:cViewPr varScale="1">
        <p:scale>
          <a:sx n="95" d="100"/>
          <a:sy n="95" d="100"/>
        </p:scale>
        <p:origin x="108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A1F306-EEDB-544C-8529-0919C1502F8F}" type="datetimeFigureOut">
              <a:rPr lang="en-US" smtClean="0"/>
              <a:t>8/28/26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0A6EE1-8661-F943-BC33-2B6800D6642F}" type="slidenum">
              <a:rPr lang="en-US" smtClean="0"/>
              <a:t>‹#›</a:t>
            </a:fld>
            <a:endParaRPr lang="en-US"/>
          </a:p>
        </p:txBody>
      </p:sp>
    </p:spTree>
    <p:extLst>
      <p:ext uri="{BB962C8B-B14F-4D97-AF65-F5344CB8AC3E}">
        <p14:creationId xmlns:p14="http://schemas.microsoft.com/office/powerpoint/2010/main" val="2102302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can you think of any examples of summary statistics – we did some last week! </a:t>
            </a:r>
          </a:p>
        </p:txBody>
      </p:sp>
      <p:sp>
        <p:nvSpPr>
          <p:cNvPr id="4" name="Slide Number Placeholder 3"/>
          <p:cNvSpPr>
            <a:spLocks noGrp="1"/>
          </p:cNvSpPr>
          <p:nvPr>
            <p:ph type="sldNum" sz="quarter" idx="5"/>
          </p:nvPr>
        </p:nvSpPr>
        <p:spPr/>
        <p:txBody>
          <a:bodyPr/>
          <a:lstStyle/>
          <a:p>
            <a:fld id="{750A6EE1-8661-F943-BC33-2B6800D6642F}" type="slidenum">
              <a:rPr lang="en-US" smtClean="0"/>
              <a:t>2</a:t>
            </a:fld>
            <a:endParaRPr lang="en-US"/>
          </a:p>
        </p:txBody>
      </p:sp>
    </p:spTree>
    <p:extLst>
      <p:ext uri="{BB962C8B-B14F-4D97-AF65-F5344CB8AC3E}">
        <p14:creationId xmlns:p14="http://schemas.microsoft.com/office/powerpoint/2010/main" val="2358895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In this case, what is the population in question? </a:t>
            </a:r>
          </a:p>
        </p:txBody>
      </p:sp>
      <p:sp>
        <p:nvSpPr>
          <p:cNvPr id="4" name="Slide Number Placeholder 3"/>
          <p:cNvSpPr>
            <a:spLocks noGrp="1"/>
          </p:cNvSpPr>
          <p:nvPr>
            <p:ph type="sldNum" sz="quarter" idx="5"/>
          </p:nvPr>
        </p:nvSpPr>
        <p:spPr/>
        <p:txBody>
          <a:bodyPr/>
          <a:lstStyle/>
          <a:p>
            <a:fld id="{750A6EE1-8661-F943-BC33-2B6800D6642F}" type="slidenum">
              <a:rPr lang="en-US" smtClean="0"/>
              <a:t>3</a:t>
            </a:fld>
            <a:endParaRPr lang="en-US"/>
          </a:p>
        </p:txBody>
      </p:sp>
    </p:spTree>
    <p:extLst>
      <p:ext uri="{BB962C8B-B14F-4D97-AF65-F5344CB8AC3E}">
        <p14:creationId xmlns:p14="http://schemas.microsoft.com/office/powerpoint/2010/main" val="918874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you’re looking at a formula, etc., you know if it’s a population or sample mean, etc. based on the symbol used</a:t>
            </a:r>
          </a:p>
          <a:p>
            <a:endParaRPr lang="en-US" dirty="0"/>
          </a:p>
          <a:p>
            <a:r>
              <a:rPr lang="en-US" dirty="0"/>
              <a:t>ASK: If we wanted to get the population mean of the grasshoppers in the field what would we have to do? And is that realistic?</a:t>
            </a:r>
          </a:p>
        </p:txBody>
      </p:sp>
      <p:sp>
        <p:nvSpPr>
          <p:cNvPr id="4" name="Slide Number Placeholder 3"/>
          <p:cNvSpPr>
            <a:spLocks noGrp="1"/>
          </p:cNvSpPr>
          <p:nvPr>
            <p:ph type="sldNum" sz="quarter" idx="5"/>
          </p:nvPr>
        </p:nvSpPr>
        <p:spPr/>
        <p:txBody>
          <a:bodyPr/>
          <a:lstStyle/>
          <a:p>
            <a:fld id="{750A6EE1-8661-F943-BC33-2B6800D6642F}" type="slidenum">
              <a:rPr lang="en-US" smtClean="0"/>
              <a:t>5</a:t>
            </a:fld>
            <a:endParaRPr lang="en-US"/>
          </a:p>
        </p:txBody>
      </p:sp>
    </p:spTree>
    <p:extLst>
      <p:ext uri="{BB962C8B-B14F-4D97-AF65-F5344CB8AC3E}">
        <p14:creationId xmlns:p14="http://schemas.microsoft.com/office/powerpoint/2010/main" val="1068677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3.42, 6.17, 1.85, 5.09, 2.63, 4.91, 7.00, 1.28, 6.54, 3.76</a:t>
            </a:r>
          </a:p>
          <a:p>
            <a:endParaRPr lang="en-US" dirty="0"/>
          </a:p>
        </p:txBody>
      </p:sp>
      <p:sp>
        <p:nvSpPr>
          <p:cNvPr id="4" name="Slide Number Placeholder 3"/>
          <p:cNvSpPr>
            <a:spLocks noGrp="1"/>
          </p:cNvSpPr>
          <p:nvPr>
            <p:ph type="sldNum" sz="quarter" idx="5"/>
          </p:nvPr>
        </p:nvSpPr>
        <p:spPr/>
        <p:txBody>
          <a:bodyPr/>
          <a:lstStyle/>
          <a:p>
            <a:fld id="{750A6EE1-8661-F943-BC33-2B6800D6642F}" type="slidenum">
              <a:rPr lang="en-US" smtClean="0"/>
              <a:t>6</a:t>
            </a:fld>
            <a:endParaRPr lang="en-US"/>
          </a:p>
        </p:txBody>
      </p:sp>
    </p:spTree>
    <p:extLst>
      <p:ext uri="{BB962C8B-B14F-4D97-AF65-F5344CB8AC3E}">
        <p14:creationId xmlns:p14="http://schemas.microsoft.com/office/powerpoint/2010/main" val="2181275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 looks crazy. Big E means sum, so all I do is sum up all of the observations, and divide it by the number of observations</a:t>
            </a:r>
          </a:p>
        </p:txBody>
      </p:sp>
      <p:sp>
        <p:nvSpPr>
          <p:cNvPr id="4" name="Slide Number Placeholder 3"/>
          <p:cNvSpPr>
            <a:spLocks noGrp="1"/>
          </p:cNvSpPr>
          <p:nvPr>
            <p:ph type="sldNum" sz="quarter" idx="5"/>
          </p:nvPr>
        </p:nvSpPr>
        <p:spPr/>
        <p:txBody>
          <a:bodyPr/>
          <a:lstStyle/>
          <a:p>
            <a:fld id="{750A6EE1-8661-F943-BC33-2B6800D6642F}" type="slidenum">
              <a:rPr lang="en-US" smtClean="0"/>
              <a:t>7</a:t>
            </a:fld>
            <a:endParaRPr lang="en-US"/>
          </a:p>
        </p:txBody>
      </p:sp>
    </p:spTree>
    <p:extLst>
      <p:ext uri="{BB962C8B-B14F-4D97-AF65-F5344CB8AC3E}">
        <p14:creationId xmlns:p14="http://schemas.microsoft.com/office/powerpoint/2010/main" val="3430492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a larger number of observations… just use a computer program like JASP because phew</a:t>
            </a:r>
          </a:p>
        </p:txBody>
      </p:sp>
      <p:sp>
        <p:nvSpPr>
          <p:cNvPr id="4" name="Slide Number Placeholder 3"/>
          <p:cNvSpPr>
            <a:spLocks noGrp="1"/>
          </p:cNvSpPr>
          <p:nvPr>
            <p:ph type="sldNum" sz="quarter" idx="5"/>
          </p:nvPr>
        </p:nvSpPr>
        <p:spPr/>
        <p:txBody>
          <a:bodyPr/>
          <a:lstStyle/>
          <a:p>
            <a:fld id="{750A6EE1-8661-F943-BC33-2B6800D6642F}" type="slidenum">
              <a:rPr lang="en-US" smtClean="0"/>
              <a:t>9</a:t>
            </a:fld>
            <a:endParaRPr lang="en-US"/>
          </a:p>
        </p:txBody>
      </p:sp>
    </p:spTree>
    <p:extLst>
      <p:ext uri="{BB962C8B-B14F-4D97-AF65-F5344CB8AC3E}">
        <p14:creationId xmlns:p14="http://schemas.microsoft.com/office/powerpoint/2010/main" val="3463620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0A6EE1-8661-F943-BC33-2B6800D6642F}" type="slidenum">
              <a:rPr lang="en-US" smtClean="0"/>
              <a:t>10</a:t>
            </a:fld>
            <a:endParaRPr lang="en-US"/>
          </a:p>
        </p:txBody>
      </p:sp>
    </p:spTree>
    <p:extLst>
      <p:ext uri="{BB962C8B-B14F-4D97-AF65-F5344CB8AC3E}">
        <p14:creationId xmlns:p14="http://schemas.microsoft.com/office/powerpoint/2010/main" val="4290526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represents 25% and Q3 represents 75%</a:t>
            </a:r>
          </a:p>
        </p:txBody>
      </p:sp>
      <p:sp>
        <p:nvSpPr>
          <p:cNvPr id="4" name="Slide Number Placeholder 3"/>
          <p:cNvSpPr>
            <a:spLocks noGrp="1"/>
          </p:cNvSpPr>
          <p:nvPr>
            <p:ph type="sldNum" sz="quarter" idx="5"/>
          </p:nvPr>
        </p:nvSpPr>
        <p:spPr/>
        <p:txBody>
          <a:bodyPr/>
          <a:lstStyle/>
          <a:p>
            <a:fld id="{750A6EE1-8661-F943-BC33-2B6800D6642F}" type="slidenum">
              <a:rPr lang="en-US" smtClean="0"/>
              <a:t>11</a:t>
            </a:fld>
            <a:endParaRPr lang="en-US"/>
          </a:p>
        </p:txBody>
      </p:sp>
    </p:spTree>
    <p:extLst>
      <p:ext uri="{BB962C8B-B14F-4D97-AF65-F5344CB8AC3E}">
        <p14:creationId xmlns:p14="http://schemas.microsoft.com/office/powerpoint/2010/main" val="3258709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use JASP or R to calculate this, it will be different because they use a fancy algorithm, unless you specify for it not to and then it will match. Don’t worry about it</a:t>
            </a:r>
          </a:p>
        </p:txBody>
      </p:sp>
      <p:sp>
        <p:nvSpPr>
          <p:cNvPr id="4" name="Slide Number Placeholder 3"/>
          <p:cNvSpPr>
            <a:spLocks noGrp="1"/>
          </p:cNvSpPr>
          <p:nvPr>
            <p:ph type="sldNum" sz="quarter" idx="5"/>
          </p:nvPr>
        </p:nvSpPr>
        <p:spPr/>
        <p:txBody>
          <a:bodyPr/>
          <a:lstStyle/>
          <a:p>
            <a:fld id="{750A6EE1-8661-F943-BC33-2B6800D6642F}" type="slidenum">
              <a:rPr lang="en-US" smtClean="0"/>
              <a:t>12</a:t>
            </a:fld>
            <a:endParaRPr lang="en-US"/>
          </a:p>
        </p:txBody>
      </p:sp>
    </p:spTree>
    <p:extLst>
      <p:ext uri="{BB962C8B-B14F-4D97-AF65-F5344CB8AC3E}">
        <p14:creationId xmlns:p14="http://schemas.microsoft.com/office/powerpoint/2010/main" val="2728109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why might we use standard deviation over variance? You hear a lot of </a:t>
            </a:r>
            <a:r>
              <a:rPr lang="en-US" dirty="0" err="1"/>
              <a:t>st.dev</a:t>
            </a:r>
            <a:r>
              <a:rPr lang="en-US" dirty="0"/>
              <a:t>. This </a:t>
            </a:r>
            <a:r>
              <a:rPr lang="en-US" dirty="0" err="1"/>
              <a:t>st.dev</a:t>
            </a:r>
            <a:r>
              <a:rPr lang="en-US" dirty="0"/>
              <a:t>. That – imagine our grasshopper lengths. Measured in centimeters. </a:t>
            </a:r>
          </a:p>
          <a:p>
            <a:endParaRPr lang="en-US" dirty="0"/>
          </a:p>
          <a:p>
            <a:r>
              <a:rPr lang="en-US" dirty="0"/>
              <a:t>ASK: What would the units be on the variance? Squared. What would they be on the </a:t>
            </a:r>
            <a:r>
              <a:rPr lang="en-US" dirty="0" err="1"/>
              <a:t>st.dev</a:t>
            </a:r>
            <a:r>
              <a:rPr lang="en-US" dirty="0"/>
              <a:t>.? Just centimeters. </a:t>
            </a:r>
          </a:p>
          <a:p>
            <a:endParaRPr lang="en-US" dirty="0"/>
          </a:p>
          <a:p>
            <a:r>
              <a:rPr lang="en-US" dirty="0"/>
              <a:t>Standard deviation is more intuitive to use because it has the same units as the variable itself, but sometimes the variance is useful. </a:t>
            </a:r>
          </a:p>
        </p:txBody>
      </p:sp>
      <p:sp>
        <p:nvSpPr>
          <p:cNvPr id="4" name="Slide Number Placeholder 3"/>
          <p:cNvSpPr>
            <a:spLocks noGrp="1"/>
          </p:cNvSpPr>
          <p:nvPr>
            <p:ph type="sldNum" sz="quarter" idx="5"/>
          </p:nvPr>
        </p:nvSpPr>
        <p:spPr/>
        <p:txBody>
          <a:bodyPr/>
          <a:lstStyle/>
          <a:p>
            <a:fld id="{750A6EE1-8661-F943-BC33-2B6800D6642F}" type="slidenum">
              <a:rPr lang="en-US" smtClean="0"/>
              <a:t>13</a:t>
            </a:fld>
            <a:endParaRPr lang="en-US"/>
          </a:p>
        </p:txBody>
      </p:sp>
    </p:spTree>
    <p:extLst>
      <p:ext uri="{BB962C8B-B14F-4D97-AF65-F5344CB8AC3E}">
        <p14:creationId xmlns:p14="http://schemas.microsoft.com/office/powerpoint/2010/main" val="3059130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things because otherwise we would have some negative numbers </a:t>
            </a:r>
          </a:p>
          <a:p>
            <a:endParaRPr lang="en-US" dirty="0"/>
          </a:p>
        </p:txBody>
      </p:sp>
      <p:sp>
        <p:nvSpPr>
          <p:cNvPr id="4" name="Slide Number Placeholder 3"/>
          <p:cNvSpPr>
            <a:spLocks noGrp="1"/>
          </p:cNvSpPr>
          <p:nvPr>
            <p:ph type="sldNum" sz="quarter" idx="5"/>
          </p:nvPr>
        </p:nvSpPr>
        <p:spPr/>
        <p:txBody>
          <a:bodyPr/>
          <a:lstStyle/>
          <a:p>
            <a:fld id="{750A6EE1-8661-F943-BC33-2B6800D6642F}" type="slidenum">
              <a:rPr lang="en-US" smtClean="0"/>
              <a:t>14</a:t>
            </a:fld>
            <a:endParaRPr lang="en-US"/>
          </a:p>
        </p:txBody>
      </p:sp>
    </p:spTree>
    <p:extLst>
      <p:ext uri="{BB962C8B-B14F-4D97-AF65-F5344CB8AC3E}">
        <p14:creationId xmlns:p14="http://schemas.microsoft.com/office/powerpoint/2010/main" val="409867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Do you recognize the formula for the sum of squares? It’s the first part of the </a:t>
            </a:r>
            <a:r>
              <a:rPr lang="en-US" dirty="0" err="1"/>
              <a:t>St.dev</a:t>
            </a:r>
            <a:r>
              <a:rPr lang="en-US" dirty="0"/>
              <a:t> formula!</a:t>
            </a:r>
          </a:p>
          <a:p>
            <a:endParaRPr lang="en-US" dirty="0"/>
          </a:p>
        </p:txBody>
      </p:sp>
      <p:sp>
        <p:nvSpPr>
          <p:cNvPr id="4" name="Slide Number Placeholder 3"/>
          <p:cNvSpPr>
            <a:spLocks noGrp="1"/>
          </p:cNvSpPr>
          <p:nvPr>
            <p:ph type="sldNum" sz="quarter" idx="5"/>
          </p:nvPr>
        </p:nvSpPr>
        <p:spPr/>
        <p:txBody>
          <a:bodyPr/>
          <a:lstStyle/>
          <a:p>
            <a:fld id="{750A6EE1-8661-F943-BC33-2B6800D6642F}" type="slidenum">
              <a:rPr lang="en-US" smtClean="0"/>
              <a:t>16</a:t>
            </a:fld>
            <a:endParaRPr lang="en-US"/>
          </a:p>
        </p:txBody>
      </p:sp>
    </p:spTree>
    <p:extLst>
      <p:ext uri="{BB962C8B-B14F-4D97-AF65-F5344CB8AC3E}">
        <p14:creationId xmlns:p14="http://schemas.microsoft.com/office/powerpoint/2010/main" val="1657011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would the sample mean bounce around if you were to take a ton of samples from the same population? </a:t>
            </a:r>
          </a:p>
        </p:txBody>
      </p:sp>
      <p:sp>
        <p:nvSpPr>
          <p:cNvPr id="4" name="Slide Number Placeholder 3"/>
          <p:cNvSpPr>
            <a:spLocks noGrp="1"/>
          </p:cNvSpPr>
          <p:nvPr>
            <p:ph type="sldNum" sz="quarter" idx="5"/>
          </p:nvPr>
        </p:nvSpPr>
        <p:spPr/>
        <p:txBody>
          <a:bodyPr/>
          <a:lstStyle/>
          <a:p>
            <a:fld id="{750A6EE1-8661-F943-BC33-2B6800D6642F}" type="slidenum">
              <a:rPr lang="en-US" smtClean="0"/>
              <a:t>18</a:t>
            </a:fld>
            <a:endParaRPr lang="en-US"/>
          </a:p>
        </p:txBody>
      </p:sp>
    </p:spTree>
    <p:extLst>
      <p:ext uri="{BB962C8B-B14F-4D97-AF65-F5344CB8AC3E}">
        <p14:creationId xmlns:p14="http://schemas.microsoft.com/office/powerpoint/2010/main" val="2994411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Why is this important? “What is more variable in elephants, body mass or life span?” are measurements typically farther from the mean for an elephants body mass or their life span? We can’t compare these directly.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ASK: what is body mass measured in? what is life span measured 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Different units, then the standard deviation is not very informative, because mass is measured in kilograms and life span is measured in years.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we divide units by units, then The coefficient of variation would allow us to make this comparison.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750A6EE1-8661-F943-BC33-2B6800D6642F}" type="slidenum">
              <a:rPr lang="en-US" smtClean="0"/>
              <a:t>19</a:t>
            </a:fld>
            <a:endParaRPr lang="en-US"/>
          </a:p>
        </p:txBody>
      </p:sp>
    </p:spTree>
    <p:extLst>
      <p:ext uri="{BB962C8B-B14F-4D97-AF65-F5344CB8AC3E}">
        <p14:creationId xmlns:p14="http://schemas.microsoft.com/office/powerpoint/2010/main" val="30385954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is the critical value!</a:t>
            </a:r>
          </a:p>
          <a:p>
            <a:r>
              <a:rPr lang="en-US" dirty="0"/>
              <a:t>I want a 95% confidence interval. My alpha is 0.05 (5%)</a:t>
            </a:r>
          </a:p>
          <a:p>
            <a:r>
              <a:rPr lang="en-US" dirty="0"/>
              <a:t>You have your sample size, and then you can get the degrees of freedom by just subtracting 1 from that</a:t>
            </a:r>
          </a:p>
          <a:p>
            <a:r>
              <a:rPr lang="en-US" dirty="0"/>
              <a:t>Then use the table – column of your interval size, and row of your DF gives you your critical value. </a:t>
            </a:r>
          </a:p>
          <a:p>
            <a:r>
              <a:rPr lang="en-US" dirty="0"/>
              <a:t>Follow through on the math, and you have the confidence interval here. </a:t>
            </a:r>
          </a:p>
          <a:p>
            <a:endParaRPr lang="en-US" dirty="0"/>
          </a:p>
          <a:p>
            <a:r>
              <a:rPr lang="en-US" dirty="0"/>
              <a:t>ASK: interpret the confidence interval! I am 95% confident that the interval (5.08 to 17.12) covers the true population mean</a:t>
            </a:r>
          </a:p>
          <a:p>
            <a:endParaRPr lang="en-US" dirty="0"/>
          </a:p>
        </p:txBody>
      </p:sp>
      <p:sp>
        <p:nvSpPr>
          <p:cNvPr id="4" name="Slide Number Placeholder 3"/>
          <p:cNvSpPr>
            <a:spLocks noGrp="1"/>
          </p:cNvSpPr>
          <p:nvPr>
            <p:ph type="sldNum" sz="quarter" idx="5"/>
          </p:nvPr>
        </p:nvSpPr>
        <p:spPr/>
        <p:txBody>
          <a:bodyPr/>
          <a:lstStyle/>
          <a:p>
            <a:fld id="{750A6EE1-8661-F943-BC33-2B6800D6642F}" type="slidenum">
              <a:rPr lang="en-US" smtClean="0"/>
              <a:t>23</a:t>
            </a:fld>
            <a:endParaRPr lang="en-US"/>
          </a:p>
        </p:txBody>
      </p:sp>
    </p:spTree>
    <p:extLst>
      <p:ext uri="{BB962C8B-B14F-4D97-AF65-F5344CB8AC3E}">
        <p14:creationId xmlns:p14="http://schemas.microsoft.com/office/powerpoint/2010/main" val="2520629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32367-F887-9AF3-2081-47E6E9D8B0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F88DE6-E639-AD3F-9D53-C21D27762A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D91C19-BD4E-BD27-8968-2EBB46D6BEDD}"/>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5" name="Footer Placeholder 4">
            <a:extLst>
              <a:ext uri="{FF2B5EF4-FFF2-40B4-BE49-F238E27FC236}">
                <a16:creationId xmlns:a16="http://schemas.microsoft.com/office/drawing/2014/main" id="{D5A7009E-7277-0D77-4297-A69F04A94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81451F-B574-6F3A-D002-397D700C16BC}"/>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2662717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AFB17-E5A2-B9E3-80CE-FBA663238B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86D2EE-AAC0-9F25-825F-565CDC18FF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59DE07-8D0C-FB7B-FF89-BFC6FB5C4D94}"/>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5" name="Footer Placeholder 4">
            <a:extLst>
              <a:ext uri="{FF2B5EF4-FFF2-40B4-BE49-F238E27FC236}">
                <a16:creationId xmlns:a16="http://schemas.microsoft.com/office/drawing/2014/main" id="{5DAC3664-9A30-6059-DA8B-3DD091EE1A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0D1780-BDC9-BC17-D851-B8FCCF6A17C3}"/>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3311821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55ADC-943C-0F04-ED77-171A443354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CD90E9-A486-56D2-889C-BB1A91EB1A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F10DC6-30E9-D3D9-D5C3-17E932525F8C}"/>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5" name="Footer Placeholder 4">
            <a:extLst>
              <a:ext uri="{FF2B5EF4-FFF2-40B4-BE49-F238E27FC236}">
                <a16:creationId xmlns:a16="http://schemas.microsoft.com/office/drawing/2014/main" id="{94B2729E-D14B-FF40-D16C-88E9D64B9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F66C2C-0CBD-6061-5FA2-A8848BD48577}"/>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3149608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273A1-9BDA-01BB-0A73-2867F084A1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967C48-1E76-8DA3-D697-1A8733E370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2860A-5E24-ED37-B67C-731424DDD7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A86FF9-8147-6DE9-917C-35308064B75E}"/>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6" name="Footer Placeholder 5">
            <a:extLst>
              <a:ext uri="{FF2B5EF4-FFF2-40B4-BE49-F238E27FC236}">
                <a16:creationId xmlns:a16="http://schemas.microsoft.com/office/drawing/2014/main" id="{8340F108-3A17-E0BE-A15F-37D968438B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595314-2121-F1F3-2F7A-D107C342162F}"/>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4228199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A3CC3-6F86-C6B5-0CFD-CB4A9BDD52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9D7CCD-0E7D-C8CC-C937-F028CC25F0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FAEADE-EB2A-0192-AAF6-DB67DD841E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EF6723-0B44-7C8B-B5A0-E6C779B4E4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930342-9836-8330-4724-CF6F8E2576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3A491E-EA6A-2CA5-B366-9F8B03AA3478}"/>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8" name="Footer Placeholder 7">
            <a:extLst>
              <a:ext uri="{FF2B5EF4-FFF2-40B4-BE49-F238E27FC236}">
                <a16:creationId xmlns:a16="http://schemas.microsoft.com/office/drawing/2014/main" id="{7B359C41-9AF4-A14C-C3DD-D05192C407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5C68CF-BC5C-8EBD-F85C-8623BDD04509}"/>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276753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90C79-886B-0A48-59A8-D45AF642AC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3FB170-0DE4-7251-1963-C439651A84C9}"/>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4" name="Footer Placeholder 3">
            <a:extLst>
              <a:ext uri="{FF2B5EF4-FFF2-40B4-BE49-F238E27FC236}">
                <a16:creationId xmlns:a16="http://schemas.microsoft.com/office/drawing/2014/main" id="{FB25BE9A-2C4A-DC1A-2D60-0A3CC8EB4D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71B1B4-5CD4-D2A2-1AA2-BC14B998E86F}"/>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3481939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92D849-2A88-CC04-FEA3-FA767D9D39DC}"/>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3" name="Footer Placeholder 2">
            <a:extLst>
              <a:ext uri="{FF2B5EF4-FFF2-40B4-BE49-F238E27FC236}">
                <a16:creationId xmlns:a16="http://schemas.microsoft.com/office/drawing/2014/main" id="{C0647F90-E35B-499F-B982-BBEEC428B4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A934FA-3778-77A0-8290-595CD20B7A38}"/>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2610045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05726-9EC4-2A82-4DF2-A2384B4DBC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3F6477-6009-48BF-9781-BEF38F1EFF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552512-94C7-336F-47F7-9A8014AB0D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422033-F2E5-3DA4-D741-4FBBC9EBE47B}"/>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6" name="Footer Placeholder 5">
            <a:extLst>
              <a:ext uri="{FF2B5EF4-FFF2-40B4-BE49-F238E27FC236}">
                <a16:creationId xmlns:a16="http://schemas.microsoft.com/office/drawing/2014/main" id="{FFD74F12-511E-A668-7FD2-2E0A25C944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15F677-FEF6-C377-F1E7-230E098C438B}"/>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2019839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2157-DB3E-35DB-94A5-054A5D2B46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8E247E-E344-6505-269E-6EDF0350FA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5FCB0-E461-65AE-7A16-8E7432BC12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27F02B-D703-E164-AD73-710EE095DABB}"/>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6" name="Footer Placeholder 5">
            <a:extLst>
              <a:ext uri="{FF2B5EF4-FFF2-40B4-BE49-F238E27FC236}">
                <a16:creationId xmlns:a16="http://schemas.microsoft.com/office/drawing/2014/main" id="{64F7B93E-E87C-20F8-7D30-F763A69E1A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87E55E-C949-4E7D-8897-1AB4F4A90CD2}"/>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349193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152C5-6738-09D4-BF7C-07BA98D14D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C17A4F-7DAA-D001-089B-83AA30E901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30006-0857-5C7F-76FC-53E975BD38D9}"/>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5" name="Footer Placeholder 4">
            <a:extLst>
              <a:ext uri="{FF2B5EF4-FFF2-40B4-BE49-F238E27FC236}">
                <a16:creationId xmlns:a16="http://schemas.microsoft.com/office/drawing/2014/main" id="{D2EF810E-1795-CD28-6AB1-1DF93C474E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EDDF88-D02D-A5A8-0F74-AFB35F6B4E1D}"/>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2389227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87E1F4-81B2-E17E-E581-3414889CC4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512797-4FEF-9361-C0AB-E7CBDBCB88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B8E4E-19E5-BBAC-FCD8-C0D31B54258C}"/>
              </a:ext>
            </a:extLst>
          </p:cNvPr>
          <p:cNvSpPr>
            <a:spLocks noGrp="1"/>
          </p:cNvSpPr>
          <p:nvPr>
            <p:ph type="dt" sz="half" idx="10"/>
          </p:nvPr>
        </p:nvSpPr>
        <p:spPr/>
        <p:txBody>
          <a:bodyPr/>
          <a:lstStyle/>
          <a:p>
            <a:fld id="{6C486F9E-EE21-B147-8B5F-1A96FD39A10E}" type="datetimeFigureOut">
              <a:rPr lang="en-US" smtClean="0"/>
              <a:t>8/28/26</a:t>
            </a:fld>
            <a:endParaRPr lang="en-US"/>
          </a:p>
        </p:txBody>
      </p:sp>
      <p:sp>
        <p:nvSpPr>
          <p:cNvPr id="5" name="Footer Placeholder 4">
            <a:extLst>
              <a:ext uri="{FF2B5EF4-FFF2-40B4-BE49-F238E27FC236}">
                <a16:creationId xmlns:a16="http://schemas.microsoft.com/office/drawing/2014/main" id="{89E5C328-3C70-4D0C-4B56-B21244A8DE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2F2E1A-EAD8-F286-97D0-74617CB142D7}"/>
              </a:ext>
            </a:extLst>
          </p:cNvPr>
          <p:cNvSpPr>
            <a:spLocks noGrp="1"/>
          </p:cNvSpPr>
          <p:nvPr>
            <p:ph type="sldNum" sz="quarter" idx="12"/>
          </p:nvPr>
        </p:nvSpPr>
        <p:spPr/>
        <p:txBody>
          <a:bodyPr/>
          <a:lstStyle/>
          <a:p>
            <a:fld id="{3E997508-617C-3C46-944C-3D57DA1D9C32}" type="slidenum">
              <a:rPr lang="en-US" smtClean="0"/>
              <a:t>‹#›</a:t>
            </a:fld>
            <a:endParaRPr lang="en-US"/>
          </a:p>
        </p:txBody>
      </p:sp>
    </p:spTree>
    <p:extLst>
      <p:ext uri="{BB962C8B-B14F-4D97-AF65-F5344CB8AC3E}">
        <p14:creationId xmlns:p14="http://schemas.microsoft.com/office/powerpoint/2010/main" val="231206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4F728D-1A14-ECCA-06F4-71021FD676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4ECAF7-A522-A0D3-A9CE-8FCFDC21FB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26A3C5-8E4C-A1B4-40D6-2651345BFA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486F9E-EE21-B147-8B5F-1A96FD39A10E}" type="datetimeFigureOut">
              <a:rPr lang="en-US" smtClean="0"/>
              <a:t>8/28/26</a:t>
            </a:fld>
            <a:endParaRPr lang="en-US"/>
          </a:p>
        </p:txBody>
      </p:sp>
      <p:sp>
        <p:nvSpPr>
          <p:cNvPr id="5" name="Footer Placeholder 4">
            <a:extLst>
              <a:ext uri="{FF2B5EF4-FFF2-40B4-BE49-F238E27FC236}">
                <a16:creationId xmlns:a16="http://schemas.microsoft.com/office/drawing/2014/main" id="{069D9AF4-F81B-60BC-F6E0-9C1CA6F2D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617EEE3-1097-2CB9-1A78-0067413FCC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997508-617C-3C46-944C-3D57DA1D9C32}" type="slidenum">
              <a:rPr lang="en-US" smtClean="0"/>
              <a:t>‹#›</a:t>
            </a:fld>
            <a:endParaRPr lang="en-US"/>
          </a:p>
        </p:txBody>
      </p:sp>
    </p:spTree>
    <p:extLst>
      <p:ext uri="{BB962C8B-B14F-4D97-AF65-F5344CB8AC3E}">
        <p14:creationId xmlns:p14="http://schemas.microsoft.com/office/powerpoint/2010/main" val="1192918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4856F-DE98-5A6A-4625-0397C07882F3}"/>
              </a:ext>
            </a:extLst>
          </p:cNvPr>
          <p:cNvSpPr>
            <a:spLocks noGrp="1"/>
          </p:cNvSpPr>
          <p:nvPr>
            <p:ph type="ctrTitle"/>
          </p:nvPr>
        </p:nvSpPr>
        <p:spPr/>
        <p:txBody>
          <a:bodyPr/>
          <a:lstStyle/>
          <a:p>
            <a:r>
              <a:rPr lang="en-US" dirty="0"/>
              <a:t>Quantitative Field Ecology Week 2</a:t>
            </a:r>
          </a:p>
        </p:txBody>
      </p:sp>
      <p:sp>
        <p:nvSpPr>
          <p:cNvPr id="3" name="Subtitle 2">
            <a:extLst>
              <a:ext uri="{FF2B5EF4-FFF2-40B4-BE49-F238E27FC236}">
                <a16:creationId xmlns:a16="http://schemas.microsoft.com/office/drawing/2014/main" id="{F248DAF3-EDFC-CE1A-D1F1-992E5411BD47}"/>
              </a:ext>
            </a:extLst>
          </p:cNvPr>
          <p:cNvSpPr>
            <a:spLocks noGrp="1"/>
          </p:cNvSpPr>
          <p:nvPr>
            <p:ph type="subTitle" idx="1"/>
          </p:nvPr>
        </p:nvSpPr>
        <p:spPr/>
        <p:txBody>
          <a:bodyPr>
            <a:normAutofit/>
          </a:bodyPr>
          <a:lstStyle/>
          <a:p>
            <a:r>
              <a:rPr lang="en-US" sz="4400" dirty="0"/>
              <a:t>Summary Statistics!</a:t>
            </a:r>
          </a:p>
        </p:txBody>
      </p:sp>
      <p:pic>
        <p:nvPicPr>
          <p:cNvPr id="5" name="Picture 4">
            <a:extLst>
              <a:ext uri="{FF2B5EF4-FFF2-40B4-BE49-F238E27FC236}">
                <a16:creationId xmlns:a16="http://schemas.microsoft.com/office/drawing/2014/main" id="{9773AEFC-2E48-919B-F082-1E31CB1A6776}"/>
              </a:ext>
            </a:extLst>
          </p:cNvPr>
          <p:cNvPicPr>
            <a:picLocks noChangeAspect="1"/>
          </p:cNvPicPr>
          <p:nvPr/>
        </p:nvPicPr>
        <p:blipFill>
          <a:blip r:embed="rId2"/>
          <a:stretch>
            <a:fillRect/>
          </a:stretch>
        </p:blipFill>
        <p:spPr>
          <a:xfrm>
            <a:off x="878541" y="2844800"/>
            <a:ext cx="2286000" cy="2540000"/>
          </a:xfrm>
          <a:prstGeom prst="rect">
            <a:avLst/>
          </a:prstGeom>
        </p:spPr>
      </p:pic>
      <p:pic>
        <p:nvPicPr>
          <p:cNvPr id="6" name="Picture 5">
            <a:extLst>
              <a:ext uri="{FF2B5EF4-FFF2-40B4-BE49-F238E27FC236}">
                <a16:creationId xmlns:a16="http://schemas.microsoft.com/office/drawing/2014/main" id="{F2EDB6B2-7909-120B-4E15-DC8C25087813}"/>
              </a:ext>
            </a:extLst>
          </p:cNvPr>
          <p:cNvPicPr>
            <a:picLocks noChangeAspect="1"/>
          </p:cNvPicPr>
          <p:nvPr/>
        </p:nvPicPr>
        <p:blipFill>
          <a:blip r:embed="rId2"/>
          <a:stretch>
            <a:fillRect/>
          </a:stretch>
        </p:blipFill>
        <p:spPr>
          <a:xfrm>
            <a:off x="9027461" y="2844800"/>
            <a:ext cx="2286000" cy="2540000"/>
          </a:xfrm>
          <a:prstGeom prst="rect">
            <a:avLst/>
          </a:prstGeom>
        </p:spPr>
      </p:pic>
    </p:spTree>
    <p:extLst>
      <p:ext uri="{BB962C8B-B14F-4D97-AF65-F5344CB8AC3E}">
        <p14:creationId xmlns:p14="http://schemas.microsoft.com/office/powerpoint/2010/main" val="2199483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FAAB1-A7A4-07CE-39C9-5F3616A86BA9}"/>
              </a:ext>
            </a:extLst>
          </p:cNvPr>
          <p:cNvSpPr>
            <a:spLocks noGrp="1"/>
          </p:cNvSpPr>
          <p:nvPr>
            <p:ph type="title"/>
          </p:nvPr>
        </p:nvSpPr>
        <p:spPr>
          <a:xfrm>
            <a:off x="838200" y="842168"/>
            <a:ext cx="10515600" cy="2852737"/>
          </a:xfrm>
        </p:spPr>
        <p:txBody>
          <a:bodyPr/>
          <a:lstStyle/>
          <a:p>
            <a:r>
              <a:rPr lang="en-US" dirty="0"/>
              <a:t>We have a set of data (i.e., lengths of grasshoppers from a field). How do we get to know it?</a:t>
            </a:r>
          </a:p>
        </p:txBody>
      </p:sp>
      <p:sp>
        <p:nvSpPr>
          <p:cNvPr id="3" name="Text Placeholder 2">
            <a:extLst>
              <a:ext uri="{FF2B5EF4-FFF2-40B4-BE49-F238E27FC236}">
                <a16:creationId xmlns:a16="http://schemas.microsoft.com/office/drawing/2014/main" id="{02FB736E-4A57-CCAE-54A8-96E908069FC1}"/>
              </a:ext>
            </a:extLst>
          </p:cNvPr>
          <p:cNvSpPr>
            <a:spLocks noGrp="1"/>
          </p:cNvSpPr>
          <p:nvPr>
            <p:ph type="body" idx="1"/>
          </p:nvPr>
        </p:nvSpPr>
        <p:spPr>
          <a:xfrm>
            <a:off x="838200" y="3694905"/>
            <a:ext cx="10515600" cy="1500187"/>
          </a:xfrm>
        </p:spPr>
        <p:txBody>
          <a:bodyPr>
            <a:normAutofit/>
          </a:bodyPr>
          <a:lstStyle/>
          <a:p>
            <a:r>
              <a:rPr lang="en-US" sz="3600" dirty="0"/>
              <a:t>We perform some summary statistics on our sample! This is our first look at the data. </a:t>
            </a:r>
          </a:p>
        </p:txBody>
      </p:sp>
      <p:pic>
        <p:nvPicPr>
          <p:cNvPr id="5" name="Picture 4">
            <a:extLst>
              <a:ext uri="{FF2B5EF4-FFF2-40B4-BE49-F238E27FC236}">
                <a16:creationId xmlns:a16="http://schemas.microsoft.com/office/drawing/2014/main" id="{C74678BA-EF9A-4226-2E0C-203568D327A6}"/>
              </a:ext>
            </a:extLst>
          </p:cNvPr>
          <p:cNvPicPr>
            <a:picLocks noChangeAspect="1"/>
          </p:cNvPicPr>
          <p:nvPr/>
        </p:nvPicPr>
        <p:blipFill>
          <a:blip r:embed="rId3"/>
          <a:stretch>
            <a:fillRect/>
          </a:stretch>
        </p:blipFill>
        <p:spPr>
          <a:xfrm>
            <a:off x="8510493" y="4303269"/>
            <a:ext cx="3349811" cy="2244373"/>
          </a:xfrm>
          <a:prstGeom prst="rect">
            <a:avLst/>
          </a:prstGeom>
        </p:spPr>
      </p:pic>
    </p:spTree>
    <p:extLst>
      <p:ext uri="{BB962C8B-B14F-4D97-AF65-F5344CB8AC3E}">
        <p14:creationId xmlns:p14="http://schemas.microsoft.com/office/powerpoint/2010/main" val="3407903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A527E-C30B-0894-8332-F9291DD79CFC}"/>
              </a:ext>
            </a:extLst>
          </p:cNvPr>
          <p:cNvSpPr>
            <a:spLocks noGrp="1"/>
          </p:cNvSpPr>
          <p:nvPr>
            <p:ph type="title"/>
          </p:nvPr>
        </p:nvSpPr>
        <p:spPr/>
        <p:txBody>
          <a:bodyPr>
            <a:normAutofit/>
          </a:bodyPr>
          <a:lstStyle/>
          <a:p>
            <a:r>
              <a:rPr lang="en-US" sz="5400" dirty="0"/>
              <a:t>A caveat before we begin:</a:t>
            </a:r>
          </a:p>
        </p:txBody>
      </p:sp>
      <p:sp>
        <p:nvSpPr>
          <p:cNvPr id="3" name="Content Placeholder 2">
            <a:extLst>
              <a:ext uri="{FF2B5EF4-FFF2-40B4-BE49-F238E27FC236}">
                <a16:creationId xmlns:a16="http://schemas.microsoft.com/office/drawing/2014/main" id="{81B3C663-C847-8CE7-8581-57D6D891304D}"/>
              </a:ext>
            </a:extLst>
          </p:cNvPr>
          <p:cNvSpPr>
            <a:spLocks noGrp="1"/>
          </p:cNvSpPr>
          <p:nvPr>
            <p:ph idx="1"/>
          </p:nvPr>
        </p:nvSpPr>
        <p:spPr/>
        <p:txBody>
          <a:bodyPr>
            <a:normAutofit/>
          </a:bodyPr>
          <a:lstStyle/>
          <a:p>
            <a:r>
              <a:rPr lang="en-US" sz="3600" dirty="0"/>
              <a:t>We have randomly sampled grasshoppers from a field and measured their length. </a:t>
            </a:r>
          </a:p>
          <a:p>
            <a:r>
              <a:rPr lang="en-US" sz="3600" dirty="0"/>
              <a:t>We sampled a </a:t>
            </a:r>
            <a:r>
              <a:rPr lang="en-US" sz="3600" u="sng" dirty="0"/>
              <a:t>subset</a:t>
            </a:r>
            <a:r>
              <a:rPr lang="en-US" sz="3600" dirty="0"/>
              <a:t> of the population and will use statistics to infer unknown characteristics about the population from our sample.</a:t>
            </a:r>
          </a:p>
          <a:p>
            <a:r>
              <a:rPr lang="en-US" sz="3600" dirty="0"/>
              <a:t>We estimate the truth based on the sample!</a:t>
            </a:r>
          </a:p>
          <a:p>
            <a:endParaRPr lang="en-US" dirty="0"/>
          </a:p>
        </p:txBody>
      </p:sp>
    </p:spTree>
    <p:extLst>
      <p:ext uri="{BB962C8B-B14F-4D97-AF65-F5344CB8AC3E}">
        <p14:creationId xmlns:p14="http://schemas.microsoft.com/office/powerpoint/2010/main" val="2503897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0AA2-CF09-937E-28F4-F660A0C7F013}"/>
              </a:ext>
            </a:extLst>
          </p:cNvPr>
          <p:cNvSpPr>
            <a:spLocks noGrp="1"/>
          </p:cNvSpPr>
          <p:nvPr>
            <p:ph type="title"/>
          </p:nvPr>
        </p:nvSpPr>
        <p:spPr/>
        <p:txBody>
          <a:bodyPr>
            <a:normAutofit/>
          </a:bodyPr>
          <a:lstStyle/>
          <a:p>
            <a:r>
              <a:rPr lang="en-US" sz="5400" dirty="0"/>
              <a:t>Parameters and Statistics</a:t>
            </a:r>
          </a:p>
        </p:txBody>
      </p:sp>
      <p:sp>
        <p:nvSpPr>
          <p:cNvPr id="3" name="Content Placeholder 2">
            <a:extLst>
              <a:ext uri="{FF2B5EF4-FFF2-40B4-BE49-F238E27FC236}">
                <a16:creationId xmlns:a16="http://schemas.microsoft.com/office/drawing/2014/main" id="{F67A5E0D-CA09-C855-93A8-25A000532557}"/>
              </a:ext>
            </a:extLst>
          </p:cNvPr>
          <p:cNvSpPr>
            <a:spLocks noGrp="1"/>
          </p:cNvSpPr>
          <p:nvPr>
            <p:ph idx="1"/>
          </p:nvPr>
        </p:nvSpPr>
        <p:spPr/>
        <p:txBody>
          <a:bodyPr/>
          <a:lstStyle/>
          <a:p>
            <a:pPr marL="0" indent="0">
              <a:buNone/>
            </a:pPr>
            <a:r>
              <a:rPr lang="en-US" sz="3600" dirty="0"/>
              <a:t>Parameter = a true value describing a population (e.g., means, proportions, correlations)</a:t>
            </a:r>
          </a:p>
          <a:p>
            <a:r>
              <a:rPr lang="en-US" sz="3600" u="sng" dirty="0"/>
              <a:t>P</a:t>
            </a:r>
            <a:r>
              <a:rPr lang="en-US" sz="3600" dirty="0"/>
              <a:t>opulations have </a:t>
            </a:r>
            <a:r>
              <a:rPr lang="en-US" sz="3600" u="sng" dirty="0"/>
              <a:t>p</a:t>
            </a:r>
            <a:r>
              <a:rPr lang="en-US" sz="3600" dirty="0"/>
              <a:t>arameters</a:t>
            </a:r>
          </a:p>
          <a:p>
            <a:pPr marL="0" indent="0">
              <a:buNone/>
            </a:pPr>
            <a:r>
              <a:rPr lang="en-US" sz="3600" dirty="0"/>
              <a:t>Estimate, statistic = values that we calculate from a sample of the population</a:t>
            </a:r>
          </a:p>
          <a:p>
            <a:r>
              <a:rPr lang="en-US" sz="3600" u="sng" dirty="0"/>
              <a:t>S</a:t>
            </a:r>
            <a:r>
              <a:rPr lang="en-US" sz="3600" dirty="0"/>
              <a:t>amples have e</a:t>
            </a:r>
            <a:r>
              <a:rPr lang="en-US" sz="3600" u="sng" dirty="0"/>
              <a:t>s</a:t>
            </a:r>
            <a:r>
              <a:rPr lang="en-US" sz="3600" dirty="0"/>
              <a:t>timates and </a:t>
            </a:r>
            <a:r>
              <a:rPr lang="en-US" sz="3600" u="sng" dirty="0"/>
              <a:t>s</a:t>
            </a:r>
            <a:r>
              <a:rPr lang="en-US" sz="3600" dirty="0"/>
              <a:t>tatistics</a:t>
            </a:r>
          </a:p>
          <a:p>
            <a:endParaRPr lang="en-US" dirty="0"/>
          </a:p>
        </p:txBody>
      </p:sp>
    </p:spTree>
    <p:extLst>
      <p:ext uri="{BB962C8B-B14F-4D97-AF65-F5344CB8AC3E}">
        <p14:creationId xmlns:p14="http://schemas.microsoft.com/office/powerpoint/2010/main" val="934266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F9755-FF6C-985D-1271-5533BBE5FCCC}"/>
              </a:ext>
            </a:extLst>
          </p:cNvPr>
          <p:cNvSpPr>
            <a:spLocks noGrp="1"/>
          </p:cNvSpPr>
          <p:nvPr>
            <p:ph type="title"/>
          </p:nvPr>
        </p:nvSpPr>
        <p:spPr/>
        <p:txBody>
          <a:bodyPr>
            <a:normAutofit/>
          </a:bodyPr>
          <a:lstStyle/>
          <a:p>
            <a:r>
              <a:rPr lang="en-US" sz="5400" dirty="0"/>
              <a:t>These have different symbols! </a:t>
            </a:r>
          </a:p>
        </p:txBody>
      </p:sp>
      <p:pic>
        <p:nvPicPr>
          <p:cNvPr id="5" name="Content Placeholder 4">
            <a:extLst>
              <a:ext uri="{FF2B5EF4-FFF2-40B4-BE49-F238E27FC236}">
                <a16:creationId xmlns:a16="http://schemas.microsoft.com/office/drawing/2014/main" id="{751EAA7D-E32F-A9B5-64F2-A4314F742236}"/>
              </a:ext>
            </a:extLst>
          </p:cNvPr>
          <p:cNvPicPr>
            <a:picLocks noGrp="1" noChangeAspect="1"/>
          </p:cNvPicPr>
          <p:nvPr>
            <p:ph idx="1"/>
          </p:nvPr>
        </p:nvPicPr>
        <p:blipFill>
          <a:blip r:embed="rId3"/>
          <a:srcRect l="1205" t="2545" r="1143" b="1346"/>
          <a:stretch>
            <a:fillRect/>
          </a:stretch>
        </p:blipFill>
        <p:spPr>
          <a:xfrm>
            <a:off x="2608729" y="1936375"/>
            <a:ext cx="6979024" cy="4182037"/>
          </a:xfrm>
          <a:prstGeom prst="rect">
            <a:avLst/>
          </a:prstGeom>
          <a:ln w="28575">
            <a:solidFill>
              <a:schemeClr val="accent6">
                <a:lumMod val="50000"/>
              </a:schemeClr>
            </a:solidFill>
          </a:ln>
        </p:spPr>
      </p:pic>
    </p:spTree>
    <p:extLst>
      <p:ext uri="{BB962C8B-B14F-4D97-AF65-F5344CB8AC3E}">
        <p14:creationId xmlns:p14="http://schemas.microsoft.com/office/powerpoint/2010/main" val="502541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85029-1F0D-2EB3-F1CD-0AAE48908EAE}"/>
              </a:ext>
            </a:extLst>
          </p:cNvPr>
          <p:cNvSpPr>
            <a:spLocks noGrp="1"/>
          </p:cNvSpPr>
          <p:nvPr>
            <p:ph type="title"/>
          </p:nvPr>
        </p:nvSpPr>
        <p:spPr>
          <a:xfrm>
            <a:off x="284629" y="445807"/>
            <a:ext cx="11622741" cy="1325563"/>
          </a:xfrm>
        </p:spPr>
        <p:txBody>
          <a:bodyPr>
            <a:noAutofit/>
          </a:bodyPr>
          <a:lstStyle/>
          <a:p>
            <a:r>
              <a:rPr lang="en-US" sz="4800" dirty="0"/>
              <a:t>We will do our summary statistics based on our sample, looking at location and spread:</a:t>
            </a:r>
          </a:p>
        </p:txBody>
      </p:sp>
      <p:sp>
        <p:nvSpPr>
          <p:cNvPr id="3" name="Content Placeholder 2">
            <a:extLst>
              <a:ext uri="{FF2B5EF4-FFF2-40B4-BE49-F238E27FC236}">
                <a16:creationId xmlns:a16="http://schemas.microsoft.com/office/drawing/2014/main" id="{9F2A60A7-1526-C0C9-62A7-62A2B3B93DBE}"/>
              </a:ext>
            </a:extLst>
          </p:cNvPr>
          <p:cNvSpPr>
            <a:spLocks noGrp="1"/>
          </p:cNvSpPr>
          <p:nvPr>
            <p:ph idx="1"/>
          </p:nvPr>
        </p:nvSpPr>
        <p:spPr>
          <a:xfrm>
            <a:off x="838199" y="2060855"/>
            <a:ext cx="10515600" cy="4351338"/>
          </a:xfrm>
        </p:spPr>
        <p:txBody>
          <a:bodyPr>
            <a:normAutofit/>
          </a:bodyPr>
          <a:lstStyle/>
          <a:p>
            <a:pPr marL="0" indent="0">
              <a:buNone/>
            </a:pPr>
            <a:r>
              <a:rPr lang="en-US" sz="3600" dirty="0"/>
              <a:t>We measured the lengths of 10 grasshoppers (cm): 3.42, 6.17, 1.85, 5.09, 2.63, 4.91, 7.00, 1.28, 6.54, 3.76</a:t>
            </a:r>
          </a:p>
          <a:p>
            <a:r>
              <a:rPr lang="en-US" sz="3600" dirty="0"/>
              <a:t>Location: where majority of data are found</a:t>
            </a:r>
          </a:p>
          <a:p>
            <a:pPr lvl="1"/>
            <a:r>
              <a:rPr lang="en-US" sz="2800" dirty="0"/>
              <a:t>Mean, median &amp; mode</a:t>
            </a:r>
          </a:p>
          <a:p>
            <a:r>
              <a:rPr lang="en-US" sz="3600" dirty="0"/>
              <a:t>Spread: how variable the data are</a:t>
            </a:r>
          </a:p>
          <a:p>
            <a:pPr lvl="1"/>
            <a:r>
              <a:rPr lang="en-US" sz="2800" dirty="0"/>
              <a:t>Standard deviation, variance, standard errors</a:t>
            </a:r>
          </a:p>
        </p:txBody>
      </p:sp>
      <p:pic>
        <p:nvPicPr>
          <p:cNvPr id="5" name="Picture 4">
            <a:extLst>
              <a:ext uri="{FF2B5EF4-FFF2-40B4-BE49-F238E27FC236}">
                <a16:creationId xmlns:a16="http://schemas.microsoft.com/office/drawing/2014/main" id="{18C2473D-1CA2-02C9-1B55-B627B0DB899B}"/>
              </a:ext>
            </a:extLst>
          </p:cNvPr>
          <p:cNvPicPr>
            <a:picLocks noChangeAspect="1"/>
          </p:cNvPicPr>
          <p:nvPr/>
        </p:nvPicPr>
        <p:blipFill>
          <a:blip r:embed="rId3"/>
          <a:stretch>
            <a:fillRect/>
          </a:stretch>
        </p:blipFill>
        <p:spPr>
          <a:xfrm rot="1659332">
            <a:off x="10647830" y="2952750"/>
            <a:ext cx="952500" cy="952500"/>
          </a:xfrm>
          <a:prstGeom prst="rect">
            <a:avLst/>
          </a:prstGeom>
        </p:spPr>
      </p:pic>
      <p:pic>
        <p:nvPicPr>
          <p:cNvPr id="6" name="Picture 5">
            <a:extLst>
              <a:ext uri="{FF2B5EF4-FFF2-40B4-BE49-F238E27FC236}">
                <a16:creationId xmlns:a16="http://schemas.microsoft.com/office/drawing/2014/main" id="{09EFE344-795C-485A-D33B-316426698E72}"/>
              </a:ext>
            </a:extLst>
          </p:cNvPr>
          <p:cNvPicPr>
            <a:picLocks noChangeAspect="1"/>
          </p:cNvPicPr>
          <p:nvPr/>
        </p:nvPicPr>
        <p:blipFill>
          <a:blip r:embed="rId3"/>
          <a:stretch>
            <a:fillRect/>
          </a:stretch>
        </p:blipFill>
        <p:spPr>
          <a:xfrm rot="20148010">
            <a:off x="9824892" y="3980757"/>
            <a:ext cx="952500" cy="952500"/>
          </a:xfrm>
          <a:prstGeom prst="rect">
            <a:avLst/>
          </a:prstGeom>
        </p:spPr>
      </p:pic>
      <p:pic>
        <p:nvPicPr>
          <p:cNvPr id="7" name="Picture 6">
            <a:extLst>
              <a:ext uri="{FF2B5EF4-FFF2-40B4-BE49-F238E27FC236}">
                <a16:creationId xmlns:a16="http://schemas.microsoft.com/office/drawing/2014/main" id="{D4330738-D41D-433D-F975-A9AE03C58A57}"/>
              </a:ext>
            </a:extLst>
          </p:cNvPr>
          <p:cNvPicPr>
            <a:picLocks noChangeAspect="1"/>
          </p:cNvPicPr>
          <p:nvPr/>
        </p:nvPicPr>
        <p:blipFill>
          <a:blip r:embed="rId3"/>
          <a:stretch>
            <a:fillRect/>
          </a:stretch>
        </p:blipFill>
        <p:spPr>
          <a:xfrm rot="1878860">
            <a:off x="10479288" y="4997263"/>
            <a:ext cx="952500" cy="952500"/>
          </a:xfrm>
          <a:prstGeom prst="rect">
            <a:avLst/>
          </a:prstGeom>
        </p:spPr>
      </p:pic>
    </p:spTree>
    <p:extLst>
      <p:ext uri="{BB962C8B-B14F-4D97-AF65-F5344CB8AC3E}">
        <p14:creationId xmlns:p14="http://schemas.microsoft.com/office/powerpoint/2010/main" val="3458902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1F95D-4A3E-D6DE-A088-892405215BFD}"/>
              </a:ext>
            </a:extLst>
          </p:cNvPr>
          <p:cNvSpPr>
            <a:spLocks noGrp="1"/>
          </p:cNvSpPr>
          <p:nvPr>
            <p:ph type="title"/>
          </p:nvPr>
        </p:nvSpPr>
        <p:spPr/>
        <p:txBody>
          <a:bodyPr>
            <a:normAutofit/>
          </a:bodyPr>
          <a:lstStyle/>
          <a:p>
            <a:r>
              <a:rPr lang="en-US" sz="5400" dirty="0"/>
              <a:t>Location: Arithmetic Mean</a:t>
            </a:r>
          </a:p>
        </p:txBody>
      </p:sp>
      <p:sp>
        <p:nvSpPr>
          <p:cNvPr id="3" name="Content Placeholder 2">
            <a:extLst>
              <a:ext uri="{FF2B5EF4-FFF2-40B4-BE49-F238E27FC236}">
                <a16:creationId xmlns:a16="http://schemas.microsoft.com/office/drawing/2014/main" id="{519612DE-4CCE-5DFD-E0B7-B31973BADE10}"/>
              </a:ext>
            </a:extLst>
          </p:cNvPr>
          <p:cNvSpPr>
            <a:spLocks noGrp="1"/>
          </p:cNvSpPr>
          <p:nvPr>
            <p:ph idx="1"/>
          </p:nvPr>
        </p:nvSpPr>
        <p:spPr>
          <a:xfrm>
            <a:off x="838200" y="1825624"/>
            <a:ext cx="6329082" cy="4884457"/>
          </a:xfrm>
        </p:spPr>
        <p:txBody>
          <a:bodyPr>
            <a:normAutofit/>
          </a:bodyPr>
          <a:lstStyle/>
          <a:p>
            <a:r>
              <a:rPr lang="en-US" sz="3200" dirty="0"/>
              <a:t>Unbiased estimator of </a:t>
            </a:r>
            <a:r>
              <a:rPr lang="el-GR" sz="3200" dirty="0"/>
              <a:t>μ</a:t>
            </a:r>
            <a:endParaRPr lang="en-US" sz="3200" dirty="0"/>
          </a:p>
          <a:p>
            <a:r>
              <a:rPr lang="en-US" sz="3200" dirty="0"/>
              <a:t>Assumptions:</a:t>
            </a:r>
          </a:p>
          <a:p>
            <a:pPr lvl="1"/>
            <a:r>
              <a:rPr lang="en-US" sz="2800" dirty="0"/>
              <a:t>Randomly selected individuals</a:t>
            </a:r>
          </a:p>
          <a:p>
            <a:pPr lvl="1"/>
            <a:r>
              <a:rPr lang="en-US" sz="2800" dirty="0"/>
              <a:t>Observations are independent</a:t>
            </a:r>
          </a:p>
          <a:p>
            <a:pPr lvl="1"/>
            <a:r>
              <a:rPr lang="en-US" sz="2800" dirty="0"/>
              <a:t>Observations made on data drawn from a larger population hat is normally distributed</a:t>
            </a:r>
          </a:p>
          <a:p>
            <a:r>
              <a:rPr lang="en-US" sz="3200" dirty="0"/>
              <a:t>Based on Law of Large Numbers:</a:t>
            </a:r>
          </a:p>
          <a:p>
            <a:pPr lvl="1"/>
            <a:r>
              <a:rPr lang="en-US" sz="2800" dirty="0"/>
              <a:t>Estimate approaches </a:t>
            </a:r>
            <a:r>
              <a:rPr lang="el-GR" sz="2800" dirty="0"/>
              <a:t>μ </a:t>
            </a:r>
            <a:r>
              <a:rPr lang="en-US" sz="2800" dirty="0"/>
              <a:t>as sample size gets larger</a:t>
            </a:r>
          </a:p>
        </p:txBody>
      </p:sp>
      <p:pic>
        <p:nvPicPr>
          <p:cNvPr id="5" name="Picture 4">
            <a:extLst>
              <a:ext uri="{FF2B5EF4-FFF2-40B4-BE49-F238E27FC236}">
                <a16:creationId xmlns:a16="http://schemas.microsoft.com/office/drawing/2014/main" id="{57DB846C-8CDC-F9B1-0A76-FFE5B2ED6F37}"/>
              </a:ext>
            </a:extLst>
          </p:cNvPr>
          <p:cNvPicPr>
            <a:picLocks noChangeAspect="1"/>
          </p:cNvPicPr>
          <p:nvPr/>
        </p:nvPicPr>
        <p:blipFill>
          <a:blip r:embed="rId3"/>
          <a:stretch>
            <a:fillRect/>
          </a:stretch>
        </p:blipFill>
        <p:spPr>
          <a:xfrm>
            <a:off x="7342094" y="2120153"/>
            <a:ext cx="4584700" cy="3048000"/>
          </a:xfrm>
          <a:prstGeom prst="rect">
            <a:avLst/>
          </a:prstGeom>
          <a:ln w="28575">
            <a:solidFill>
              <a:schemeClr val="accent6">
                <a:lumMod val="50000"/>
              </a:schemeClr>
            </a:solidFill>
          </a:ln>
        </p:spPr>
      </p:pic>
    </p:spTree>
    <p:extLst>
      <p:ext uri="{BB962C8B-B14F-4D97-AF65-F5344CB8AC3E}">
        <p14:creationId xmlns:p14="http://schemas.microsoft.com/office/powerpoint/2010/main" val="2475810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0EADE-DC3E-EF82-5A8B-58CA4E7503B9}"/>
              </a:ext>
            </a:extLst>
          </p:cNvPr>
          <p:cNvSpPr>
            <a:spLocks noGrp="1"/>
          </p:cNvSpPr>
          <p:nvPr>
            <p:ph type="title"/>
          </p:nvPr>
        </p:nvSpPr>
        <p:spPr/>
        <p:txBody>
          <a:bodyPr>
            <a:normAutofit/>
          </a:bodyPr>
          <a:lstStyle/>
          <a:p>
            <a:r>
              <a:rPr lang="en-US" sz="5400"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372B1C-E03E-89B1-FA13-96F3E01CAFCE}"/>
                  </a:ext>
                </a:extLst>
              </p:cNvPr>
              <p:cNvSpPr>
                <a:spLocks noGrp="1"/>
              </p:cNvSpPr>
              <p:nvPr>
                <p:ph idx="1"/>
              </p:nvPr>
            </p:nvSpPr>
            <p:spPr>
              <a:xfrm>
                <a:off x="838200" y="2141537"/>
                <a:ext cx="10515600" cy="4351338"/>
              </a:xfrm>
            </p:spPr>
            <p:txBody>
              <a:bodyPr/>
              <a:lstStyle/>
              <a:p>
                <a:pPr marL="0" indent="0">
                  <a:buNone/>
                </a:pPr>
                <a14:m>
                  <m:oMathPara xmlns:m="http://schemas.openxmlformats.org/officeDocument/2006/math">
                    <m:oMath>
                      <m:f>
                        <m:fPr>
                          <m:ctrlPr>
                            <a:rPr lang="en-US" b="0" i="0" dirty="0" smtClean="0"/>
                          </m:ctrlPr>
                        </m:fPr>
                        <m:num>
                          <m:r>
                            <m:rPr>
                              <m:nor/>
                            </m:rPr>
                            <a:rPr lang="en-US" b="0" i="0" dirty="0" smtClean="0"/>
                            <m:t>(</m:t>
                          </m:r>
                          <m:r>
                            <m:rPr>
                              <m:nor/>
                            </m:rPr>
                            <a:rPr lang="en-US" dirty="0" smtClean="0"/>
                            <m:t>3.42</m:t>
                          </m:r>
                          <m:r>
                            <m:rPr>
                              <m:nor/>
                            </m:rPr>
                            <a:rPr lang="en-US" b="0" i="0" dirty="0" smtClean="0"/>
                            <m:t>+</m:t>
                          </m:r>
                          <m:r>
                            <m:rPr>
                              <m:nor/>
                            </m:rPr>
                            <a:rPr lang="en-US" dirty="0" smtClean="0"/>
                            <m:t>6.17</m:t>
                          </m:r>
                          <m:r>
                            <m:rPr>
                              <m:nor/>
                            </m:rPr>
                            <a:rPr lang="en-US" b="0" i="0" dirty="0" smtClean="0"/>
                            <m:t>+</m:t>
                          </m:r>
                          <m:r>
                            <m:rPr>
                              <m:nor/>
                            </m:rPr>
                            <a:rPr lang="en-US" dirty="0" smtClean="0"/>
                            <m:t>1.85</m:t>
                          </m:r>
                          <m:r>
                            <m:rPr>
                              <m:nor/>
                            </m:rPr>
                            <a:rPr lang="en-US" b="0" i="0" dirty="0" smtClean="0"/>
                            <m:t>+</m:t>
                          </m:r>
                          <m:r>
                            <m:rPr>
                              <m:nor/>
                            </m:rPr>
                            <a:rPr lang="en-US" dirty="0" smtClean="0"/>
                            <m:t>5.09</m:t>
                          </m:r>
                          <m:r>
                            <m:rPr>
                              <m:nor/>
                            </m:rPr>
                            <a:rPr lang="en-US" b="0" i="0" dirty="0" smtClean="0"/>
                            <m:t>+</m:t>
                          </m:r>
                          <m:r>
                            <m:rPr>
                              <m:nor/>
                            </m:rPr>
                            <a:rPr lang="en-US" dirty="0" smtClean="0"/>
                            <m:t>2.63</m:t>
                          </m:r>
                          <m:r>
                            <m:rPr>
                              <m:nor/>
                            </m:rPr>
                            <a:rPr lang="en-US" b="0" i="0" dirty="0" smtClean="0"/>
                            <m:t>+</m:t>
                          </m:r>
                          <m:r>
                            <m:rPr>
                              <m:nor/>
                            </m:rPr>
                            <a:rPr lang="en-US" dirty="0" smtClean="0"/>
                            <m:t>4.91</m:t>
                          </m:r>
                          <m:r>
                            <m:rPr>
                              <m:nor/>
                            </m:rPr>
                            <a:rPr lang="en-US" b="0" i="0" dirty="0" smtClean="0"/>
                            <m:t>+</m:t>
                          </m:r>
                          <m:r>
                            <m:rPr>
                              <m:nor/>
                            </m:rPr>
                            <a:rPr lang="en-US" dirty="0" smtClean="0"/>
                            <m:t>7.00</m:t>
                          </m:r>
                          <m:r>
                            <m:rPr>
                              <m:nor/>
                            </m:rPr>
                            <a:rPr lang="en-US" b="0" i="0" dirty="0" smtClean="0"/>
                            <m:t>+</m:t>
                          </m:r>
                          <m:r>
                            <m:rPr>
                              <m:nor/>
                            </m:rPr>
                            <a:rPr lang="en-US" dirty="0" smtClean="0"/>
                            <m:t>1.28</m:t>
                          </m:r>
                          <m:r>
                            <m:rPr>
                              <m:nor/>
                            </m:rPr>
                            <a:rPr lang="en-US" b="0" i="0" dirty="0" smtClean="0"/>
                            <m:t>+</m:t>
                          </m:r>
                          <m:r>
                            <m:rPr>
                              <m:nor/>
                            </m:rPr>
                            <a:rPr lang="en-US" dirty="0" smtClean="0"/>
                            <m:t>6.54</m:t>
                          </m:r>
                          <m:r>
                            <m:rPr>
                              <m:nor/>
                            </m:rPr>
                            <a:rPr lang="en-US" b="0" i="0" dirty="0" smtClean="0"/>
                            <m:t>+</m:t>
                          </m:r>
                          <m:r>
                            <m:rPr>
                              <m:nor/>
                            </m:rPr>
                            <a:rPr lang="en-US" dirty="0" smtClean="0"/>
                            <m:t>3.76</m:t>
                          </m:r>
                          <m:r>
                            <m:rPr>
                              <m:nor/>
                            </m:rPr>
                            <a:rPr lang="en-US" b="0" i="0" dirty="0" smtClean="0"/>
                            <m:t>)</m:t>
                          </m:r>
                        </m:num>
                        <m:den>
                          <m:r>
                            <a:rPr lang="en-US" b="0" i="1" dirty="0" smtClean="0">
                              <a:latin typeface="Cambria Math" panose="02040503050406030204" pitchFamily="18" charset="0"/>
                            </a:rPr>
                            <m:t>10</m:t>
                          </m:r>
                        </m:den>
                      </m:f>
                    </m:oMath>
                  </m:oMathPara>
                </a14:m>
                <a:endParaRPr lang="en-US" dirty="0"/>
              </a:p>
              <a:p>
                <a:pPr marL="0" indent="0">
                  <a:buNone/>
                </a:pPr>
                <a:endParaRPr lang="en-US" dirty="0"/>
              </a:p>
              <a:p>
                <a:pPr marL="0" indent="0">
                  <a:buNone/>
                </a:pPr>
                <a:r>
                  <a:rPr lang="en-US" sz="3600" dirty="0"/>
                  <a:t>Gives us 4.265, or 4.27. This is our sample mean of grasshopper lengths. </a:t>
                </a:r>
              </a:p>
            </p:txBody>
          </p:sp>
        </mc:Choice>
        <mc:Fallback xmlns="">
          <p:sp>
            <p:nvSpPr>
              <p:cNvPr id="3" name="Content Placeholder 2">
                <a:extLst>
                  <a:ext uri="{FF2B5EF4-FFF2-40B4-BE49-F238E27FC236}">
                    <a16:creationId xmlns:a16="http://schemas.microsoft.com/office/drawing/2014/main" id="{68372B1C-E03E-89B1-FA13-96F3E01CAFCE}"/>
                  </a:ext>
                </a:extLst>
              </p:cNvPr>
              <p:cNvSpPr>
                <a:spLocks noGrp="1" noRot="1" noChangeAspect="1" noMove="1" noResize="1" noEditPoints="1" noAdjustHandles="1" noChangeArrowheads="1" noChangeShapeType="1" noTextEdit="1"/>
              </p:cNvSpPr>
              <p:nvPr>
                <p:ph idx="1"/>
              </p:nvPr>
            </p:nvSpPr>
            <p:spPr>
              <a:xfrm>
                <a:off x="838200" y="2141537"/>
                <a:ext cx="10515600" cy="4351338"/>
              </a:xfrm>
              <a:blipFill>
                <a:blip r:embed="rId2"/>
                <a:stretch>
                  <a:fillRect l="-1809" t="-581"/>
                </a:stretch>
              </a:blipFill>
            </p:spPr>
            <p:txBody>
              <a:bodyPr/>
              <a:lstStyle/>
              <a:p>
                <a:r>
                  <a:rPr lang="en-US">
                    <a:noFill/>
                  </a:rPr>
                  <a:t> </a:t>
                </a:r>
              </a:p>
            </p:txBody>
          </p:sp>
        </mc:Fallback>
      </mc:AlternateContent>
    </p:spTree>
    <p:extLst>
      <p:ext uri="{BB962C8B-B14F-4D97-AF65-F5344CB8AC3E}">
        <p14:creationId xmlns:p14="http://schemas.microsoft.com/office/powerpoint/2010/main" val="1645960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D74EE-3F75-8196-0C25-E92C8DCE9DB4}"/>
              </a:ext>
            </a:extLst>
          </p:cNvPr>
          <p:cNvSpPr>
            <a:spLocks noGrp="1"/>
          </p:cNvSpPr>
          <p:nvPr>
            <p:ph type="title"/>
          </p:nvPr>
        </p:nvSpPr>
        <p:spPr/>
        <p:txBody>
          <a:bodyPr>
            <a:normAutofit/>
          </a:bodyPr>
          <a:lstStyle/>
          <a:p>
            <a:r>
              <a:rPr lang="en-US" sz="5400" dirty="0"/>
              <a:t>Location: Median</a:t>
            </a:r>
          </a:p>
        </p:txBody>
      </p:sp>
      <p:sp>
        <p:nvSpPr>
          <p:cNvPr id="3" name="Content Placeholder 2">
            <a:extLst>
              <a:ext uri="{FF2B5EF4-FFF2-40B4-BE49-F238E27FC236}">
                <a16:creationId xmlns:a16="http://schemas.microsoft.com/office/drawing/2014/main" id="{4E5F4F1A-1A4C-39D9-5B50-BEB695A53235}"/>
              </a:ext>
            </a:extLst>
          </p:cNvPr>
          <p:cNvSpPr>
            <a:spLocks noGrp="1"/>
          </p:cNvSpPr>
          <p:nvPr>
            <p:ph idx="1"/>
          </p:nvPr>
        </p:nvSpPr>
        <p:spPr>
          <a:xfrm>
            <a:off x="838200" y="1825625"/>
            <a:ext cx="5511800" cy="4351338"/>
          </a:xfrm>
        </p:spPr>
        <p:txBody>
          <a:bodyPr>
            <a:normAutofit fontScale="92500"/>
          </a:bodyPr>
          <a:lstStyle/>
          <a:p>
            <a:pPr marL="0" indent="0">
              <a:buNone/>
            </a:pPr>
            <a:r>
              <a:rPr lang="en-US" sz="3600" dirty="0"/>
              <a:t>Median: value in a set of </a:t>
            </a:r>
            <a:r>
              <a:rPr lang="en-US" sz="3600" u="sng" dirty="0"/>
              <a:t>ordered</a:t>
            </a:r>
            <a:r>
              <a:rPr lang="en-US" sz="3600" dirty="0"/>
              <a:t> observations that has 50% of the observations above and below it</a:t>
            </a:r>
          </a:p>
          <a:p>
            <a:r>
              <a:rPr lang="en-US" sz="3600" dirty="0"/>
              <a:t>1.28, 1.85, 2.63, 3.42, 3.76, 4.91, 5.09, 6.17, 6.54, 7. </a:t>
            </a:r>
          </a:p>
          <a:p>
            <a:pPr lvl="1"/>
            <a:r>
              <a:rPr lang="en-US" sz="3000" dirty="0"/>
              <a:t>In our case, it’s between 3.76 and 4.91, so we average these two to get 4.335, or 4.34. </a:t>
            </a:r>
          </a:p>
          <a:p>
            <a:endParaRPr lang="en-US" dirty="0"/>
          </a:p>
        </p:txBody>
      </p:sp>
      <p:pic>
        <p:nvPicPr>
          <p:cNvPr id="5" name="Picture 4">
            <a:extLst>
              <a:ext uri="{FF2B5EF4-FFF2-40B4-BE49-F238E27FC236}">
                <a16:creationId xmlns:a16="http://schemas.microsoft.com/office/drawing/2014/main" id="{9D78C684-C498-9453-5E57-F6334EE4B9B3}"/>
              </a:ext>
            </a:extLst>
          </p:cNvPr>
          <p:cNvPicPr>
            <a:picLocks noChangeAspect="1"/>
          </p:cNvPicPr>
          <p:nvPr/>
        </p:nvPicPr>
        <p:blipFill>
          <a:blip r:embed="rId3"/>
          <a:stretch>
            <a:fillRect/>
          </a:stretch>
        </p:blipFill>
        <p:spPr>
          <a:xfrm>
            <a:off x="6807201" y="2056761"/>
            <a:ext cx="4972423" cy="3494445"/>
          </a:xfrm>
          <a:prstGeom prst="rect">
            <a:avLst/>
          </a:prstGeom>
          <a:ln w="28575">
            <a:solidFill>
              <a:schemeClr val="accent6">
                <a:lumMod val="50000"/>
              </a:schemeClr>
            </a:solidFill>
          </a:ln>
        </p:spPr>
      </p:pic>
    </p:spTree>
    <p:extLst>
      <p:ext uri="{BB962C8B-B14F-4D97-AF65-F5344CB8AC3E}">
        <p14:creationId xmlns:p14="http://schemas.microsoft.com/office/powerpoint/2010/main" val="1072556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DEF30-CDB3-A571-2DC8-9DC043634DA0}"/>
              </a:ext>
            </a:extLst>
          </p:cNvPr>
          <p:cNvSpPr>
            <a:spLocks noGrp="1"/>
          </p:cNvSpPr>
          <p:nvPr>
            <p:ph type="title"/>
          </p:nvPr>
        </p:nvSpPr>
        <p:spPr/>
        <p:txBody>
          <a:bodyPr>
            <a:normAutofit/>
          </a:bodyPr>
          <a:lstStyle/>
          <a:p>
            <a:r>
              <a:rPr lang="en-US" sz="5400" dirty="0"/>
              <a:t>Location: Mode</a:t>
            </a:r>
          </a:p>
        </p:txBody>
      </p:sp>
      <p:sp>
        <p:nvSpPr>
          <p:cNvPr id="3" name="Content Placeholder 2">
            <a:extLst>
              <a:ext uri="{FF2B5EF4-FFF2-40B4-BE49-F238E27FC236}">
                <a16:creationId xmlns:a16="http://schemas.microsoft.com/office/drawing/2014/main" id="{DA22D219-A1F6-A13F-EB03-C2A0FA29C53A}"/>
              </a:ext>
            </a:extLst>
          </p:cNvPr>
          <p:cNvSpPr>
            <a:spLocks noGrp="1"/>
          </p:cNvSpPr>
          <p:nvPr>
            <p:ph idx="1"/>
          </p:nvPr>
        </p:nvSpPr>
        <p:spPr>
          <a:xfrm>
            <a:off x="838200" y="1825625"/>
            <a:ext cx="5804647" cy="4351338"/>
          </a:xfrm>
        </p:spPr>
        <p:txBody>
          <a:bodyPr/>
          <a:lstStyle/>
          <a:p>
            <a:pPr marL="0" indent="0">
              <a:buNone/>
            </a:pPr>
            <a:r>
              <a:rPr lang="en-US" sz="3200" dirty="0"/>
              <a:t>Mode: value that occurs most frequently</a:t>
            </a:r>
          </a:p>
          <a:p>
            <a:r>
              <a:rPr lang="en-US" sz="3200" dirty="0"/>
              <a:t>Easy to ID for discrete data</a:t>
            </a:r>
          </a:p>
          <a:p>
            <a:r>
              <a:rPr lang="en-US" sz="3200" dirty="0"/>
              <a:t>Highest bar on histogram for continuous data </a:t>
            </a:r>
          </a:p>
          <a:p>
            <a:pPr lvl="1"/>
            <a:r>
              <a:rPr lang="en-US" sz="2800" dirty="0"/>
              <a:t>(The mode</a:t>
            </a:r>
            <a:r>
              <a:rPr lang="en-US" sz="2800" b="1" dirty="0"/>
              <a:t> </a:t>
            </a:r>
            <a:r>
              <a:rPr lang="en-US" sz="2800" dirty="0"/>
              <a:t>is the interval corresponding to the highest peak.)</a:t>
            </a:r>
            <a:endParaRPr lang="en-US" sz="2800" dirty="0">
              <a:effectLst/>
            </a:endParaRPr>
          </a:p>
          <a:p>
            <a:endParaRPr lang="en-US" dirty="0"/>
          </a:p>
          <a:p>
            <a:endParaRPr lang="en-US" dirty="0"/>
          </a:p>
        </p:txBody>
      </p:sp>
      <p:pic>
        <p:nvPicPr>
          <p:cNvPr id="4" name="Picture 3">
            <a:extLst>
              <a:ext uri="{FF2B5EF4-FFF2-40B4-BE49-F238E27FC236}">
                <a16:creationId xmlns:a16="http://schemas.microsoft.com/office/drawing/2014/main" id="{3CE73966-F0BB-492D-7AAA-8AC66536AC77}"/>
              </a:ext>
            </a:extLst>
          </p:cNvPr>
          <p:cNvPicPr>
            <a:picLocks noChangeAspect="1"/>
          </p:cNvPicPr>
          <p:nvPr/>
        </p:nvPicPr>
        <p:blipFill>
          <a:blip r:embed="rId3"/>
          <a:stretch>
            <a:fillRect/>
          </a:stretch>
        </p:blipFill>
        <p:spPr>
          <a:xfrm>
            <a:off x="6457576" y="1690688"/>
            <a:ext cx="5511800" cy="3873500"/>
          </a:xfrm>
          <a:prstGeom prst="rect">
            <a:avLst/>
          </a:prstGeom>
          <a:ln w="28575">
            <a:solidFill>
              <a:schemeClr val="accent6">
                <a:lumMod val="50000"/>
              </a:schemeClr>
            </a:solidFill>
          </a:ln>
        </p:spPr>
      </p:pic>
    </p:spTree>
    <p:extLst>
      <p:ext uri="{BB962C8B-B14F-4D97-AF65-F5344CB8AC3E}">
        <p14:creationId xmlns:p14="http://schemas.microsoft.com/office/powerpoint/2010/main" val="9487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9536D-DF26-C3E9-BB0F-10E007972A25}"/>
              </a:ext>
            </a:extLst>
          </p:cNvPr>
          <p:cNvSpPr>
            <a:spLocks noGrp="1"/>
          </p:cNvSpPr>
          <p:nvPr>
            <p:ph type="title"/>
          </p:nvPr>
        </p:nvSpPr>
        <p:spPr/>
        <p:txBody>
          <a:bodyPr>
            <a:normAutofit/>
          </a:bodyPr>
          <a:lstStyle/>
          <a:p>
            <a:r>
              <a:rPr lang="en-US" sz="5400" dirty="0"/>
              <a:t>Spread: IQR</a:t>
            </a:r>
          </a:p>
        </p:txBody>
      </p:sp>
      <p:sp>
        <p:nvSpPr>
          <p:cNvPr id="3" name="Content Placeholder 2">
            <a:extLst>
              <a:ext uri="{FF2B5EF4-FFF2-40B4-BE49-F238E27FC236}">
                <a16:creationId xmlns:a16="http://schemas.microsoft.com/office/drawing/2014/main" id="{8C54A24E-8B4B-B0E0-E0A1-80C29FF86293}"/>
              </a:ext>
            </a:extLst>
          </p:cNvPr>
          <p:cNvSpPr>
            <a:spLocks noGrp="1"/>
          </p:cNvSpPr>
          <p:nvPr>
            <p:ph idx="1"/>
          </p:nvPr>
        </p:nvSpPr>
        <p:spPr/>
        <p:txBody>
          <a:bodyPr/>
          <a:lstStyle/>
          <a:p>
            <a:pPr marL="0" indent="0">
              <a:buNone/>
            </a:pPr>
            <a:r>
              <a:rPr lang="en-US" sz="3200" dirty="0"/>
              <a:t>Quartiles: values that partition the data into quarters. </a:t>
            </a:r>
          </a:p>
          <a:p>
            <a:r>
              <a:rPr lang="en-US" sz="3200" dirty="0"/>
              <a:t>The first quartile is the middle value of the measurements lying below the median. The second quartile is the median. The third quartile is the middle value of the measurements larger than the median. </a:t>
            </a:r>
          </a:p>
          <a:p>
            <a:r>
              <a:rPr lang="en-US" sz="3200" dirty="0"/>
              <a:t>The </a:t>
            </a:r>
            <a:r>
              <a:rPr lang="en-US" sz="3200" b="1" dirty="0"/>
              <a:t>interquartile range (</a:t>
            </a:r>
            <a:r>
              <a:rPr lang="en-US" sz="3200" b="1" i="1" dirty="0"/>
              <a:t>IQR</a:t>
            </a:r>
            <a:r>
              <a:rPr lang="en-US" sz="3200" b="1" dirty="0"/>
              <a:t>) </a:t>
            </a:r>
            <a:r>
              <a:rPr lang="en-US" sz="3200" dirty="0"/>
              <a:t>is the span of the middle half of the data, from the first quartile to the third quartile: IQR=Q3-Q1</a:t>
            </a:r>
          </a:p>
          <a:p>
            <a:pPr lvl="1"/>
            <a:r>
              <a:rPr lang="en-US" dirty="0">
                <a:effectLst/>
              </a:rPr>
              <a:t>If the median is the</a:t>
            </a:r>
            <a:r>
              <a:rPr lang="en-US" dirty="0"/>
              <a:t> middle (50%), what is the first quartile? The third?</a:t>
            </a:r>
            <a:endParaRPr lang="en-US" dirty="0">
              <a:effectLst/>
            </a:endParaRPr>
          </a:p>
          <a:p>
            <a:endParaRPr lang="en-US" dirty="0"/>
          </a:p>
        </p:txBody>
      </p:sp>
    </p:spTree>
    <p:extLst>
      <p:ext uri="{BB962C8B-B14F-4D97-AF65-F5344CB8AC3E}">
        <p14:creationId xmlns:p14="http://schemas.microsoft.com/office/powerpoint/2010/main" val="3586371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EEEF-E8E6-9C15-CA18-20CFBBEE9874}"/>
              </a:ext>
            </a:extLst>
          </p:cNvPr>
          <p:cNvSpPr>
            <a:spLocks noGrp="1"/>
          </p:cNvSpPr>
          <p:nvPr>
            <p:ph type="title"/>
          </p:nvPr>
        </p:nvSpPr>
        <p:spPr/>
        <p:txBody>
          <a:bodyPr>
            <a:normAutofit/>
          </a:bodyPr>
          <a:lstStyle/>
          <a:p>
            <a:r>
              <a:rPr lang="en-US" sz="5400" dirty="0"/>
              <a:t>Example:</a:t>
            </a:r>
          </a:p>
        </p:txBody>
      </p:sp>
      <p:sp>
        <p:nvSpPr>
          <p:cNvPr id="3" name="Content Placeholder 2">
            <a:extLst>
              <a:ext uri="{FF2B5EF4-FFF2-40B4-BE49-F238E27FC236}">
                <a16:creationId xmlns:a16="http://schemas.microsoft.com/office/drawing/2014/main" id="{D73B706A-8148-BAFE-C948-CCC9991B2A40}"/>
              </a:ext>
            </a:extLst>
          </p:cNvPr>
          <p:cNvSpPr>
            <a:spLocks noGrp="1"/>
          </p:cNvSpPr>
          <p:nvPr>
            <p:ph idx="1"/>
          </p:nvPr>
        </p:nvSpPr>
        <p:spPr/>
        <p:txBody>
          <a:bodyPr>
            <a:normAutofit/>
          </a:bodyPr>
          <a:lstStyle/>
          <a:p>
            <a:r>
              <a:rPr lang="en-US" sz="3200" dirty="0"/>
              <a:t>1.28, 1.85, 2.63, 3.42, 3.76, 4.91, 5.09, 6.17, 6.54, 7. </a:t>
            </a:r>
          </a:p>
          <a:p>
            <a:r>
              <a:rPr lang="en-US" sz="3200" dirty="0"/>
              <a:t>Median of bottom half (Q1)and top half (Q3) of data (we already know the median – between 3.76 and 4.91</a:t>
            </a:r>
          </a:p>
          <a:p>
            <a:pPr lvl="1"/>
            <a:r>
              <a:rPr lang="en-US" sz="2800" dirty="0"/>
              <a:t>Q1 = 2.63</a:t>
            </a:r>
          </a:p>
          <a:p>
            <a:pPr lvl="1"/>
            <a:r>
              <a:rPr lang="en-US" sz="2800" dirty="0"/>
              <a:t>Q3 = 6.17</a:t>
            </a:r>
          </a:p>
          <a:p>
            <a:r>
              <a:rPr lang="en-US" sz="3200" dirty="0"/>
              <a:t>Q3-Q1</a:t>
            </a:r>
          </a:p>
          <a:p>
            <a:pPr lvl="1"/>
            <a:r>
              <a:rPr lang="en-US" sz="2800" dirty="0"/>
              <a:t>6.17- 2.63 = 3.54</a:t>
            </a:r>
          </a:p>
        </p:txBody>
      </p:sp>
      <p:pic>
        <p:nvPicPr>
          <p:cNvPr id="5" name="Picture 4">
            <a:extLst>
              <a:ext uri="{FF2B5EF4-FFF2-40B4-BE49-F238E27FC236}">
                <a16:creationId xmlns:a16="http://schemas.microsoft.com/office/drawing/2014/main" id="{FD86023D-7ADA-B5A6-C3D8-7535676D0230}"/>
              </a:ext>
            </a:extLst>
          </p:cNvPr>
          <p:cNvPicPr>
            <a:picLocks noChangeAspect="1"/>
          </p:cNvPicPr>
          <p:nvPr/>
        </p:nvPicPr>
        <p:blipFill>
          <a:blip r:embed="rId3"/>
          <a:stretch>
            <a:fillRect/>
          </a:stretch>
        </p:blipFill>
        <p:spPr>
          <a:xfrm>
            <a:off x="7165787" y="3135152"/>
            <a:ext cx="3672541" cy="3176748"/>
          </a:xfrm>
          <a:prstGeom prst="rect">
            <a:avLst/>
          </a:prstGeom>
        </p:spPr>
      </p:pic>
    </p:spTree>
    <p:extLst>
      <p:ext uri="{BB962C8B-B14F-4D97-AF65-F5344CB8AC3E}">
        <p14:creationId xmlns:p14="http://schemas.microsoft.com/office/powerpoint/2010/main" val="544386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8A82E-32E7-F2CF-C733-7E6031614E2D}"/>
              </a:ext>
            </a:extLst>
          </p:cNvPr>
          <p:cNvSpPr>
            <a:spLocks noGrp="1"/>
          </p:cNvSpPr>
          <p:nvPr>
            <p:ph type="title"/>
          </p:nvPr>
        </p:nvSpPr>
        <p:spPr/>
        <p:txBody>
          <a:bodyPr>
            <a:noAutofit/>
          </a:bodyPr>
          <a:lstStyle/>
          <a:p>
            <a:r>
              <a:rPr lang="en-US" sz="4800" dirty="0"/>
              <a:t>Spread: Variance and Standard Deviation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926AC0-BC9D-DDFF-78F3-EA2D419040B2}"/>
                  </a:ext>
                </a:extLst>
              </p:cNvPr>
              <p:cNvSpPr>
                <a:spLocks noGrp="1"/>
              </p:cNvSpPr>
              <p:nvPr>
                <p:ph idx="1"/>
              </p:nvPr>
            </p:nvSpPr>
            <p:spPr>
              <a:xfrm>
                <a:off x="838200" y="1690688"/>
                <a:ext cx="5979459" cy="4351338"/>
              </a:xfrm>
            </p:spPr>
            <p:txBody>
              <a:bodyPr>
                <a:normAutofit fontScale="92500" lnSpcReduction="20000"/>
              </a:bodyPr>
              <a:lstStyle/>
              <a:p>
                <a:pPr marL="0" indent="0">
                  <a:buNone/>
                </a:pPr>
                <a:r>
                  <a:rPr lang="en-US" dirty="0"/>
                  <a:t>Unbiased estimator of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oMath>
                </a14:m>
                <a:endParaRPr lang="en-US" dirty="0"/>
              </a:p>
              <a:p>
                <a:r>
                  <a:rPr lang="en-US" dirty="0"/>
                  <a:t>Same assumptions as for mean</a:t>
                </a:r>
              </a:p>
              <a:p>
                <a:r>
                  <a:rPr lang="en-US" dirty="0"/>
                  <a:t>Also known as mean square</a:t>
                </a:r>
              </a:p>
              <a:p>
                <a:r>
                  <a:rPr lang="en-US" u="sng" dirty="0"/>
                  <a:t>It measures how far from the mean the observations typically are. </a:t>
                </a:r>
                <a:r>
                  <a:rPr lang="en-US" dirty="0"/>
                  <a:t>The standard deviation is large if most observations are far from the mean, and it is small if most measurements lie close to the mean. </a:t>
                </a:r>
                <a:endParaRPr lang="en-US" dirty="0">
                  <a:effectLst/>
                </a:endParaRPr>
              </a:p>
              <a:p>
                <a:r>
                  <a:rPr lang="en-US" dirty="0"/>
                  <a:t>The standard deviation is calculated from the </a:t>
                </a:r>
                <a:r>
                  <a:rPr lang="en-US" b="1" dirty="0"/>
                  <a:t>variance</a:t>
                </a:r>
                <a:r>
                  <a:rPr lang="en-US" dirty="0"/>
                  <a:t>, another measure of spread. The standard deviation is simply the square root of the variance. </a:t>
                </a:r>
                <a:endParaRPr lang="en-US" dirty="0">
                  <a:effectLst/>
                </a:endParaRPr>
              </a:p>
              <a:p>
                <a:endParaRPr lang="en-US" dirty="0"/>
              </a:p>
            </p:txBody>
          </p:sp>
        </mc:Choice>
        <mc:Fallback xmlns="">
          <p:sp>
            <p:nvSpPr>
              <p:cNvPr id="3" name="Content Placeholder 2">
                <a:extLst>
                  <a:ext uri="{FF2B5EF4-FFF2-40B4-BE49-F238E27FC236}">
                    <a16:creationId xmlns:a16="http://schemas.microsoft.com/office/drawing/2014/main" id="{88926AC0-BC9D-DDFF-78F3-EA2D419040B2}"/>
                  </a:ext>
                </a:extLst>
              </p:cNvPr>
              <p:cNvSpPr>
                <a:spLocks noGrp="1" noRot="1" noChangeAspect="1" noMove="1" noResize="1" noEditPoints="1" noAdjustHandles="1" noChangeArrowheads="1" noChangeShapeType="1" noTextEdit="1"/>
              </p:cNvSpPr>
              <p:nvPr>
                <p:ph idx="1"/>
              </p:nvPr>
            </p:nvSpPr>
            <p:spPr>
              <a:xfrm>
                <a:off x="838200" y="1690688"/>
                <a:ext cx="5979459" cy="4351338"/>
              </a:xfrm>
              <a:blipFill>
                <a:blip r:embed="rId3"/>
                <a:stretch>
                  <a:fillRect l="-1911" t="-3488" r="-1911" b="-58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74D1701-7182-C1D6-9122-8B3A41E87569}"/>
              </a:ext>
            </a:extLst>
          </p:cNvPr>
          <p:cNvPicPr>
            <a:picLocks noChangeAspect="1"/>
          </p:cNvPicPr>
          <p:nvPr/>
        </p:nvPicPr>
        <p:blipFill>
          <a:blip r:embed="rId4"/>
          <a:stretch>
            <a:fillRect/>
          </a:stretch>
        </p:blipFill>
        <p:spPr>
          <a:xfrm>
            <a:off x="7224433" y="1758157"/>
            <a:ext cx="4699000" cy="2108200"/>
          </a:xfrm>
          <a:prstGeom prst="rect">
            <a:avLst/>
          </a:prstGeom>
          <a:ln w="28575">
            <a:solidFill>
              <a:schemeClr val="accent6">
                <a:lumMod val="50000"/>
              </a:schemeClr>
            </a:solidFill>
          </a:ln>
        </p:spPr>
      </p:pic>
      <p:pic>
        <p:nvPicPr>
          <p:cNvPr id="9" name="Picture 8">
            <a:extLst>
              <a:ext uri="{FF2B5EF4-FFF2-40B4-BE49-F238E27FC236}">
                <a16:creationId xmlns:a16="http://schemas.microsoft.com/office/drawing/2014/main" id="{FB8D584A-08EF-E30C-E7C8-B3C1D66CE866}"/>
              </a:ext>
            </a:extLst>
          </p:cNvPr>
          <p:cNvPicPr>
            <a:picLocks noChangeAspect="1"/>
          </p:cNvPicPr>
          <p:nvPr/>
        </p:nvPicPr>
        <p:blipFill>
          <a:blip r:embed="rId5"/>
          <a:stretch>
            <a:fillRect/>
          </a:stretch>
        </p:blipFill>
        <p:spPr>
          <a:xfrm>
            <a:off x="7421283" y="4441826"/>
            <a:ext cx="4305300" cy="1600200"/>
          </a:xfrm>
          <a:prstGeom prst="rect">
            <a:avLst/>
          </a:prstGeom>
          <a:ln w="28575">
            <a:solidFill>
              <a:schemeClr val="accent6">
                <a:lumMod val="50000"/>
              </a:schemeClr>
            </a:solidFill>
          </a:ln>
        </p:spPr>
      </p:pic>
    </p:spTree>
    <p:extLst>
      <p:ext uri="{BB962C8B-B14F-4D97-AF65-F5344CB8AC3E}">
        <p14:creationId xmlns:p14="http://schemas.microsoft.com/office/powerpoint/2010/main" val="47409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98BF87-1D70-45EC-0B74-62581EB6431F}"/>
              </a:ext>
            </a:extLst>
          </p:cNvPr>
          <p:cNvSpPr>
            <a:spLocks noGrp="1"/>
          </p:cNvSpPr>
          <p:nvPr>
            <p:ph idx="1"/>
          </p:nvPr>
        </p:nvSpPr>
        <p:spPr>
          <a:xfrm>
            <a:off x="838200" y="1825625"/>
            <a:ext cx="5549153" cy="4351338"/>
          </a:xfrm>
        </p:spPr>
        <p:txBody>
          <a:bodyPr/>
          <a:lstStyle/>
          <a:p>
            <a:r>
              <a:rPr lang="en-US" dirty="0"/>
              <a:t>Calculating: compute deviations (difference between measurement and the mean)</a:t>
            </a:r>
          </a:p>
          <a:p>
            <a:r>
              <a:rPr lang="en-US" dirty="0"/>
              <a:t>We square the deviations so deviations above and below the mean can contribute equally to the variance</a:t>
            </a:r>
          </a:p>
          <a:p>
            <a:r>
              <a:rPr lang="en-US" dirty="0"/>
              <a:t>Divide by n-1; gives a more accurate estimate of the population variance </a:t>
            </a:r>
            <a:endParaRPr lang="en-US" dirty="0">
              <a:effectLst/>
            </a:endParaRPr>
          </a:p>
          <a:p>
            <a:endParaRPr lang="en-US" dirty="0"/>
          </a:p>
        </p:txBody>
      </p:sp>
      <p:pic>
        <p:nvPicPr>
          <p:cNvPr id="7" name="Picture 6">
            <a:extLst>
              <a:ext uri="{FF2B5EF4-FFF2-40B4-BE49-F238E27FC236}">
                <a16:creationId xmlns:a16="http://schemas.microsoft.com/office/drawing/2014/main" id="{BDD8E7D9-B740-3167-80DE-CCAC950454DE}"/>
              </a:ext>
            </a:extLst>
          </p:cNvPr>
          <p:cNvPicPr>
            <a:picLocks noChangeAspect="1"/>
          </p:cNvPicPr>
          <p:nvPr/>
        </p:nvPicPr>
        <p:blipFill>
          <a:blip r:embed="rId3"/>
          <a:stretch>
            <a:fillRect/>
          </a:stretch>
        </p:blipFill>
        <p:spPr>
          <a:xfrm>
            <a:off x="7027583" y="1825625"/>
            <a:ext cx="4699000" cy="2108200"/>
          </a:xfrm>
          <a:prstGeom prst="rect">
            <a:avLst/>
          </a:prstGeom>
          <a:ln w="28575">
            <a:solidFill>
              <a:schemeClr val="accent6">
                <a:lumMod val="50000"/>
              </a:schemeClr>
            </a:solidFill>
          </a:ln>
        </p:spPr>
      </p:pic>
      <p:pic>
        <p:nvPicPr>
          <p:cNvPr id="8" name="Picture 7">
            <a:extLst>
              <a:ext uri="{FF2B5EF4-FFF2-40B4-BE49-F238E27FC236}">
                <a16:creationId xmlns:a16="http://schemas.microsoft.com/office/drawing/2014/main" id="{92EEC631-9D6B-8A19-35E4-9578E97E6C73}"/>
              </a:ext>
            </a:extLst>
          </p:cNvPr>
          <p:cNvPicPr>
            <a:picLocks noChangeAspect="1"/>
          </p:cNvPicPr>
          <p:nvPr/>
        </p:nvPicPr>
        <p:blipFill>
          <a:blip r:embed="rId4"/>
          <a:stretch>
            <a:fillRect/>
          </a:stretch>
        </p:blipFill>
        <p:spPr>
          <a:xfrm>
            <a:off x="7224433" y="4256321"/>
            <a:ext cx="4305300" cy="1600200"/>
          </a:xfrm>
          <a:prstGeom prst="rect">
            <a:avLst/>
          </a:prstGeom>
          <a:ln w="28575">
            <a:solidFill>
              <a:schemeClr val="accent6">
                <a:lumMod val="50000"/>
              </a:schemeClr>
            </a:solidFill>
          </a:ln>
        </p:spPr>
      </p:pic>
      <p:sp>
        <p:nvSpPr>
          <p:cNvPr id="9" name="Title 1">
            <a:extLst>
              <a:ext uri="{FF2B5EF4-FFF2-40B4-BE49-F238E27FC236}">
                <a16:creationId xmlns:a16="http://schemas.microsoft.com/office/drawing/2014/main" id="{0987190A-3BEF-F0BA-BB70-C6D0B679357D}"/>
              </a:ext>
            </a:extLst>
          </p:cNvPr>
          <p:cNvSpPr txBox="1">
            <a:spLocks/>
          </p:cNvSpPr>
          <p:nvPr/>
        </p:nvSpPr>
        <p:spPr>
          <a:xfrm>
            <a:off x="838200" y="33932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Spread: Variance and Standard Deviation</a:t>
            </a:r>
          </a:p>
        </p:txBody>
      </p:sp>
    </p:spTree>
    <p:extLst>
      <p:ext uri="{BB962C8B-B14F-4D97-AF65-F5344CB8AC3E}">
        <p14:creationId xmlns:p14="http://schemas.microsoft.com/office/powerpoint/2010/main" val="2239448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D2592D-37A6-30A3-96E7-78B7F4DFACF8}"/>
              </a:ext>
            </a:extLst>
          </p:cNvPr>
          <p:cNvSpPr>
            <a:spLocks noGrp="1"/>
          </p:cNvSpPr>
          <p:nvPr>
            <p:ph idx="1"/>
          </p:nvPr>
        </p:nvSpPr>
        <p:spPr/>
        <p:txBody>
          <a:bodyPr/>
          <a:lstStyle/>
          <a:p>
            <a:r>
              <a:rPr lang="en-US" dirty="0"/>
              <a:t>If the frequency distribution is bell shaped then about two-thirds of the observations will lie within one standard deviation of the mean, and about 95% will lie within two standard deviations. </a:t>
            </a:r>
            <a:endParaRPr lang="en-US" dirty="0">
              <a:effectLst/>
            </a:endParaRPr>
          </a:p>
          <a:p>
            <a:r>
              <a:rPr lang="en-US" dirty="0"/>
              <a:t>In other words, about 67% of the data will fall between Y-s and Y+s, and about 95% will fall between Y-2s and Y+2s. </a:t>
            </a:r>
            <a:endParaRPr lang="en-US" dirty="0">
              <a:effectLst/>
            </a:endParaRPr>
          </a:p>
          <a:p>
            <a:endParaRPr lang="en-US" dirty="0"/>
          </a:p>
        </p:txBody>
      </p:sp>
      <p:sp>
        <p:nvSpPr>
          <p:cNvPr id="6" name="Title 1">
            <a:extLst>
              <a:ext uri="{FF2B5EF4-FFF2-40B4-BE49-F238E27FC236}">
                <a16:creationId xmlns:a16="http://schemas.microsoft.com/office/drawing/2014/main" id="{8F4E5DCF-C95B-D2E5-3C4D-D6A277D7F9B0}"/>
              </a:ext>
            </a:extLst>
          </p:cNvPr>
          <p:cNvSpPr txBox="1">
            <a:spLocks/>
          </p:cNvSpPr>
          <p:nvPr/>
        </p:nvSpPr>
        <p:spPr>
          <a:xfrm>
            <a:off x="838200" y="33932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Spread: Variance and Standard Deviation</a:t>
            </a:r>
          </a:p>
        </p:txBody>
      </p:sp>
      <p:pic>
        <p:nvPicPr>
          <p:cNvPr id="7" name="Picture 6">
            <a:extLst>
              <a:ext uri="{FF2B5EF4-FFF2-40B4-BE49-F238E27FC236}">
                <a16:creationId xmlns:a16="http://schemas.microsoft.com/office/drawing/2014/main" id="{4FBBB868-C5A4-D854-21A5-67E3AD15C159}"/>
              </a:ext>
            </a:extLst>
          </p:cNvPr>
          <p:cNvPicPr>
            <a:picLocks noChangeAspect="1"/>
          </p:cNvPicPr>
          <p:nvPr/>
        </p:nvPicPr>
        <p:blipFill>
          <a:blip r:embed="rId2"/>
          <a:stretch>
            <a:fillRect/>
          </a:stretch>
        </p:blipFill>
        <p:spPr>
          <a:xfrm>
            <a:off x="3646580" y="4083250"/>
            <a:ext cx="4898840" cy="2435423"/>
          </a:xfrm>
          <a:prstGeom prst="rect">
            <a:avLst/>
          </a:prstGeom>
          <a:ln w="28575">
            <a:solidFill>
              <a:schemeClr val="accent6">
                <a:lumMod val="50000"/>
              </a:schemeClr>
            </a:solidFill>
          </a:ln>
        </p:spPr>
      </p:pic>
    </p:spTree>
    <p:extLst>
      <p:ext uri="{BB962C8B-B14F-4D97-AF65-F5344CB8AC3E}">
        <p14:creationId xmlns:p14="http://schemas.microsoft.com/office/powerpoint/2010/main" val="1398090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6A1A8-6064-9E50-CEE2-A9F632488076}"/>
              </a:ext>
            </a:extLst>
          </p:cNvPr>
          <p:cNvSpPr>
            <a:spLocks noGrp="1"/>
          </p:cNvSpPr>
          <p:nvPr>
            <p:ph type="title"/>
          </p:nvPr>
        </p:nvSpPr>
        <p:spPr/>
        <p:txBody>
          <a:bodyPr>
            <a:normAutofit/>
          </a:bodyPr>
          <a:lstStyle/>
          <a:p>
            <a:r>
              <a:rPr lang="en-US" sz="4800" dirty="0"/>
              <a:t>Sum of Squares, Degrees of Freedom</a:t>
            </a:r>
          </a:p>
        </p:txBody>
      </p:sp>
      <p:sp>
        <p:nvSpPr>
          <p:cNvPr id="3" name="Content Placeholder 2">
            <a:extLst>
              <a:ext uri="{FF2B5EF4-FFF2-40B4-BE49-F238E27FC236}">
                <a16:creationId xmlns:a16="http://schemas.microsoft.com/office/drawing/2014/main" id="{056CC67C-7F36-049D-00FB-758AF7B8E9BE}"/>
              </a:ext>
            </a:extLst>
          </p:cNvPr>
          <p:cNvSpPr>
            <a:spLocks noGrp="1"/>
          </p:cNvSpPr>
          <p:nvPr>
            <p:ph idx="1"/>
          </p:nvPr>
        </p:nvSpPr>
        <p:spPr>
          <a:xfrm>
            <a:off x="838200" y="1825625"/>
            <a:ext cx="6934200" cy="4351338"/>
          </a:xfrm>
        </p:spPr>
        <p:txBody>
          <a:bodyPr/>
          <a:lstStyle/>
          <a:p>
            <a:pPr marL="0" indent="0">
              <a:buNone/>
            </a:pPr>
            <a:r>
              <a:rPr lang="en-US" sz="3600" dirty="0"/>
              <a:t>SSY: sum of squares</a:t>
            </a:r>
          </a:p>
          <a:p>
            <a:r>
              <a:rPr lang="en-US" dirty="0"/>
              <a:t> Integral to numerous other procedures</a:t>
            </a:r>
          </a:p>
          <a:p>
            <a:pPr marL="0" indent="0">
              <a:buNone/>
            </a:pPr>
            <a:r>
              <a:rPr lang="en-US" sz="3600" dirty="0"/>
              <a:t>Degrees of Freedom: n-1</a:t>
            </a:r>
          </a:p>
          <a:p>
            <a:r>
              <a:rPr lang="en-US" dirty="0"/>
              <a:t>Number of independent pieces of information we have to estimate the parameter</a:t>
            </a:r>
          </a:p>
          <a:p>
            <a:r>
              <a:rPr lang="en-US" dirty="0"/>
              <a:t>We lose 1 because we use up 1 for using the sample mean</a:t>
            </a:r>
          </a:p>
          <a:p>
            <a:endParaRPr lang="en-US" dirty="0"/>
          </a:p>
        </p:txBody>
      </p:sp>
      <p:pic>
        <p:nvPicPr>
          <p:cNvPr id="5" name="Picture 4">
            <a:extLst>
              <a:ext uri="{FF2B5EF4-FFF2-40B4-BE49-F238E27FC236}">
                <a16:creationId xmlns:a16="http://schemas.microsoft.com/office/drawing/2014/main" id="{F0C10183-A3ED-D954-E800-8D1CE8A49FF7}"/>
              </a:ext>
            </a:extLst>
          </p:cNvPr>
          <p:cNvPicPr>
            <a:picLocks noChangeAspect="1"/>
          </p:cNvPicPr>
          <p:nvPr/>
        </p:nvPicPr>
        <p:blipFill>
          <a:blip r:embed="rId3"/>
          <a:stretch>
            <a:fillRect/>
          </a:stretch>
        </p:blipFill>
        <p:spPr>
          <a:xfrm>
            <a:off x="7640916" y="1973543"/>
            <a:ext cx="4098693" cy="1737846"/>
          </a:xfrm>
          <a:prstGeom prst="rect">
            <a:avLst/>
          </a:prstGeom>
          <a:ln w="28575">
            <a:solidFill>
              <a:schemeClr val="accent6">
                <a:lumMod val="50000"/>
              </a:schemeClr>
            </a:solidFill>
          </a:ln>
        </p:spPr>
      </p:pic>
      <p:pic>
        <p:nvPicPr>
          <p:cNvPr id="7" name="Picture 6">
            <a:extLst>
              <a:ext uri="{FF2B5EF4-FFF2-40B4-BE49-F238E27FC236}">
                <a16:creationId xmlns:a16="http://schemas.microsoft.com/office/drawing/2014/main" id="{6FBEFC16-191F-6810-FA0C-A530A73D2263}"/>
              </a:ext>
            </a:extLst>
          </p:cNvPr>
          <p:cNvPicPr>
            <a:picLocks noChangeAspect="1"/>
          </p:cNvPicPr>
          <p:nvPr/>
        </p:nvPicPr>
        <p:blipFill>
          <a:blip r:embed="rId4">
            <a:alphaModFix amt="50000"/>
          </a:blip>
          <a:stretch>
            <a:fillRect/>
          </a:stretch>
        </p:blipFill>
        <p:spPr>
          <a:xfrm>
            <a:off x="3281082" y="2775074"/>
            <a:ext cx="1404473" cy="936315"/>
          </a:xfrm>
          <a:prstGeom prst="rect">
            <a:avLst/>
          </a:prstGeom>
        </p:spPr>
      </p:pic>
    </p:spTree>
    <p:extLst>
      <p:ext uri="{BB962C8B-B14F-4D97-AF65-F5344CB8AC3E}">
        <p14:creationId xmlns:p14="http://schemas.microsoft.com/office/powerpoint/2010/main" val="349850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01989-01CA-3C7E-98A5-C8A86EC64598}"/>
              </a:ext>
            </a:extLst>
          </p:cNvPr>
          <p:cNvSpPr>
            <a:spLocks noGrp="1"/>
          </p:cNvSpPr>
          <p:nvPr>
            <p:ph type="title"/>
          </p:nvPr>
        </p:nvSpPr>
        <p:spPr/>
        <p:txBody>
          <a:bodyPr>
            <a:normAutofit/>
          </a:bodyPr>
          <a:lstStyle/>
          <a:p>
            <a:r>
              <a:rPr lang="en-US" sz="5400" dirty="0"/>
              <a:t>Spread: Standard Error</a:t>
            </a:r>
          </a:p>
        </p:txBody>
      </p:sp>
      <p:sp>
        <p:nvSpPr>
          <p:cNvPr id="3" name="Content Placeholder 2">
            <a:extLst>
              <a:ext uri="{FF2B5EF4-FFF2-40B4-BE49-F238E27FC236}">
                <a16:creationId xmlns:a16="http://schemas.microsoft.com/office/drawing/2014/main" id="{D0EE4FA7-4D8B-ABD4-AE8A-07C95511C8FE}"/>
              </a:ext>
            </a:extLst>
          </p:cNvPr>
          <p:cNvSpPr>
            <a:spLocks noGrp="1"/>
          </p:cNvSpPr>
          <p:nvPr>
            <p:ph idx="1"/>
          </p:nvPr>
        </p:nvSpPr>
        <p:spPr>
          <a:xfrm>
            <a:off x="838200" y="1825625"/>
            <a:ext cx="10148047" cy="4351338"/>
          </a:xfrm>
        </p:spPr>
        <p:txBody>
          <a:bodyPr>
            <a:normAutofit lnSpcReduction="10000"/>
          </a:bodyPr>
          <a:lstStyle/>
          <a:p>
            <a:r>
              <a:rPr lang="en-US" sz="3200" dirty="0"/>
              <a:t>The standard deviation of the sampling distribution of an estimate </a:t>
            </a:r>
            <a:endParaRPr lang="en-US" sz="3200" dirty="0">
              <a:effectLst/>
            </a:endParaRPr>
          </a:p>
          <a:p>
            <a:r>
              <a:rPr lang="en-US" sz="3200" dirty="0"/>
              <a:t>Reflects the differences between an estimate and the target parameter; it reflects the precision of an estimate </a:t>
            </a:r>
            <a:endParaRPr lang="en-US" sz="3200" dirty="0">
              <a:effectLst/>
            </a:endParaRPr>
          </a:p>
          <a:p>
            <a:r>
              <a:rPr lang="en-US" sz="3200" u="sng" dirty="0"/>
              <a:t>Estimates with smaller standard errors are more precise than those with larger standard errors. </a:t>
            </a:r>
            <a:r>
              <a:rPr lang="en-US" sz="3200" dirty="0"/>
              <a:t>The smaller the standard error, the less uncertainty there is about the target parameter in the population. </a:t>
            </a:r>
          </a:p>
          <a:p>
            <a:r>
              <a:rPr lang="en-US" sz="3200" dirty="0">
                <a:effectLst/>
              </a:rPr>
              <a:t>Decreases with increasing sample size</a:t>
            </a:r>
          </a:p>
          <a:p>
            <a:endParaRPr lang="en-US" dirty="0"/>
          </a:p>
        </p:txBody>
      </p:sp>
    </p:spTree>
    <p:extLst>
      <p:ext uri="{BB962C8B-B14F-4D97-AF65-F5344CB8AC3E}">
        <p14:creationId xmlns:p14="http://schemas.microsoft.com/office/powerpoint/2010/main" val="4270060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F717C-ADAA-EE1A-E1D8-DCAC334A3325}"/>
              </a:ext>
            </a:extLst>
          </p:cNvPr>
          <p:cNvSpPr>
            <a:spLocks noGrp="1"/>
          </p:cNvSpPr>
          <p:nvPr>
            <p:ph type="title"/>
          </p:nvPr>
        </p:nvSpPr>
        <p:spPr/>
        <p:txBody>
          <a:bodyPr>
            <a:normAutofit/>
          </a:bodyPr>
          <a:lstStyle/>
          <a:p>
            <a:r>
              <a:rPr lang="en-US" sz="5400" dirty="0"/>
              <a:t>Spread: Standard Error of the Mean</a:t>
            </a:r>
          </a:p>
        </p:txBody>
      </p:sp>
      <p:sp>
        <p:nvSpPr>
          <p:cNvPr id="3" name="Content Placeholder 2">
            <a:extLst>
              <a:ext uri="{FF2B5EF4-FFF2-40B4-BE49-F238E27FC236}">
                <a16:creationId xmlns:a16="http://schemas.microsoft.com/office/drawing/2014/main" id="{4F4DD5EB-0D73-082A-B001-8520E7F4690D}"/>
              </a:ext>
            </a:extLst>
          </p:cNvPr>
          <p:cNvSpPr>
            <a:spLocks noGrp="1"/>
          </p:cNvSpPr>
          <p:nvPr>
            <p:ph idx="1"/>
          </p:nvPr>
        </p:nvSpPr>
        <p:spPr>
          <a:xfrm>
            <a:off x="838200" y="1825625"/>
            <a:ext cx="7445188" cy="4351338"/>
          </a:xfrm>
        </p:spPr>
        <p:txBody>
          <a:bodyPr/>
          <a:lstStyle/>
          <a:p>
            <a:r>
              <a:rPr lang="en-US" sz="3600" dirty="0"/>
              <a:t>Describes the variance in the sample mean, study to study</a:t>
            </a:r>
          </a:p>
          <a:p>
            <a:r>
              <a:rPr lang="en-US" sz="3600" dirty="0"/>
              <a:t>Sample standard deviation divided by the square-root of n (# of samples)</a:t>
            </a:r>
          </a:p>
          <a:p>
            <a:r>
              <a:rPr lang="en-US" sz="3600" dirty="0"/>
              <a:t>Generally the error bars when you see a plot in a journal article</a:t>
            </a:r>
          </a:p>
          <a:p>
            <a:endParaRPr lang="en-US" dirty="0"/>
          </a:p>
        </p:txBody>
      </p:sp>
      <p:pic>
        <p:nvPicPr>
          <p:cNvPr id="4" name="Picture 3">
            <a:extLst>
              <a:ext uri="{FF2B5EF4-FFF2-40B4-BE49-F238E27FC236}">
                <a16:creationId xmlns:a16="http://schemas.microsoft.com/office/drawing/2014/main" id="{E4AC8810-32E3-B34C-C1BD-C1B6C16F9991}"/>
              </a:ext>
            </a:extLst>
          </p:cNvPr>
          <p:cNvPicPr>
            <a:picLocks noChangeAspect="1"/>
          </p:cNvPicPr>
          <p:nvPr/>
        </p:nvPicPr>
        <p:blipFill>
          <a:blip r:embed="rId3"/>
          <a:stretch>
            <a:fillRect/>
          </a:stretch>
        </p:blipFill>
        <p:spPr>
          <a:xfrm>
            <a:off x="8882530" y="2257985"/>
            <a:ext cx="2844800" cy="2933700"/>
          </a:xfrm>
          <a:prstGeom prst="rect">
            <a:avLst/>
          </a:prstGeom>
          <a:ln w="28575">
            <a:solidFill>
              <a:schemeClr val="accent6">
                <a:lumMod val="50000"/>
              </a:schemeClr>
            </a:solidFill>
          </a:ln>
        </p:spPr>
      </p:pic>
    </p:spTree>
    <p:extLst>
      <p:ext uri="{BB962C8B-B14F-4D97-AF65-F5344CB8AC3E}">
        <p14:creationId xmlns:p14="http://schemas.microsoft.com/office/powerpoint/2010/main" val="1642513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1A37B-653C-C55E-CD16-1AD4C6014218}"/>
              </a:ext>
            </a:extLst>
          </p:cNvPr>
          <p:cNvSpPr>
            <a:spLocks noGrp="1"/>
          </p:cNvSpPr>
          <p:nvPr>
            <p:ph type="title"/>
          </p:nvPr>
        </p:nvSpPr>
        <p:spPr/>
        <p:txBody>
          <a:bodyPr>
            <a:normAutofit/>
          </a:bodyPr>
          <a:lstStyle/>
          <a:p>
            <a:r>
              <a:rPr lang="en-US" sz="5400" dirty="0"/>
              <a:t>Spread: Coefficient of Variation</a:t>
            </a:r>
          </a:p>
        </p:txBody>
      </p:sp>
      <p:sp>
        <p:nvSpPr>
          <p:cNvPr id="3" name="Content Placeholder 2">
            <a:extLst>
              <a:ext uri="{FF2B5EF4-FFF2-40B4-BE49-F238E27FC236}">
                <a16:creationId xmlns:a16="http://schemas.microsoft.com/office/drawing/2014/main" id="{A80B4DBB-3096-2CF5-CCAB-F6825FCA16FE}"/>
              </a:ext>
            </a:extLst>
          </p:cNvPr>
          <p:cNvSpPr>
            <a:spLocks noGrp="1"/>
          </p:cNvSpPr>
          <p:nvPr>
            <p:ph idx="1"/>
          </p:nvPr>
        </p:nvSpPr>
        <p:spPr>
          <a:xfrm>
            <a:off x="838200" y="1825625"/>
            <a:ext cx="6826624" cy="4351338"/>
          </a:xfrm>
        </p:spPr>
        <p:txBody>
          <a:bodyPr>
            <a:normAutofit fontScale="92500" lnSpcReduction="20000"/>
          </a:bodyPr>
          <a:lstStyle/>
          <a:p>
            <a:r>
              <a:rPr lang="en-US" sz="3600" dirty="0"/>
              <a:t>Unitless</a:t>
            </a:r>
          </a:p>
          <a:p>
            <a:r>
              <a:rPr lang="en-US" sz="3600" dirty="0"/>
              <a:t>Calculates the standard deviation as a percentage of the mean </a:t>
            </a:r>
            <a:endParaRPr lang="en-US" sz="3600" dirty="0">
              <a:effectLst/>
            </a:endParaRPr>
          </a:p>
          <a:p>
            <a:r>
              <a:rPr lang="en-US" sz="3600" dirty="0"/>
              <a:t>A higher CV means that there is more variability, whereas a lower CV means that individuals are more consistently the same, relative to the mean </a:t>
            </a:r>
          </a:p>
          <a:p>
            <a:r>
              <a:rPr lang="en-US" sz="3600" dirty="0"/>
              <a:t>Allows variance to be compared among studies</a:t>
            </a:r>
          </a:p>
          <a:p>
            <a:pPr marL="0" indent="0">
              <a:buNone/>
            </a:pPr>
            <a:endParaRPr lang="en-US" dirty="0"/>
          </a:p>
        </p:txBody>
      </p:sp>
      <p:pic>
        <p:nvPicPr>
          <p:cNvPr id="5" name="Picture 4">
            <a:extLst>
              <a:ext uri="{FF2B5EF4-FFF2-40B4-BE49-F238E27FC236}">
                <a16:creationId xmlns:a16="http://schemas.microsoft.com/office/drawing/2014/main" id="{7B25CA9D-1799-C3FE-F656-D5A1CC754DB6}"/>
              </a:ext>
            </a:extLst>
          </p:cNvPr>
          <p:cNvPicPr>
            <a:picLocks noChangeAspect="1"/>
          </p:cNvPicPr>
          <p:nvPr/>
        </p:nvPicPr>
        <p:blipFill>
          <a:blip r:embed="rId3"/>
          <a:srcRect b="50000"/>
          <a:stretch>
            <a:fillRect/>
          </a:stretch>
        </p:blipFill>
        <p:spPr>
          <a:xfrm>
            <a:off x="8104467" y="2365375"/>
            <a:ext cx="3136900" cy="2127250"/>
          </a:xfrm>
          <a:prstGeom prst="rect">
            <a:avLst/>
          </a:prstGeom>
          <a:ln w="28575">
            <a:solidFill>
              <a:schemeClr val="accent6">
                <a:lumMod val="50000"/>
              </a:schemeClr>
            </a:solidFill>
          </a:ln>
        </p:spPr>
      </p:pic>
    </p:spTree>
    <p:extLst>
      <p:ext uri="{BB962C8B-B14F-4D97-AF65-F5344CB8AC3E}">
        <p14:creationId xmlns:p14="http://schemas.microsoft.com/office/powerpoint/2010/main" val="3811016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0ECC-1B9F-D07D-525F-8293F6D385D0}"/>
              </a:ext>
            </a:extLst>
          </p:cNvPr>
          <p:cNvSpPr>
            <a:spLocks noGrp="1"/>
          </p:cNvSpPr>
          <p:nvPr>
            <p:ph type="title"/>
          </p:nvPr>
        </p:nvSpPr>
        <p:spPr/>
        <p:txBody>
          <a:bodyPr>
            <a:normAutofit/>
          </a:bodyPr>
          <a:lstStyle/>
          <a:p>
            <a:r>
              <a:rPr lang="en-US" sz="5400" dirty="0"/>
              <a:t>Confidence Interval</a:t>
            </a:r>
          </a:p>
        </p:txBody>
      </p:sp>
      <p:sp>
        <p:nvSpPr>
          <p:cNvPr id="3" name="Content Placeholder 2">
            <a:extLst>
              <a:ext uri="{FF2B5EF4-FFF2-40B4-BE49-F238E27FC236}">
                <a16:creationId xmlns:a16="http://schemas.microsoft.com/office/drawing/2014/main" id="{DD995B09-821B-D2C7-31C9-ABFF4A145A50}"/>
              </a:ext>
            </a:extLst>
          </p:cNvPr>
          <p:cNvSpPr>
            <a:spLocks noGrp="1"/>
          </p:cNvSpPr>
          <p:nvPr>
            <p:ph idx="1"/>
          </p:nvPr>
        </p:nvSpPr>
        <p:spPr>
          <a:xfrm>
            <a:off x="838200" y="1825625"/>
            <a:ext cx="6961094" cy="4351338"/>
          </a:xfrm>
        </p:spPr>
        <p:txBody>
          <a:bodyPr>
            <a:normAutofit fontScale="92500" lnSpcReduction="20000"/>
          </a:bodyPr>
          <a:lstStyle/>
          <a:p>
            <a:r>
              <a:rPr lang="en-US" sz="3000" dirty="0"/>
              <a:t>Range of values surrounding the sample estimate that is likely to contain the population parameter. </a:t>
            </a:r>
            <a:endParaRPr lang="en-US" sz="3000" dirty="0">
              <a:effectLst/>
            </a:endParaRPr>
          </a:p>
          <a:p>
            <a:r>
              <a:rPr lang="en-US" sz="3000" dirty="0"/>
              <a:t>Describes how confident we are that our interval covers the true population parameter we are interested in (generally </a:t>
            </a:r>
            <a:r>
              <a:rPr lang="el-GR" sz="3000" dirty="0"/>
              <a:t>μ)</a:t>
            </a:r>
            <a:endParaRPr lang="en-US" sz="3000" dirty="0"/>
          </a:p>
          <a:p>
            <a:r>
              <a:rPr lang="el-GR" sz="3000" dirty="0"/>
              <a:t>95%, 90% </a:t>
            </a:r>
            <a:r>
              <a:rPr lang="en-US" sz="3000" dirty="0"/>
              <a:t>most common</a:t>
            </a:r>
          </a:p>
          <a:p>
            <a:r>
              <a:rPr lang="en-US" sz="3000" dirty="0"/>
              <a:t>Interpretation of CI (4, 6)</a:t>
            </a:r>
          </a:p>
          <a:p>
            <a:pPr lvl="1"/>
            <a:r>
              <a:rPr lang="en-US" dirty="0"/>
              <a:t>“I am 95% confident that the interval (4,6) covers the true population mean.”</a:t>
            </a:r>
          </a:p>
          <a:p>
            <a:pPr lvl="1"/>
            <a:r>
              <a:rPr lang="en-US" dirty="0"/>
              <a:t>NOT “95% chance the population mean is in the interval (4,6).”</a:t>
            </a:r>
          </a:p>
        </p:txBody>
      </p:sp>
      <p:pic>
        <p:nvPicPr>
          <p:cNvPr id="5" name="Picture 4">
            <a:extLst>
              <a:ext uri="{FF2B5EF4-FFF2-40B4-BE49-F238E27FC236}">
                <a16:creationId xmlns:a16="http://schemas.microsoft.com/office/drawing/2014/main" id="{9DEB2A14-10BB-C9B6-A7A9-C0FB3700494A}"/>
              </a:ext>
            </a:extLst>
          </p:cNvPr>
          <p:cNvPicPr>
            <a:picLocks noChangeAspect="1"/>
          </p:cNvPicPr>
          <p:nvPr/>
        </p:nvPicPr>
        <p:blipFill>
          <a:blip r:embed="rId2"/>
          <a:stretch>
            <a:fillRect/>
          </a:stretch>
        </p:blipFill>
        <p:spPr>
          <a:xfrm>
            <a:off x="7799294" y="2827618"/>
            <a:ext cx="4279900" cy="1498600"/>
          </a:xfrm>
          <a:prstGeom prst="rect">
            <a:avLst/>
          </a:prstGeom>
          <a:ln w="28575">
            <a:solidFill>
              <a:schemeClr val="accent6">
                <a:lumMod val="50000"/>
              </a:schemeClr>
            </a:solidFill>
          </a:ln>
        </p:spPr>
      </p:pic>
    </p:spTree>
    <p:extLst>
      <p:ext uri="{BB962C8B-B14F-4D97-AF65-F5344CB8AC3E}">
        <p14:creationId xmlns:p14="http://schemas.microsoft.com/office/powerpoint/2010/main" val="71312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03AB0-D264-CA74-8EFC-6F99176C6DD3}"/>
              </a:ext>
            </a:extLst>
          </p:cNvPr>
          <p:cNvSpPr>
            <a:spLocks noGrp="1"/>
          </p:cNvSpPr>
          <p:nvPr>
            <p:ph type="title"/>
          </p:nvPr>
        </p:nvSpPr>
        <p:spPr/>
        <p:txBody>
          <a:bodyPr>
            <a:normAutofit/>
          </a:bodyPr>
          <a:lstStyle/>
          <a:p>
            <a:r>
              <a:rPr lang="en-US" sz="5400" dirty="0"/>
              <a:t>Confidence Intervals Explained</a:t>
            </a:r>
          </a:p>
        </p:txBody>
      </p:sp>
      <p:sp>
        <p:nvSpPr>
          <p:cNvPr id="3" name="Content Placeholder 2">
            <a:extLst>
              <a:ext uri="{FF2B5EF4-FFF2-40B4-BE49-F238E27FC236}">
                <a16:creationId xmlns:a16="http://schemas.microsoft.com/office/drawing/2014/main" id="{1EBE4531-45E2-8E36-F3B4-071EE31F50AC}"/>
              </a:ext>
            </a:extLst>
          </p:cNvPr>
          <p:cNvSpPr>
            <a:spLocks noGrp="1"/>
          </p:cNvSpPr>
          <p:nvPr>
            <p:ph idx="1"/>
          </p:nvPr>
        </p:nvSpPr>
        <p:spPr/>
        <p:txBody>
          <a:bodyPr>
            <a:normAutofit fontScale="92500" lnSpcReduction="10000"/>
          </a:bodyPr>
          <a:lstStyle/>
          <a:p>
            <a:r>
              <a:rPr lang="en-US" dirty="0"/>
              <a:t>20 researchers independently take unique random samples of n=100 genes </a:t>
            </a:r>
            <a:endParaRPr lang="en-US" dirty="0">
              <a:effectLst/>
            </a:endParaRPr>
          </a:p>
          <a:p>
            <a:r>
              <a:rPr lang="en-US" dirty="0"/>
              <a:t>Each researcher calculates an estimate Y and then a 95% confidence interval for the parameter (the population mean, </a:t>
            </a:r>
            <a:r>
              <a:rPr lang="en-US" dirty="0" err="1"/>
              <a:t>μ</a:t>
            </a:r>
            <a:r>
              <a:rPr lang="en-US" dirty="0"/>
              <a:t> ). Each researcher ends up with a different estimate and a different 95% confidence interval, because by chance their samples are not the same. </a:t>
            </a:r>
            <a:endParaRPr lang="en-US" dirty="0">
              <a:effectLst/>
            </a:endParaRPr>
          </a:p>
          <a:p>
            <a:r>
              <a:rPr lang="en-US" u="sng" dirty="0"/>
              <a:t>On average, however, 19 out of 20 (95%) of the researchers’ intervals will contain the value of the population parameter. On average, therefore, 1 out of 20 intervals (5%) will </a:t>
            </a:r>
            <a:r>
              <a:rPr lang="en-US" i="1" u="sng" dirty="0"/>
              <a:t>not </a:t>
            </a:r>
            <a:r>
              <a:rPr lang="en-US" u="sng" dirty="0"/>
              <a:t>contain the parameter value. </a:t>
            </a:r>
            <a:r>
              <a:rPr lang="en-US" dirty="0"/>
              <a:t>None of the researchers will know for sure whether his or her own confidence interval contains the value of the unknown parameter, but each can be “95% confident” that it does. </a:t>
            </a:r>
            <a:endParaRPr lang="en-US" dirty="0">
              <a:effectLst/>
            </a:endParaRPr>
          </a:p>
          <a:p>
            <a:endParaRPr lang="en-US" dirty="0"/>
          </a:p>
        </p:txBody>
      </p:sp>
    </p:spTree>
    <p:extLst>
      <p:ext uri="{BB962C8B-B14F-4D97-AF65-F5344CB8AC3E}">
        <p14:creationId xmlns:p14="http://schemas.microsoft.com/office/powerpoint/2010/main" val="1865831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BBD33-2A75-ED48-6A7D-C3C094FF0EBE}"/>
              </a:ext>
            </a:extLst>
          </p:cNvPr>
          <p:cNvSpPr>
            <a:spLocks noGrp="1"/>
          </p:cNvSpPr>
          <p:nvPr>
            <p:ph type="title"/>
          </p:nvPr>
        </p:nvSpPr>
        <p:spPr/>
        <p:txBody>
          <a:bodyPr>
            <a:normAutofit/>
          </a:bodyPr>
          <a:lstStyle/>
          <a:p>
            <a:r>
              <a:rPr lang="en-US" sz="5400" dirty="0"/>
              <a:t>Confidence Intervals Explained</a:t>
            </a:r>
          </a:p>
        </p:txBody>
      </p:sp>
      <p:sp>
        <p:nvSpPr>
          <p:cNvPr id="3" name="Content Placeholder 2">
            <a:extLst>
              <a:ext uri="{FF2B5EF4-FFF2-40B4-BE49-F238E27FC236}">
                <a16:creationId xmlns:a16="http://schemas.microsoft.com/office/drawing/2014/main" id="{D5CD3905-5250-4145-6ABC-51A3F56F2596}"/>
              </a:ext>
            </a:extLst>
          </p:cNvPr>
          <p:cNvSpPr>
            <a:spLocks noGrp="1"/>
          </p:cNvSpPr>
          <p:nvPr>
            <p:ph idx="1"/>
          </p:nvPr>
        </p:nvSpPr>
        <p:spPr/>
        <p:txBody>
          <a:bodyPr>
            <a:normAutofit fontScale="92500" lnSpcReduction="20000"/>
          </a:bodyPr>
          <a:lstStyle/>
          <a:p>
            <a:r>
              <a:rPr lang="en-US" sz="3600" dirty="0"/>
              <a:t>All numbers falling between the lower and upper bounds of a confidence interval can be regarded as the most plausible values for the parameter, given the data sampled. Values falling outside the confidence interval are less plausible. </a:t>
            </a:r>
            <a:endParaRPr lang="en-US" sz="3600" dirty="0">
              <a:effectLst/>
            </a:endParaRPr>
          </a:p>
          <a:p>
            <a:r>
              <a:rPr lang="en-US" sz="3600" dirty="0"/>
              <a:t>If the confidence interval is broad, then uncertainty is high and the data are not very informative about the location of the population parameter. If the confidence interval is narrow, on the other hand, then we can be confident that the parameter is close to the estimated value. </a:t>
            </a:r>
            <a:endParaRPr lang="en-US" sz="3600" dirty="0">
              <a:effectLst/>
            </a:endParaRPr>
          </a:p>
          <a:p>
            <a:endParaRPr lang="en-US" dirty="0"/>
          </a:p>
        </p:txBody>
      </p:sp>
    </p:spTree>
    <p:extLst>
      <p:ext uri="{BB962C8B-B14F-4D97-AF65-F5344CB8AC3E}">
        <p14:creationId xmlns:p14="http://schemas.microsoft.com/office/powerpoint/2010/main" val="3445567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DC5BE-22AB-E5A5-D4A2-F14685719D3A}"/>
              </a:ext>
            </a:extLst>
          </p:cNvPr>
          <p:cNvSpPr>
            <a:spLocks noGrp="1"/>
          </p:cNvSpPr>
          <p:nvPr>
            <p:ph type="title"/>
          </p:nvPr>
        </p:nvSpPr>
        <p:spPr/>
        <p:txBody>
          <a:bodyPr>
            <a:normAutofit/>
          </a:bodyPr>
          <a:lstStyle/>
          <a:p>
            <a:r>
              <a:rPr lang="en-US" sz="4800" dirty="0"/>
              <a:t>What is t? </a:t>
            </a:r>
          </a:p>
        </p:txBody>
      </p:sp>
      <p:pic>
        <p:nvPicPr>
          <p:cNvPr id="5" name="Content Placeholder 4">
            <a:extLst>
              <a:ext uri="{FF2B5EF4-FFF2-40B4-BE49-F238E27FC236}">
                <a16:creationId xmlns:a16="http://schemas.microsoft.com/office/drawing/2014/main" id="{95443E50-E4E8-1F72-81FA-3DAC299E8625}"/>
              </a:ext>
            </a:extLst>
          </p:cNvPr>
          <p:cNvPicPr>
            <a:picLocks noGrp="1" noChangeAspect="1"/>
          </p:cNvPicPr>
          <p:nvPr>
            <p:ph idx="1"/>
          </p:nvPr>
        </p:nvPicPr>
        <p:blipFill>
          <a:blip r:embed="rId3"/>
          <a:stretch>
            <a:fillRect/>
          </a:stretch>
        </p:blipFill>
        <p:spPr>
          <a:xfrm>
            <a:off x="4007157" y="666854"/>
            <a:ext cx="7557314" cy="5524291"/>
          </a:xfrm>
          <a:prstGeom prst="rect">
            <a:avLst/>
          </a:prstGeom>
          <a:ln w="28575">
            <a:solidFill>
              <a:schemeClr val="accent6">
                <a:lumMod val="50000"/>
              </a:schemeClr>
            </a:solidFill>
          </a:ln>
        </p:spPr>
      </p:pic>
      <p:pic>
        <p:nvPicPr>
          <p:cNvPr id="7" name="Picture 6">
            <a:extLst>
              <a:ext uri="{FF2B5EF4-FFF2-40B4-BE49-F238E27FC236}">
                <a16:creationId xmlns:a16="http://schemas.microsoft.com/office/drawing/2014/main" id="{4E2285A9-86FB-48FB-7B4F-33CE6697E733}"/>
              </a:ext>
            </a:extLst>
          </p:cNvPr>
          <p:cNvPicPr>
            <a:picLocks noChangeAspect="1"/>
          </p:cNvPicPr>
          <p:nvPr/>
        </p:nvPicPr>
        <p:blipFill>
          <a:blip r:embed="rId4"/>
          <a:stretch>
            <a:fillRect/>
          </a:stretch>
        </p:blipFill>
        <p:spPr>
          <a:xfrm>
            <a:off x="1021977" y="2298225"/>
            <a:ext cx="1990164" cy="2261550"/>
          </a:xfrm>
          <a:prstGeom prst="rect">
            <a:avLst/>
          </a:prstGeom>
        </p:spPr>
      </p:pic>
    </p:spTree>
    <p:extLst>
      <p:ext uri="{BB962C8B-B14F-4D97-AF65-F5344CB8AC3E}">
        <p14:creationId xmlns:p14="http://schemas.microsoft.com/office/powerpoint/2010/main" val="3311636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94A89-6FC5-032D-6465-E6AC8D456688}"/>
              </a:ext>
            </a:extLst>
          </p:cNvPr>
          <p:cNvSpPr>
            <a:spLocks noGrp="1"/>
          </p:cNvSpPr>
          <p:nvPr>
            <p:ph type="title"/>
          </p:nvPr>
        </p:nvSpPr>
        <p:spPr/>
        <p:txBody>
          <a:bodyPr>
            <a:normAutofit/>
          </a:bodyPr>
          <a:lstStyle/>
          <a:p>
            <a:r>
              <a:rPr lang="en-US" sz="5400" dirty="0"/>
              <a:t>Two vs. One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3B421DF-6DAA-8CAD-ECB5-216750A1E9DD}"/>
                  </a:ext>
                </a:extLst>
              </p:cNvPr>
              <p:cNvSpPr>
                <a:spLocks noGrp="1"/>
              </p:cNvSpPr>
              <p:nvPr>
                <p:ph idx="1"/>
              </p:nvPr>
            </p:nvSpPr>
            <p:spPr/>
            <p:txBody>
              <a:bodyPr>
                <a:normAutofit/>
              </a:bodyPr>
              <a:lstStyle/>
              <a:p>
                <a:pPr marL="0" indent="0">
                  <a:buNone/>
                </a:pPr>
                <a:r>
                  <a:rPr lang="en-US" sz="3600" dirty="0"/>
                  <a:t>You may sometimes see </a:t>
                </a:r>
                <a14:m>
                  <m:oMath xmlns:m="http://schemas.openxmlformats.org/officeDocument/2006/math">
                    <m:r>
                      <a:rPr lang="en-US" sz="3600" i="1" smtClean="0">
                        <a:latin typeface="Cambria Math" panose="02040503050406030204" pitchFamily="18" charset="0"/>
                        <a:ea typeface="Cambria Math" panose="02040503050406030204" pitchFamily="18" charset="0"/>
                      </a:rPr>
                      <m:t>𝛼</m:t>
                    </m:r>
                  </m:oMath>
                </a14:m>
                <a:r>
                  <a:rPr lang="en-US" sz="3600" dirty="0"/>
                  <a:t>(2) or </a:t>
                </a:r>
                <a14:m>
                  <m:oMath xmlns:m="http://schemas.openxmlformats.org/officeDocument/2006/math">
                    <m:r>
                      <a:rPr lang="en-US" sz="3600" i="1">
                        <a:latin typeface="Cambria Math" panose="02040503050406030204" pitchFamily="18" charset="0"/>
                        <a:ea typeface="Cambria Math" panose="02040503050406030204" pitchFamily="18" charset="0"/>
                      </a:rPr>
                      <m:t>𝛼</m:t>
                    </m:r>
                  </m:oMath>
                </a14:m>
                <a:r>
                  <a:rPr lang="en-US" sz="3600" dirty="0"/>
                  <a:t>(1), particularly if you pick up a t critical value table</a:t>
                </a:r>
              </a:p>
              <a:p>
                <a:r>
                  <a:rPr lang="en-US" sz="3600" dirty="0"/>
                  <a:t>For confidence intervals, we use the </a:t>
                </a:r>
                <a14:m>
                  <m:oMath xmlns:m="http://schemas.openxmlformats.org/officeDocument/2006/math">
                    <m:r>
                      <a:rPr lang="en-US" sz="3600" i="1">
                        <a:latin typeface="Cambria Math" panose="02040503050406030204" pitchFamily="18" charset="0"/>
                        <a:ea typeface="Cambria Math" panose="02040503050406030204" pitchFamily="18" charset="0"/>
                      </a:rPr>
                      <m:t>𝛼</m:t>
                    </m:r>
                  </m:oMath>
                </a14:m>
                <a:r>
                  <a:rPr lang="en-US" sz="3600" dirty="0"/>
                  <a:t>(2)</a:t>
                </a:r>
              </a:p>
              <a:p>
                <a:r>
                  <a:rPr lang="en-US" sz="3600" dirty="0"/>
                  <a:t>Two sides: + and - !</a:t>
                </a:r>
              </a:p>
            </p:txBody>
          </p:sp>
        </mc:Choice>
        <mc:Fallback>
          <p:sp>
            <p:nvSpPr>
              <p:cNvPr id="3" name="Content Placeholder 2">
                <a:extLst>
                  <a:ext uri="{FF2B5EF4-FFF2-40B4-BE49-F238E27FC236}">
                    <a16:creationId xmlns:a16="http://schemas.microsoft.com/office/drawing/2014/main" id="{F3B421DF-6DAA-8CAD-ECB5-216750A1E9DD}"/>
                  </a:ext>
                </a:extLst>
              </p:cNvPr>
              <p:cNvSpPr>
                <a:spLocks noGrp="1" noRot="1" noChangeAspect="1" noMove="1" noResize="1" noEditPoints="1" noAdjustHandles="1" noChangeArrowheads="1" noChangeShapeType="1" noTextEdit="1"/>
              </p:cNvSpPr>
              <p:nvPr>
                <p:ph idx="1"/>
              </p:nvPr>
            </p:nvSpPr>
            <p:spPr>
              <a:blipFill>
                <a:blip r:embed="rId2"/>
                <a:stretch>
                  <a:fillRect l="-1809" t="-3198"/>
                </a:stretch>
              </a:blipFill>
            </p:spPr>
            <p:txBody>
              <a:bodyPr/>
              <a:lstStyle/>
              <a:p>
                <a:r>
                  <a:rPr lang="en-US">
                    <a:noFill/>
                  </a:rPr>
                  <a:t> </a:t>
                </a:r>
              </a:p>
            </p:txBody>
          </p:sp>
        </mc:Fallback>
      </mc:AlternateContent>
    </p:spTree>
    <p:extLst>
      <p:ext uri="{BB962C8B-B14F-4D97-AF65-F5344CB8AC3E}">
        <p14:creationId xmlns:p14="http://schemas.microsoft.com/office/powerpoint/2010/main" val="10166140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219B4-0342-344A-34FA-5417F954F18F}"/>
              </a:ext>
            </a:extLst>
          </p:cNvPr>
          <p:cNvSpPr>
            <a:spLocks noGrp="1"/>
          </p:cNvSpPr>
          <p:nvPr>
            <p:ph type="title"/>
          </p:nvPr>
        </p:nvSpPr>
        <p:spPr/>
        <p:txBody>
          <a:bodyPr>
            <a:normAutofit/>
          </a:bodyPr>
          <a:lstStyle/>
          <a:p>
            <a:r>
              <a:rPr lang="en-US" sz="5400" dirty="0"/>
              <a:t>Confidence Interval Hint:</a:t>
            </a:r>
          </a:p>
        </p:txBody>
      </p:sp>
      <p:sp>
        <p:nvSpPr>
          <p:cNvPr id="3" name="Content Placeholder 2">
            <a:extLst>
              <a:ext uri="{FF2B5EF4-FFF2-40B4-BE49-F238E27FC236}">
                <a16:creationId xmlns:a16="http://schemas.microsoft.com/office/drawing/2014/main" id="{15041D55-66E1-47D2-751B-E97EBBDFF9F0}"/>
              </a:ext>
            </a:extLst>
          </p:cNvPr>
          <p:cNvSpPr>
            <a:spLocks noGrp="1"/>
          </p:cNvSpPr>
          <p:nvPr>
            <p:ph idx="1"/>
          </p:nvPr>
        </p:nvSpPr>
        <p:spPr/>
        <p:txBody>
          <a:bodyPr/>
          <a:lstStyle/>
          <a:p>
            <a:r>
              <a:rPr lang="en-US" sz="3600" dirty="0"/>
              <a:t>A rough approximation to the 95% confidence interval for a mean can be calculated as the sample mean plus and minus two standard errors. </a:t>
            </a:r>
          </a:p>
          <a:p>
            <a:r>
              <a:rPr lang="en-US" sz="3600" dirty="0">
                <a:effectLst/>
              </a:rPr>
              <a:t>For work you turn in</a:t>
            </a:r>
            <a:r>
              <a:rPr lang="en-US" sz="3600" dirty="0"/>
              <a:t>, use the real formula (or get a computer program to help you)!</a:t>
            </a:r>
            <a:endParaRPr lang="en-US" sz="3600" dirty="0">
              <a:effectLst/>
            </a:endParaRPr>
          </a:p>
          <a:p>
            <a:endParaRPr lang="en-US" dirty="0"/>
          </a:p>
        </p:txBody>
      </p:sp>
    </p:spTree>
    <p:extLst>
      <p:ext uri="{BB962C8B-B14F-4D97-AF65-F5344CB8AC3E}">
        <p14:creationId xmlns:p14="http://schemas.microsoft.com/office/powerpoint/2010/main" val="484093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2C724-4E87-E72A-5145-FD46D3C6E9C3}"/>
              </a:ext>
            </a:extLst>
          </p:cNvPr>
          <p:cNvSpPr>
            <a:spLocks noGrp="1"/>
          </p:cNvSpPr>
          <p:nvPr>
            <p:ph type="title"/>
          </p:nvPr>
        </p:nvSpPr>
        <p:spPr/>
        <p:txBody>
          <a:bodyPr>
            <a:noAutofit/>
          </a:bodyPr>
          <a:lstStyle/>
          <a:p>
            <a:r>
              <a:rPr lang="en-US" sz="4800" dirty="0"/>
              <a:t>Lecture Activity: Grasshopper Lengths</a:t>
            </a:r>
          </a:p>
        </p:txBody>
      </p:sp>
      <p:sp>
        <p:nvSpPr>
          <p:cNvPr id="3" name="Content Placeholder 2">
            <a:extLst>
              <a:ext uri="{FF2B5EF4-FFF2-40B4-BE49-F238E27FC236}">
                <a16:creationId xmlns:a16="http://schemas.microsoft.com/office/drawing/2014/main" id="{145D262A-CC2B-392C-7107-522D21C4F03F}"/>
              </a:ext>
            </a:extLst>
          </p:cNvPr>
          <p:cNvSpPr>
            <a:spLocks noGrp="1"/>
          </p:cNvSpPr>
          <p:nvPr>
            <p:ph idx="1"/>
          </p:nvPr>
        </p:nvSpPr>
        <p:spPr>
          <a:xfrm>
            <a:off x="838200" y="1825625"/>
            <a:ext cx="7700682" cy="4351338"/>
          </a:xfrm>
        </p:spPr>
        <p:txBody>
          <a:bodyPr>
            <a:noAutofit/>
          </a:bodyPr>
          <a:lstStyle/>
          <a:p>
            <a:r>
              <a:rPr lang="en-US" sz="3600" dirty="0"/>
              <a:t>Try it yourself! </a:t>
            </a:r>
          </a:p>
          <a:p>
            <a:r>
              <a:rPr lang="en-US" sz="3600" dirty="0"/>
              <a:t>Open the lecture activity document in Blackboard and get started!</a:t>
            </a:r>
          </a:p>
          <a:p>
            <a:r>
              <a:rPr lang="en-US" sz="3600" dirty="0"/>
              <a:t>It’s fairly short, but you will have class time on Thursday to work on this if you need to as well! </a:t>
            </a:r>
          </a:p>
          <a:p>
            <a:r>
              <a:rPr lang="en-US" sz="3600" dirty="0"/>
              <a:t>Due on Sunday Sept. 6 at 11:59 PM</a:t>
            </a:r>
          </a:p>
        </p:txBody>
      </p:sp>
      <p:pic>
        <p:nvPicPr>
          <p:cNvPr id="5" name="Picture 4">
            <a:extLst>
              <a:ext uri="{FF2B5EF4-FFF2-40B4-BE49-F238E27FC236}">
                <a16:creationId xmlns:a16="http://schemas.microsoft.com/office/drawing/2014/main" id="{A26EB0ED-3CD3-71B3-4071-A4F85DE27269}"/>
              </a:ext>
            </a:extLst>
          </p:cNvPr>
          <p:cNvPicPr>
            <a:picLocks noChangeAspect="1"/>
          </p:cNvPicPr>
          <p:nvPr/>
        </p:nvPicPr>
        <p:blipFill>
          <a:blip r:embed="rId2"/>
          <a:stretch>
            <a:fillRect/>
          </a:stretch>
        </p:blipFill>
        <p:spPr>
          <a:xfrm>
            <a:off x="8538882" y="2381694"/>
            <a:ext cx="3239200" cy="3239200"/>
          </a:xfrm>
          <a:prstGeom prst="rect">
            <a:avLst/>
          </a:prstGeom>
        </p:spPr>
      </p:pic>
    </p:spTree>
    <p:extLst>
      <p:ext uri="{BB962C8B-B14F-4D97-AF65-F5344CB8AC3E}">
        <p14:creationId xmlns:p14="http://schemas.microsoft.com/office/powerpoint/2010/main" val="686677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1430</TotalTime>
  <Words>2003</Words>
  <Application>Microsoft Macintosh PowerPoint</Application>
  <PresentationFormat>Widescreen</PresentationFormat>
  <Paragraphs>160</Paragraphs>
  <Slides>26</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Cambria Math</vt:lpstr>
      <vt:lpstr>Office Theme</vt:lpstr>
      <vt:lpstr>Quantitative Field Ecology Week 2</vt:lpstr>
      <vt:lpstr>We have a set of data (i.e., lengths of grasshoppers from a field). How do we get to know it?</vt:lpstr>
      <vt:lpstr>A caveat before we begin:</vt:lpstr>
      <vt:lpstr>Parameters and Statistics</vt:lpstr>
      <vt:lpstr>These have different symbols! </vt:lpstr>
      <vt:lpstr>We will do our summary statistics based on our sample, looking at location and spread:</vt:lpstr>
      <vt:lpstr>Location: Arithmetic Mean</vt:lpstr>
      <vt:lpstr>Example:</vt:lpstr>
      <vt:lpstr>Location: Median</vt:lpstr>
      <vt:lpstr>Location: Mode</vt:lpstr>
      <vt:lpstr>Spread: IQR</vt:lpstr>
      <vt:lpstr>Example:</vt:lpstr>
      <vt:lpstr>Spread: Variance and Standard Deviation</vt:lpstr>
      <vt:lpstr>PowerPoint Presentation</vt:lpstr>
      <vt:lpstr>PowerPoint Presentation</vt:lpstr>
      <vt:lpstr>Sum of Squares, Degrees of Freedom</vt:lpstr>
      <vt:lpstr>Spread: Standard Error</vt:lpstr>
      <vt:lpstr>Spread: Standard Error of the Mean</vt:lpstr>
      <vt:lpstr>Spread: Coefficient of Variation</vt:lpstr>
      <vt:lpstr>Confidence Interval</vt:lpstr>
      <vt:lpstr>Confidence Intervals Explained</vt:lpstr>
      <vt:lpstr>Confidence Intervals Explained</vt:lpstr>
      <vt:lpstr>What is t? </vt:lpstr>
      <vt:lpstr>Two vs. One</vt:lpstr>
      <vt:lpstr>Confidence Interval Hint:</vt:lpstr>
      <vt:lpstr>Lecture Activity: Grasshopper Lengths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Mothersole</dc:creator>
  <cp:lastModifiedBy>Anna Mothersole</cp:lastModifiedBy>
  <cp:revision>9</cp:revision>
  <dcterms:created xsi:type="dcterms:W3CDTF">2026-08-24T16:20:53Z</dcterms:created>
  <dcterms:modified xsi:type="dcterms:W3CDTF">2026-08-28T19:21:32Z</dcterms:modified>
</cp:coreProperties>
</file>