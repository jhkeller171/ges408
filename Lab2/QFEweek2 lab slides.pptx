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85" r:id="rId3"/>
    <p:sldId id="257" r:id="rId4"/>
    <p:sldId id="278" r:id="rId5"/>
    <p:sldId id="258" r:id="rId6"/>
    <p:sldId id="259" r:id="rId7"/>
    <p:sldId id="260" r:id="rId8"/>
    <p:sldId id="261" r:id="rId9"/>
    <p:sldId id="280" r:id="rId10"/>
    <p:sldId id="286" r:id="rId11"/>
    <p:sldId id="265" r:id="rId12"/>
    <p:sldId id="282" r:id="rId13"/>
    <p:sldId id="266" r:id="rId14"/>
    <p:sldId id="267" r:id="rId15"/>
    <p:sldId id="268" r:id="rId16"/>
    <p:sldId id="269" r:id="rId17"/>
    <p:sldId id="270" r:id="rId18"/>
    <p:sldId id="283" r:id="rId19"/>
    <p:sldId id="271" r:id="rId20"/>
    <p:sldId id="272" r:id="rId21"/>
    <p:sldId id="273" r:id="rId22"/>
    <p:sldId id="279" r:id="rId23"/>
    <p:sldId id="275" r:id="rId24"/>
    <p:sldId id="277" r:id="rId25"/>
    <p:sldId id="28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3"/>
    <p:restoredTop sz="84792"/>
  </p:normalViewPr>
  <p:slideViewPr>
    <p:cSldViewPr snapToGrid="0">
      <p:cViewPr varScale="1">
        <p:scale>
          <a:sx n="102" d="100"/>
          <a:sy n="102" d="100"/>
        </p:scale>
        <p:origin x="114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F938B2-CC4D-B64D-81AE-7797DA8A4D12}" type="datetimeFigureOut">
              <a:rPr lang="en-US" smtClean="0"/>
              <a:t>8/25/26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8B61B8-93EB-F740-BE98-F8E566B8B7AF}" type="slidenum">
              <a:rPr lang="en-US" smtClean="0"/>
              <a:t>‹#›</a:t>
            </a:fld>
            <a:endParaRPr lang="en-US"/>
          </a:p>
        </p:txBody>
      </p:sp>
    </p:spTree>
    <p:extLst>
      <p:ext uri="{BB962C8B-B14F-4D97-AF65-F5344CB8AC3E}">
        <p14:creationId xmlns:p14="http://schemas.microsoft.com/office/powerpoint/2010/main" val="2004822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mean is based on summing observations, so outlier (extreme) values will matter</a:t>
            </a:r>
          </a:p>
          <a:p>
            <a:r>
              <a:rPr lang="en-US" sz="1200" kern="1200" dirty="0">
                <a:solidFill>
                  <a:schemeClr val="tx1"/>
                </a:solidFill>
                <a:effectLst/>
                <a:latin typeface="+mn-lt"/>
                <a:ea typeface="+mn-ea"/>
                <a:cs typeface="+mn-cs"/>
              </a:rPr>
              <a:t>The median is based on a ranked list, so what is going on at the edges does not matter</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Draw the graph from 187 slides on the board</a:t>
            </a:r>
          </a:p>
          <a:p>
            <a:endParaRPr lang="en-US" dirty="0"/>
          </a:p>
        </p:txBody>
      </p:sp>
      <p:sp>
        <p:nvSpPr>
          <p:cNvPr id="4" name="Slide Number Placeholder 3"/>
          <p:cNvSpPr>
            <a:spLocks noGrp="1"/>
          </p:cNvSpPr>
          <p:nvPr>
            <p:ph type="sldNum" sz="quarter" idx="5"/>
          </p:nvPr>
        </p:nvSpPr>
        <p:spPr/>
        <p:txBody>
          <a:bodyPr/>
          <a:lstStyle/>
          <a:p>
            <a:fld id="{118B61B8-93EB-F740-BE98-F8E566B8B7AF}" type="slidenum">
              <a:rPr lang="en-US" smtClean="0"/>
              <a:t>1</a:t>
            </a:fld>
            <a:endParaRPr lang="en-US"/>
          </a:p>
        </p:txBody>
      </p:sp>
    </p:spTree>
    <p:extLst>
      <p:ext uri="{BB962C8B-B14F-4D97-AF65-F5344CB8AC3E}">
        <p14:creationId xmlns:p14="http://schemas.microsoft.com/office/powerpoint/2010/main" val="1368797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 a die – we have 6 possible outcomes</a:t>
            </a:r>
          </a:p>
          <a:p>
            <a:r>
              <a:rPr lang="en-US" dirty="0"/>
              <a:t>Event could be “get an even number” ”get a number greater than 3”, or “get a 4” (event can be an outcome)</a:t>
            </a:r>
          </a:p>
          <a:p>
            <a:endParaRPr lang="en-US" dirty="0"/>
          </a:p>
          <a:p>
            <a:r>
              <a:rPr lang="en-US" dirty="0"/>
              <a:t>We are unsure of what results we will get for the event. </a:t>
            </a:r>
          </a:p>
          <a:p>
            <a:r>
              <a:rPr lang="en-US" dirty="0"/>
              <a:t>ASK: If the event is getting a 4 when I roll this die, are we sure of what will happen?</a:t>
            </a:r>
          </a:p>
          <a:p>
            <a:r>
              <a:rPr lang="en-US" dirty="0"/>
              <a:t>In nature we’re also unsure of things. </a:t>
            </a:r>
          </a:p>
          <a:p>
            <a:endParaRPr lang="en-US" dirty="0"/>
          </a:p>
        </p:txBody>
      </p:sp>
      <p:sp>
        <p:nvSpPr>
          <p:cNvPr id="4" name="Slide Number Placeholder 3"/>
          <p:cNvSpPr>
            <a:spLocks noGrp="1"/>
          </p:cNvSpPr>
          <p:nvPr>
            <p:ph type="sldNum" sz="quarter" idx="5"/>
          </p:nvPr>
        </p:nvSpPr>
        <p:spPr/>
        <p:txBody>
          <a:bodyPr/>
          <a:lstStyle/>
          <a:p>
            <a:fld id="{118B61B8-93EB-F740-BE98-F8E566B8B7AF}" type="slidenum">
              <a:rPr lang="en-US" smtClean="0"/>
              <a:t>3</a:t>
            </a:fld>
            <a:endParaRPr lang="en-US"/>
          </a:p>
        </p:txBody>
      </p:sp>
    </p:spTree>
    <p:extLst>
      <p:ext uri="{BB962C8B-B14F-4D97-AF65-F5344CB8AC3E}">
        <p14:creationId xmlns:p14="http://schemas.microsoft.com/office/powerpoint/2010/main" val="2782787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being all of my snake eggs hatch with one head, we would be unsure of the results! Don’t know until we see all the snakes, lots of variation in nature.</a:t>
            </a:r>
          </a:p>
        </p:txBody>
      </p:sp>
      <p:sp>
        <p:nvSpPr>
          <p:cNvPr id="4" name="Slide Number Placeholder 3"/>
          <p:cNvSpPr>
            <a:spLocks noGrp="1"/>
          </p:cNvSpPr>
          <p:nvPr>
            <p:ph type="sldNum" sz="quarter" idx="5"/>
          </p:nvPr>
        </p:nvSpPr>
        <p:spPr/>
        <p:txBody>
          <a:bodyPr/>
          <a:lstStyle/>
          <a:p>
            <a:fld id="{118B61B8-93EB-F740-BE98-F8E566B8B7AF}" type="slidenum">
              <a:rPr lang="en-US" smtClean="0"/>
              <a:t>4</a:t>
            </a:fld>
            <a:endParaRPr lang="en-US"/>
          </a:p>
        </p:txBody>
      </p:sp>
    </p:spTree>
    <p:extLst>
      <p:ext uri="{BB962C8B-B14F-4D97-AF65-F5344CB8AC3E}">
        <p14:creationId xmlns:p14="http://schemas.microsoft.com/office/powerpoint/2010/main" val="2415975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gone to a wetland and see these lovely pitcher plants, and we want to know more about the way they get their nutrients and feed on insects. </a:t>
            </a:r>
          </a:p>
          <a:p>
            <a:r>
              <a:rPr lang="en-US" dirty="0"/>
              <a:t>We have that inquiry that we talked about last week, observing and asking questions: What are the chances that a bug falls into the pitcher plant?</a:t>
            </a:r>
          </a:p>
          <a:p>
            <a:endParaRPr lang="en-US" dirty="0"/>
          </a:p>
          <a:p>
            <a:r>
              <a:rPr lang="en-US" dirty="0"/>
              <a:t>ASK: What is each insect visit? Trial!</a:t>
            </a:r>
          </a:p>
        </p:txBody>
      </p:sp>
      <p:sp>
        <p:nvSpPr>
          <p:cNvPr id="4" name="Slide Number Placeholder 3"/>
          <p:cNvSpPr>
            <a:spLocks noGrp="1"/>
          </p:cNvSpPr>
          <p:nvPr>
            <p:ph type="sldNum" sz="quarter" idx="5"/>
          </p:nvPr>
        </p:nvSpPr>
        <p:spPr/>
        <p:txBody>
          <a:bodyPr/>
          <a:lstStyle/>
          <a:p>
            <a:fld id="{118B61B8-93EB-F740-BE98-F8E566B8B7AF}" type="slidenum">
              <a:rPr lang="en-US" smtClean="0"/>
              <a:t>5</a:t>
            </a:fld>
            <a:endParaRPr lang="en-US"/>
          </a:p>
        </p:txBody>
      </p:sp>
    </p:spTree>
    <p:extLst>
      <p:ext uri="{BB962C8B-B14F-4D97-AF65-F5344CB8AC3E}">
        <p14:creationId xmlns:p14="http://schemas.microsoft.com/office/powerpoint/2010/main" val="17700057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Space = event</a:t>
            </a:r>
          </a:p>
          <a:p>
            <a:endParaRPr lang="en-US" dirty="0"/>
          </a:p>
          <a:p>
            <a:r>
              <a:rPr lang="en-US" dirty="0"/>
              <a:t>Probability is always between 0 and 1, 0 if it never happens, 1 if it always happens. </a:t>
            </a:r>
          </a:p>
          <a:p>
            <a:r>
              <a:rPr lang="en-US" dirty="0"/>
              <a:t>Probability of the outcome of me getting ice cream, trial is me walking into an ice cream store. It will be 1. I will always get ice cream. Not many things in nature you can say that about though</a:t>
            </a:r>
          </a:p>
        </p:txBody>
      </p:sp>
      <p:sp>
        <p:nvSpPr>
          <p:cNvPr id="4" name="Slide Number Placeholder 3"/>
          <p:cNvSpPr>
            <a:spLocks noGrp="1"/>
          </p:cNvSpPr>
          <p:nvPr>
            <p:ph type="sldNum" sz="quarter" idx="5"/>
          </p:nvPr>
        </p:nvSpPr>
        <p:spPr/>
        <p:txBody>
          <a:bodyPr/>
          <a:lstStyle/>
          <a:p>
            <a:fld id="{118B61B8-93EB-F740-BE98-F8E566B8B7AF}" type="slidenum">
              <a:rPr lang="en-US" smtClean="0"/>
              <a:t>6</a:t>
            </a:fld>
            <a:endParaRPr lang="en-US"/>
          </a:p>
        </p:txBody>
      </p:sp>
    </p:spTree>
    <p:extLst>
      <p:ext uri="{BB962C8B-B14F-4D97-AF65-F5344CB8AC3E}">
        <p14:creationId xmlns:p14="http://schemas.microsoft.com/office/powerpoint/2010/main" val="1574245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the experiment 47 times (1000 trials/replicates of bug landing on plant)</a:t>
            </a:r>
          </a:p>
          <a:p>
            <a:r>
              <a:rPr lang="en-US" dirty="0"/>
              <a:t>Each time recorded the number of bugs that went in to the plant. </a:t>
            </a:r>
          </a:p>
          <a:p>
            <a:r>
              <a:rPr lang="en-US" dirty="0"/>
              <a:t>on average, It was 10.3 times</a:t>
            </a:r>
          </a:p>
        </p:txBody>
      </p:sp>
      <p:sp>
        <p:nvSpPr>
          <p:cNvPr id="4" name="Slide Number Placeholder 3"/>
          <p:cNvSpPr>
            <a:spLocks noGrp="1"/>
          </p:cNvSpPr>
          <p:nvPr>
            <p:ph type="sldNum" sz="quarter" idx="5"/>
          </p:nvPr>
        </p:nvSpPr>
        <p:spPr/>
        <p:txBody>
          <a:bodyPr/>
          <a:lstStyle/>
          <a:p>
            <a:fld id="{118B61B8-93EB-F740-BE98-F8E566B8B7AF}" type="slidenum">
              <a:rPr lang="en-US" smtClean="0"/>
              <a:t>8</a:t>
            </a:fld>
            <a:endParaRPr lang="en-US"/>
          </a:p>
        </p:txBody>
      </p:sp>
    </p:spTree>
    <p:extLst>
      <p:ext uri="{BB962C8B-B14F-4D97-AF65-F5344CB8AC3E}">
        <p14:creationId xmlns:p14="http://schemas.microsoft.com/office/powerpoint/2010/main" val="3876507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trials, get the probability of things, and then we can describe it with these</a:t>
            </a:r>
          </a:p>
          <a:p>
            <a:endParaRPr lang="en-US" dirty="0"/>
          </a:p>
        </p:txBody>
      </p:sp>
      <p:sp>
        <p:nvSpPr>
          <p:cNvPr id="4" name="Slide Number Placeholder 3"/>
          <p:cNvSpPr>
            <a:spLocks noGrp="1"/>
          </p:cNvSpPr>
          <p:nvPr>
            <p:ph type="sldNum" sz="quarter" idx="5"/>
          </p:nvPr>
        </p:nvSpPr>
        <p:spPr/>
        <p:txBody>
          <a:bodyPr/>
          <a:lstStyle/>
          <a:p>
            <a:fld id="{118B61B8-93EB-F740-BE98-F8E566B8B7AF}" type="slidenum">
              <a:rPr lang="en-US" smtClean="0"/>
              <a:t>9</a:t>
            </a:fld>
            <a:endParaRPr lang="en-US"/>
          </a:p>
        </p:txBody>
      </p:sp>
    </p:spTree>
    <p:extLst>
      <p:ext uri="{BB962C8B-B14F-4D97-AF65-F5344CB8AC3E}">
        <p14:creationId xmlns:p14="http://schemas.microsoft.com/office/powerpoint/2010/main" val="1856977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one student what they ate for breakfast and another student also what they ate for breakfast. The probability of student A eating X for breakfast impact the probability of student B eating Y for breakfast? No</a:t>
            </a:r>
          </a:p>
          <a:p>
            <a:r>
              <a:rPr lang="en-US" dirty="0"/>
              <a:t>Just like how seeing 5 sea urchins on one transect it won’t impact the amount of sea urchins I see on another. </a:t>
            </a:r>
          </a:p>
          <a:p>
            <a:r>
              <a:rPr lang="en-US" dirty="0"/>
              <a:t>However, the probability of me eating hot dogs at a bonfire does impact the probability of me having a stomachache after the bonfire. </a:t>
            </a:r>
          </a:p>
        </p:txBody>
      </p:sp>
      <p:sp>
        <p:nvSpPr>
          <p:cNvPr id="4" name="Slide Number Placeholder 3"/>
          <p:cNvSpPr>
            <a:spLocks noGrp="1"/>
          </p:cNvSpPr>
          <p:nvPr>
            <p:ph type="sldNum" sz="quarter" idx="5"/>
          </p:nvPr>
        </p:nvSpPr>
        <p:spPr/>
        <p:txBody>
          <a:bodyPr/>
          <a:lstStyle/>
          <a:p>
            <a:fld id="{118B61B8-93EB-F740-BE98-F8E566B8B7AF}" type="slidenum">
              <a:rPr lang="en-US" smtClean="0"/>
              <a:t>11</a:t>
            </a:fld>
            <a:endParaRPr lang="en-US"/>
          </a:p>
        </p:txBody>
      </p:sp>
    </p:spTree>
    <p:extLst>
      <p:ext uri="{BB962C8B-B14F-4D97-AF65-F5344CB8AC3E}">
        <p14:creationId xmlns:p14="http://schemas.microsoft.com/office/powerpoint/2010/main" val="38010729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many outcomes to the plants in the meadow, but we can collapse it into a Bernoulli trial – are the flowers there Y/N</a:t>
            </a:r>
          </a:p>
          <a:p>
            <a:endParaRPr lang="en-US" dirty="0"/>
          </a:p>
          <a:p>
            <a:r>
              <a:rPr lang="en-US" dirty="0"/>
              <a:t>Assume that the flower being in one town doesn’t affect the flower being in another.</a:t>
            </a:r>
          </a:p>
        </p:txBody>
      </p:sp>
      <p:sp>
        <p:nvSpPr>
          <p:cNvPr id="4" name="Slide Number Placeholder 3"/>
          <p:cNvSpPr>
            <a:spLocks noGrp="1"/>
          </p:cNvSpPr>
          <p:nvPr>
            <p:ph type="sldNum" sz="quarter" idx="5"/>
          </p:nvPr>
        </p:nvSpPr>
        <p:spPr/>
        <p:txBody>
          <a:bodyPr/>
          <a:lstStyle/>
          <a:p>
            <a:fld id="{118B61B8-93EB-F740-BE98-F8E566B8B7AF}" type="slidenum">
              <a:rPr lang="en-US" smtClean="0"/>
              <a:t>12</a:t>
            </a:fld>
            <a:endParaRPr lang="en-US"/>
          </a:p>
        </p:txBody>
      </p:sp>
    </p:spTree>
    <p:extLst>
      <p:ext uri="{BB962C8B-B14F-4D97-AF65-F5344CB8AC3E}">
        <p14:creationId xmlns:p14="http://schemas.microsoft.com/office/powerpoint/2010/main" val="2343993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have time we can actually test this lol</a:t>
            </a:r>
          </a:p>
        </p:txBody>
      </p:sp>
      <p:sp>
        <p:nvSpPr>
          <p:cNvPr id="4" name="Slide Number Placeholder 3"/>
          <p:cNvSpPr>
            <a:spLocks noGrp="1"/>
          </p:cNvSpPr>
          <p:nvPr>
            <p:ph type="sldNum" sz="quarter" idx="5"/>
          </p:nvPr>
        </p:nvSpPr>
        <p:spPr/>
        <p:txBody>
          <a:bodyPr/>
          <a:lstStyle/>
          <a:p>
            <a:fld id="{118B61B8-93EB-F740-BE98-F8E566B8B7AF}" type="slidenum">
              <a:rPr lang="en-US" smtClean="0"/>
              <a:t>15</a:t>
            </a:fld>
            <a:endParaRPr lang="en-US"/>
          </a:p>
        </p:txBody>
      </p:sp>
    </p:spTree>
    <p:extLst>
      <p:ext uri="{BB962C8B-B14F-4D97-AF65-F5344CB8AC3E}">
        <p14:creationId xmlns:p14="http://schemas.microsoft.com/office/powerpoint/2010/main" val="1798270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see the distribution function changing as the probability of success becomes lower!</a:t>
            </a:r>
          </a:p>
        </p:txBody>
      </p:sp>
      <p:sp>
        <p:nvSpPr>
          <p:cNvPr id="4" name="Slide Number Placeholder 3"/>
          <p:cNvSpPr>
            <a:spLocks noGrp="1"/>
          </p:cNvSpPr>
          <p:nvPr>
            <p:ph type="sldNum" sz="quarter" idx="5"/>
          </p:nvPr>
        </p:nvSpPr>
        <p:spPr/>
        <p:txBody>
          <a:bodyPr/>
          <a:lstStyle/>
          <a:p>
            <a:fld id="{118B61B8-93EB-F740-BE98-F8E566B8B7AF}" type="slidenum">
              <a:rPr lang="en-US" smtClean="0"/>
              <a:t>17</a:t>
            </a:fld>
            <a:endParaRPr lang="en-US"/>
          </a:p>
        </p:txBody>
      </p:sp>
    </p:spTree>
    <p:extLst>
      <p:ext uri="{BB962C8B-B14F-4D97-AF65-F5344CB8AC3E}">
        <p14:creationId xmlns:p14="http://schemas.microsoft.com/office/powerpoint/2010/main" val="25467406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 a bunch of 1 m2 quadrats, average number per quadrat is 0.75 </a:t>
            </a:r>
          </a:p>
          <a:p>
            <a:endParaRPr lang="en-US" dirty="0"/>
          </a:p>
          <a:p>
            <a:r>
              <a:rPr lang="en-US" dirty="0"/>
              <a:t>ASK: Let’s say we surveyed 100 plots, then we would expect the number of plots that had no seedlings in them to be what?</a:t>
            </a:r>
          </a:p>
          <a:p>
            <a:br>
              <a:rPr lang="en-US" dirty="0"/>
            </a:br>
            <a:endParaRPr lang="en-US" dirty="0"/>
          </a:p>
        </p:txBody>
      </p:sp>
      <p:sp>
        <p:nvSpPr>
          <p:cNvPr id="4" name="Slide Number Placeholder 3"/>
          <p:cNvSpPr>
            <a:spLocks noGrp="1"/>
          </p:cNvSpPr>
          <p:nvPr>
            <p:ph type="sldNum" sz="quarter" idx="5"/>
          </p:nvPr>
        </p:nvSpPr>
        <p:spPr/>
        <p:txBody>
          <a:bodyPr/>
          <a:lstStyle/>
          <a:p>
            <a:fld id="{118B61B8-93EB-F740-BE98-F8E566B8B7AF}" type="slidenum">
              <a:rPr lang="en-US" smtClean="0"/>
              <a:t>20</a:t>
            </a:fld>
            <a:endParaRPr lang="en-US"/>
          </a:p>
        </p:txBody>
      </p:sp>
    </p:spTree>
    <p:extLst>
      <p:ext uri="{BB962C8B-B14F-4D97-AF65-F5344CB8AC3E}">
        <p14:creationId xmlns:p14="http://schemas.microsoft.com/office/powerpoint/2010/main" val="3010239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the frequency/mean number gets larger, the distribution changes</a:t>
            </a:r>
          </a:p>
        </p:txBody>
      </p:sp>
      <p:sp>
        <p:nvSpPr>
          <p:cNvPr id="4" name="Slide Number Placeholder 3"/>
          <p:cNvSpPr>
            <a:spLocks noGrp="1"/>
          </p:cNvSpPr>
          <p:nvPr>
            <p:ph type="sldNum" sz="quarter" idx="5"/>
          </p:nvPr>
        </p:nvSpPr>
        <p:spPr/>
        <p:txBody>
          <a:bodyPr/>
          <a:lstStyle/>
          <a:p>
            <a:fld id="{118B61B8-93EB-F740-BE98-F8E566B8B7AF}" type="slidenum">
              <a:rPr lang="en-US" smtClean="0"/>
              <a:t>21</a:t>
            </a:fld>
            <a:endParaRPr lang="en-US"/>
          </a:p>
        </p:txBody>
      </p:sp>
    </p:spTree>
    <p:extLst>
      <p:ext uri="{BB962C8B-B14F-4D97-AF65-F5344CB8AC3E}">
        <p14:creationId xmlns:p14="http://schemas.microsoft.com/office/powerpoint/2010/main" val="33885093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8B61B8-93EB-F740-BE98-F8E566B8B7AF}" type="slidenum">
              <a:rPr lang="en-US" smtClean="0"/>
              <a:t>23</a:t>
            </a:fld>
            <a:endParaRPr lang="en-US"/>
          </a:p>
        </p:txBody>
      </p:sp>
    </p:spTree>
    <p:extLst>
      <p:ext uri="{BB962C8B-B14F-4D97-AF65-F5344CB8AC3E}">
        <p14:creationId xmlns:p14="http://schemas.microsoft.com/office/powerpoint/2010/main" val="3183324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Analytically, this is easy to work with. Hence why so many statistical tests and formulas use it! </a:t>
            </a:r>
          </a:p>
          <a:p>
            <a:endParaRPr lang="en-US" dirty="0"/>
          </a:p>
          <a:p>
            <a:r>
              <a:rPr lang="en-US" dirty="0"/>
              <a:t>A lot of the stats tests we do rely on this normal distribution – there are some that don’t though! </a:t>
            </a:r>
          </a:p>
        </p:txBody>
      </p:sp>
      <p:sp>
        <p:nvSpPr>
          <p:cNvPr id="4" name="Slide Number Placeholder 3"/>
          <p:cNvSpPr>
            <a:spLocks noGrp="1"/>
          </p:cNvSpPr>
          <p:nvPr>
            <p:ph type="sldNum" sz="quarter" idx="5"/>
          </p:nvPr>
        </p:nvSpPr>
        <p:spPr/>
        <p:txBody>
          <a:bodyPr/>
          <a:lstStyle/>
          <a:p>
            <a:fld id="{118B61B8-93EB-F740-BE98-F8E566B8B7AF}" type="slidenum">
              <a:rPr lang="en-US" smtClean="0"/>
              <a:t>24</a:t>
            </a:fld>
            <a:endParaRPr lang="en-US"/>
          </a:p>
        </p:txBody>
      </p:sp>
    </p:spTree>
    <p:extLst>
      <p:ext uri="{BB962C8B-B14F-4D97-AF65-F5344CB8AC3E}">
        <p14:creationId xmlns:p14="http://schemas.microsoft.com/office/powerpoint/2010/main" val="2087659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D3B16-EF99-5465-12A0-0A51E21291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B8B424-CE3C-0988-4276-B383A18053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1F4D57B-EF4F-AB20-D180-C5A44D12E04D}"/>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5" name="Footer Placeholder 4">
            <a:extLst>
              <a:ext uri="{FF2B5EF4-FFF2-40B4-BE49-F238E27FC236}">
                <a16:creationId xmlns:a16="http://schemas.microsoft.com/office/drawing/2014/main" id="{48A8C86C-8574-05CF-A9A5-2F5D0B505F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4F3A00-BC93-B944-B6E7-71FA4C1A5CB4}"/>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22722920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99DF-5897-4D9B-400E-48AB21F833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036CDC-EC3E-CCDE-B1A0-97245F89C7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6FC2EA-15FA-B833-446D-8D2619CC7B6E}"/>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5" name="Footer Placeholder 4">
            <a:extLst>
              <a:ext uri="{FF2B5EF4-FFF2-40B4-BE49-F238E27FC236}">
                <a16:creationId xmlns:a16="http://schemas.microsoft.com/office/drawing/2014/main" id="{6E7F9CAD-3E33-14A7-A95D-AF6BF8C22B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0685CA-1C3D-FB51-13A7-1BF8B7E9E4E1}"/>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2029690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0AE35-F100-1941-B0B7-3266F48D55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29C9EF-83B1-34C2-FEE8-652F0C16160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DB2817-1E22-0A59-2C27-5DB06BBC1DAD}"/>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5" name="Footer Placeholder 4">
            <a:extLst>
              <a:ext uri="{FF2B5EF4-FFF2-40B4-BE49-F238E27FC236}">
                <a16:creationId xmlns:a16="http://schemas.microsoft.com/office/drawing/2014/main" id="{A56DE038-35D5-3FC0-AC96-F20AEB768E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1C5ACF-6916-50D9-7B46-78CE8357699E}"/>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2928574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454D2-7DBC-783C-F220-40CF4D4BD1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8FBF87-20F9-454D-5A5C-8E06F6DD9D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C55C0-BC40-A202-0B5F-EE6BEEDF98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C79038-E499-9809-3703-A8C2C8126BC6}"/>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6" name="Footer Placeholder 5">
            <a:extLst>
              <a:ext uri="{FF2B5EF4-FFF2-40B4-BE49-F238E27FC236}">
                <a16:creationId xmlns:a16="http://schemas.microsoft.com/office/drawing/2014/main" id="{8CC514C4-5E00-186A-B777-1238AB7A97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13ADB1D-337F-6FB3-BF79-FBA0A5AD1182}"/>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208890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9C433-CBC4-A09C-DE17-CD1CE38F7B6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5C19C4A-3C5B-E07E-21DA-CE237081DE4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9FA2316-29A5-BF77-04B1-6F7E44801E8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F697AF1-FC63-6E33-886D-48B3A520E0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3C8C17-F385-E17D-2FA5-D85A4CB5DE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299A9CC-9402-2770-E3F1-9E235B0762A8}"/>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8" name="Footer Placeholder 7">
            <a:extLst>
              <a:ext uri="{FF2B5EF4-FFF2-40B4-BE49-F238E27FC236}">
                <a16:creationId xmlns:a16="http://schemas.microsoft.com/office/drawing/2014/main" id="{8F22554F-93D0-BDA2-6138-1E647698FF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AEDCE57-2F3A-B03C-39F8-284202DED121}"/>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2689290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558C4-9CA7-52A0-902E-B2392B153D4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0E86194-1DB0-9587-A020-3586FE600EDC}"/>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4" name="Footer Placeholder 3">
            <a:extLst>
              <a:ext uri="{FF2B5EF4-FFF2-40B4-BE49-F238E27FC236}">
                <a16:creationId xmlns:a16="http://schemas.microsoft.com/office/drawing/2014/main" id="{E05A005B-D9F5-EB8B-197D-6BC6F918E3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F5D36B-9470-C246-4565-A9F421667F70}"/>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1299109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70FAB9-CF2E-D130-454A-073C4F61471A}"/>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3" name="Footer Placeholder 2">
            <a:extLst>
              <a:ext uri="{FF2B5EF4-FFF2-40B4-BE49-F238E27FC236}">
                <a16:creationId xmlns:a16="http://schemas.microsoft.com/office/drawing/2014/main" id="{5CD80D6B-CFFD-4224-2950-2B2B67F451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FD5D29-1FBD-94CA-216B-962EF0F6321C}"/>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387961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443EF-3B73-9908-88FA-59BBC7A15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E15C1FA-F901-8F87-37A6-A1A22512BE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3489E4-E601-7380-0A88-4714710764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732C9A-59B9-4A3B-3F87-4511294E1F58}"/>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6" name="Footer Placeholder 5">
            <a:extLst>
              <a:ext uri="{FF2B5EF4-FFF2-40B4-BE49-F238E27FC236}">
                <a16:creationId xmlns:a16="http://schemas.microsoft.com/office/drawing/2014/main" id="{8CAA90EF-EB36-C376-DFE0-D075D369FF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0CB3B7-B91D-DDB9-7EEE-E33D9C08FB83}"/>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1884536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6A7BD-6591-690B-B88F-0A02262D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03DA7B-58A4-040C-8555-0F882EFBCF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3639F1-723A-1C4F-01AF-52B777A4F4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F84CAE-8881-4E69-A893-62944BAB8DF0}"/>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6" name="Footer Placeholder 5">
            <a:extLst>
              <a:ext uri="{FF2B5EF4-FFF2-40B4-BE49-F238E27FC236}">
                <a16:creationId xmlns:a16="http://schemas.microsoft.com/office/drawing/2014/main" id="{2AC69971-B29D-EB53-BBF0-12E1AC65B7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1BECDB7-4042-CD8A-33E6-9318DC83D3D4}"/>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1389159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ED2ED-DF36-EF15-3AF9-D7535FD326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586A75-BAB7-F4A9-B01D-0E2CEE3036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646927-6D13-B683-3203-7E23A4F17C30}"/>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5" name="Footer Placeholder 4">
            <a:extLst>
              <a:ext uri="{FF2B5EF4-FFF2-40B4-BE49-F238E27FC236}">
                <a16:creationId xmlns:a16="http://schemas.microsoft.com/office/drawing/2014/main" id="{ACBF6EC1-70F7-64A3-7336-36C213EAD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AC95A3-20F3-3CE9-ACCE-DF4F635555D4}"/>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41866927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A650D7-D978-1C5F-6068-36FB99648D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F50CCF-FC2C-6FC4-283F-9C34068B95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72A0B6-62DC-3960-C777-E4748E1B065F}"/>
              </a:ext>
            </a:extLst>
          </p:cNvPr>
          <p:cNvSpPr>
            <a:spLocks noGrp="1"/>
          </p:cNvSpPr>
          <p:nvPr>
            <p:ph type="dt" sz="half" idx="10"/>
          </p:nvPr>
        </p:nvSpPr>
        <p:spPr/>
        <p:txBody>
          <a:bodyPr/>
          <a:lstStyle/>
          <a:p>
            <a:fld id="{5722282F-765B-2B41-A15D-10B9E3AFCD9C}" type="datetimeFigureOut">
              <a:rPr lang="en-US" smtClean="0"/>
              <a:t>8/25/26</a:t>
            </a:fld>
            <a:endParaRPr lang="en-US"/>
          </a:p>
        </p:txBody>
      </p:sp>
      <p:sp>
        <p:nvSpPr>
          <p:cNvPr id="5" name="Footer Placeholder 4">
            <a:extLst>
              <a:ext uri="{FF2B5EF4-FFF2-40B4-BE49-F238E27FC236}">
                <a16:creationId xmlns:a16="http://schemas.microsoft.com/office/drawing/2014/main" id="{0966EEDD-3FA3-E095-38BB-CE95E1E3C8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3BAF25-6236-BF5B-F044-68582EEB7B24}"/>
              </a:ext>
            </a:extLst>
          </p:cNvPr>
          <p:cNvSpPr>
            <a:spLocks noGrp="1"/>
          </p:cNvSpPr>
          <p:nvPr>
            <p:ph type="sldNum" sz="quarter" idx="12"/>
          </p:nvPr>
        </p:nvSpPr>
        <p:spPr/>
        <p:txBody>
          <a:bodyPr/>
          <a:lstStyle/>
          <a:p>
            <a:fld id="{EB6AF398-8B3A-474B-8270-588862EF9466}" type="slidenum">
              <a:rPr lang="en-US" smtClean="0"/>
              <a:t>‹#›</a:t>
            </a:fld>
            <a:endParaRPr lang="en-US"/>
          </a:p>
        </p:txBody>
      </p:sp>
    </p:spTree>
    <p:extLst>
      <p:ext uri="{BB962C8B-B14F-4D97-AF65-F5344CB8AC3E}">
        <p14:creationId xmlns:p14="http://schemas.microsoft.com/office/powerpoint/2010/main" val="12546510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158082-DDD4-D1C9-E807-2324676935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1AAE3E-F2EA-343D-7FFF-65B6AD0B9F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485669-DD02-AF8E-7504-3B1DC75975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22282F-765B-2B41-A15D-10B9E3AFCD9C}" type="datetimeFigureOut">
              <a:rPr lang="en-US" smtClean="0"/>
              <a:t>8/25/26</a:t>
            </a:fld>
            <a:endParaRPr lang="en-US"/>
          </a:p>
        </p:txBody>
      </p:sp>
      <p:sp>
        <p:nvSpPr>
          <p:cNvPr id="5" name="Footer Placeholder 4">
            <a:extLst>
              <a:ext uri="{FF2B5EF4-FFF2-40B4-BE49-F238E27FC236}">
                <a16:creationId xmlns:a16="http://schemas.microsoft.com/office/drawing/2014/main" id="{66C6330B-7998-0FDD-3E2A-C81EA67591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D8EFE39-02A7-926F-C5C9-9083C94346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B6AF398-8B3A-474B-8270-588862EF9466}" type="slidenum">
              <a:rPr lang="en-US" smtClean="0"/>
              <a:t>‹#›</a:t>
            </a:fld>
            <a:endParaRPr lang="en-US"/>
          </a:p>
        </p:txBody>
      </p:sp>
    </p:spTree>
    <p:extLst>
      <p:ext uri="{BB962C8B-B14F-4D97-AF65-F5344CB8AC3E}">
        <p14:creationId xmlns:p14="http://schemas.microsoft.com/office/powerpoint/2010/main" val="14186929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0.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B8ED65-1054-F010-0729-20AB22013108}"/>
              </a:ext>
            </a:extLst>
          </p:cNvPr>
          <p:cNvSpPr>
            <a:spLocks noGrp="1"/>
          </p:cNvSpPr>
          <p:nvPr>
            <p:ph type="title"/>
          </p:nvPr>
        </p:nvSpPr>
        <p:spPr>
          <a:xfrm>
            <a:off x="838199" y="365125"/>
            <a:ext cx="11032067" cy="2225675"/>
          </a:xfrm>
        </p:spPr>
        <p:txBody>
          <a:bodyPr>
            <a:normAutofit/>
          </a:bodyPr>
          <a:lstStyle/>
          <a:p>
            <a:r>
              <a:rPr lang="en-US" sz="4800" dirty="0"/>
              <a:t>QFE Week 2 Lab (/Lecture)! </a:t>
            </a:r>
            <a:br>
              <a:rPr lang="en-US" sz="4800" dirty="0"/>
            </a:br>
            <a:r>
              <a:rPr lang="en-US" sz="4800" dirty="0"/>
              <a:t>Discuss the following with your classmates:</a:t>
            </a:r>
          </a:p>
        </p:txBody>
      </p:sp>
      <p:sp>
        <p:nvSpPr>
          <p:cNvPr id="8" name="Content Placeholder 7">
            <a:extLst>
              <a:ext uri="{FF2B5EF4-FFF2-40B4-BE49-F238E27FC236}">
                <a16:creationId xmlns:a16="http://schemas.microsoft.com/office/drawing/2014/main" id="{AEB66CDF-47E5-C03C-AC47-A5B7B13485FD}"/>
              </a:ext>
            </a:extLst>
          </p:cNvPr>
          <p:cNvSpPr>
            <a:spLocks noGrp="1"/>
          </p:cNvSpPr>
          <p:nvPr>
            <p:ph idx="1"/>
          </p:nvPr>
        </p:nvSpPr>
        <p:spPr>
          <a:xfrm>
            <a:off x="838200" y="2380191"/>
            <a:ext cx="10515600" cy="3952875"/>
          </a:xfrm>
        </p:spPr>
        <p:txBody>
          <a:bodyPr/>
          <a:lstStyle/>
          <a:p>
            <a:r>
              <a:rPr lang="en-US" sz="3600" dirty="0"/>
              <a:t>A statistic is said to be a </a:t>
            </a:r>
            <a:r>
              <a:rPr lang="en-US" sz="3600" u="sng" dirty="0"/>
              <a:t>resistant</a:t>
            </a:r>
            <a:r>
              <a:rPr lang="en-US" sz="3600" dirty="0"/>
              <a:t> measure if it is not influenced the the presence of extreme observations.</a:t>
            </a:r>
          </a:p>
          <a:p>
            <a:r>
              <a:rPr lang="en-US" sz="3600" dirty="0"/>
              <a:t>Which measure of central tendency, the mean or the median, is more resistant?</a:t>
            </a:r>
          </a:p>
          <a:p>
            <a:r>
              <a:rPr lang="en-US" sz="3600" dirty="0"/>
              <a:t>Why?</a:t>
            </a:r>
          </a:p>
          <a:p>
            <a:endParaRPr lang="en-US" dirty="0"/>
          </a:p>
        </p:txBody>
      </p:sp>
      <p:pic>
        <p:nvPicPr>
          <p:cNvPr id="10" name="Picture 9">
            <a:extLst>
              <a:ext uri="{FF2B5EF4-FFF2-40B4-BE49-F238E27FC236}">
                <a16:creationId xmlns:a16="http://schemas.microsoft.com/office/drawing/2014/main" id="{520A39B2-FF6E-DBB5-D0BC-2CEAC648B92E}"/>
              </a:ext>
            </a:extLst>
          </p:cNvPr>
          <p:cNvPicPr>
            <a:picLocks noChangeAspect="1"/>
          </p:cNvPicPr>
          <p:nvPr/>
        </p:nvPicPr>
        <p:blipFill>
          <a:blip r:embed="rId3"/>
          <a:stretch>
            <a:fillRect/>
          </a:stretch>
        </p:blipFill>
        <p:spPr>
          <a:xfrm>
            <a:off x="9935633" y="4600401"/>
            <a:ext cx="1676400" cy="1905000"/>
          </a:xfrm>
          <a:prstGeom prst="rect">
            <a:avLst/>
          </a:prstGeom>
        </p:spPr>
      </p:pic>
    </p:spTree>
    <p:extLst>
      <p:ext uri="{BB962C8B-B14F-4D97-AF65-F5344CB8AC3E}">
        <p14:creationId xmlns:p14="http://schemas.microsoft.com/office/powerpoint/2010/main" val="1855676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6EEDA-74E8-8145-0B1F-422C8B561B79}"/>
              </a:ext>
            </a:extLst>
          </p:cNvPr>
          <p:cNvSpPr>
            <a:spLocks noGrp="1"/>
          </p:cNvSpPr>
          <p:nvPr>
            <p:ph type="title"/>
          </p:nvPr>
        </p:nvSpPr>
        <p:spPr/>
        <p:txBody>
          <a:bodyPr>
            <a:normAutofit/>
          </a:bodyPr>
          <a:lstStyle/>
          <a:p>
            <a:r>
              <a:rPr lang="en-US" sz="6000" dirty="0"/>
              <a:t>Probability!</a:t>
            </a:r>
          </a:p>
        </p:txBody>
      </p:sp>
      <p:pic>
        <p:nvPicPr>
          <p:cNvPr id="5" name="Content Placeholder 4">
            <a:extLst>
              <a:ext uri="{FF2B5EF4-FFF2-40B4-BE49-F238E27FC236}">
                <a16:creationId xmlns:a16="http://schemas.microsoft.com/office/drawing/2014/main" id="{A2655BA0-8D82-487A-A3DE-901EDCCAEA45}"/>
              </a:ext>
            </a:extLst>
          </p:cNvPr>
          <p:cNvPicPr>
            <a:picLocks noGrp="1" noChangeAspect="1"/>
          </p:cNvPicPr>
          <p:nvPr>
            <p:ph idx="1"/>
          </p:nvPr>
        </p:nvPicPr>
        <p:blipFill>
          <a:blip r:embed="rId2"/>
          <a:stretch>
            <a:fillRect/>
          </a:stretch>
        </p:blipFill>
        <p:spPr>
          <a:xfrm>
            <a:off x="1704985" y="1823136"/>
            <a:ext cx="8782029" cy="3787250"/>
          </a:xfrm>
          <a:prstGeom prst="rect">
            <a:avLst/>
          </a:prstGeom>
        </p:spPr>
      </p:pic>
    </p:spTree>
    <p:extLst>
      <p:ext uri="{BB962C8B-B14F-4D97-AF65-F5344CB8AC3E}">
        <p14:creationId xmlns:p14="http://schemas.microsoft.com/office/powerpoint/2010/main" val="809142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C3FCA-1620-B8D9-2866-1C447BF447D3}"/>
              </a:ext>
            </a:extLst>
          </p:cNvPr>
          <p:cNvSpPr>
            <a:spLocks noGrp="1"/>
          </p:cNvSpPr>
          <p:nvPr>
            <p:ph type="title"/>
          </p:nvPr>
        </p:nvSpPr>
        <p:spPr/>
        <p:txBody>
          <a:bodyPr>
            <a:normAutofit/>
          </a:bodyPr>
          <a:lstStyle/>
          <a:p>
            <a:r>
              <a:rPr lang="en-US" sz="6000" dirty="0"/>
              <a:t>Probability!</a:t>
            </a:r>
          </a:p>
        </p:txBody>
      </p:sp>
      <p:sp>
        <p:nvSpPr>
          <p:cNvPr id="3" name="Content Placeholder 2">
            <a:extLst>
              <a:ext uri="{FF2B5EF4-FFF2-40B4-BE49-F238E27FC236}">
                <a16:creationId xmlns:a16="http://schemas.microsoft.com/office/drawing/2014/main" id="{A91F9C52-FA3C-5273-3C30-B3B1BDE3496F}"/>
              </a:ext>
            </a:extLst>
          </p:cNvPr>
          <p:cNvSpPr>
            <a:spLocks noGrp="1"/>
          </p:cNvSpPr>
          <p:nvPr>
            <p:ph idx="1"/>
          </p:nvPr>
        </p:nvSpPr>
        <p:spPr/>
        <p:txBody>
          <a:bodyPr>
            <a:normAutofit/>
          </a:bodyPr>
          <a:lstStyle/>
          <a:p>
            <a:r>
              <a:rPr lang="en-US" sz="3200" u="sng" dirty="0"/>
              <a:t>Random Trial: </a:t>
            </a:r>
            <a:r>
              <a:rPr lang="en-US" sz="3200" dirty="0"/>
              <a:t>A process with two or more possible outcomes</a:t>
            </a:r>
          </a:p>
          <a:p>
            <a:r>
              <a:rPr lang="en-US" sz="3200" u="sng" dirty="0"/>
              <a:t>Outcome: </a:t>
            </a:r>
            <a:r>
              <a:rPr lang="en-US" sz="3200" dirty="0"/>
              <a:t>A result from a trial</a:t>
            </a:r>
          </a:p>
          <a:p>
            <a:r>
              <a:rPr lang="en-US" sz="3200" u="sng" dirty="0"/>
              <a:t>Event: </a:t>
            </a:r>
            <a:r>
              <a:rPr lang="en-US" sz="3200" dirty="0"/>
              <a:t>A potential subset of of all possible outcomes</a:t>
            </a:r>
          </a:p>
          <a:p>
            <a:r>
              <a:rPr lang="en-US" sz="3200" i="1" u="sng" dirty="0"/>
              <a:t>Probability</a:t>
            </a:r>
            <a:r>
              <a:rPr lang="en-US" sz="3200" i="1" dirty="0"/>
              <a:t> </a:t>
            </a:r>
            <a:r>
              <a:rPr lang="en-US" sz="3200" dirty="0"/>
              <a:t>of an event is the proportion of times the event would occur if we repeated a random trial over and over again under the same conditions </a:t>
            </a:r>
          </a:p>
          <a:p>
            <a:pPr lvl="1"/>
            <a:r>
              <a:rPr lang="en-US" dirty="0"/>
              <a:t>quantifies the likelihood of an event we are unsure of</a:t>
            </a:r>
          </a:p>
          <a:p>
            <a:endParaRPr lang="en-US" dirty="0">
              <a:effectLst/>
            </a:endParaRPr>
          </a:p>
          <a:p>
            <a:endParaRPr lang="en-US" dirty="0"/>
          </a:p>
        </p:txBody>
      </p:sp>
      <p:pic>
        <p:nvPicPr>
          <p:cNvPr id="5" name="Picture 4">
            <a:extLst>
              <a:ext uri="{FF2B5EF4-FFF2-40B4-BE49-F238E27FC236}">
                <a16:creationId xmlns:a16="http://schemas.microsoft.com/office/drawing/2014/main" id="{10738C57-7CB2-FC01-3E01-D7CFF2B782E3}"/>
              </a:ext>
            </a:extLst>
          </p:cNvPr>
          <p:cNvPicPr>
            <a:picLocks noChangeAspect="1"/>
          </p:cNvPicPr>
          <p:nvPr/>
        </p:nvPicPr>
        <p:blipFill>
          <a:blip r:embed="rId3"/>
          <a:stretch>
            <a:fillRect/>
          </a:stretch>
        </p:blipFill>
        <p:spPr>
          <a:xfrm rot="20612438">
            <a:off x="9564318" y="202286"/>
            <a:ext cx="2540000" cy="2540000"/>
          </a:xfrm>
          <a:prstGeom prst="rect">
            <a:avLst/>
          </a:prstGeom>
        </p:spPr>
      </p:pic>
    </p:spTree>
    <p:extLst>
      <p:ext uri="{BB962C8B-B14F-4D97-AF65-F5344CB8AC3E}">
        <p14:creationId xmlns:p14="http://schemas.microsoft.com/office/powerpoint/2010/main" val="38529459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D8CE37D-F84D-DD39-331E-4185DEF1854C}"/>
              </a:ext>
            </a:extLst>
          </p:cNvPr>
          <p:cNvPicPr>
            <a:picLocks noChangeAspect="1"/>
          </p:cNvPicPr>
          <p:nvPr/>
        </p:nvPicPr>
        <p:blipFill>
          <a:blip r:embed="rId3"/>
          <a:stretch>
            <a:fillRect/>
          </a:stretch>
        </p:blipFill>
        <p:spPr>
          <a:xfrm>
            <a:off x="8458200" y="365125"/>
            <a:ext cx="3496439" cy="4351338"/>
          </a:xfrm>
          <a:prstGeom prst="rect">
            <a:avLst/>
          </a:prstGeom>
        </p:spPr>
      </p:pic>
      <p:sp>
        <p:nvSpPr>
          <p:cNvPr id="2" name="Title 1">
            <a:extLst>
              <a:ext uri="{FF2B5EF4-FFF2-40B4-BE49-F238E27FC236}">
                <a16:creationId xmlns:a16="http://schemas.microsoft.com/office/drawing/2014/main" id="{6850854E-7967-0D6B-835C-6D83CEA85CD1}"/>
              </a:ext>
            </a:extLst>
          </p:cNvPr>
          <p:cNvSpPr>
            <a:spLocks noGrp="1"/>
          </p:cNvSpPr>
          <p:nvPr>
            <p:ph type="title"/>
          </p:nvPr>
        </p:nvSpPr>
        <p:spPr/>
        <p:txBody>
          <a:bodyPr>
            <a:normAutofit/>
          </a:bodyPr>
          <a:lstStyle/>
          <a:p>
            <a:r>
              <a:rPr lang="en-US" sz="5400" dirty="0"/>
              <a:t>Natural Variation</a:t>
            </a:r>
          </a:p>
        </p:txBody>
      </p:sp>
      <p:sp>
        <p:nvSpPr>
          <p:cNvPr id="3" name="Content Placeholder 2">
            <a:extLst>
              <a:ext uri="{FF2B5EF4-FFF2-40B4-BE49-F238E27FC236}">
                <a16:creationId xmlns:a16="http://schemas.microsoft.com/office/drawing/2014/main" id="{41C4F7AB-80C8-1FF6-435A-55C54D0D8D5A}"/>
              </a:ext>
            </a:extLst>
          </p:cNvPr>
          <p:cNvSpPr>
            <a:spLocks noGrp="1"/>
          </p:cNvSpPr>
          <p:nvPr>
            <p:ph idx="1"/>
          </p:nvPr>
        </p:nvSpPr>
        <p:spPr>
          <a:xfrm>
            <a:off x="838200" y="1825625"/>
            <a:ext cx="5257800" cy="4351338"/>
          </a:xfrm>
        </p:spPr>
        <p:txBody>
          <a:bodyPr>
            <a:normAutofit lnSpcReduction="10000"/>
          </a:bodyPr>
          <a:lstStyle/>
          <a:p>
            <a:r>
              <a:rPr lang="en-US" sz="3600" dirty="0"/>
              <a:t>Unsure because there exists natural variation</a:t>
            </a:r>
          </a:p>
          <a:p>
            <a:r>
              <a:rPr lang="en-US" sz="3600" dirty="0"/>
              <a:t>Biological systems incomprehensible without appreciation for natural variation</a:t>
            </a:r>
          </a:p>
          <a:p>
            <a:pPr lvl="1"/>
            <a:r>
              <a:rPr lang="en-US" sz="2800" dirty="0"/>
              <a:t>What role does natural variation play in natural selection?</a:t>
            </a:r>
          </a:p>
          <a:p>
            <a:endParaRPr lang="en-US" dirty="0"/>
          </a:p>
        </p:txBody>
      </p:sp>
      <p:pic>
        <p:nvPicPr>
          <p:cNvPr id="5" name="Picture 4">
            <a:extLst>
              <a:ext uri="{FF2B5EF4-FFF2-40B4-BE49-F238E27FC236}">
                <a16:creationId xmlns:a16="http://schemas.microsoft.com/office/drawing/2014/main" id="{6CF95E7B-13EB-02D4-E218-1E620D9579D4}"/>
              </a:ext>
            </a:extLst>
          </p:cNvPr>
          <p:cNvPicPr>
            <a:picLocks noChangeAspect="1"/>
          </p:cNvPicPr>
          <p:nvPr/>
        </p:nvPicPr>
        <p:blipFill>
          <a:blip r:embed="rId4"/>
          <a:stretch>
            <a:fillRect/>
          </a:stretch>
        </p:blipFill>
        <p:spPr>
          <a:xfrm>
            <a:off x="6096000" y="4001294"/>
            <a:ext cx="4318867" cy="2692400"/>
          </a:xfrm>
          <a:prstGeom prst="rect">
            <a:avLst/>
          </a:prstGeom>
        </p:spPr>
      </p:pic>
    </p:spTree>
    <p:extLst>
      <p:ext uri="{BB962C8B-B14F-4D97-AF65-F5344CB8AC3E}">
        <p14:creationId xmlns:p14="http://schemas.microsoft.com/office/powerpoint/2010/main" val="2436441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EC50C-ED55-815D-458B-208ED0C8B0DC}"/>
              </a:ext>
            </a:extLst>
          </p:cNvPr>
          <p:cNvSpPr>
            <a:spLocks noGrp="1"/>
          </p:cNvSpPr>
          <p:nvPr>
            <p:ph type="title"/>
          </p:nvPr>
        </p:nvSpPr>
        <p:spPr/>
        <p:txBody>
          <a:bodyPr>
            <a:normAutofit/>
          </a:bodyPr>
          <a:lstStyle/>
          <a:p>
            <a:r>
              <a:rPr lang="en-US" sz="5400" dirty="0"/>
              <a:t>Wetland Example</a:t>
            </a:r>
          </a:p>
        </p:txBody>
      </p:sp>
      <p:sp>
        <p:nvSpPr>
          <p:cNvPr id="3" name="Content Placeholder 2">
            <a:extLst>
              <a:ext uri="{FF2B5EF4-FFF2-40B4-BE49-F238E27FC236}">
                <a16:creationId xmlns:a16="http://schemas.microsoft.com/office/drawing/2014/main" id="{E7353B27-F5C4-11AE-8F0F-FA6D6161F355}"/>
              </a:ext>
            </a:extLst>
          </p:cNvPr>
          <p:cNvSpPr>
            <a:spLocks noGrp="1"/>
          </p:cNvSpPr>
          <p:nvPr>
            <p:ph idx="1"/>
          </p:nvPr>
        </p:nvSpPr>
        <p:spPr>
          <a:xfrm>
            <a:off x="838200" y="1825625"/>
            <a:ext cx="6351740" cy="4863274"/>
          </a:xfrm>
        </p:spPr>
        <p:txBody>
          <a:bodyPr>
            <a:normAutofit/>
          </a:bodyPr>
          <a:lstStyle/>
          <a:p>
            <a:pPr marL="0" indent="0">
              <a:buNone/>
            </a:pPr>
            <a:r>
              <a:rPr lang="en-US" sz="3600" dirty="0"/>
              <a:t>How can we estimate the probability of an insect falling into the trap?</a:t>
            </a:r>
          </a:p>
          <a:p>
            <a:r>
              <a:rPr lang="en-US" sz="3600" dirty="0"/>
              <a:t>Track number of insects visiting</a:t>
            </a:r>
          </a:p>
          <a:p>
            <a:r>
              <a:rPr lang="en-US" sz="3600" dirty="0"/>
              <a:t>Two outcomes (discrete)</a:t>
            </a:r>
          </a:p>
          <a:p>
            <a:pPr lvl="1"/>
            <a:r>
              <a:rPr lang="en-US" sz="2800" dirty="0"/>
              <a:t>Escape</a:t>
            </a:r>
          </a:p>
          <a:p>
            <a:pPr lvl="1"/>
            <a:r>
              <a:rPr lang="en-US" sz="2800" dirty="0"/>
              <a:t>Capture</a:t>
            </a:r>
          </a:p>
          <a:p>
            <a:r>
              <a:rPr lang="en-US" sz="3600" dirty="0"/>
              <a:t>Record how many fall victim</a:t>
            </a:r>
          </a:p>
          <a:p>
            <a:pPr lvl="1"/>
            <a:endParaRPr lang="en-US" dirty="0"/>
          </a:p>
        </p:txBody>
      </p:sp>
      <p:pic>
        <p:nvPicPr>
          <p:cNvPr id="5" name="Picture 4">
            <a:extLst>
              <a:ext uri="{FF2B5EF4-FFF2-40B4-BE49-F238E27FC236}">
                <a16:creationId xmlns:a16="http://schemas.microsoft.com/office/drawing/2014/main" id="{7FE5BA78-EC81-3219-69C7-5731715E1533}"/>
              </a:ext>
            </a:extLst>
          </p:cNvPr>
          <p:cNvPicPr>
            <a:picLocks noChangeAspect="1"/>
          </p:cNvPicPr>
          <p:nvPr/>
        </p:nvPicPr>
        <p:blipFill>
          <a:blip r:embed="rId3"/>
          <a:stretch>
            <a:fillRect/>
          </a:stretch>
        </p:blipFill>
        <p:spPr>
          <a:xfrm>
            <a:off x="7009267" y="2116899"/>
            <a:ext cx="4910203" cy="3682652"/>
          </a:xfrm>
          <a:prstGeom prst="rect">
            <a:avLst/>
          </a:prstGeom>
        </p:spPr>
      </p:pic>
    </p:spTree>
    <p:extLst>
      <p:ext uri="{BB962C8B-B14F-4D97-AF65-F5344CB8AC3E}">
        <p14:creationId xmlns:p14="http://schemas.microsoft.com/office/powerpoint/2010/main" val="304144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D716F-BDF1-D24E-1317-887295409CBA}"/>
              </a:ext>
            </a:extLst>
          </p:cNvPr>
          <p:cNvSpPr>
            <a:spLocks noGrp="1"/>
          </p:cNvSpPr>
          <p:nvPr>
            <p:ph type="title"/>
          </p:nvPr>
        </p:nvSpPr>
        <p:spPr/>
        <p:txBody>
          <a:bodyPr>
            <a:normAutofit/>
          </a:bodyPr>
          <a:lstStyle/>
          <a:p>
            <a:r>
              <a:rPr lang="en-US" sz="5400" dirty="0"/>
              <a:t>Wetland Example</a:t>
            </a:r>
          </a:p>
        </p:txBody>
      </p:sp>
      <p:sp>
        <p:nvSpPr>
          <p:cNvPr id="3" name="Content Placeholder 2">
            <a:extLst>
              <a:ext uri="{FF2B5EF4-FFF2-40B4-BE49-F238E27FC236}">
                <a16:creationId xmlns:a16="http://schemas.microsoft.com/office/drawing/2014/main" id="{9EAC23AB-7A11-EBF4-55FF-28551930A6EF}"/>
              </a:ext>
            </a:extLst>
          </p:cNvPr>
          <p:cNvSpPr>
            <a:spLocks noGrp="1"/>
          </p:cNvSpPr>
          <p:nvPr>
            <p:ph idx="1"/>
          </p:nvPr>
        </p:nvSpPr>
        <p:spPr>
          <a:xfrm>
            <a:off x="838200" y="1825625"/>
            <a:ext cx="5257800" cy="4351338"/>
          </a:xfrm>
        </p:spPr>
        <p:txBody>
          <a:bodyPr>
            <a:normAutofit/>
          </a:bodyPr>
          <a:lstStyle/>
          <a:p>
            <a:r>
              <a:rPr lang="en-US" sz="3200" dirty="0"/>
              <a:t>Sample Space: Set of all possible outcomes</a:t>
            </a:r>
          </a:p>
          <a:p>
            <a:pPr lvl="1"/>
            <a:r>
              <a:rPr lang="en-US" sz="2800" dirty="0"/>
              <a:t>Discrete sample space</a:t>
            </a:r>
          </a:p>
          <a:p>
            <a:r>
              <a:rPr lang="en-US" sz="3200" dirty="0"/>
              <a:t>Each insect visit is a trial, or replicate</a:t>
            </a:r>
          </a:p>
          <a:p>
            <a:r>
              <a:rPr lang="en-US" sz="3200" dirty="0"/>
              <a:t>Set of replicates is an experiment</a:t>
            </a:r>
          </a:p>
        </p:txBody>
      </p:sp>
      <p:sp>
        <p:nvSpPr>
          <p:cNvPr id="4" name="TextBox 3">
            <a:extLst>
              <a:ext uri="{FF2B5EF4-FFF2-40B4-BE49-F238E27FC236}">
                <a16:creationId xmlns:a16="http://schemas.microsoft.com/office/drawing/2014/main" id="{F44A849D-0D03-543B-8C36-74B5A08C567A}"/>
              </a:ext>
            </a:extLst>
          </p:cNvPr>
          <p:cNvSpPr txBox="1"/>
          <p:nvPr/>
        </p:nvSpPr>
        <p:spPr>
          <a:xfrm>
            <a:off x="7010401" y="1758156"/>
            <a:ext cx="4588934" cy="3539430"/>
          </a:xfrm>
          <a:prstGeom prst="rect">
            <a:avLst/>
          </a:prstGeom>
          <a:noFill/>
        </p:spPr>
        <p:txBody>
          <a:bodyPr wrap="square" rtlCol="0">
            <a:spAutoFit/>
          </a:bodyPr>
          <a:lstStyle/>
          <a:p>
            <a:pPr marL="457200" indent="-457200">
              <a:buFont typeface="Arial" panose="020B0604020202020204" pitchFamily="34" charset="0"/>
              <a:buChar char="•"/>
            </a:pPr>
            <a:r>
              <a:rPr lang="en-US" sz="3200" dirty="0"/>
              <a:t>3000 visits</a:t>
            </a:r>
          </a:p>
          <a:p>
            <a:pPr marL="457200" indent="-457200">
              <a:buFont typeface="Arial" panose="020B0604020202020204" pitchFamily="34" charset="0"/>
              <a:buChar char="•"/>
            </a:pPr>
            <a:r>
              <a:rPr lang="en-US" sz="3200" dirty="0"/>
              <a:t>30 captures</a:t>
            </a:r>
          </a:p>
          <a:p>
            <a:pPr marL="457200" indent="-457200">
              <a:buFont typeface="Arial" panose="020B0604020202020204" pitchFamily="34" charset="0"/>
              <a:buChar char="•"/>
            </a:pPr>
            <a:r>
              <a:rPr lang="en-US" sz="3200" dirty="0"/>
              <a:t>P(captured) = 0.01</a:t>
            </a:r>
          </a:p>
          <a:p>
            <a:pPr marL="457200" indent="-457200">
              <a:buFont typeface="Arial" panose="020B0604020202020204" pitchFamily="34" charset="0"/>
              <a:buChar char="•"/>
            </a:pPr>
            <a:r>
              <a:rPr lang="en-US" sz="3200" dirty="0"/>
              <a:t>Probability of the given outcome (capture), divide # outcomes by # trials</a:t>
            </a:r>
          </a:p>
        </p:txBody>
      </p:sp>
      <p:pic>
        <p:nvPicPr>
          <p:cNvPr id="8" name="Picture 7">
            <a:extLst>
              <a:ext uri="{FF2B5EF4-FFF2-40B4-BE49-F238E27FC236}">
                <a16:creationId xmlns:a16="http://schemas.microsoft.com/office/drawing/2014/main" id="{D1BF5021-BFFB-61BD-3817-048AFABD48C5}"/>
              </a:ext>
            </a:extLst>
          </p:cNvPr>
          <p:cNvPicPr>
            <a:picLocks noChangeAspect="1"/>
          </p:cNvPicPr>
          <p:nvPr/>
        </p:nvPicPr>
        <p:blipFill>
          <a:blip r:embed="rId3"/>
          <a:stretch>
            <a:fillRect/>
          </a:stretch>
        </p:blipFill>
        <p:spPr>
          <a:xfrm>
            <a:off x="7469718" y="5467713"/>
            <a:ext cx="3670300" cy="927100"/>
          </a:xfrm>
          <a:prstGeom prst="rect">
            <a:avLst/>
          </a:prstGeom>
          <a:ln w="28575">
            <a:solidFill>
              <a:schemeClr val="accent6">
                <a:lumMod val="50000"/>
              </a:schemeClr>
            </a:solidFill>
          </a:ln>
        </p:spPr>
      </p:pic>
    </p:spTree>
    <p:extLst>
      <p:ext uri="{BB962C8B-B14F-4D97-AF65-F5344CB8AC3E}">
        <p14:creationId xmlns:p14="http://schemas.microsoft.com/office/powerpoint/2010/main" val="1699205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B8A39-EE69-57B0-A0A0-C5729DAFE7EC}"/>
              </a:ext>
            </a:extLst>
          </p:cNvPr>
          <p:cNvSpPr>
            <a:spLocks noGrp="1"/>
          </p:cNvSpPr>
          <p:nvPr>
            <p:ph type="title"/>
          </p:nvPr>
        </p:nvSpPr>
        <p:spPr/>
        <p:txBody>
          <a:bodyPr>
            <a:normAutofit/>
          </a:bodyPr>
          <a:lstStyle/>
          <a:p>
            <a:r>
              <a:rPr lang="en-US" sz="5400" dirty="0"/>
              <a:t>Wetland Example</a:t>
            </a:r>
          </a:p>
        </p:txBody>
      </p:sp>
      <p:sp>
        <p:nvSpPr>
          <p:cNvPr id="3" name="Content Placeholder 2">
            <a:extLst>
              <a:ext uri="{FF2B5EF4-FFF2-40B4-BE49-F238E27FC236}">
                <a16:creationId xmlns:a16="http://schemas.microsoft.com/office/drawing/2014/main" id="{0B6DEF71-8B13-4EE7-4F6D-46F3D42421BA}"/>
              </a:ext>
            </a:extLst>
          </p:cNvPr>
          <p:cNvSpPr>
            <a:spLocks noGrp="1"/>
          </p:cNvSpPr>
          <p:nvPr>
            <p:ph idx="1"/>
          </p:nvPr>
        </p:nvSpPr>
        <p:spPr/>
        <p:txBody>
          <a:bodyPr/>
          <a:lstStyle/>
          <a:p>
            <a:pPr marL="0" indent="0">
              <a:buNone/>
            </a:pPr>
            <a:r>
              <a:rPr lang="en-US" sz="4000" dirty="0"/>
              <a:t>Maybe this was a good day?</a:t>
            </a:r>
          </a:p>
          <a:p>
            <a:r>
              <a:rPr lang="en-US" sz="4000" dirty="0"/>
              <a:t>Do the experiment repeatedly</a:t>
            </a:r>
          </a:p>
          <a:p>
            <a:pPr lvl="1"/>
            <a:r>
              <a:rPr lang="en-US" sz="3200" dirty="0"/>
              <a:t>Sample the population to estimate P(capture)</a:t>
            </a:r>
          </a:p>
          <a:p>
            <a:r>
              <a:rPr lang="en-US" sz="4000" dirty="0"/>
              <a:t>Data then summarized in a histogram</a:t>
            </a:r>
          </a:p>
          <a:p>
            <a:pPr lvl="1"/>
            <a:r>
              <a:rPr lang="en-US" sz="3200" dirty="0"/>
              <a:t>Frequency distribution of the data</a:t>
            </a:r>
          </a:p>
        </p:txBody>
      </p:sp>
      <p:pic>
        <p:nvPicPr>
          <p:cNvPr id="5" name="Picture 4">
            <a:extLst>
              <a:ext uri="{FF2B5EF4-FFF2-40B4-BE49-F238E27FC236}">
                <a16:creationId xmlns:a16="http://schemas.microsoft.com/office/drawing/2014/main" id="{356F4A77-0FA3-6C13-11E7-60B09AE3DB6A}"/>
              </a:ext>
            </a:extLst>
          </p:cNvPr>
          <p:cNvPicPr>
            <a:picLocks noChangeAspect="1"/>
          </p:cNvPicPr>
          <p:nvPr/>
        </p:nvPicPr>
        <p:blipFill>
          <a:blip r:embed="rId2"/>
          <a:stretch>
            <a:fillRect/>
          </a:stretch>
        </p:blipFill>
        <p:spPr>
          <a:xfrm rot="1563261">
            <a:off x="10656598" y="525906"/>
            <a:ext cx="952500" cy="952500"/>
          </a:xfrm>
          <a:prstGeom prst="rect">
            <a:avLst/>
          </a:prstGeom>
        </p:spPr>
      </p:pic>
      <p:pic>
        <p:nvPicPr>
          <p:cNvPr id="7" name="Picture 6">
            <a:extLst>
              <a:ext uri="{FF2B5EF4-FFF2-40B4-BE49-F238E27FC236}">
                <a16:creationId xmlns:a16="http://schemas.microsoft.com/office/drawing/2014/main" id="{C16107E7-8946-A237-8C28-87BCE37470C7}"/>
              </a:ext>
            </a:extLst>
          </p:cNvPr>
          <p:cNvPicPr>
            <a:picLocks noChangeAspect="1"/>
          </p:cNvPicPr>
          <p:nvPr/>
        </p:nvPicPr>
        <p:blipFill>
          <a:blip r:embed="rId3"/>
          <a:stretch>
            <a:fillRect/>
          </a:stretch>
        </p:blipFill>
        <p:spPr>
          <a:xfrm rot="18155276">
            <a:off x="7536232" y="673632"/>
            <a:ext cx="952500" cy="952500"/>
          </a:xfrm>
          <a:prstGeom prst="rect">
            <a:avLst/>
          </a:prstGeom>
        </p:spPr>
      </p:pic>
      <p:pic>
        <p:nvPicPr>
          <p:cNvPr id="8" name="Picture 7">
            <a:extLst>
              <a:ext uri="{FF2B5EF4-FFF2-40B4-BE49-F238E27FC236}">
                <a16:creationId xmlns:a16="http://schemas.microsoft.com/office/drawing/2014/main" id="{18E96F9A-B606-AD69-5445-3E00B47D839A}"/>
              </a:ext>
            </a:extLst>
          </p:cNvPr>
          <p:cNvPicPr>
            <a:picLocks noChangeAspect="1"/>
          </p:cNvPicPr>
          <p:nvPr/>
        </p:nvPicPr>
        <p:blipFill>
          <a:blip r:embed="rId2"/>
          <a:stretch>
            <a:fillRect/>
          </a:stretch>
        </p:blipFill>
        <p:spPr>
          <a:xfrm rot="20666539">
            <a:off x="9576763" y="2013590"/>
            <a:ext cx="952500" cy="952500"/>
          </a:xfrm>
          <a:prstGeom prst="rect">
            <a:avLst/>
          </a:prstGeom>
        </p:spPr>
      </p:pic>
      <p:pic>
        <p:nvPicPr>
          <p:cNvPr id="9" name="Picture 8">
            <a:extLst>
              <a:ext uri="{FF2B5EF4-FFF2-40B4-BE49-F238E27FC236}">
                <a16:creationId xmlns:a16="http://schemas.microsoft.com/office/drawing/2014/main" id="{0CFB85ED-95BD-E8DD-0569-E4E0D938195C}"/>
              </a:ext>
            </a:extLst>
          </p:cNvPr>
          <p:cNvPicPr>
            <a:picLocks noChangeAspect="1"/>
          </p:cNvPicPr>
          <p:nvPr/>
        </p:nvPicPr>
        <p:blipFill>
          <a:blip r:embed="rId2"/>
          <a:stretch>
            <a:fillRect/>
          </a:stretch>
        </p:blipFill>
        <p:spPr>
          <a:xfrm rot="13468660">
            <a:off x="9158513" y="4661583"/>
            <a:ext cx="952500" cy="952500"/>
          </a:xfrm>
          <a:prstGeom prst="rect">
            <a:avLst/>
          </a:prstGeom>
        </p:spPr>
      </p:pic>
      <p:pic>
        <p:nvPicPr>
          <p:cNvPr id="10" name="Picture 9">
            <a:extLst>
              <a:ext uri="{FF2B5EF4-FFF2-40B4-BE49-F238E27FC236}">
                <a16:creationId xmlns:a16="http://schemas.microsoft.com/office/drawing/2014/main" id="{7BEC20C5-0C8F-F009-E75B-EAACAECB1B6E}"/>
              </a:ext>
            </a:extLst>
          </p:cNvPr>
          <p:cNvPicPr>
            <a:picLocks noChangeAspect="1"/>
          </p:cNvPicPr>
          <p:nvPr/>
        </p:nvPicPr>
        <p:blipFill>
          <a:blip r:embed="rId3"/>
          <a:stretch>
            <a:fillRect/>
          </a:stretch>
        </p:blipFill>
        <p:spPr>
          <a:xfrm rot="153122">
            <a:off x="10516548" y="3273745"/>
            <a:ext cx="952500" cy="952500"/>
          </a:xfrm>
          <a:prstGeom prst="rect">
            <a:avLst/>
          </a:prstGeom>
        </p:spPr>
      </p:pic>
      <p:pic>
        <p:nvPicPr>
          <p:cNvPr id="11" name="Picture 10">
            <a:extLst>
              <a:ext uri="{FF2B5EF4-FFF2-40B4-BE49-F238E27FC236}">
                <a16:creationId xmlns:a16="http://schemas.microsoft.com/office/drawing/2014/main" id="{A6D6173F-61C8-02FB-3D04-FFF90F80439A}"/>
              </a:ext>
            </a:extLst>
          </p:cNvPr>
          <p:cNvPicPr>
            <a:picLocks noChangeAspect="1"/>
          </p:cNvPicPr>
          <p:nvPr/>
        </p:nvPicPr>
        <p:blipFill>
          <a:blip r:embed="rId3"/>
          <a:stretch>
            <a:fillRect/>
          </a:stretch>
        </p:blipFill>
        <p:spPr>
          <a:xfrm rot="9041203">
            <a:off x="10808048" y="5286221"/>
            <a:ext cx="952500" cy="952500"/>
          </a:xfrm>
          <a:prstGeom prst="rect">
            <a:avLst/>
          </a:prstGeom>
        </p:spPr>
      </p:pic>
    </p:spTree>
    <p:extLst>
      <p:ext uri="{BB962C8B-B14F-4D97-AF65-F5344CB8AC3E}">
        <p14:creationId xmlns:p14="http://schemas.microsoft.com/office/powerpoint/2010/main" val="8206757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71995-B31B-1440-3269-36FFC1EE06AA}"/>
              </a:ext>
            </a:extLst>
          </p:cNvPr>
          <p:cNvSpPr>
            <a:spLocks noGrp="1"/>
          </p:cNvSpPr>
          <p:nvPr>
            <p:ph type="title"/>
          </p:nvPr>
        </p:nvSpPr>
        <p:spPr/>
        <p:txBody>
          <a:bodyPr>
            <a:normAutofit/>
          </a:bodyPr>
          <a:lstStyle/>
          <a:p>
            <a:r>
              <a:rPr lang="en-US" sz="5400" dirty="0"/>
              <a:t>Wetland Example</a:t>
            </a:r>
          </a:p>
        </p:txBody>
      </p:sp>
      <p:sp>
        <p:nvSpPr>
          <p:cNvPr id="3" name="Content Placeholder 2">
            <a:extLst>
              <a:ext uri="{FF2B5EF4-FFF2-40B4-BE49-F238E27FC236}">
                <a16:creationId xmlns:a16="http://schemas.microsoft.com/office/drawing/2014/main" id="{88AED883-C289-626C-850C-AFEA230B5FFD}"/>
              </a:ext>
            </a:extLst>
          </p:cNvPr>
          <p:cNvSpPr>
            <a:spLocks noGrp="1"/>
          </p:cNvSpPr>
          <p:nvPr>
            <p:ph idx="1"/>
          </p:nvPr>
        </p:nvSpPr>
        <p:spPr/>
        <p:txBody>
          <a:bodyPr>
            <a:normAutofit/>
          </a:bodyPr>
          <a:lstStyle/>
          <a:p>
            <a:pPr marL="0" indent="0" algn="ctr">
              <a:buNone/>
            </a:pPr>
            <a:r>
              <a:rPr lang="en-US" dirty="0"/>
              <a:t>Expected Value of the Probability = E(P) = 10.3/1000 = 0.0103</a:t>
            </a:r>
          </a:p>
        </p:txBody>
      </p:sp>
      <p:pic>
        <p:nvPicPr>
          <p:cNvPr id="5" name="Picture 4">
            <a:extLst>
              <a:ext uri="{FF2B5EF4-FFF2-40B4-BE49-F238E27FC236}">
                <a16:creationId xmlns:a16="http://schemas.microsoft.com/office/drawing/2014/main" id="{3EE0801D-B925-5464-0141-CFE8D11A6B0C}"/>
              </a:ext>
            </a:extLst>
          </p:cNvPr>
          <p:cNvPicPr>
            <a:picLocks noChangeAspect="1"/>
          </p:cNvPicPr>
          <p:nvPr/>
        </p:nvPicPr>
        <p:blipFill>
          <a:blip r:embed="rId3"/>
          <a:stretch>
            <a:fillRect/>
          </a:stretch>
        </p:blipFill>
        <p:spPr>
          <a:xfrm>
            <a:off x="2209800" y="2492680"/>
            <a:ext cx="7772400" cy="4000195"/>
          </a:xfrm>
          <a:prstGeom prst="rect">
            <a:avLst/>
          </a:prstGeom>
          <a:ln w="28575">
            <a:solidFill>
              <a:schemeClr val="accent6">
                <a:lumMod val="50000"/>
              </a:schemeClr>
            </a:solidFill>
          </a:ln>
        </p:spPr>
      </p:pic>
    </p:spTree>
    <p:extLst>
      <p:ext uri="{BB962C8B-B14F-4D97-AF65-F5344CB8AC3E}">
        <p14:creationId xmlns:p14="http://schemas.microsoft.com/office/powerpoint/2010/main" val="14601415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7791F-DCC7-2FAB-1CE4-1293D3C8A2EB}"/>
              </a:ext>
            </a:extLst>
          </p:cNvPr>
          <p:cNvSpPr>
            <a:spLocks noGrp="1"/>
          </p:cNvSpPr>
          <p:nvPr>
            <p:ph type="title"/>
          </p:nvPr>
        </p:nvSpPr>
        <p:spPr/>
        <p:txBody>
          <a:bodyPr>
            <a:normAutofit/>
          </a:bodyPr>
          <a:lstStyle/>
          <a:p>
            <a:r>
              <a:rPr lang="en-US" sz="5400" dirty="0"/>
              <a:t>Probability Distributions</a:t>
            </a:r>
          </a:p>
        </p:txBody>
      </p:sp>
      <p:sp>
        <p:nvSpPr>
          <p:cNvPr id="3" name="Content Placeholder 2">
            <a:extLst>
              <a:ext uri="{FF2B5EF4-FFF2-40B4-BE49-F238E27FC236}">
                <a16:creationId xmlns:a16="http://schemas.microsoft.com/office/drawing/2014/main" id="{79B1E526-39CE-01AC-DEF7-7A8B5ECAECD1}"/>
              </a:ext>
            </a:extLst>
          </p:cNvPr>
          <p:cNvSpPr>
            <a:spLocks noGrp="1"/>
          </p:cNvSpPr>
          <p:nvPr>
            <p:ph idx="1"/>
          </p:nvPr>
        </p:nvSpPr>
        <p:spPr>
          <a:xfrm>
            <a:off x="838200" y="1420629"/>
            <a:ext cx="10515600" cy="4351338"/>
          </a:xfrm>
        </p:spPr>
        <p:txBody>
          <a:bodyPr>
            <a:normAutofit/>
          </a:bodyPr>
          <a:lstStyle/>
          <a:p>
            <a:pPr marL="0" indent="0">
              <a:buNone/>
            </a:pPr>
            <a:r>
              <a:rPr lang="en-US" dirty="0"/>
              <a:t>A list that describes the probabilities of all the possible outcomes of a random trial</a:t>
            </a:r>
          </a:p>
          <a:p>
            <a:pPr marL="0" indent="0">
              <a:buNone/>
            </a:pPr>
            <a:r>
              <a:rPr lang="en-US" dirty="0"/>
              <a:t>Discrete: Describes the probabilities of categorical data or numerical data in discrete units, sum of all bars is 1</a:t>
            </a:r>
          </a:p>
          <a:p>
            <a:r>
              <a:rPr lang="en-US" dirty="0"/>
              <a:t>Discrete random variables take on finite, countable values</a:t>
            </a:r>
          </a:p>
          <a:p>
            <a:pPr marL="0" indent="0">
              <a:buNone/>
            </a:pPr>
            <a:endParaRPr lang="en-US" dirty="0"/>
          </a:p>
          <a:p>
            <a:endParaRPr lang="en-US" dirty="0"/>
          </a:p>
          <a:p>
            <a:endParaRPr lang="en-US" dirty="0"/>
          </a:p>
          <a:p>
            <a:endParaRPr lang="en-US" dirty="0"/>
          </a:p>
        </p:txBody>
      </p:sp>
      <p:pic>
        <p:nvPicPr>
          <p:cNvPr id="4" name="Content Placeholder 4">
            <a:extLst>
              <a:ext uri="{FF2B5EF4-FFF2-40B4-BE49-F238E27FC236}">
                <a16:creationId xmlns:a16="http://schemas.microsoft.com/office/drawing/2014/main" id="{7ACA0E1B-BDD9-F1D4-EFCB-C5F45C743B5F}"/>
              </a:ext>
            </a:extLst>
          </p:cNvPr>
          <p:cNvPicPr>
            <a:picLocks noChangeAspect="1"/>
          </p:cNvPicPr>
          <p:nvPr/>
        </p:nvPicPr>
        <p:blipFill>
          <a:blip r:embed="rId3"/>
          <a:stretch>
            <a:fillRect/>
          </a:stretch>
        </p:blipFill>
        <p:spPr>
          <a:xfrm>
            <a:off x="2581427" y="3818950"/>
            <a:ext cx="6534849" cy="2797912"/>
          </a:xfrm>
          <a:prstGeom prst="rect">
            <a:avLst/>
          </a:prstGeom>
          <a:ln w="28575">
            <a:solidFill>
              <a:schemeClr val="accent6">
                <a:lumMod val="50000"/>
              </a:schemeClr>
            </a:solidFill>
          </a:ln>
        </p:spPr>
      </p:pic>
    </p:spTree>
    <p:extLst>
      <p:ext uri="{BB962C8B-B14F-4D97-AF65-F5344CB8AC3E}">
        <p14:creationId xmlns:p14="http://schemas.microsoft.com/office/powerpoint/2010/main" val="1578063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7C25DD-4A26-3FB3-4B53-37F4FBA7CF1B}"/>
              </a:ext>
            </a:extLst>
          </p:cNvPr>
          <p:cNvSpPr>
            <a:spLocks noGrp="1"/>
          </p:cNvSpPr>
          <p:nvPr>
            <p:ph idx="1"/>
          </p:nvPr>
        </p:nvSpPr>
        <p:spPr>
          <a:xfrm>
            <a:off x="838200" y="1500161"/>
            <a:ext cx="10515600" cy="4351338"/>
          </a:xfrm>
        </p:spPr>
        <p:txBody>
          <a:bodyPr/>
          <a:lstStyle/>
          <a:p>
            <a:pPr marL="0" indent="0">
              <a:buNone/>
            </a:pPr>
            <a:r>
              <a:rPr lang="en-US" dirty="0"/>
              <a:t>Continuous: Can be described with a curve that is known as the probability density</a:t>
            </a:r>
          </a:p>
          <a:p>
            <a:pPr lvl="1"/>
            <a:r>
              <a:rPr lang="en-US" dirty="0"/>
              <a:t>Solve by finding the area under the curve between a and b</a:t>
            </a:r>
          </a:p>
          <a:p>
            <a:pPr lvl="1"/>
            <a:r>
              <a:rPr lang="en-US" dirty="0"/>
              <a:t>Mathematically, we can solve for this using integrals</a:t>
            </a:r>
          </a:p>
          <a:p>
            <a:pPr lvl="1"/>
            <a:r>
              <a:rPr lang="en-US" dirty="0"/>
              <a:t>The area under the entire curve is equal to 1</a:t>
            </a:r>
          </a:p>
          <a:p>
            <a:r>
              <a:rPr lang="en-US" dirty="0"/>
              <a:t>Continuous random variables take on any value within a smooth interval</a:t>
            </a:r>
          </a:p>
          <a:p>
            <a:pPr lvl="1"/>
            <a:endParaRPr lang="en-US" dirty="0"/>
          </a:p>
          <a:p>
            <a:endParaRPr lang="en-US" dirty="0"/>
          </a:p>
        </p:txBody>
      </p:sp>
      <p:sp>
        <p:nvSpPr>
          <p:cNvPr id="4" name="Title 1">
            <a:extLst>
              <a:ext uri="{FF2B5EF4-FFF2-40B4-BE49-F238E27FC236}">
                <a16:creationId xmlns:a16="http://schemas.microsoft.com/office/drawing/2014/main" id="{F91DE3CE-25B4-8CEB-5EB0-2432372B5440}"/>
              </a:ext>
            </a:extLst>
          </p:cNvPr>
          <p:cNvSpPr>
            <a:spLocks noGrp="1"/>
          </p:cNvSpPr>
          <p:nvPr>
            <p:ph type="title"/>
          </p:nvPr>
        </p:nvSpPr>
        <p:spPr>
          <a:xfrm>
            <a:off x="838200" y="365125"/>
            <a:ext cx="10515600" cy="1325563"/>
          </a:xfrm>
        </p:spPr>
        <p:txBody>
          <a:bodyPr>
            <a:normAutofit/>
          </a:bodyPr>
          <a:lstStyle/>
          <a:p>
            <a:r>
              <a:rPr lang="en-US" sz="5400" dirty="0"/>
              <a:t>Probability Distributions</a:t>
            </a:r>
          </a:p>
        </p:txBody>
      </p:sp>
      <p:pic>
        <p:nvPicPr>
          <p:cNvPr id="5" name="Picture 4">
            <a:extLst>
              <a:ext uri="{FF2B5EF4-FFF2-40B4-BE49-F238E27FC236}">
                <a16:creationId xmlns:a16="http://schemas.microsoft.com/office/drawing/2014/main" id="{0A386321-9ABC-02D8-ABFE-4FA9F98D0B6C}"/>
              </a:ext>
            </a:extLst>
          </p:cNvPr>
          <p:cNvPicPr>
            <a:picLocks noChangeAspect="1"/>
          </p:cNvPicPr>
          <p:nvPr/>
        </p:nvPicPr>
        <p:blipFill>
          <a:blip r:embed="rId2"/>
          <a:stretch>
            <a:fillRect/>
          </a:stretch>
        </p:blipFill>
        <p:spPr>
          <a:xfrm>
            <a:off x="3207000" y="4169044"/>
            <a:ext cx="5842619" cy="2495227"/>
          </a:xfrm>
          <a:prstGeom prst="rect">
            <a:avLst/>
          </a:prstGeom>
          <a:ln w="28575">
            <a:solidFill>
              <a:schemeClr val="accent6">
                <a:lumMod val="50000"/>
              </a:schemeClr>
            </a:solidFill>
          </a:ln>
        </p:spPr>
      </p:pic>
    </p:spTree>
    <p:extLst>
      <p:ext uri="{BB962C8B-B14F-4D97-AF65-F5344CB8AC3E}">
        <p14:creationId xmlns:p14="http://schemas.microsoft.com/office/powerpoint/2010/main" val="2030543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28C8F-A426-ED79-3922-980039E3F5EE}"/>
              </a:ext>
            </a:extLst>
          </p:cNvPr>
          <p:cNvSpPr>
            <a:spLocks noGrp="1"/>
          </p:cNvSpPr>
          <p:nvPr>
            <p:ph type="title"/>
          </p:nvPr>
        </p:nvSpPr>
        <p:spPr/>
        <p:txBody>
          <a:bodyPr>
            <a:normAutofit/>
          </a:bodyPr>
          <a:lstStyle/>
          <a:p>
            <a:r>
              <a:rPr lang="en-US" sz="5400" dirty="0"/>
              <a:t>Bernoulli Trials</a:t>
            </a:r>
          </a:p>
        </p:txBody>
      </p:sp>
      <p:sp>
        <p:nvSpPr>
          <p:cNvPr id="3" name="Content Placeholder 2">
            <a:extLst>
              <a:ext uri="{FF2B5EF4-FFF2-40B4-BE49-F238E27FC236}">
                <a16:creationId xmlns:a16="http://schemas.microsoft.com/office/drawing/2014/main" id="{D7EAF316-C47C-323A-D59F-A77DD29B7D2B}"/>
              </a:ext>
            </a:extLst>
          </p:cNvPr>
          <p:cNvSpPr>
            <a:spLocks noGrp="1"/>
          </p:cNvSpPr>
          <p:nvPr>
            <p:ph idx="1"/>
          </p:nvPr>
        </p:nvSpPr>
        <p:spPr>
          <a:xfrm>
            <a:off x="838200" y="1453666"/>
            <a:ext cx="10150098" cy="5257100"/>
          </a:xfrm>
        </p:spPr>
        <p:txBody>
          <a:bodyPr>
            <a:normAutofit/>
          </a:bodyPr>
          <a:lstStyle/>
          <a:p>
            <a:pPr marL="0" indent="0">
              <a:buNone/>
            </a:pPr>
            <a:r>
              <a:rPr lang="en-US" sz="3600" dirty="0"/>
              <a:t>Experiment of independent trials where there can be only two outcomes (E.g., flipping a coin)</a:t>
            </a:r>
          </a:p>
          <a:p>
            <a:r>
              <a:rPr lang="en-US" sz="3600" dirty="0"/>
              <a:t>Note: Independence</a:t>
            </a:r>
          </a:p>
          <a:p>
            <a:pPr lvl="1"/>
            <a:r>
              <a:rPr lang="en-US" sz="2800" dirty="0"/>
              <a:t>Two events are independent if the probability of one event does not influence the probability of another</a:t>
            </a:r>
          </a:p>
          <a:p>
            <a:pPr lvl="1"/>
            <a:r>
              <a:rPr lang="en-US" sz="2800" dirty="0"/>
              <a:t>Probability that both events occur is the product of their individual probability (event a and event B)</a:t>
            </a:r>
          </a:p>
          <a:p>
            <a:pPr marL="0" indent="0">
              <a:buNone/>
            </a:pPr>
            <a:r>
              <a:rPr lang="en-US" sz="3600" dirty="0"/>
              <a:t>Variable with many outcomes can be collapsed into a Bernoulli trial</a:t>
            </a:r>
          </a:p>
        </p:txBody>
      </p:sp>
      <p:pic>
        <p:nvPicPr>
          <p:cNvPr id="5" name="Picture 4">
            <a:extLst>
              <a:ext uri="{FF2B5EF4-FFF2-40B4-BE49-F238E27FC236}">
                <a16:creationId xmlns:a16="http://schemas.microsoft.com/office/drawing/2014/main" id="{72806C23-BEE3-B4EA-EA53-173781FC8678}"/>
              </a:ext>
            </a:extLst>
          </p:cNvPr>
          <p:cNvPicPr>
            <a:picLocks noChangeAspect="1"/>
          </p:cNvPicPr>
          <p:nvPr/>
        </p:nvPicPr>
        <p:blipFill>
          <a:blip r:embed="rId3"/>
          <a:stretch>
            <a:fillRect/>
          </a:stretch>
        </p:blipFill>
        <p:spPr>
          <a:xfrm rot="20045864">
            <a:off x="10349155" y="-17544"/>
            <a:ext cx="1643788" cy="2090898"/>
          </a:xfrm>
          <a:prstGeom prst="rect">
            <a:avLst/>
          </a:prstGeom>
        </p:spPr>
      </p:pic>
    </p:spTree>
    <p:extLst>
      <p:ext uri="{BB962C8B-B14F-4D97-AF65-F5344CB8AC3E}">
        <p14:creationId xmlns:p14="http://schemas.microsoft.com/office/powerpoint/2010/main" val="838864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68AD15-40B4-7935-578E-6CB522DAA902}"/>
              </a:ext>
            </a:extLst>
          </p:cNvPr>
          <p:cNvSpPr>
            <a:spLocks noGrp="1"/>
          </p:cNvSpPr>
          <p:nvPr>
            <p:ph type="title"/>
          </p:nvPr>
        </p:nvSpPr>
        <p:spPr/>
        <p:txBody>
          <a:bodyPr>
            <a:normAutofit/>
          </a:bodyPr>
          <a:lstStyle/>
          <a:p>
            <a:r>
              <a:rPr lang="en-US" sz="5400" dirty="0"/>
              <a:t>Meadow Example</a:t>
            </a:r>
          </a:p>
        </p:txBody>
      </p:sp>
      <p:sp>
        <p:nvSpPr>
          <p:cNvPr id="3" name="Content Placeholder 2">
            <a:extLst>
              <a:ext uri="{FF2B5EF4-FFF2-40B4-BE49-F238E27FC236}">
                <a16:creationId xmlns:a16="http://schemas.microsoft.com/office/drawing/2014/main" id="{32DEAF7E-7202-4DAC-F4D7-118CC5F4BBFD}"/>
              </a:ext>
            </a:extLst>
          </p:cNvPr>
          <p:cNvSpPr>
            <a:spLocks noGrp="1"/>
          </p:cNvSpPr>
          <p:nvPr>
            <p:ph idx="1"/>
          </p:nvPr>
        </p:nvSpPr>
        <p:spPr>
          <a:xfrm>
            <a:off x="838200" y="1825625"/>
            <a:ext cx="7289800" cy="4351338"/>
          </a:xfrm>
        </p:spPr>
        <p:txBody>
          <a:bodyPr/>
          <a:lstStyle/>
          <a:p>
            <a:pPr marL="0" indent="0">
              <a:buNone/>
            </a:pPr>
            <a:r>
              <a:rPr lang="en-US" dirty="0"/>
              <a:t>Occurrence of meadow beauty in Massachusetts</a:t>
            </a:r>
          </a:p>
          <a:p>
            <a:r>
              <a:rPr lang="en-US" dirty="0"/>
              <a:t>Survey many towns and collect data: presence, absence of the species</a:t>
            </a:r>
          </a:p>
          <a:p>
            <a:r>
              <a:rPr lang="en-US" dirty="0"/>
              <a:t>Assume P(present) = 0.02, P(absent) = 1-p = 0.98</a:t>
            </a:r>
          </a:p>
          <a:p>
            <a:r>
              <a:rPr lang="en-US" dirty="0"/>
              <a:t>Events must be independent</a:t>
            </a:r>
          </a:p>
          <a:p>
            <a:pPr lvl="1"/>
            <a:r>
              <a:rPr lang="en-US" dirty="0"/>
              <a:t>P(</a:t>
            </a:r>
            <a:r>
              <a:rPr lang="en-US" dirty="0" err="1"/>
              <a:t>occuring</a:t>
            </a:r>
            <a:r>
              <a:rPr lang="en-US" dirty="0"/>
              <a:t> in two towns) = 0.02 x 0.02 = 0.0004</a:t>
            </a:r>
          </a:p>
          <a:p>
            <a:pPr lvl="1"/>
            <a:r>
              <a:rPr lang="en-US" dirty="0"/>
              <a:t>P(</a:t>
            </a:r>
            <a:r>
              <a:rPr lang="en-US" dirty="0" err="1"/>
              <a:t>occuring</a:t>
            </a:r>
            <a:r>
              <a:rPr lang="en-US" dirty="0"/>
              <a:t> in 10 towns) = 0.02</a:t>
            </a:r>
            <a:r>
              <a:rPr lang="en-US" baseline="30000" dirty="0"/>
              <a:t>10</a:t>
            </a:r>
            <a:r>
              <a:rPr lang="en-US" dirty="0"/>
              <a:t> = 1.024 x 10</a:t>
            </a:r>
            <a:r>
              <a:rPr lang="en-US" baseline="30000" dirty="0"/>
              <a:t>-17</a:t>
            </a:r>
          </a:p>
          <a:p>
            <a:endParaRPr lang="en-US" dirty="0"/>
          </a:p>
        </p:txBody>
      </p:sp>
      <p:pic>
        <p:nvPicPr>
          <p:cNvPr id="5" name="Picture 4">
            <a:extLst>
              <a:ext uri="{FF2B5EF4-FFF2-40B4-BE49-F238E27FC236}">
                <a16:creationId xmlns:a16="http://schemas.microsoft.com/office/drawing/2014/main" id="{A48A2F8C-D450-CCCA-1446-21CCF6F582B7}"/>
              </a:ext>
            </a:extLst>
          </p:cNvPr>
          <p:cNvPicPr>
            <a:picLocks noChangeAspect="1"/>
          </p:cNvPicPr>
          <p:nvPr/>
        </p:nvPicPr>
        <p:blipFill>
          <a:blip r:embed="rId3"/>
          <a:stretch>
            <a:fillRect/>
          </a:stretch>
        </p:blipFill>
        <p:spPr>
          <a:xfrm>
            <a:off x="8432585" y="1312728"/>
            <a:ext cx="3060700" cy="4635500"/>
          </a:xfrm>
          <a:prstGeom prst="rect">
            <a:avLst/>
          </a:prstGeom>
        </p:spPr>
      </p:pic>
    </p:spTree>
    <p:extLst>
      <p:ext uri="{BB962C8B-B14F-4D97-AF65-F5344CB8AC3E}">
        <p14:creationId xmlns:p14="http://schemas.microsoft.com/office/powerpoint/2010/main" val="12859055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59BA-7392-A799-B56F-FE937C7CEA60}"/>
              </a:ext>
            </a:extLst>
          </p:cNvPr>
          <p:cNvSpPr>
            <a:spLocks noGrp="1"/>
          </p:cNvSpPr>
          <p:nvPr>
            <p:ph type="title"/>
          </p:nvPr>
        </p:nvSpPr>
        <p:spPr/>
        <p:txBody>
          <a:bodyPr>
            <a:noAutofit/>
          </a:bodyPr>
          <a:lstStyle/>
          <a:p>
            <a:r>
              <a:rPr lang="en-US" sz="5400" dirty="0"/>
              <a:t>Many Bernoulli Trials = A Binomial Random Variable</a:t>
            </a:r>
          </a:p>
        </p:txBody>
      </p:sp>
      <p:sp>
        <p:nvSpPr>
          <p:cNvPr id="3" name="Content Placeholder 2">
            <a:extLst>
              <a:ext uri="{FF2B5EF4-FFF2-40B4-BE49-F238E27FC236}">
                <a16:creationId xmlns:a16="http://schemas.microsoft.com/office/drawing/2014/main" id="{91D2E53D-A553-E966-AE7E-8E35A49E4F9A}"/>
              </a:ext>
            </a:extLst>
          </p:cNvPr>
          <p:cNvSpPr>
            <a:spLocks noGrp="1"/>
          </p:cNvSpPr>
          <p:nvPr>
            <p:ph idx="1"/>
          </p:nvPr>
        </p:nvSpPr>
        <p:spPr/>
        <p:txBody>
          <a:bodyPr>
            <a:normAutofit lnSpcReduction="10000"/>
          </a:bodyPr>
          <a:lstStyle/>
          <a:p>
            <a:pPr marL="0" indent="0">
              <a:buNone/>
            </a:pPr>
            <a:r>
              <a:rPr lang="en-US" dirty="0"/>
              <a:t>The probability of getting X successes in n trials</a:t>
            </a:r>
          </a:p>
          <a:p>
            <a:r>
              <a:rPr lang="en-US" dirty="0"/>
              <a:t>p is the probability of success</a:t>
            </a:r>
          </a:p>
          <a:p>
            <a:pPr lvl="1"/>
            <a:r>
              <a:rPr lang="en-US" dirty="0"/>
              <a:t>1-p is the probability of failure</a:t>
            </a:r>
          </a:p>
          <a:p>
            <a:r>
              <a:rPr lang="en-US" dirty="0"/>
              <a:t>n = total number of trials</a:t>
            </a:r>
          </a:p>
          <a:p>
            <a:r>
              <a:rPr lang="en-US" dirty="0"/>
              <a:t>X = total number of successes</a:t>
            </a:r>
          </a:p>
          <a:p>
            <a:endParaRPr lang="en-US" dirty="0"/>
          </a:p>
          <a:p>
            <a:pPr marL="0" indent="0">
              <a:buNone/>
            </a:pPr>
            <a:r>
              <a:rPr lang="en-US" dirty="0"/>
              <a:t>n choose X is the binomial coefficient</a:t>
            </a:r>
          </a:p>
          <a:p>
            <a:r>
              <a:rPr lang="en-US" dirty="0"/>
              <a:t>Gets you every possible combination of success &amp; failures</a:t>
            </a:r>
          </a:p>
          <a:p>
            <a:r>
              <a:rPr lang="en-US" dirty="0"/>
              <a:t>Factorial: gets big FAST</a:t>
            </a:r>
          </a:p>
        </p:txBody>
      </p:sp>
      <p:pic>
        <p:nvPicPr>
          <p:cNvPr id="5" name="Picture 4">
            <a:extLst>
              <a:ext uri="{FF2B5EF4-FFF2-40B4-BE49-F238E27FC236}">
                <a16:creationId xmlns:a16="http://schemas.microsoft.com/office/drawing/2014/main" id="{1305B836-3AAC-08DB-F482-DA58FEFEE68C}"/>
              </a:ext>
            </a:extLst>
          </p:cNvPr>
          <p:cNvPicPr>
            <a:picLocks noChangeAspect="1"/>
          </p:cNvPicPr>
          <p:nvPr/>
        </p:nvPicPr>
        <p:blipFill>
          <a:blip r:embed="rId2"/>
          <a:stretch>
            <a:fillRect/>
          </a:stretch>
        </p:blipFill>
        <p:spPr>
          <a:xfrm>
            <a:off x="6441016" y="2675730"/>
            <a:ext cx="5327650" cy="1148919"/>
          </a:xfrm>
          <a:prstGeom prst="rect">
            <a:avLst/>
          </a:prstGeom>
          <a:ln w="28575">
            <a:solidFill>
              <a:schemeClr val="accent6">
                <a:lumMod val="50000"/>
              </a:schemeClr>
            </a:solidFill>
          </a:ln>
        </p:spPr>
      </p:pic>
    </p:spTree>
    <p:extLst>
      <p:ext uri="{BB962C8B-B14F-4D97-AF65-F5344CB8AC3E}">
        <p14:creationId xmlns:p14="http://schemas.microsoft.com/office/powerpoint/2010/main" val="523565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FFF22-6D23-713C-9E37-16D03E42E1BC}"/>
              </a:ext>
            </a:extLst>
          </p:cNvPr>
          <p:cNvSpPr>
            <a:spLocks noGrp="1"/>
          </p:cNvSpPr>
          <p:nvPr>
            <p:ph type="title"/>
          </p:nvPr>
        </p:nvSpPr>
        <p:spPr/>
        <p:txBody>
          <a:bodyPr>
            <a:normAutofit/>
          </a:bodyPr>
          <a:lstStyle/>
          <a:p>
            <a:r>
              <a:rPr lang="en-US" sz="5400" dirty="0"/>
              <a:t>Binomial Distribution (Discrete)</a:t>
            </a:r>
          </a:p>
        </p:txBody>
      </p:sp>
      <p:sp>
        <p:nvSpPr>
          <p:cNvPr id="3" name="Content Placeholder 2">
            <a:extLst>
              <a:ext uri="{FF2B5EF4-FFF2-40B4-BE49-F238E27FC236}">
                <a16:creationId xmlns:a16="http://schemas.microsoft.com/office/drawing/2014/main" id="{1586E5C9-38E9-C286-CC0D-596319FD57F0}"/>
              </a:ext>
            </a:extLst>
          </p:cNvPr>
          <p:cNvSpPr>
            <a:spLocks noGrp="1"/>
          </p:cNvSpPr>
          <p:nvPr>
            <p:ph idx="1"/>
          </p:nvPr>
        </p:nvSpPr>
        <p:spPr/>
        <p:txBody>
          <a:bodyPr>
            <a:normAutofit lnSpcReduction="10000"/>
          </a:bodyPr>
          <a:lstStyle/>
          <a:p>
            <a:pPr marL="0" indent="0">
              <a:buNone/>
            </a:pPr>
            <a:r>
              <a:rPr lang="en-US" sz="3200" dirty="0"/>
              <a:t>Example: Flipping a coin</a:t>
            </a:r>
          </a:p>
          <a:p>
            <a:r>
              <a:rPr lang="en-US" sz="2400" dirty="0"/>
              <a:t>P(Heads) = P(Tails)=0.5</a:t>
            </a:r>
          </a:p>
          <a:p>
            <a:r>
              <a:rPr lang="en-US" sz="2400" dirty="0"/>
              <a:t>n = 25 (flip the coin 25 times)</a:t>
            </a:r>
          </a:p>
          <a:p>
            <a:r>
              <a:rPr lang="en-US" sz="2400" dirty="0"/>
              <a:t>X = outcome, binomial random variable</a:t>
            </a:r>
          </a:p>
          <a:p>
            <a:pPr marL="0" indent="0">
              <a:buNone/>
            </a:pPr>
            <a:r>
              <a:rPr lang="en-US" dirty="0"/>
              <a:t>Probability = binomial formula</a:t>
            </a:r>
          </a:p>
          <a:p>
            <a:pPr marL="0" indent="0">
              <a:buNone/>
            </a:pPr>
            <a:r>
              <a:rPr lang="en-US" dirty="0"/>
              <a:t>The probability density function assumes: </a:t>
            </a:r>
          </a:p>
          <a:p>
            <a:r>
              <a:rPr lang="en-US" dirty="0"/>
              <a:t>the number of trials (n) is fixed, </a:t>
            </a:r>
            <a:endParaRPr lang="en-US" dirty="0">
              <a:effectLst/>
            </a:endParaRPr>
          </a:p>
          <a:p>
            <a:r>
              <a:rPr lang="en-US" dirty="0"/>
              <a:t>separate trials are independent</a:t>
            </a:r>
          </a:p>
          <a:p>
            <a:r>
              <a:rPr lang="en-US" dirty="0"/>
              <a:t>the probability of success (p) is the same in every trial. </a:t>
            </a:r>
            <a:endParaRPr lang="en-US" dirty="0">
              <a:effectLst/>
            </a:endParaRPr>
          </a:p>
          <a:p>
            <a:endParaRPr lang="en-US" dirty="0"/>
          </a:p>
        </p:txBody>
      </p:sp>
      <p:pic>
        <p:nvPicPr>
          <p:cNvPr id="7" name="Picture 6">
            <a:extLst>
              <a:ext uri="{FF2B5EF4-FFF2-40B4-BE49-F238E27FC236}">
                <a16:creationId xmlns:a16="http://schemas.microsoft.com/office/drawing/2014/main" id="{FE73ECF6-5A36-F694-541D-3A2F3E1BC966}"/>
              </a:ext>
            </a:extLst>
          </p:cNvPr>
          <p:cNvPicPr>
            <a:picLocks noChangeAspect="1"/>
          </p:cNvPicPr>
          <p:nvPr/>
        </p:nvPicPr>
        <p:blipFill>
          <a:blip r:embed="rId2"/>
          <a:stretch>
            <a:fillRect/>
          </a:stretch>
        </p:blipFill>
        <p:spPr>
          <a:xfrm>
            <a:off x="8466637" y="1595329"/>
            <a:ext cx="3112552" cy="3477712"/>
          </a:xfrm>
          <a:prstGeom prst="rect">
            <a:avLst/>
          </a:prstGeom>
        </p:spPr>
      </p:pic>
    </p:spTree>
    <p:extLst>
      <p:ext uri="{BB962C8B-B14F-4D97-AF65-F5344CB8AC3E}">
        <p14:creationId xmlns:p14="http://schemas.microsoft.com/office/powerpoint/2010/main" val="28042144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46700-ED1C-A3C6-A271-59186FC829BB}"/>
              </a:ext>
            </a:extLst>
          </p:cNvPr>
          <p:cNvSpPr>
            <a:spLocks noGrp="1"/>
          </p:cNvSpPr>
          <p:nvPr>
            <p:ph type="title"/>
          </p:nvPr>
        </p:nvSpPr>
        <p:spPr/>
        <p:txBody>
          <a:bodyPr>
            <a:normAutofit/>
          </a:bodyPr>
          <a:lstStyle/>
          <a:p>
            <a:r>
              <a:rPr lang="en-US" sz="5400" dirty="0"/>
              <a:t>P(X)= 0.5</a:t>
            </a:r>
          </a:p>
        </p:txBody>
      </p:sp>
      <p:pic>
        <p:nvPicPr>
          <p:cNvPr id="5" name="Content Placeholder 4">
            <a:extLst>
              <a:ext uri="{FF2B5EF4-FFF2-40B4-BE49-F238E27FC236}">
                <a16:creationId xmlns:a16="http://schemas.microsoft.com/office/drawing/2014/main" id="{68876CDF-BD31-68E2-1519-B3686EB21D62}"/>
              </a:ext>
            </a:extLst>
          </p:cNvPr>
          <p:cNvPicPr>
            <a:picLocks noGrp="1" noChangeAspect="1"/>
          </p:cNvPicPr>
          <p:nvPr>
            <p:ph idx="1"/>
          </p:nvPr>
        </p:nvPicPr>
        <p:blipFill>
          <a:blip r:embed="rId3"/>
          <a:stretch>
            <a:fillRect/>
          </a:stretch>
        </p:blipFill>
        <p:spPr>
          <a:xfrm>
            <a:off x="2150570" y="1825625"/>
            <a:ext cx="7890859" cy="4351338"/>
          </a:xfrm>
          <a:prstGeom prst="rect">
            <a:avLst/>
          </a:prstGeom>
          <a:ln w="28575">
            <a:solidFill>
              <a:schemeClr val="accent6">
                <a:lumMod val="50000"/>
              </a:schemeClr>
            </a:solidFill>
          </a:ln>
        </p:spPr>
      </p:pic>
    </p:spTree>
    <p:extLst>
      <p:ext uri="{BB962C8B-B14F-4D97-AF65-F5344CB8AC3E}">
        <p14:creationId xmlns:p14="http://schemas.microsoft.com/office/powerpoint/2010/main" val="3303208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A2EE-7A6D-42C9-A3DF-5FD0691C8205}"/>
              </a:ext>
            </a:extLst>
          </p:cNvPr>
          <p:cNvSpPr>
            <a:spLocks noGrp="1"/>
          </p:cNvSpPr>
          <p:nvPr>
            <p:ph type="title"/>
          </p:nvPr>
        </p:nvSpPr>
        <p:spPr/>
        <p:txBody>
          <a:bodyPr>
            <a:normAutofit/>
          </a:bodyPr>
          <a:lstStyle/>
          <a:p>
            <a:r>
              <a:rPr lang="en-US" sz="5400" dirty="0"/>
              <a:t>What if P(X)= 0.25</a:t>
            </a:r>
          </a:p>
        </p:txBody>
      </p:sp>
      <p:pic>
        <p:nvPicPr>
          <p:cNvPr id="5" name="Content Placeholder 4">
            <a:extLst>
              <a:ext uri="{FF2B5EF4-FFF2-40B4-BE49-F238E27FC236}">
                <a16:creationId xmlns:a16="http://schemas.microsoft.com/office/drawing/2014/main" id="{2AA30765-1E2C-5812-7429-01F59AB4FF5D}"/>
              </a:ext>
            </a:extLst>
          </p:cNvPr>
          <p:cNvPicPr>
            <a:picLocks noGrp="1" noChangeAspect="1"/>
          </p:cNvPicPr>
          <p:nvPr>
            <p:ph idx="1"/>
          </p:nvPr>
        </p:nvPicPr>
        <p:blipFill>
          <a:blip r:embed="rId2"/>
          <a:stretch>
            <a:fillRect/>
          </a:stretch>
        </p:blipFill>
        <p:spPr>
          <a:xfrm>
            <a:off x="2219746" y="1825625"/>
            <a:ext cx="7752507" cy="4351338"/>
          </a:xfrm>
          <a:prstGeom prst="rect">
            <a:avLst/>
          </a:prstGeom>
          <a:ln w="28575">
            <a:solidFill>
              <a:schemeClr val="accent6">
                <a:lumMod val="50000"/>
              </a:schemeClr>
            </a:solidFill>
          </a:ln>
        </p:spPr>
      </p:pic>
    </p:spTree>
    <p:extLst>
      <p:ext uri="{BB962C8B-B14F-4D97-AF65-F5344CB8AC3E}">
        <p14:creationId xmlns:p14="http://schemas.microsoft.com/office/powerpoint/2010/main" val="3995511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F52E5-6094-5849-C9DF-49EE711541E7}"/>
              </a:ext>
            </a:extLst>
          </p:cNvPr>
          <p:cNvSpPr>
            <a:spLocks noGrp="1"/>
          </p:cNvSpPr>
          <p:nvPr>
            <p:ph type="title"/>
          </p:nvPr>
        </p:nvSpPr>
        <p:spPr/>
        <p:txBody>
          <a:bodyPr>
            <a:normAutofit/>
          </a:bodyPr>
          <a:lstStyle/>
          <a:p>
            <a:r>
              <a:rPr lang="en-US" sz="5400" dirty="0"/>
              <a:t>And P(X)= 0.05</a:t>
            </a:r>
          </a:p>
        </p:txBody>
      </p:sp>
      <p:pic>
        <p:nvPicPr>
          <p:cNvPr id="5" name="Content Placeholder 4">
            <a:extLst>
              <a:ext uri="{FF2B5EF4-FFF2-40B4-BE49-F238E27FC236}">
                <a16:creationId xmlns:a16="http://schemas.microsoft.com/office/drawing/2014/main" id="{A7F990E5-C96F-0C6D-EE98-A3536A08FED6}"/>
              </a:ext>
            </a:extLst>
          </p:cNvPr>
          <p:cNvPicPr>
            <a:picLocks noGrp="1" noChangeAspect="1"/>
          </p:cNvPicPr>
          <p:nvPr>
            <p:ph idx="1"/>
          </p:nvPr>
        </p:nvPicPr>
        <p:blipFill>
          <a:blip r:embed="rId3"/>
          <a:stretch>
            <a:fillRect/>
          </a:stretch>
        </p:blipFill>
        <p:spPr>
          <a:xfrm>
            <a:off x="2161163" y="1825625"/>
            <a:ext cx="7869674" cy="4351338"/>
          </a:xfrm>
          <a:prstGeom prst="rect">
            <a:avLst/>
          </a:prstGeom>
          <a:ln w="28575">
            <a:solidFill>
              <a:schemeClr val="accent6">
                <a:lumMod val="50000"/>
              </a:schemeClr>
            </a:solidFill>
          </a:ln>
        </p:spPr>
      </p:pic>
    </p:spTree>
    <p:extLst>
      <p:ext uri="{BB962C8B-B14F-4D97-AF65-F5344CB8AC3E}">
        <p14:creationId xmlns:p14="http://schemas.microsoft.com/office/powerpoint/2010/main" val="13842520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793A7-BB34-CDC8-E98B-8BC0790B1456}"/>
              </a:ext>
            </a:extLst>
          </p:cNvPr>
          <p:cNvSpPr>
            <a:spLocks noGrp="1"/>
          </p:cNvSpPr>
          <p:nvPr>
            <p:ph type="title"/>
          </p:nvPr>
        </p:nvSpPr>
        <p:spPr/>
        <p:txBody>
          <a:bodyPr>
            <a:normAutofit/>
          </a:bodyPr>
          <a:lstStyle/>
          <a:p>
            <a:r>
              <a:rPr lang="en-US" sz="5400" dirty="0"/>
              <a:t>Poisson Distribution</a:t>
            </a:r>
          </a:p>
        </p:txBody>
      </p:sp>
      <p:sp>
        <p:nvSpPr>
          <p:cNvPr id="3" name="Content Placeholder 2">
            <a:extLst>
              <a:ext uri="{FF2B5EF4-FFF2-40B4-BE49-F238E27FC236}">
                <a16:creationId xmlns:a16="http://schemas.microsoft.com/office/drawing/2014/main" id="{6D9A0116-BE77-3FBF-BFFB-78BF5CDB4E0B}"/>
              </a:ext>
            </a:extLst>
          </p:cNvPr>
          <p:cNvSpPr>
            <a:spLocks noGrp="1"/>
          </p:cNvSpPr>
          <p:nvPr>
            <p:ph idx="1"/>
          </p:nvPr>
        </p:nvSpPr>
        <p:spPr>
          <a:xfrm>
            <a:off x="838200" y="1690688"/>
            <a:ext cx="10515600" cy="4802187"/>
          </a:xfrm>
        </p:spPr>
        <p:txBody>
          <a:bodyPr>
            <a:normAutofit fontScale="92500" lnSpcReduction="10000"/>
          </a:bodyPr>
          <a:lstStyle/>
          <a:p>
            <a:pPr marL="0" indent="0">
              <a:buNone/>
            </a:pPr>
            <a:r>
              <a:rPr lang="en-US" dirty="0"/>
              <a:t>Describes the number of successes in blocks of time or space, when successes happen independently of each other and occur with equal probability at every instant in time or point in space. </a:t>
            </a:r>
          </a:p>
          <a:p>
            <a:r>
              <a:rPr lang="en-US" dirty="0"/>
              <a:t>Asking whether events or objects occur randomly in continuous time/ space. </a:t>
            </a:r>
            <a:endParaRPr lang="en-US" dirty="0">
              <a:effectLst/>
            </a:endParaRPr>
          </a:p>
          <a:p>
            <a:r>
              <a:rPr lang="en-US" dirty="0"/>
              <a:t>A reasonable expectation for certain biological </a:t>
            </a:r>
            <a:r>
              <a:rPr lang="en-US" u="sng" dirty="0"/>
              <a:t>counts</a:t>
            </a:r>
            <a:r>
              <a:rPr lang="en-US" dirty="0"/>
              <a:t>, </a:t>
            </a:r>
          </a:p>
          <a:p>
            <a:pPr lvl="1"/>
            <a:r>
              <a:rPr lang="en-US" dirty="0"/>
              <a:t>the number of salmon caught on a given day by each bear, number of seeds successfully germinated by each mother plant</a:t>
            </a:r>
            <a:endParaRPr lang="en-US" dirty="0">
              <a:effectLst/>
            </a:endParaRPr>
          </a:p>
          <a:p>
            <a:r>
              <a:rPr lang="en-US" dirty="0"/>
              <a:t>Just a </a:t>
            </a:r>
            <a:r>
              <a:rPr lang="en-US" i="1" dirty="0"/>
              <a:t>model – </a:t>
            </a:r>
            <a:r>
              <a:rPr lang="en-US" dirty="0"/>
              <a:t>life gets interesting when the model doesn’t fit the data, because then we learn that one or more of the main assumptions is false </a:t>
            </a:r>
          </a:p>
          <a:p>
            <a:pPr lvl="1"/>
            <a:r>
              <a:rPr lang="en-US" dirty="0"/>
              <a:t>some bears may be better catchers than others, or some plants may produce better-quality seeds </a:t>
            </a:r>
            <a:endParaRPr lang="en-US" dirty="0">
              <a:effectLst/>
            </a:endParaRPr>
          </a:p>
          <a:p>
            <a:endParaRPr lang="en-US" dirty="0">
              <a:effectLst/>
            </a:endParaRPr>
          </a:p>
          <a:p>
            <a:endParaRPr lang="en-US" dirty="0"/>
          </a:p>
        </p:txBody>
      </p:sp>
      <p:pic>
        <p:nvPicPr>
          <p:cNvPr id="5" name="Picture 4">
            <a:extLst>
              <a:ext uri="{FF2B5EF4-FFF2-40B4-BE49-F238E27FC236}">
                <a16:creationId xmlns:a16="http://schemas.microsoft.com/office/drawing/2014/main" id="{74C2450E-2E49-3E75-5792-B0BD052B1FEE}"/>
              </a:ext>
            </a:extLst>
          </p:cNvPr>
          <p:cNvPicPr>
            <a:picLocks noChangeAspect="1"/>
          </p:cNvPicPr>
          <p:nvPr/>
        </p:nvPicPr>
        <p:blipFill>
          <a:blip r:embed="rId2"/>
          <a:srcRect t="8916" b="32834"/>
          <a:stretch>
            <a:fillRect/>
          </a:stretch>
        </p:blipFill>
        <p:spPr>
          <a:xfrm rot="1805383">
            <a:off x="10060731" y="120876"/>
            <a:ext cx="2076147" cy="1814060"/>
          </a:xfrm>
          <a:prstGeom prst="rect">
            <a:avLst/>
          </a:prstGeom>
        </p:spPr>
      </p:pic>
      <p:pic>
        <p:nvPicPr>
          <p:cNvPr id="7" name="Picture 6">
            <a:extLst>
              <a:ext uri="{FF2B5EF4-FFF2-40B4-BE49-F238E27FC236}">
                <a16:creationId xmlns:a16="http://schemas.microsoft.com/office/drawing/2014/main" id="{A71A903F-2530-53D1-59ED-0DA12F4C5286}"/>
              </a:ext>
            </a:extLst>
          </p:cNvPr>
          <p:cNvPicPr>
            <a:picLocks noChangeAspect="1"/>
          </p:cNvPicPr>
          <p:nvPr/>
        </p:nvPicPr>
        <p:blipFill>
          <a:blip r:embed="rId3"/>
          <a:stretch>
            <a:fillRect/>
          </a:stretch>
        </p:blipFill>
        <p:spPr>
          <a:xfrm rot="1697322">
            <a:off x="10254933" y="-103391"/>
            <a:ext cx="2197736" cy="1670279"/>
          </a:xfrm>
          <a:prstGeom prst="rect">
            <a:avLst/>
          </a:prstGeom>
        </p:spPr>
      </p:pic>
    </p:spTree>
    <p:extLst>
      <p:ext uri="{BB962C8B-B14F-4D97-AF65-F5344CB8AC3E}">
        <p14:creationId xmlns:p14="http://schemas.microsoft.com/office/powerpoint/2010/main" val="1487587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28D45-DB22-BA48-8681-F62B103E789C}"/>
              </a:ext>
            </a:extLst>
          </p:cNvPr>
          <p:cNvSpPr>
            <a:spLocks noGrp="1"/>
          </p:cNvSpPr>
          <p:nvPr>
            <p:ph type="title"/>
          </p:nvPr>
        </p:nvSpPr>
        <p:spPr/>
        <p:txBody>
          <a:bodyPr>
            <a:normAutofit/>
          </a:bodyPr>
          <a:lstStyle/>
          <a:p>
            <a:r>
              <a:rPr lang="en-US" sz="5400" dirty="0"/>
              <a:t>Poisson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7B9A66-3B57-3C18-E952-236C693C7E3A}"/>
                  </a:ext>
                </a:extLst>
              </p:cNvPr>
              <p:cNvSpPr>
                <a:spLocks noGrp="1"/>
              </p:cNvSpPr>
              <p:nvPr>
                <p:ph idx="1"/>
              </p:nvPr>
            </p:nvSpPr>
            <p:spPr>
              <a:xfrm>
                <a:off x="838200" y="1825625"/>
                <a:ext cx="10515600" cy="4351338"/>
              </a:xfrm>
            </p:spPr>
            <p:txBody>
              <a:bodyPr>
                <a:normAutofit/>
              </a:bodyPr>
              <a:lstStyle/>
              <a:p>
                <a:pPr marL="0" indent="0">
                  <a:buNone/>
                </a:pPr>
                <a:r>
                  <a:rPr lang="en-US" sz="3600" dirty="0"/>
                  <a:t>Poisson Random Variable: probability of X successes occurring in any given block of time or space </a:t>
                </a:r>
              </a:p>
              <a:p>
                <a:r>
                  <a:rPr lang="en-US" dirty="0"/>
                  <a:t>In this case, </a:t>
                </a:r>
                <a14:m>
                  <m:oMath xmlns:m="http://schemas.openxmlformats.org/officeDocument/2006/math">
                    <m:r>
                      <a:rPr lang="en-US" i="1" smtClean="0">
                        <a:latin typeface="Cambria Math" panose="02040503050406030204" pitchFamily="18" charset="0"/>
                        <a:ea typeface="Cambria Math" panose="02040503050406030204" pitchFamily="18" charset="0"/>
                      </a:rPr>
                      <m:t>𝜇</m:t>
                    </m:r>
                  </m:oMath>
                </a14:m>
                <a:r>
                  <a:rPr lang="en-US" dirty="0"/>
                  <a:t>, sometimes written as </a:t>
                </a:r>
                <a14:m>
                  <m:oMath xmlns:m="http://schemas.openxmlformats.org/officeDocument/2006/math">
                    <m:r>
                      <a:rPr lang="en-US" i="1" smtClean="0">
                        <a:latin typeface="Cambria Math" panose="02040503050406030204" pitchFamily="18" charset="0"/>
                        <a:ea typeface="Cambria Math" panose="02040503050406030204" pitchFamily="18" charset="0"/>
                      </a:rPr>
                      <m:t>𝜆</m:t>
                    </m:r>
                  </m:oMath>
                </a14:m>
                <a:r>
                  <a:rPr lang="en-US" dirty="0"/>
                  <a:t>, is the mean number of independent successes in time or space (expressed as a count per unit time or a count per unit space); describes the frequency of rare events</a:t>
                </a:r>
              </a:p>
            </p:txBody>
          </p:sp>
        </mc:Choice>
        <mc:Fallback>
          <p:sp>
            <p:nvSpPr>
              <p:cNvPr id="3" name="Content Placeholder 2">
                <a:extLst>
                  <a:ext uri="{FF2B5EF4-FFF2-40B4-BE49-F238E27FC236}">
                    <a16:creationId xmlns:a16="http://schemas.microsoft.com/office/drawing/2014/main" id="{B97B9A66-3B57-3C18-E952-236C693C7E3A}"/>
                  </a:ext>
                </a:extLst>
              </p:cNvPr>
              <p:cNvSpPr>
                <a:spLocks noGrp="1" noRot="1" noChangeAspect="1" noMove="1" noResize="1" noEditPoints="1" noAdjustHandles="1" noChangeArrowheads="1" noChangeShapeType="1" noTextEdit="1"/>
              </p:cNvSpPr>
              <p:nvPr>
                <p:ph idx="1"/>
              </p:nvPr>
            </p:nvSpPr>
            <p:spPr>
              <a:xfrm>
                <a:off x="838200" y="1825625"/>
                <a:ext cx="10515600" cy="4351338"/>
              </a:xfrm>
              <a:blipFill>
                <a:blip r:embed="rId2"/>
                <a:stretch>
                  <a:fillRect l="-1809" t="-3198"/>
                </a:stretch>
              </a:blipFill>
            </p:spPr>
            <p:txBody>
              <a:bodyPr/>
              <a:lstStyle/>
              <a:p>
                <a:r>
                  <a:rPr lang="en-US">
                    <a:noFill/>
                  </a:rPr>
                  <a:t> </a:t>
                </a:r>
              </a:p>
            </p:txBody>
          </p:sp>
        </mc:Fallback>
      </mc:AlternateContent>
      <p:pic>
        <p:nvPicPr>
          <p:cNvPr id="7" name="Picture 6">
            <a:extLst>
              <a:ext uri="{FF2B5EF4-FFF2-40B4-BE49-F238E27FC236}">
                <a16:creationId xmlns:a16="http://schemas.microsoft.com/office/drawing/2014/main" id="{02CC7DE7-85AF-B93A-57D5-2F80343BBC86}"/>
              </a:ext>
            </a:extLst>
          </p:cNvPr>
          <p:cNvPicPr>
            <a:picLocks noChangeAspect="1"/>
          </p:cNvPicPr>
          <p:nvPr/>
        </p:nvPicPr>
        <p:blipFill>
          <a:blip r:embed="rId3"/>
          <a:srcRect l="2015" b="7727"/>
          <a:stretch>
            <a:fillRect/>
          </a:stretch>
        </p:blipFill>
        <p:spPr>
          <a:xfrm>
            <a:off x="5159069" y="5070301"/>
            <a:ext cx="5249334" cy="935223"/>
          </a:xfrm>
          <a:prstGeom prst="rect">
            <a:avLst/>
          </a:prstGeom>
          <a:ln w="28575">
            <a:solidFill>
              <a:schemeClr val="accent6">
                <a:lumMod val="50000"/>
              </a:schemeClr>
            </a:solidFill>
          </a:ln>
        </p:spPr>
      </p:pic>
    </p:spTree>
    <p:extLst>
      <p:ext uri="{BB962C8B-B14F-4D97-AF65-F5344CB8AC3E}">
        <p14:creationId xmlns:p14="http://schemas.microsoft.com/office/powerpoint/2010/main" val="973387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E58BC-709C-47C6-B438-3799D39C8625}"/>
              </a:ext>
            </a:extLst>
          </p:cNvPr>
          <p:cNvSpPr>
            <a:spLocks noGrp="1"/>
          </p:cNvSpPr>
          <p:nvPr>
            <p:ph type="title"/>
          </p:nvPr>
        </p:nvSpPr>
        <p:spPr/>
        <p:txBody>
          <a:bodyPr>
            <a:normAutofit/>
          </a:bodyPr>
          <a:lstStyle/>
          <a:p>
            <a:r>
              <a:rPr lang="en-US" sz="5400" dirty="0"/>
              <a:t>Poisson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58AE323-F4D2-8182-D848-E926D1D7D924}"/>
                  </a:ext>
                </a:extLst>
              </p:cNvPr>
              <p:cNvSpPr>
                <a:spLocks noGrp="1"/>
              </p:cNvSpPr>
              <p:nvPr>
                <p:ph idx="1"/>
              </p:nvPr>
            </p:nvSpPr>
            <p:spPr/>
            <p:txBody>
              <a:bodyPr/>
              <a:lstStyle/>
              <a:p>
                <a:pPr marL="0" indent="0">
                  <a:buNone/>
                </a:pPr>
                <a:r>
                  <a:rPr lang="en-US" sz="3600" dirty="0"/>
                  <a:t>Average number of orchid seedlings found per 1 m</a:t>
                </a:r>
                <a:r>
                  <a:rPr lang="en-US" sz="3600" baseline="30000" dirty="0"/>
                  <a:t>2</a:t>
                </a:r>
                <a:r>
                  <a:rPr lang="en-US" sz="3600" dirty="0"/>
                  <a:t> is 0.75</a:t>
                </a:r>
              </a:p>
              <a:p>
                <a:r>
                  <a:rPr lang="en-US" sz="3600" dirty="0"/>
                  <a:t>What is the probability that a quadrat will have 4 seedlings?</a:t>
                </a:r>
              </a:p>
              <a:p>
                <a:pPr lvl="1"/>
                <a14:m>
                  <m:oMath xmlns:m="http://schemas.openxmlformats.org/officeDocument/2006/math">
                    <m:r>
                      <a:rPr lang="en-US" i="1" smtClean="0">
                        <a:latin typeface="Cambria Math" panose="02040503050406030204" pitchFamily="18" charset="0"/>
                        <a:ea typeface="Cambria Math" panose="02040503050406030204" pitchFamily="18" charset="0"/>
                      </a:rPr>
                      <m:t>𝜆</m:t>
                    </m:r>
                  </m:oMath>
                </a14:m>
                <a:r>
                  <a:rPr lang="en-US" dirty="0"/>
                  <a:t>=0.75, x=4</a:t>
                </a:r>
              </a:p>
            </p:txBody>
          </p:sp>
        </mc:Choice>
        <mc:Fallback>
          <p:sp>
            <p:nvSpPr>
              <p:cNvPr id="3" name="Content Placeholder 2">
                <a:extLst>
                  <a:ext uri="{FF2B5EF4-FFF2-40B4-BE49-F238E27FC236}">
                    <a16:creationId xmlns:a16="http://schemas.microsoft.com/office/drawing/2014/main" id="{D58AE323-F4D2-8182-D848-E926D1D7D924}"/>
                  </a:ext>
                </a:extLst>
              </p:cNvPr>
              <p:cNvSpPr>
                <a:spLocks noGrp="1" noRot="1" noChangeAspect="1" noMove="1" noResize="1" noEditPoints="1" noAdjustHandles="1" noChangeArrowheads="1" noChangeShapeType="1" noTextEdit="1"/>
              </p:cNvSpPr>
              <p:nvPr>
                <p:ph idx="1"/>
              </p:nvPr>
            </p:nvSpPr>
            <p:spPr>
              <a:blipFill>
                <a:blip r:embed="rId3"/>
                <a:stretch>
                  <a:fillRect l="-1809" t="-319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0CA796E5-E213-67A7-8CA4-781B34BF4BEB}"/>
              </a:ext>
            </a:extLst>
          </p:cNvPr>
          <p:cNvPicPr>
            <a:picLocks noChangeAspect="1"/>
          </p:cNvPicPr>
          <p:nvPr/>
        </p:nvPicPr>
        <p:blipFill>
          <a:blip r:embed="rId4"/>
          <a:stretch>
            <a:fillRect/>
          </a:stretch>
        </p:blipFill>
        <p:spPr>
          <a:xfrm>
            <a:off x="4830090" y="3775075"/>
            <a:ext cx="5702300" cy="2717800"/>
          </a:xfrm>
          <a:prstGeom prst="rect">
            <a:avLst/>
          </a:prstGeom>
          <a:ln w="28575">
            <a:solidFill>
              <a:schemeClr val="accent6">
                <a:lumMod val="50000"/>
              </a:schemeClr>
            </a:solidFill>
          </a:ln>
        </p:spPr>
      </p:pic>
      <p:pic>
        <p:nvPicPr>
          <p:cNvPr id="7" name="Picture 6">
            <a:extLst>
              <a:ext uri="{FF2B5EF4-FFF2-40B4-BE49-F238E27FC236}">
                <a16:creationId xmlns:a16="http://schemas.microsoft.com/office/drawing/2014/main" id="{DF3BE026-A2FE-6DE2-EC28-FD779C440E49}"/>
              </a:ext>
            </a:extLst>
          </p:cNvPr>
          <p:cNvPicPr>
            <a:picLocks noChangeAspect="1"/>
          </p:cNvPicPr>
          <p:nvPr/>
        </p:nvPicPr>
        <p:blipFill>
          <a:blip r:embed="rId5"/>
          <a:stretch>
            <a:fillRect/>
          </a:stretch>
        </p:blipFill>
        <p:spPr>
          <a:xfrm flipH="1">
            <a:off x="2498421" y="4025500"/>
            <a:ext cx="2331669" cy="2467375"/>
          </a:xfrm>
          <a:prstGeom prst="rect">
            <a:avLst/>
          </a:prstGeom>
        </p:spPr>
      </p:pic>
    </p:spTree>
    <p:extLst>
      <p:ext uri="{BB962C8B-B14F-4D97-AF65-F5344CB8AC3E}">
        <p14:creationId xmlns:p14="http://schemas.microsoft.com/office/powerpoint/2010/main" val="35543654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E6FF0-5CC7-2917-D70F-D26FDA1F6E0D}"/>
              </a:ext>
            </a:extLst>
          </p:cNvPr>
          <p:cNvSpPr>
            <a:spLocks noGrp="1"/>
          </p:cNvSpPr>
          <p:nvPr>
            <p:ph type="title"/>
          </p:nvPr>
        </p:nvSpPr>
        <p:spPr/>
        <p:txBody>
          <a:bodyPr>
            <a:normAutofit/>
          </a:bodyPr>
          <a:lstStyle/>
          <a:p>
            <a:r>
              <a:rPr lang="en-US" sz="5400" dirty="0"/>
              <a:t>Poisson Distribution</a:t>
            </a:r>
          </a:p>
        </p:txBody>
      </p:sp>
      <p:pic>
        <p:nvPicPr>
          <p:cNvPr id="5" name="Content Placeholder 4">
            <a:extLst>
              <a:ext uri="{FF2B5EF4-FFF2-40B4-BE49-F238E27FC236}">
                <a16:creationId xmlns:a16="http://schemas.microsoft.com/office/drawing/2014/main" id="{FCDEB043-5CB8-3176-9966-745684371A47}"/>
              </a:ext>
            </a:extLst>
          </p:cNvPr>
          <p:cNvPicPr>
            <a:picLocks noGrp="1" noChangeAspect="1"/>
          </p:cNvPicPr>
          <p:nvPr>
            <p:ph idx="1"/>
          </p:nvPr>
        </p:nvPicPr>
        <p:blipFill>
          <a:blip r:embed="rId3"/>
          <a:stretch>
            <a:fillRect/>
          </a:stretch>
        </p:blipFill>
        <p:spPr>
          <a:xfrm>
            <a:off x="1454150" y="2121694"/>
            <a:ext cx="9283700" cy="3759200"/>
          </a:xfrm>
          <a:prstGeom prst="rect">
            <a:avLst/>
          </a:prstGeom>
          <a:ln w="28575">
            <a:solidFill>
              <a:schemeClr val="accent6">
                <a:lumMod val="50000"/>
              </a:schemeClr>
            </a:solidFill>
          </a:ln>
        </p:spPr>
      </p:pic>
    </p:spTree>
    <p:extLst>
      <p:ext uri="{BB962C8B-B14F-4D97-AF65-F5344CB8AC3E}">
        <p14:creationId xmlns:p14="http://schemas.microsoft.com/office/powerpoint/2010/main" val="27512362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58C37E-14DE-2B3E-4ECC-434811E0FE18}"/>
              </a:ext>
            </a:extLst>
          </p:cNvPr>
          <p:cNvSpPr>
            <a:spLocks noGrp="1"/>
          </p:cNvSpPr>
          <p:nvPr>
            <p:ph idx="1"/>
          </p:nvPr>
        </p:nvSpPr>
        <p:spPr/>
        <p:txBody>
          <a:bodyPr>
            <a:normAutofit/>
          </a:bodyPr>
          <a:lstStyle/>
          <a:p>
            <a:pPr marL="0" indent="0">
              <a:buNone/>
            </a:pPr>
            <a:r>
              <a:rPr lang="en-US" sz="3600" dirty="0"/>
              <a:t>The value of a variable measured on a randomly sampled individual is an outcome of a random trial. </a:t>
            </a:r>
          </a:p>
          <a:p>
            <a:r>
              <a:rPr lang="en-US" sz="3600" dirty="0"/>
              <a:t>Meaning, something like randomly sampling an individual from a population of sockeye salmon to see what its weight is is an outcome of a random trial! </a:t>
            </a:r>
            <a:br>
              <a:rPr lang="en-US" dirty="0"/>
            </a:br>
            <a:endParaRPr lang="en-US" dirty="0">
              <a:effectLst/>
            </a:endParaRPr>
          </a:p>
          <a:p>
            <a:endParaRPr lang="en-US" dirty="0"/>
          </a:p>
        </p:txBody>
      </p:sp>
      <p:sp>
        <p:nvSpPr>
          <p:cNvPr id="4" name="Title 1">
            <a:extLst>
              <a:ext uri="{FF2B5EF4-FFF2-40B4-BE49-F238E27FC236}">
                <a16:creationId xmlns:a16="http://schemas.microsoft.com/office/drawing/2014/main" id="{2F9AC5A7-144C-CE0A-D533-1746922983F0}"/>
              </a:ext>
            </a:extLst>
          </p:cNvPr>
          <p:cNvSpPr>
            <a:spLocks noGrp="1"/>
          </p:cNvSpPr>
          <p:nvPr>
            <p:ph type="title"/>
          </p:nvPr>
        </p:nvSpPr>
        <p:spPr>
          <a:xfrm>
            <a:off x="838200" y="365125"/>
            <a:ext cx="10515600" cy="1325563"/>
          </a:xfrm>
        </p:spPr>
        <p:txBody>
          <a:bodyPr>
            <a:normAutofit/>
          </a:bodyPr>
          <a:lstStyle/>
          <a:p>
            <a:r>
              <a:rPr lang="en-US" sz="5400" dirty="0"/>
              <a:t>Continuous Random Variables</a:t>
            </a:r>
          </a:p>
        </p:txBody>
      </p:sp>
      <p:pic>
        <p:nvPicPr>
          <p:cNvPr id="6" name="Picture 5">
            <a:extLst>
              <a:ext uri="{FF2B5EF4-FFF2-40B4-BE49-F238E27FC236}">
                <a16:creationId xmlns:a16="http://schemas.microsoft.com/office/drawing/2014/main" id="{E95E3ABD-4825-A190-80F2-CFEEE0A19971}"/>
              </a:ext>
            </a:extLst>
          </p:cNvPr>
          <p:cNvPicPr>
            <a:picLocks noChangeAspect="1"/>
          </p:cNvPicPr>
          <p:nvPr/>
        </p:nvPicPr>
        <p:blipFill>
          <a:blip r:embed="rId2"/>
          <a:stretch>
            <a:fillRect/>
          </a:stretch>
        </p:blipFill>
        <p:spPr>
          <a:xfrm>
            <a:off x="4133915" y="4533378"/>
            <a:ext cx="3924169" cy="2092890"/>
          </a:xfrm>
          <a:prstGeom prst="rect">
            <a:avLst/>
          </a:prstGeom>
        </p:spPr>
      </p:pic>
    </p:spTree>
    <p:extLst>
      <p:ext uri="{BB962C8B-B14F-4D97-AF65-F5344CB8AC3E}">
        <p14:creationId xmlns:p14="http://schemas.microsoft.com/office/powerpoint/2010/main" val="6314277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F4019-1416-70DB-EE3F-C7CE715FE9AC}"/>
              </a:ext>
            </a:extLst>
          </p:cNvPr>
          <p:cNvSpPr>
            <a:spLocks noGrp="1"/>
          </p:cNvSpPr>
          <p:nvPr>
            <p:ph type="title"/>
          </p:nvPr>
        </p:nvSpPr>
        <p:spPr/>
        <p:txBody>
          <a:bodyPr>
            <a:normAutofit/>
          </a:bodyPr>
          <a:lstStyle/>
          <a:p>
            <a:r>
              <a:rPr lang="en-US" sz="5400" dirty="0"/>
              <a:t>Continuous Random Variables</a:t>
            </a:r>
          </a:p>
        </p:txBody>
      </p:sp>
      <p:sp>
        <p:nvSpPr>
          <p:cNvPr id="3" name="Content Placeholder 2">
            <a:extLst>
              <a:ext uri="{FF2B5EF4-FFF2-40B4-BE49-F238E27FC236}">
                <a16:creationId xmlns:a16="http://schemas.microsoft.com/office/drawing/2014/main" id="{F0FAEF7C-34B1-017A-B07E-E91FCA299CAC}"/>
              </a:ext>
            </a:extLst>
          </p:cNvPr>
          <p:cNvSpPr>
            <a:spLocks noGrp="1"/>
          </p:cNvSpPr>
          <p:nvPr>
            <p:ph idx="1"/>
          </p:nvPr>
        </p:nvSpPr>
        <p:spPr/>
        <p:txBody>
          <a:bodyPr>
            <a:normAutofit lnSpcReduction="10000"/>
          </a:bodyPr>
          <a:lstStyle/>
          <a:p>
            <a:r>
              <a:rPr lang="en-US" dirty="0"/>
              <a:t>Precision limited only by instrument – counting eggs that hatch (discrete #) vs weighing baby birds</a:t>
            </a:r>
          </a:p>
          <a:p>
            <a:r>
              <a:rPr lang="en-US" dirty="0"/>
              <a:t>Cannot define the sample space like we did with discrete distributions (many possible outcomes)</a:t>
            </a:r>
          </a:p>
          <a:p>
            <a:r>
              <a:rPr lang="en-US" dirty="0"/>
              <a:t>Outcomes are defined by intervals</a:t>
            </a:r>
          </a:p>
          <a:p>
            <a:pPr lvl="1"/>
            <a:r>
              <a:rPr lang="en-US" dirty="0"/>
              <a:t>1.5 &lt; X &lt; 2.5</a:t>
            </a:r>
          </a:p>
          <a:p>
            <a:pPr lvl="1"/>
            <a:r>
              <a:rPr lang="en-US" dirty="0"/>
              <a:t>Rules of probability still hold for these intervals</a:t>
            </a:r>
          </a:p>
          <a:p>
            <a:r>
              <a:rPr lang="en-US" dirty="0"/>
              <a:t>All probabilities in the space must sum to 1</a:t>
            </a:r>
          </a:p>
          <a:p>
            <a:r>
              <a:rPr lang="en-US" dirty="0"/>
              <a:t>Probability of an outcome is defined by interval</a:t>
            </a:r>
          </a:p>
          <a:p>
            <a:pPr lvl="1"/>
            <a:r>
              <a:rPr lang="en-US" dirty="0"/>
              <a:t>Equal the area under the curve that defines the interval</a:t>
            </a:r>
          </a:p>
        </p:txBody>
      </p:sp>
    </p:spTree>
    <p:extLst>
      <p:ext uri="{BB962C8B-B14F-4D97-AF65-F5344CB8AC3E}">
        <p14:creationId xmlns:p14="http://schemas.microsoft.com/office/powerpoint/2010/main" val="2390111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CAE25-9F50-7BEC-DF2E-38E96A388C89}"/>
              </a:ext>
            </a:extLst>
          </p:cNvPr>
          <p:cNvSpPr>
            <a:spLocks noGrp="1"/>
          </p:cNvSpPr>
          <p:nvPr>
            <p:ph type="title"/>
          </p:nvPr>
        </p:nvSpPr>
        <p:spPr/>
        <p:txBody>
          <a:bodyPr>
            <a:noAutofit/>
          </a:bodyPr>
          <a:lstStyle/>
          <a:p>
            <a:r>
              <a:rPr lang="en-US" sz="5400" dirty="0"/>
              <a:t>Normal (Gaussian) Probability Distribution</a:t>
            </a:r>
          </a:p>
        </p:txBody>
      </p:sp>
      <p:sp>
        <p:nvSpPr>
          <p:cNvPr id="3" name="Content Placeholder 2">
            <a:extLst>
              <a:ext uri="{FF2B5EF4-FFF2-40B4-BE49-F238E27FC236}">
                <a16:creationId xmlns:a16="http://schemas.microsoft.com/office/drawing/2014/main" id="{9933C8E8-CD7A-C3FC-7EB7-7D4BB9DD2FB4}"/>
              </a:ext>
            </a:extLst>
          </p:cNvPr>
          <p:cNvSpPr>
            <a:spLocks noGrp="1"/>
          </p:cNvSpPr>
          <p:nvPr>
            <p:ph idx="1"/>
          </p:nvPr>
        </p:nvSpPr>
        <p:spPr/>
        <p:txBody>
          <a:bodyPr>
            <a:normAutofit/>
          </a:bodyPr>
          <a:lstStyle/>
          <a:p>
            <a:pPr marL="0" indent="0">
              <a:buNone/>
            </a:pPr>
            <a:r>
              <a:rPr lang="en-US" sz="3600" dirty="0"/>
              <a:t>Theoretical basis for many parametric statistics</a:t>
            </a:r>
          </a:p>
          <a:p>
            <a:r>
              <a:rPr lang="en-US" dirty="0"/>
              <a:t>Mean = </a:t>
            </a:r>
            <a:r>
              <a:rPr lang="el-GR" dirty="0"/>
              <a:t>μ</a:t>
            </a:r>
            <a:endParaRPr lang="en-US" dirty="0"/>
          </a:p>
          <a:p>
            <a:r>
              <a:rPr lang="en-US" dirty="0"/>
              <a:t>Standard Deviation = s</a:t>
            </a:r>
          </a:p>
          <a:p>
            <a:r>
              <a:rPr lang="en-US" dirty="0"/>
              <a:t>Standard Normal: </a:t>
            </a:r>
            <a:r>
              <a:rPr lang="el-GR" dirty="0"/>
              <a:t>μ = 0, </a:t>
            </a:r>
            <a:r>
              <a:rPr lang="en-US" dirty="0"/>
              <a:t>s = 1</a:t>
            </a:r>
          </a:p>
          <a:p>
            <a:pPr marL="0" indent="0">
              <a:buNone/>
            </a:pPr>
            <a:endParaRPr lang="en-US" dirty="0"/>
          </a:p>
          <a:p>
            <a:pPr marL="0" indent="0">
              <a:buNone/>
            </a:pPr>
            <a:r>
              <a:rPr lang="el-GR" dirty="0"/>
              <a:t>μ ±1 </a:t>
            </a:r>
            <a:r>
              <a:rPr lang="en-US" dirty="0"/>
              <a:t>s =~68% of data</a:t>
            </a:r>
          </a:p>
          <a:p>
            <a:pPr marL="0" indent="0">
              <a:buNone/>
            </a:pPr>
            <a:r>
              <a:rPr lang="el-GR" dirty="0"/>
              <a:t>μ ±2 </a:t>
            </a:r>
            <a:r>
              <a:rPr lang="en-US" dirty="0"/>
              <a:t>s =~95% of data</a:t>
            </a:r>
          </a:p>
          <a:p>
            <a:pPr marL="0" indent="0">
              <a:buNone/>
            </a:pPr>
            <a:r>
              <a:rPr lang="el-GR" dirty="0"/>
              <a:t>μ ±3 </a:t>
            </a:r>
            <a:r>
              <a:rPr lang="en-US" dirty="0"/>
              <a:t>s =~99% of data</a:t>
            </a:r>
          </a:p>
        </p:txBody>
      </p:sp>
      <p:pic>
        <p:nvPicPr>
          <p:cNvPr id="4" name="Picture 3">
            <a:extLst>
              <a:ext uri="{FF2B5EF4-FFF2-40B4-BE49-F238E27FC236}">
                <a16:creationId xmlns:a16="http://schemas.microsoft.com/office/drawing/2014/main" id="{A330202C-95A3-FF63-148A-9A1B7767C81D}"/>
              </a:ext>
            </a:extLst>
          </p:cNvPr>
          <p:cNvPicPr>
            <a:picLocks noChangeAspect="1"/>
          </p:cNvPicPr>
          <p:nvPr/>
        </p:nvPicPr>
        <p:blipFill>
          <a:blip r:embed="rId3"/>
          <a:stretch>
            <a:fillRect/>
          </a:stretch>
        </p:blipFill>
        <p:spPr>
          <a:xfrm>
            <a:off x="6454960" y="3741540"/>
            <a:ext cx="4898840" cy="2435423"/>
          </a:xfrm>
          <a:prstGeom prst="rect">
            <a:avLst/>
          </a:prstGeom>
          <a:ln w="28575">
            <a:solidFill>
              <a:schemeClr val="accent6">
                <a:lumMod val="50000"/>
              </a:schemeClr>
            </a:solidFill>
          </a:ln>
        </p:spPr>
      </p:pic>
      <p:pic>
        <p:nvPicPr>
          <p:cNvPr id="6" name="Picture 5">
            <a:extLst>
              <a:ext uri="{FF2B5EF4-FFF2-40B4-BE49-F238E27FC236}">
                <a16:creationId xmlns:a16="http://schemas.microsoft.com/office/drawing/2014/main" id="{121CB2B2-2D92-4191-C551-F6755E5452BB}"/>
              </a:ext>
            </a:extLst>
          </p:cNvPr>
          <p:cNvPicPr>
            <a:picLocks noChangeAspect="1"/>
          </p:cNvPicPr>
          <p:nvPr/>
        </p:nvPicPr>
        <p:blipFill>
          <a:blip r:embed="rId4"/>
          <a:stretch>
            <a:fillRect/>
          </a:stretch>
        </p:blipFill>
        <p:spPr>
          <a:xfrm rot="19550859">
            <a:off x="10072002" y="-73549"/>
            <a:ext cx="1979969" cy="2518521"/>
          </a:xfrm>
          <a:prstGeom prst="rect">
            <a:avLst/>
          </a:prstGeom>
        </p:spPr>
      </p:pic>
    </p:spTree>
    <p:extLst>
      <p:ext uri="{BB962C8B-B14F-4D97-AF65-F5344CB8AC3E}">
        <p14:creationId xmlns:p14="http://schemas.microsoft.com/office/powerpoint/2010/main" val="1648084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BEAE0-E7D3-1ABD-4299-E445A46A75FD}"/>
              </a:ext>
            </a:extLst>
          </p:cNvPr>
          <p:cNvSpPr>
            <a:spLocks noGrp="1"/>
          </p:cNvSpPr>
          <p:nvPr>
            <p:ph type="title"/>
          </p:nvPr>
        </p:nvSpPr>
        <p:spPr/>
        <p:txBody>
          <a:bodyPr>
            <a:normAutofit/>
          </a:bodyPr>
          <a:lstStyle/>
          <a:p>
            <a:r>
              <a:rPr lang="en-US" sz="5400" dirty="0"/>
              <a:t>Let’s Poisson! </a:t>
            </a:r>
          </a:p>
        </p:txBody>
      </p:sp>
      <p:sp>
        <p:nvSpPr>
          <p:cNvPr id="3" name="Content Placeholder 2">
            <a:extLst>
              <a:ext uri="{FF2B5EF4-FFF2-40B4-BE49-F238E27FC236}">
                <a16:creationId xmlns:a16="http://schemas.microsoft.com/office/drawing/2014/main" id="{E9AA311E-190A-B850-E1B6-7AF4A84D11D0}"/>
              </a:ext>
            </a:extLst>
          </p:cNvPr>
          <p:cNvSpPr>
            <a:spLocks noGrp="1"/>
          </p:cNvSpPr>
          <p:nvPr>
            <p:ph idx="1"/>
          </p:nvPr>
        </p:nvSpPr>
        <p:spPr/>
        <p:txBody>
          <a:bodyPr/>
          <a:lstStyle/>
          <a:p>
            <a:pPr marL="0" indent="0">
              <a:buNone/>
            </a:pPr>
            <a:r>
              <a:rPr lang="en-US" sz="4000" dirty="0"/>
              <a:t>We’re going to go out to CERA and collect data to investigate whether a species is randomly distributed in our forest or not! </a:t>
            </a:r>
          </a:p>
          <a:p>
            <a:r>
              <a:rPr lang="en-US" sz="3200" dirty="0"/>
              <a:t>Get into groups of 2-3</a:t>
            </a:r>
          </a:p>
          <a:p>
            <a:r>
              <a:rPr lang="en-US" sz="3200" dirty="0"/>
              <a:t>If you don’t want your shoes to get dirty, you’re welcome to use the boots! </a:t>
            </a:r>
          </a:p>
        </p:txBody>
      </p:sp>
    </p:spTree>
    <p:extLst>
      <p:ext uri="{BB962C8B-B14F-4D97-AF65-F5344CB8AC3E}">
        <p14:creationId xmlns:p14="http://schemas.microsoft.com/office/powerpoint/2010/main" val="8702283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1622</TotalTime>
  <Words>1760</Words>
  <Application>Microsoft Macintosh PowerPoint</Application>
  <PresentationFormat>Widescreen</PresentationFormat>
  <Paragraphs>181</Paragraphs>
  <Slides>25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vt:lpstr>
      <vt:lpstr>Aptos Display</vt:lpstr>
      <vt:lpstr>Arial</vt:lpstr>
      <vt:lpstr>Cambria Math</vt:lpstr>
      <vt:lpstr>Office Theme</vt:lpstr>
      <vt:lpstr>QFE Week 2 Lab (/Lecture)!  Discuss the following with your classmates:</vt:lpstr>
      <vt:lpstr>Probability!</vt:lpstr>
      <vt:lpstr>Probability!</vt:lpstr>
      <vt:lpstr>Natural Variation</vt:lpstr>
      <vt:lpstr>Wetland Example</vt:lpstr>
      <vt:lpstr>Wetland Example</vt:lpstr>
      <vt:lpstr>Wetland Example</vt:lpstr>
      <vt:lpstr>Wetland Example</vt:lpstr>
      <vt:lpstr>Probability Distributions</vt:lpstr>
      <vt:lpstr>Probability Distributions</vt:lpstr>
      <vt:lpstr>Bernoulli Trials</vt:lpstr>
      <vt:lpstr>Meadow Example</vt:lpstr>
      <vt:lpstr>Many Bernoulli Trials = A Binomial Random Variable</vt:lpstr>
      <vt:lpstr>Binomial Distribution (Discrete)</vt:lpstr>
      <vt:lpstr>P(X)= 0.5</vt:lpstr>
      <vt:lpstr>What if P(X)= 0.25</vt:lpstr>
      <vt:lpstr>And P(X)= 0.05</vt:lpstr>
      <vt:lpstr>Poisson Distribution</vt:lpstr>
      <vt:lpstr>Poisson Distribution</vt:lpstr>
      <vt:lpstr>Poisson Example</vt:lpstr>
      <vt:lpstr>Poisson Distribution</vt:lpstr>
      <vt:lpstr>Continuous Random Variables</vt:lpstr>
      <vt:lpstr>Continuous Random Variables</vt:lpstr>
      <vt:lpstr>Normal (Gaussian) Probability Distribution</vt:lpstr>
      <vt:lpstr>Let’s Poisson!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Anna Mothersole</dc:creator>
  <cp:lastModifiedBy>Anna Mothersole</cp:lastModifiedBy>
  <cp:revision>11</cp:revision>
  <dcterms:created xsi:type="dcterms:W3CDTF">2026-08-25T18:35:11Z</dcterms:created>
  <dcterms:modified xsi:type="dcterms:W3CDTF">2026-08-26T21:37:56Z</dcterms:modified>
</cp:coreProperties>
</file>