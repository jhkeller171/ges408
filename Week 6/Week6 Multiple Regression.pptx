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67" r:id="rId4"/>
    <p:sldId id="268" r:id="rId5"/>
    <p:sldId id="269" r:id="rId6"/>
    <p:sldId id="258" r:id="rId7"/>
    <p:sldId id="270" r:id="rId8"/>
    <p:sldId id="271" r:id="rId9"/>
    <p:sldId id="265" r:id="rId10"/>
    <p:sldId id="261" r:id="rId11"/>
    <p:sldId id="272" r:id="rId12"/>
    <p:sldId id="273" r:id="rId13"/>
    <p:sldId id="274" r:id="rId14"/>
    <p:sldId id="289" r:id="rId15"/>
    <p:sldId id="260"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64" r:id="rId31"/>
    <p:sldId id="26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658"/>
    <p:restoredTop sz="84556"/>
  </p:normalViewPr>
  <p:slideViewPr>
    <p:cSldViewPr snapToGrid="0">
      <p:cViewPr varScale="1">
        <p:scale>
          <a:sx n="103" d="100"/>
          <a:sy n="103" d="100"/>
        </p:scale>
        <p:origin x="76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967999-8C8F-A44C-846B-9B5728D9E14C}" type="datetimeFigureOut">
              <a:rPr lang="en-US" smtClean="0"/>
              <a:t>9/25/26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1D9884-105E-DD47-BE64-18D2D96DE6B7}" type="slidenum">
              <a:rPr lang="en-US" smtClean="0"/>
              <a:t>‹#›</a:t>
            </a:fld>
            <a:endParaRPr lang="en-US"/>
          </a:p>
        </p:txBody>
      </p:sp>
    </p:spTree>
    <p:extLst>
      <p:ext uri="{BB962C8B-B14F-4D97-AF65-F5344CB8AC3E}">
        <p14:creationId xmlns:p14="http://schemas.microsoft.com/office/powerpoint/2010/main" val="26582060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two volunteers to share!</a:t>
            </a:r>
          </a:p>
        </p:txBody>
      </p:sp>
      <p:sp>
        <p:nvSpPr>
          <p:cNvPr id="4" name="Slide Number Placeholder 3"/>
          <p:cNvSpPr>
            <a:spLocks noGrp="1"/>
          </p:cNvSpPr>
          <p:nvPr>
            <p:ph type="sldNum" sz="quarter" idx="5"/>
          </p:nvPr>
        </p:nvSpPr>
        <p:spPr/>
        <p:txBody>
          <a:bodyPr/>
          <a:lstStyle/>
          <a:p>
            <a:fld id="{401D9884-105E-DD47-BE64-18D2D96DE6B7}" type="slidenum">
              <a:rPr lang="en-US" smtClean="0"/>
              <a:t>1</a:t>
            </a:fld>
            <a:endParaRPr lang="en-US"/>
          </a:p>
        </p:txBody>
      </p:sp>
    </p:spTree>
    <p:extLst>
      <p:ext uri="{BB962C8B-B14F-4D97-AF65-F5344CB8AC3E}">
        <p14:creationId xmlns:p14="http://schemas.microsoft.com/office/powerpoint/2010/main" val="41086646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thing probably isn’t enough to explain the species richness in an area! </a:t>
            </a:r>
          </a:p>
          <a:p>
            <a:endParaRPr lang="en-US" dirty="0"/>
          </a:p>
          <a:p>
            <a:r>
              <a:rPr lang="en-US" dirty="0"/>
              <a:t>Can also use this if you’re thinking about confounding variables. If you don’t account for some sort of variable, might there be some sort of issue with your analysis? Let’s see a simple example -&gt;</a:t>
            </a:r>
          </a:p>
          <a:p>
            <a:endParaRPr lang="en-US" dirty="0"/>
          </a:p>
        </p:txBody>
      </p:sp>
      <p:sp>
        <p:nvSpPr>
          <p:cNvPr id="4" name="Slide Number Placeholder 3"/>
          <p:cNvSpPr>
            <a:spLocks noGrp="1"/>
          </p:cNvSpPr>
          <p:nvPr>
            <p:ph type="sldNum" sz="quarter" idx="5"/>
          </p:nvPr>
        </p:nvSpPr>
        <p:spPr/>
        <p:txBody>
          <a:bodyPr/>
          <a:lstStyle/>
          <a:p>
            <a:fld id="{401D9884-105E-DD47-BE64-18D2D96DE6B7}" type="slidenum">
              <a:rPr lang="en-US" smtClean="0"/>
              <a:t>2</a:t>
            </a:fld>
            <a:endParaRPr lang="en-US"/>
          </a:p>
        </p:txBody>
      </p:sp>
    </p:spTree>
    <p:extLst>
      <p:ext uri="{BB962C8B-B14F-4D97-AF65-F5344CB8AC3E}">
        <p14:creationId xmlns:p14="http://schemas.microsoft.com/office/powerpoint/2010/main" val="805333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if you sprayed the pesticide and the caterpillars were very low numbers and you were like great! Also don’t know why all these birds are flying around!</a:t>
            </a:r>
          </a:p>
        </p:txBody>
      </p:sp>
      <p:sp>
        <p:nvSpPr>
          <p:cNvPr id="4" name="Slide Number Placeholder 3"/>
          <p:cNvSpPr>
            <a:spLocks noGrp="1"/>
          </p:cNvSpPr>
          <p:nvPr>
            <p:ph type="sldNum" sz="quarter" idx="5"/>
          </p:nvPr>
        </p:nvSpPr>
        <p:spPr/>
        <p:txBody>
          <a:bodyPr/>
          <a:lstStyle/>
          <a:p>
            <a:fld id="{401D9884-105E-DD47-BE64-18D2D96DE6B7}" type="slidenum">
              <a:rPr lang="en-US" smtClean="0"/>
              <a:t>3</a:t>
            </a:fld>
            <a:endParaRPr lang="en-US"/>
          </a:p>
        </p:txBody>
      </p:sp>
    </p:spTree>
    <p:extLst>
      <p:ext uri="{BB962C8B-B14F-4D97-AF65-F5344CB8AC3E}">
        <p14:creationId xmlns:p14="http://schemas.microsoft.com/office/powerpoint/2010/main" val="1538697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pretend we just measured it this way by randomly sampling quadrats of the plot, and surveying birds across the whole farm area (IDK just roll w it)</a:t>
            </a:r>
          </a:p>
          <a:p>
            <a:endParaRPr lang="en-US" dirty="0"/>
          </a:p>
          <a:p>
            <a:r>
              <a:rPr lang="en-US" dirty="0"/>
              <a:t>The red is where pesticides were applied, and the blue is places where it was not. </a:t>
            </a:r>
          </a:p>
          <a:p>
            <a:endParaRPr lang="en-US" dirty="0"/>
          </a:p>
          <a:p>
            <a:r>
              <a:rPr lang="en-US" dirty="0"/>
              <a:t>You can see in both cases, the number of caterpillars decline with increasing bird density</a:t>
            </a:r>
          </a:p>
          <a:p>
            <a:endParaRPr lang="en-US" dirty="0"/>
          </a:p>
          <a:p>
            <a:endParaRPr lang="en-US" dirty="0"/>
          </a:p>
        </p:txBody>
      </p:sp>
      <p:sp>
        <p:nvSpPr>
          <p:cNvPr id="4" name="Slide Number Placeholder 3"/>
          <p:cNvSpPr>
            <a:spLocks noGrp="1"/>
          </p:cNvSpPr>
          <p:nvPr>
            <p:ph type="sldNum" sz="quarter" idx="5"/>
          </p:nvPr>
        </p:nvSpPr>
        <p:spPr/>
        <p:txBody>
          <a:bodyPr/>
          <a:lstStyle/>
          <a:p>
            <a:fld id="{401D9884-105E-DD47-BE64-18D2D96DE6B7}" type="slidenum">
              <a:rPr lang="en-US" smtClean="0"/>
              <a:t>4</a:t>
            </a:fld>
            <a:endParaRPr lang="en-US"/>
          </a:p>
        </p:txBody>
      </p:sp>
    </p:spTree>
    <p:extLst>
      <p:ext uri="{BB962C8B-B14F-4D97-AF65-F5344CB8AC3E}">
        <p14:creationId xmlns:p14="http://schemas.microsoft.com/office/powerpoint/2010/main" val="4211051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addition of the bird density variable, this is what we might get.</a:t>
            </a:r>
          </a:p>
          <a:p>
            <a:endParaRPr lang="en-US" dirty="0"/>
          </a:p>
          <a:p>
            <a:r>
              <a:rPr lang="en-US" dirty="0"/>
              <a:t>With multiple regression, we can generate a model that accounts for pesticide application and bird density. </a:t>
            </a:r>
          </a:p>
        </p:txBody>
      </p:sp>
      <p:sp>
        <p:nvSpPr>
          <p:cNvPr id="4" name="Slide Number Placeholder 3"/>
          <p:cNvSpPr>
            <a:spLocks noGrp="1"/>
          </p:cNvSpPr>
          <p:nvPr>
            <p:ph type="sldNum" sz="quarter" idx="5"/>
          </p:nvPr>
        </p:nvSpPr>
        <p:spPr/>
        <p:txBody>
          <a:bodyPr/>
          <a:lstStyle/>
          <a:p>
            <a:fld id="{401D9884-105E-DD47-BE64-18D2D96DE6B7}" type="slidenum">
              <a:rPr lang="en-US" smtClean="0"/>
              <a:t>5</a:t>
            </a:fld>
            <a:endParaRPr lang="en-US"/>
          </a:p>
        </p:txBody>
      </p:sp>
    </p:spTree>
    <p:extLst>
      <p:ext uri="{BB962C8B-B14F-4D97-AF65-F5344CB8AC3E}">
        <p14:creationId xmlns:p14="http://schemas.microsoft.com/office/powerpoint/2010/main" val="3731028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should look pretty familiar!</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Normally distributed error term </a:t>
            </a:r>
            <a:r>
              <a:rPr lang="en-US" sz="1200" kern="1200" dirty="0" err="1">
                <a:solidFill>
                  <a:schemeClr val="tx1"/>
                </a:solidFill>
                <a:effectLst/>
                <a:latin typeface="+mn-lt"/>
                <a:ea typeface="+mn-ea"/>
                <a:cs typeface="+mn-cs"/>
              </a:rPr>
              <a:t>ε</a:t>
            </a:r>
            <a:r>
              <a:rPr lang="en-US" sz="1200" kern="1200" dirty="0">
                <a:solidFill>
                  <a:schemeClr val="tx1"/>
                </a:solidFill>
                <a:effectLst/>
                <a:latin typeface="+mn-lt"/>
                <a:ea typeface="+mn-ea"/>
                <a:cs typeface="+mn-cs"/>
              </a:rPr>
              <a:t> is assumed to have mean 0 (so just…. Disregard)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multiple regression, the coefficient βj of a predictor </a:t>
            </a:r>
            <a:r>
              <a:rPr lang="en-US" sz="1200" kern="1200" dirty="0" err="1">
                <a:solidFill>
                  <a:schemeClr val="tx1"/>
                </a:solidFill>
                <a:effectLst/>
                <a:latin typeface="+mn-lt"/>
                <a:ea typeface="+mn-ea"/>
                <a:cs typeface="+mn-cs"/>
              </a:rPr>
              <a:t>Xj</a:t>
            </a:r>
            <a:r>
              <a:rPr lang="en-US" sz="1200" kern="1200" dirty="0">
                <a:solidFill>
                  <a:schemeClr val="tx1"/>
                </a:solidFill>
                <a:effectLst/>
                <a:latin typeface="+mn-lt"/>
                <a:ea typeface="+mn-ea"/>
                <a:cs typeface="+mn-cs"/>
              </a:rPr>
              <a:t> denotes the change in the response variable Y associated with a one unit change in </a:t>
            </a:r>
            <a:r>
              <a:rPr lang="en-US" sz="1200" kern="1200" dirty="0" err="1">
                <a:solidFill>
                  <a:schemeClr val="tx1"/>
                </a:solidFill>
                <a:effectLst/>
                <a:latin typeface="+mn-lt"/>
                <a:ea typeface="+mn-ea"/>
                <a:cs typeface="+mn-cs"/>
              </a:rPr>
              <a:t>Xj</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when none of the other predictors change; </a:t>
            </a:r>
            <a:r>
              <a:rPr lang="en-US" sz="1200" kern="1200" dirty="0">
                <a:solidFill>
                  <a:schemeClr val="tx1"/>
                </a:solidFill>
                <a:effectLst/>
                <a:latin typeface="+mn-lt"/>
                <a:ea typeface="+mn-ea"/>
                <a:cs typeface="+mn-cs"/>
              </a:rPr>
              <a:t>i.e., each β coefficient in multiple regression plays the role of a slope, as long as the other predictors are not changing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allows ecologists to separate the effects of correlated environmental drivers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01D9884-105E-DD47-BE64-18D2D96DE6B7}" type="slidenum">
              <a:rPr lang="en-US" smtClean="0"/>
              <a:t>6</a:t>
            </a:fld>
            <a:endParaRPr lang="en-US"/>
          </a:p>
        </p:txBody>
      </p:sp>
    </p:spTree>
    <p:extLst>
      <p:ext uri="{BB962C8B-B14F-4D97-AF65-F5344CB8AC3E}">
        <p14:creationId xmlns:p14="http://schemas.microsoft.com/office/powerpoint/2010/main" val="28910543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Here, we are estimating an association between a response variable and primary predictor of interest while adjusting for possible confounders.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ASK: What’s our primary predictor of interest? What’s our possible confounder?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 could also use this to estimate the association between a response variable and several predictors we’re interested in. For instance, maybe farmers are trying a bunch of different things to get rid of pests and we could investigate if the number of caterpillars is associated with pesticide application and the number of times the farmers weed the gardens or something like that.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If we want our regression equation in this case, this is what it would be: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401D9884-105E-DD47-BE64-18D2D96DE6B7}" type="slidenum">
              <a:rPr lang="en-US" smtClean="0"/>
              <a:t>7</a:t>
            </a:fld>
            <a:endParaRPr lang="en-US"/>
          </a:p>
        </p:txBody>
      </p:sp>
    </p:spTree>
    <p:extLst>
      <p:ext uri="{BB962C8B-B14F-4D97-AF65-F5344CB8AC3E}">
        <p14:creationId xmlns:p14="http://schemas.microsoft.com/office/powerpoint/2010/main" val="20951508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like simple linear regression, t-statistics can be used to test hypotheses about the slope coefficients!</a:t>
            </a:r>
          </a:p>
          <a:p>
            <a:endParaRPr lang="en-US" dirty="0"/>
          </a:p>
          <a:p>
            <a:r>
              <a:rPr lang="en-US" dirty="0"/>
              <a:t>ASK: Look at our two p-values here and discuss with your classmates: which associations seem to be significant or not?</a:t>
            </a:r>
          </a:p>
          <a:p>
            <a:r>
              <a:rPr lang="en-US" dirty="0"/>
              <a:t>Then show the answer. </a:t>
            </a:r>
          </a:p>
          <a:p>
            <a:r>
              <a:rPr lang="en-US" dirty="0"/>
              <a:t>ASK: so would you guys recommend to keep using this pesticide? I’d probably just let the birds do all the work lol</a:t>
            </a:r>
          </a:p>
        </p:txBody>
      </p:sp>
      <p:sp>
        <p:nvSpPr>
          <p:cNvPr id="4" name="Slide Number Placeholder 3"/>
          <p:cNvSpPr>
            <a:spLocks noGrp="1"/>
          </p:cNvSpPr>
          <p:nvPr>
            <p:ph type="sldNum" sz="quarter" idx="5"/>
          </p:nvPr>
        </p:nvSpPr>
        <p:spPr/>
        <p:txBody>
          <a:bodyPr/>
          <a:lstStyle/>
          <a:p>
            <a:fld id="{401D9884-105E-DD47-BE64-18D2D96DE6B7}" type="slidenum">
              <a:rPr lang="en-US" smtClean="0"/>
              <a:t>8</a:t>
            </a:fld>
            <a:endParaRPr lang="en-US"/>
          </a:p>
        </p:txBody>
      </p:sp>
    </p:spTree>
    <p:extLst>
      <p:ext uri="{BB962C8B-B14F-4D97-AF65-F5344CB8AC3E}">
        <p14:creationId xmlns:p14="http://schemas.microsoft.com/office/powerpoint/2010/main" val="22753741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Randomization ensures that, at least on average, all predictors are not associated with the randomized intervention, which eliminates one of the conditions for confounding.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Remember that manipulative experiment example about lion fitness and limb loss? Park rangers aren’t going to let you do that!</a:t>
            </a:r>
          </a:p>
          <a:p>
            <a:endParaRPr lang="en-US" dirty="0"/>
          </a:p>
        </p:txBody>
      </p:sp>
      <p:sp>
        <p:nvSpPr>
          <p:cNvPr id="4" name="Slide Number Placeholder 3"/>
          <p:cNvSpPr>
            <a:spLocks noGrp="1"/>
          </p:cNvSpPr>
          <p:nvPr>
            <p:ph type="sldNum" sz="quarter" idx="5"/>
          </p:nvPr>
        </p:nvSpPr>
        <p:spPr/>
        <p:txBody>
          <a:bodyPr/>
          <a:lstStyle/>
          <a:p>
            <a:fld id="{401D9884-105E-DD47-BE64-18D2D96DE6B7}" type="slidenum">
              <a:rPr lang="en-US" smtClean="0"/>
              <a:t>9</a:t>
            </a:fld>
            <a:endParaRPr lang="en-US"/>
          </a:p>
        </p:txBody>
      </p:sp>
    </p:spTree>
    <p:extLst>
      <p:ext uri="{BB962C8B-B14F-4D97-AF65-F5344CB8AC3E}">
        <p14:creationId xmlns:p14="http://schemas.microsoft.com/office/powerpoint/2010/main" val="9074149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graph is looking good and doesn’t show any nonlinear trends!</a:t>
            </a:r>
          </a:p>
          <a:p>
            <a:endParaRPr lang="en-US" dirty="0"/>
          </a:p>
          <a:p>
            <a:r>
              <a:rPr lang="en-US" dirty="0"/>
              <a:t>For the bottom, imagine something like this… not super useful in terms of pesticide applied vs not applied</a:t>
            </a:r>
          </a:p>
        </p:txBody>
      </p:sp>
      <p:sp>
        <p:nvSpPr>
          <p:cNvPr id="4" name="Slide Number Placeholder 3"/>
          <p:cNvSpPr>
            <a:spLocks noGrp="1"/>
          </p:cNvSpPr>
          <p:nvPr>
            <p:ph type="sldNum" sz="quarter" idx="5"/>
          </p:nvPr>
        </p:nvSpPr>
        <p:spPr/>
        <p:txBody>
          <a:bodyPr/>
          <a:lstStyle/>
          <a:p>
            <a:fld id="{401D9884-105E-DD47-BE64-18D2D96DE6B7}" type="slidenum">
              <a:rPr lang="en-US" smtClean="0"/>
              <a:t>11</a:t>
            </a:fld>
            <a:endParaRPr lang="en-US"/>
          </a:p>
        </p:txBody>
      </p:sp>
    </p:spTree>
    <p:extLst>
      <p:ext uri="{BB962C8B-B14F-4D97-AF65-F5344CB8AC3E}">
        <p14:creationId xmlns:p14="http://schemas.microsoft.com/office/powerpoint/2010/main" val="28783946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Residual vs. predicted plot: regardless of the number of predictors!! Whether you have 1 predictor or 10, you will still have one and one so can make this plot </a:t>
            </a:r>
          </a:p>
          <a:p>
            <a:endParaRPr lang="en-US" dirty="0"/>
          </a:p>
          <a:p>
            <a:r>
              <a:rPr lang="en-US" dirty="0"/>
              <a:t>Both of these plots look good – variance of residuals slightly smaller for lower predicted values, but otherwise pretty constant</a:t>
            </a:r>
          </a:p>
          <a:p>
            <a:endParaRPr lang="en-US" dirty="0"/>
          </a:p>
          <a:p>
            <a:r>
              <a:rPr lang="en-US" dirty="0"/>
              <a:t>QQ plot has some departure in the tails but its good</a:t>
            </a:r>
          </a:p>
        </p:txBody>
      </p:sp>
      <p:sp>
        <p:nvSpPr>
          <p:cNvPr id="4" name="Slide Number Placeholder 3"/>
          <p:cNvSpPr>
            <a:spLocks noGrp="1"/>
          </p:cNvSpPr>
          <p:nvPr>
            <p:ph type="sldNum" sz="quarter" idx="5"/>
          </p:nvPr>
        </p:nvSpPr>
        <p:spPr/>
        <p:txBody>
          <a:bodyPr/>
          <a:lstStyle/>
          <a:p>
            <a:fld id="{401D9884-105E-DD47-BE64-18D2D96DE6B7}" type="slidenum">
              <a:rPr lang="en-US" smtClean="0"/>
              <a:t>12</a:t>
            </a:fld>
            <a:endParaRPr lang="en-US"/>
          </a:p>
        </p:txBody>
      </p:sp>
    </p:spTree>
    <p:extLst>
      <p:ext uri="{BB962C8B-B14F-4D97-AF65-F5344CB8AC3E}">
        <p14:creationId xmlns:p14="http://schemas.microsoft.com/office/powerpoint/2010/main" val="8413729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Yikes!</a:t>
            </a:r>
          </a:p>
        </p:txBody>
      </p:sp>
      <p:sp>
        <p:nvSpPr>
          <p:cNvPr id="4" name="Slide Number Placeholder 3"/>
          <p:cNvSpPr>
            <a:spLocks noGrp="1"/>
          </p:cNvSpPr>
          <p:nvPr>
            <p:ph type="sldNum" sz="quarter" idx="5"/>
          </p:nvPr>
        </p:nvSpPr>
        <p:spPr/>
        <p:txBody>
          <a:bodyPr/>
          <a:lstStyle/>
          <a:p>
            <a:fld id="{401D9884-105E-DD47-BE64-18D2D96DE6B7}" type="slidenum">
              <a:rPr lang="en-US" smtClean="0"/>
              <a:t>13</a:t>
            </a:fld>
            <a:endParaRPr lang="en-US"/>
          </a:p>
        </p:txBody>
      </p:sp>
    </p:spTree>
    <p:extLst>
      <p:ext uri="{BB962C8B-B14F-4D97-AF65-F5344CB8AC3E}">
        <p14:creationId xmlns:p14="http://schemas.microsoft.com/office/powerpoint/2010/main" val="14505320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perform a test for these and get numbers for them</a:t>
            </a:r>
          </a:p>
          <a:p>
            <a:endParaRPr lang="en-US" dirty="0"/>
          </a:p>
          <a:p>
            <a:r>
              <a:rPr lang="en-US" dirty="0"/>
              <a:t>More info here: https://</a:t>
            </a:r>
            <a:r>
              <a:rPr lang="en-US" dirty="0" err="1"/>
              <a:t>pmc.ncbi.nlm.nih.gov</a:t>
            </a:r>
            <a:r>
              <a:rPr lang="en-US" dirty="0"/>
              <a:t>/articles/PMC6900425/ </a:t>
            </a:r>
          </a:p>
        </p:txBody>
      </p:sp>
      <p:sp>
        <p:nvSpPr>
          <p:cNvPr id="4" name="Slide Number Placeholder 3"/>
          <p:cNvSpPr>
            <a:spLocks noGrp="1"/>
          </p:cNvSpPr>
          <p:nvPr>
            <p:ph type="sldNum" sz="quarter" idx="5"/>
          </p:nvPr>
        </p:nvSpPr>
        <p:spPr/>
        <p:txBody>
          <a:bodyPr/>
          <a:lstStyle/>
          <a:p>
            <a:fld id="{401D9884-105E-DD47-BE64-18D2D96DE6B7}" type="slidenum">
              <a:rPr lang="en-US" smtClean="0"/>
              <a:t>14</a:t>
            </a:fld>
            <a:endParaRPr lang="en-US"/>
          </a:p>
        </p:txBody>
      </p:sp>
    </p:spTree>
    <p:extLst>
      <p:ext uri="{BB962C8B-B14F-4D97-AF65-F5344CB8AC3E}">
        <p14:creationId xmlns:p14="http://schemas.microsoft.com/office/powerpoint/2010/main" val="16244537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Sometimes that increase is large and clearly important, such as when birds is added to the model for caterpillar numbers. In other cases, the increase is small, and may not be worth the added complexity of including another variable. </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401D9884-105E-DD47-BE64-18D2D96DE6B7}" type="slidenum">
              <a:rPr lang="en-US" smtClean="0"/>
              <a:t>15</a:t>
            </a:fld>
            <a:endParaRPr lang="en-US"/>
          </a:p>
        </p:txBody>
      </p:sp>
    </p:spTree>
    <p:extLst>
      <p:ext uri="{BB962C8B-B14F-4D97-AF65-F5344CB8AC3E}">
        <p14:creationId xmlns:p14="http://schemas.microsoft.com/office/powerpoint/2010/main" val="27869108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Essentially, the adjusted R2 imposes a penalty for including additional predictors that do not contribute much towards explaining the observed variation in the response variable. </a:t>
            </a:r>
            <a:endParaRPr lang="en-US" dirty="0"/>
          </a:p>
          <a:p>
            <a:endParaRPr lang="en-US" dirty="0"/>
          </a:p>
        </p:txBody>
      </p:sp>
      <p:sp>
        <p:nvSpPr>
          <p:cNvPr id="4" name="Slide Number Placeholder 3"/>
          <p:cNvSpPr>
            <a:spLocks noGrp="1"/>
          </p:cNvSpPr>
          <p:nvPr>
            <p:ph type="sldNum" sz="quarter" idx="5"/>
          </p:nvPr>
        </p:nvSpPr>
        <p:spPr/>
        <p:txBody>
          <a:bodyPr/>
          <a:lstStyle/>
          <a:p>
            <a:fld id="{401D9884-105E-DD47-BE64-18D2D96DE6B7}" type="slidenum">
              <a:rPr lang="en-US" smtClean="0"/>
              <a:t>16</a:t>
            </a:fld>
            <a:endParaRPr lang="en-US"/>
          </a:p>
        </p:txBody>
      </p:sp>
    </p:spTree>
    <p:extLst>
      <p:ext uri="{BB962C8B-B14F-4D97-AF65-F5344CB8AC3E}">
        <p14:creationId xmlns:p14="http://schemas.microsoft.com/office/powerpoint/2010/main" val="919883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model would you rather use? The one w both predictors, or just one?</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401D9884-105E-DD47-BE64-18D2D96DE6B7}" type="slidenum">
              <a:rPr lang="en-US" smtClean="0"/>
              <a:t>17</a:t>
            </a:fld>
            <a:endParaRPr lang="en-US"/>
          </a:p>
        </p:txBody>
      </p:sp>
    </p:spTree>
    <p:extLst>
      <p:ext uri="{BB962C8B-B14F-4D97-AF65-F5344CB8AC3E}">
        <p14:creationId xmlns:p14="http://schemas.microsoft.com/office/powerpoint/2010/main" val="8869927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1D9884-105E-DD47-BE64-18D2D96DE6B7}" type="slidenum">
              <a:rPr lang="en-US" smtClean="0"/>
              <a:t>18</a:t>
            </a:fld>
            <a:endParaRPr lang="en-US"/>
          </a:p>
        </p:txBody>
      </p:sp>
    </p:spTree>
    <p:extLst>
      <p:ext uri="{BB962C8B-B14F-4D97-AF65-F5344CB8AC3E}">
        <p14:creationId xmlns:p14="http://schemas.microsoft.com/office/powerpoint/2010/main" val="8753593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information on all of these things! Where do we even start???</a:t>
            </a:r>
          </a:p>
        </p:txBody>
      </p:sp>
      <p:sp>
        <p:nvSpPr>
          <p:cNvPr id="4" name="Slide Number Placeholder 3"/>
          <p:cNvSpPr>
            <a:spLocks noGrp="1"/>
          </p:cNvSpPr>
          <p:nvPr>
            <p:ph type="sldNum" sz="quarter" idx="5"/>
          </p:nvPr>
        </p:nvSpPr>
        <p:spPr/>
        <p:txBody>
          <a:bodyPr/>
          <a:lstStyle/>
          <a:p>
            <a:fld id="{401D9884-105E-DD47-BE64-18D2D96DE6B7}" type="slidenum">
              <a:rPr lang="en-US" smtClean="0"/>
              <a:t>22</a:t>
            </a:fld>
            <a:endParaRPr lang="en-US"/>
          </a:p>
        </p:txBody>
      </p:sp>
    </p:spTree>
    <p:extLst>
      <p:ext uri="{BB962C8B-B14F-4D97-AF65-F5344CB8AC3E}">
        <p14:creationId xmlns:p14="http://schemas.microsoft.com/office/powerpoint/2010/main" val="8563919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May want to check: the median (21.0) and mean (19.5) are reasonably close, which confirms the distribution is near enough to symmetric to be used in the model without a transformation. The boxplot confirms that the distribution has no outliers. </a:t>
            </a:r>
            <a:endParaRPr lang="en-US" dirty="0"/>
          </a:p>
          <a:p>
            <a:endParaRPr lang="en-US" dirty="0"/>
          </a:p>
        </p:txBody>
      </p:sp>
      <p:sp>
        <p:nvSpPr>
          <p:cNvPr id="4" name="Slide Number Placeholder 3"/>
          <p:cNvSpPr>
            <a:spLocks noGrp="1"/>
          </p:cNvSpPr>
          <p:nvPr>
            <p:ph type="sldNum" sz="quarter" idx="5"/>
          </p:nvPr>
        </p:nvSpPr>
        <p:spPr/>
        <p:txBody>
          <a:bodyPr/>
          <a:lstStyle/>
          <a:p>
            <a:fld id="{401D9884-105E-DD47-BE64-18D2D96DE6B7}" type="slidenum">
              <a:rPr lang="en-US" smtClean="0"/>
              <a:t>23</a:t>
            </a:fld>
            <a:endParaRPr lang="en-US"/>
          </a:p>
        </p:txBody>
      </p:sp>
    </p:spTree>
    <p:extLst>
      <p:ext uri="{BB962C8B-B14F-4D97-AF65-F5344CB8AC3E}">
        <p14:creationId xmlns:p14="http://schemas.microsoft.com/office/powerpoint/2010/main" val="27045814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variable altitude is reasonably symmetric, and the predictor </a:t>
            </a:r>
            <a:r>
              <a:rPr lang="en-US" sz="1200" kern="1200" dirty="0" err="1">
                <a:solidFill>
                  <a:schemeClr val="tx1"/>
                </a:solidFill>
                <a:effectLst/>
                <a:latin typeface="+mn-lt"/>
                <a:ea typeface="+mn-ea"/>
                <a:cs typeface="+mn-cs"/>
              </a:rPr>
              <a:t>grazing.factor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is categorical and so does not take transformations.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natural log transformation of the original variables. All four are more nearly symmetric. </a:t>
            </a:r>
            <a:br>
              <a:rPr lang="en-US" sz="1200" kern="1200" dirty="0">
                <a:solidFill>
                  <a:schemeClr val="tx1"/>
                </a:solidFill>
                <a:effectLst/>
                <a:latin typeface="+mn-lt"/>
                <a:ea typeface="+mn-ea"/>
                <a:cs typeface="+mn-cs"/>
              </a:rPr>
            </a:br>
            <a:endParaRPr lang="en-US" dirty="0"/>
          </a:p>
          <a:p>
            <a:endParaRPr lang="en-US" dirty="0"/>
          </a:p>
        </p:txBody>
      </p:sp>
      <p:sp>
        <p:nvSpPr>
          <p:cNvPr id="4" name="Slide Number Placeholder 3"/>
          <p:cNvSpPr>
            <a:spLocks noGrp="1"/>
          </p:cNvSpPr>
          <p:nvPr>
            <p:ph type="sldNum" sz="quarter" idx="5"/>
          </p:nvPr>
        </p:nvSpPr>
        <p:spPr/>
        <p:txBody>
          <a:bodyPr/>
          <a:lstStyle/>
          <a:p>
            <a:fld id="{401D9884-105E-DD47-BE64-18D2D96DE6B7}" type="slidenum">
              <a:rPr lang="en-US" smtClean="0"/>
              <a:t>24</a:t>
            </a:fld>
            <a:endParaRPr lang="en-US"/>
          </a:p>
        </p:txBody>
      </p:sp>
    </p:spTree>
    <p:extLst>
      <p:ext uri="{BB962C8B-B14F-4D97-AF65-F5344CB8AC3E}">
        <p14:creationId xmlns:p14="http://schemas.microsoft.com/office/powerpoint/2010/main" val="29894747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 </a:t>
            </a:r>
            <a:r>
              <a:rPr lang="en-US" sz="1200" b="0" kern="1200" dirty="0">
                <a:solidFill>
                  <a:schemeClr val="tx1"/>
                </a:solidFill>
                <a:effectLst/>
                <a:latin typeface="+mn-lt"/>
                <a:ea typeface="+mn-ea"/>
                <a:cs typeface="+mn-cs"/>
              </a:rPr>
              <a:t>scatterplot matrix </a:t>
            </a:r>
            <a:r>
              <a:rPr lang="en-US" sz="1200" kern="1200" dirty="0">
                <a:solidFill>
                  <a:schemeClr val="tx1"/>
                </a:solidFill>
                <a:effectLst/>
                <a:latin typeface="+mn-lt"/>
                <a:ea typeface="+mn-ea"/>
                <a:cs typeface="+mn-cs"/>
              </a:rPr>
              <a:t>can be useful for visualizing the relationships between the predictor and response variables, as well as the relationships between predictors. Each subplot in the matrix is a simple scatterplot; all possible plots are shown, except for the plots of a variable versus itself. </a:t>
            </a:r>
            <a:endParaRPr lang="en-US" dirty="0"/>
          </a:p>
          <a:p>
            <a:endParaRPr lang="en-US" dirty="0"/>
          </a:p>
        </p:txBody>
      </p:sp>
      <p:sp>
        <p:nvSpPr>
          <p:cNvPr id="4" name="Slide Number Placeholder 3"/>
          <p:cNvSpPr>
            <a:spLocks noGrp="1"/>
          </p:cNvSpPr>
          <p:nvPr>
            <p:ph type="sldNum" sz="quarter" idx="5"/>
          </p:nvPr>
        </p:nvSpPr>
        <p:spPr/>
        <p:txBody>
          <a:bodyPr/>
          <a:lstStyle/>
          <a:p>
            <a:fld id="{401D9884-105E-DD47-BE64-18D2D96DE6B7}" type="slidenum">
              <a:rPr lang="en-US" smtClean="0"/>
              <a:t>25</a:t>
            </a:fld>
            <a:endParaRPr lang="en-US"/>
          </a:p>
        </p:txBody>
      </p:sp>
    </p:spTree>
    <p:extLst>
      <p:ext uri="{BB962C8B-B14F-4D97-AF65-F5344CB8AC3E}">
        <p14:creationId xmlns:p14="http://schemas.microsoft.com/office/powerpoint/2010/main" val="3696720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Based on the data exploration, the initial model should include the variables </a:t>
            </a:r>
            <a:r>
              <a:rPr lang="en-US" sz="1200" kern="1200" dirty="0" err="1">
                <a:solidFill>
                  <a:schemeClr val="tx1"/>
                </a:solidFill>
                <a:effectLst/>
                <a:latin typeface="+mn-lt"/>
                <a:ea typeface="+mn-ea"/>
                <a:cs typeface="+mn-cs"/>
              </a:rPr>
              <a:t>log.area</a:t>
            </a:r>
            <a:r>
              <a:rPr lang="en-US" sz="1200" kern="1200" dirty="0">
                <a:solidFill>
                  <a:schemeClr val="tx1"/>
                </a:solidFill>
                <a:effectLst/>
                <a:latin typeface="+mn-lt"/>
                <a:ea typeface="+mn-ea"/>
                <a:cs typeface="+mn-cs"/>
              </a:rPr>
              <a:t>, altitude, </a:t>
            </a:r>
            <a:r>
              <a:rPr lang="en-US" sz="1200" kern="1200" dirty="0" err="1">
                <a:solidFill>
                  <a:schemeClr val="tx1"/>
                </a:solidFill>
                <a:effectLst/>
                <a:latin typeface="+mn-lt"/>
                <a:ea typeface="+mn-ea"/>
                <a:cs typeface="+mn-cs"/>
              </a:rPr>
              <a:t>log.yrs.isolation</a:t>
            </a:r>
            <a:r>
              <a:rPr lang="en-US" sz="1200" kern="1200" dirty="0">
                <a:solidFill>
                  <a:schemeClr val="tx1"/>
                </a:solidFill>
                <a:effectLst/>
                <a:latin typeface="+mn-lt"/>
                <a:ea typeface="+mn-ea"/>
                <a:cs typeface="+mn-cs"/>
              </a:rPr>
              <a:t>, and </a:t>
            </a:r>
            <a:r>
              <a:rPr lang="en-US" sz="1200" kern="1200" dirty="0" err="1">
                <a:solidFill>
                  <a:schemeClr val="tx1"/>
                </a:solidFill>
                <a:effectLst/>
                <a:latin typeface="+mn-lt"/>
                <a:ea typeface="+mn-ea"/>
                <a:cs typeface="+mn-cs"/>
              </a:rPr>
              <a:t>grazing.intensity</a:t>
            </a:r>
            <a:r>
              <a:rPr lang="en-US" sz="1200" kern="1200" dirty="0">
                <a:solidFill>
                  <a:schemeClr val="tx1"/>
                </a:solidFill>
                <a:effectLst/>
                <a:latin typeface="+mn-lt"/>
                <a:ea typeface="+mn-ea"/>
                <a:cs typeface="+mn-cs"/>
              </a:rPr>
              <a:t>;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ASK: what variables here could I knock out?</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Two of the variables in the model are not statistically significant at the α = 0.05 level: altitude and </a:t>
            </a:r>
            <a:r>
              <a:rPr lang="en-US" sz="1200" kern="1200" dirty="0" err="1">
                <a:solidFill>
                  <a:schemeClr val="tx1"/>
                </a:solidFill>
                <a:effectLst/>
                <a:latin typeface="+mn-lt"/>
                <a:ea typeface="+mn-ea"/>
                <a:cs typeface="+mn-cs"/>
              </a:rPr>
              <a:t>log.yrs.isolation</a:t>
            </a:r>
            <a:r>
              <a:rPr lang="en-US" sz="1200" kern="1200" dirty="0">
                <a:solidFill>
                  <a:schemeClr val="tx1"/>
                </a:solidFill>
                <a:effectLst/>
                <a:latin typeface="+mn-lt"/>
                <a:ea typeface="+mn-ea"/>
                <a:cs typeface="+mn-cs"/>
              </a:rPr>
              <a:t>. Only one of the categories of </a:t>
            </a:r>
            <a:r>
              <a:rPr lang="en-US" sz="1200" kern="1200" dirty="0" err="1">
                <a:solidFill>
                  <a:schemeClr val="tx1"/>
                </a:solidFill>
                <a:effectLst/>
                <a:latin typeface="+mn-lt"/>
                <a:ea typeface="+mn-ea"/>
                <a:cs typeface="+mn-cs"/>
              </a:rPr>
              <a:t>grazing.intensity</a:t>
            </a:r>
            <a:r>
              <a:rPr lang="en-US" sz="1200" kern="1200" dirty="0">
                <a:solidFill>
                  <a:schemeClr val="tx1"/>
                </a:solidFill>
                <a:effectLst/>
                <a:latin typeface="+mn-lt"/>
                <a:ea typeface="+mn-ea"/>
                <a:cs typeface="+mn-cs"/>
              </a:rPr>
              <a:t> (heavy grazing) is highly significant. </a:t>
            </a:r>
            <a:endParaRPr lang="en-US" dirty="0"/>
          </a:p>
          <a:p>
            <a:endParaRPr lang="en-US" dirty="0"/>
          </a:p>
        </p:txBody>
      </p:sp>
      <p:sp>
        <p:nvSpPr>
          <p:cNvPr id="4" name="Slide Number Placeholder 3"/>
          <p:cNvSpPr>
            <a:spLocks noGrp="1"/>
          </p:cNvSpPr>
          <p:nvPr>
            <p:ph type="sldNum" sz="quarter" idx="5"/>
          </p:nvPr>
        </p:nvSpPr>
        <p:spPr/>
        <p:txBody>
          <a:bodyPr/>
          <a:lstStyle/>
          <a:p>
            <a:fld id="{401D9884-105E-DD47-BE64-18D2D96DE6B7}" type="slidenum">
              <a:rPr lang="en-US" smtClean="0"/>
              <a:t>26</a:t>
            </a:fld>
            <a:endParaRPr lang="en-US"/>
          </a:p>
        </p:txBody>
      </p:sp>
    </p:spTree>
    <p:extLst>
      <p:ext uri="{BB962C8B-B14F-4D97-AF65-F5344CB8AC3E}">
        <p14:creationId xmlns:p14="http://schemas.microsoft.com/office/powerpoint/2010/main" val="25517066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When either or both of these variables are added, the adjusted R2 decreases from 0.70 to 0.69. </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Individual categories of a categorical variable cannot be dropped,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You can leave as-is or collapse into fewer categories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collapse grazing intensity into a two-level variable, with one category corresponding to the original classification of heavy, and another category corresponding to the other four categories; i.e., creating a version of grazing intensity that only has the levels "heavy" and "not heavy". That reminds me of our pesticide vs. non pesticide</a:t>
            </a:r>
            <a:endParaRPr lang="en-US" dirty="0"/>
          </a:p>
          <a:p>
            <a:endParaRPr lang="en-US" dirty="0"/>
          </a:p>
        </p:txBody>
      </p:sp>
      <p:sp>
        <p:nvSpPr>
          <p:cNvPr id="4" name="Slide Number Placeholder 3"/>
          <p:cNvSpPr>
            <a:spLocks noGrp="1"/>
          </p:cNvSpPr>
          <p:nvPr>
            <p:ph type="sldNum" sz="quarter" idx="5"/>
          </p:nvPr>
        </p:nvSpPr>
        <p:spPr/>
        <p:txBody>
          <a:bodyPr/>
          <a:lstStyle/>
          <a:p>
            <a:fld id="{401D9884-105E-DD47-BE64-18D2D96DE6B7}" type="slidenum">
              <a:rPr lang="en-US" smtClean="0"/>
              <a:t>27</a:t>
            </a:fld>
            <a:endParaRPr lang="en-US"/>
          </a:p>
        </p:txBody>
      </p:sp>
    </p:spTree>
    <p:extLst>
      <p:ext uri="{BB962C8B-B14F-4D97-AF65-F5344CB8AC3E}">
        <p14:creationId xmlns:p14="http://schemas.microsoft.com/office/powerpoint/2010/main" val="17610175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Both show that the residuals follow the shape of a normal density in the middle range (between -10 and 10) but fit less well in the tails.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Both the middle plot and the right plot show that the prediction error is smaller for patches with heavy grazing than for patches where grazing intensity was between "light" and "moderately heavy". Patches with heavy grazing are represented with red points; note how the red points mostly cluster around the y = 0 line, </a:t>
            </a:r>
            <a:endParaRPr lang="en-US" dirty="0"/>
          </a:p>
          <a:p>
            <a:endParaRPr lang="en-US" dirty="0"/>
          </a:p>
        </p:txBody>
      </p:sp>
      <p:sp>
        <p:nvSpPr>
          <p:cNvPr id="4" name="Slide Number Placeholder 3"/>
          <p:cNvSpPr>
            <a:spLocks noGrp="1"/>
          </p:cNvSpPr>
          <p:nvPr>
            <p:ph type="sldNum" sz="quarter" idx="5"/>
          </p:nvPr>
        </p:nvSpPr>
        <p:spPr/>
        <p:txBody>
          <a:bodyPr/>
          <a:lstStyle/>
          <a:p>
            <a:fld id="{401D9884-105E-DD47-BE64-18D2D96DE6B7}" type="slidenum">
              <a:rPr lang="en-US" smtClean="0"/>
              <a:t>28</a:t>
            </a:fld>
            <a:endParaRPr lang="en-US"/>
          </a:p>
        </p:txBody>
      </p:sp>
    </p:spTree>
    <p:extLst>
      <p:ext uri="{BB962C8B-B14F-4D97-AF65-F5344CB8AC3E}">
        <p14:creationId xmlns:p14="http://schemas.microsoft.com/office/powerpoint/2010/main" val="11827724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one given reference category</a:t>
            </a:r>
          </a:p>
          <a:p>
            <a:endParaRPr lang="en-US" dirty="0"/>
          </a:p>
          <a:p>
            <a:r>
              <a:rPr lang="en-US" dirty="0"/>
              <a:t>Intercept would be no pesticide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p-values indicate that the change in mean score between participants with only a primary school education and any of the other categories is statistically significant. </a:t>
            </a: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401D9884-105E-DD47-BE64-18D2D96DE6B7}" type="slidenum">
              <a:rPr lang="en-US" smtClean="0"/>
              <a:t>31</a:t>
            </a:fld>
            <a:endParaRPr lang="en-US"/>
          </a:p>
        </p:txBody>
      </p:sp>
    </p:spTree>
    <p:extLst>
      <p:ext uri="{BB962C8B-B14F-4D97-AF65-F5344CB8AC3E}">
        <p14:creationId xmlns:p14="http://schemas.microsoft.com/office/powerpoint/2010/main" val="36078002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D8710-A2ED-3A18-9B2E-4F8E9830A3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E32C5F6-3086-4A14-107C-E4990F65C4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5C85AE-CF58-010C-5E0A-BA95524B28E2}"/>
              </a:ext>
            </a:extLst>
          </p:cNvPr>
          <p:cNvSpPr>
            <a:spLocks noGrp="1"/>
          </p:cNvSpPr>
          <p:nvPr>
            <p:ph type="dt" sz="half" idx="10"/>
          </p:nvPr>
        </p:nvSpPr>
        <p:spPr/>
        <p:txBody>
          <a:bodyPr/>
          <a:lstStyle/>
          <a:p>
            <a:fld id="{C40380D3-086C-5646-8963-A337AB065128}" type="datetimeFigureOut">
              <a:rPr lang="en-US" smtClean="0"/>
              <a:t>9/25/26</a:t>
            </a:fld>
            <a:endParaRPr lang="en-US"/>
          </a:p>
        </p:txBody>
      </p:sp>
      <p:sp>
        <p:nvSpPr>
          <p:cNvPr id="5" name="Footer Placeholder 4">
            <a:extLst>
              <a:ext uri="{FF2B5EF4-FFF2-40B4-BE49-F238E27FC236}">
                <a16:creationId xmlns:a16="http://schemas.microsoft.com/office/drawing/2014/main" id="{66BB66AA-0E6B-6479-B3A5-FEEF8D671F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A9E85-5562-CA31-50CC-1592708894B2}"/>
              </a:ext>
            </a:extLst>
          </p:cNvPr>
          <p:cNvSpPr>
            <a:spLocks noGrp="1"/>
          </p:cNvSpPr>
          <p:nvPr>
            <p:ph type="sldNum" sz="quarter" idx="12"/>
          </p:nvPr>
        </p:nvSpPr>
        <p:spPr/>
        <p:txBody>
          <a:bodyPr/>
          <a:lstStyle/>
          <a:p>
            <a:fld id="{3DD0BA02-043D-8248-A774-317A17439D2F}" type="slidenum">
              <a:rPr lang="en-US" smtClean="0"/>
              <a:t>‹#›</a:t>
            </a:fld>
            <a:endParaRPr lang="en-US"/>
          </a:p>
        </p:txBody>
      </p:sp>
    </p:spTree>
    <p:extLst>
      <p:ext uri="{BB962C8B-B14F-4D97-AF65-F5344CB8AC3E}">
        <p14:creationId xmlns:p14="http://schemas.microsoft.com/office/powerpoint/2010/main" val="2312633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0CF0F-33A4-D74B-DF3F-DFB09800A1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8A936F-4987-AC8F-C680-DAC8FDBE73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ACEFA8-011A-2F82-ED10-ECE5153FBE17}"/>
              </a:ext>
            </a:extLst>
          </p:cNvPr>
          <p:cNvSpPr>
            <a:spLocks noGrp="1"/>
          </p:cNvSpPr>
          <p:nvPr>
            <p:ph type="dt" sz="half" idx="10"/>
          </p:nvPr>
        </p:nvSpPr>
        <p:spPr/>
        <p:txBody>
          <a:bodyPr/>
          <a:lstStyle/>
          <a:p>
            <a:fld id="{C40380D3-086C-5646-8963-A337AB065128}" type="datetimeFigureOut">
              <a:rPr lang="en-US" smtClean="0"/>
              <a:t>9/25/26</a:t>
            </a:fld>
            <a:endParaRPr lang="en-US"/>
          </a:p>
        </p:txBody>
      </p:sp>
      <p:sp>
        <p:nvSpPr>
          <p:cNvPr id="5" name="Footer Placeholder 4">
            <a:extLst>
              <a:ext uri="{FF2B5EF4-FFF2-40B4-BE49-F238E27FC236}">
                <a16:creationId xmlns:a16="http://schemas.microsoft.com/office/drawing/2014/main" id="{7ECD7C5B-354F-7011-5831-49B5864297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AE84E4-4DF9-847B-4D14-102A46A015DE}"/>
              </a:ext>
            </a:extLst>
          </p:cNvPr>
          <p:cNvSpPr>
            <a:spLocks noGrp="1"/>
          </p:cNvSpPr>
          <p:nvPr>
            <p:ph type="sldNum" sz="quarter" idx="12"/>
          </p:nvPr>
        </p:nvSpPr>
        <p:spPr/>
        <p:txBody>
          <a:bodyPr/>
          <a:lstStyle/>
          <a:p>
            <a:fld id="{3DD0BA02-043D-8248-A774-317A17439D2F}" type="slidenum">
              <a:rPr lang="en-US" smtClean="0"/>
              <a:t>‹#›</a:t>
            </a:fld>
            <a:endParaRPr lang="en-US"/>
          </a:p>
        </p:txBody>
      </p:sp>
    </p:spTree>
    <p:extLst>
      <p:ext uri="{BB962C8B-B14F-4D97-AF65-F5344CB8AC3E}">
        <p14:creationId xmlns:p14="http://schemas.microsoft.com/office/powerpoint/2010/main" val="1097228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8C5BE-C5C0-579F-8424-5DD8645863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A651A2C-81E8-29C0-D4F5-C4B6B7EC637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840C68-43E6-4225-EE4F-F0D07392FCB1}"/>
              </a:ext>
            </a:extLst>
          </p:cNvPr>
          <p:cNvSpPr>
            <a:spLocks noGrp="1"/>
          </p:cNvSpPr>
          <p:nvPr>
            <p:ph type="dt" sz="half" idx="10"/>
          </p:nvPr>
        </p:nvSpPr>
        <p:spPr/>
        <p:txBody>
          <a:bodyPr/>
          <a:lstStyle/>
          <a:p>
            <a:fld id="{C40380D3-086C-5646-8963-A337AB065128}" type="datetimeFigureOut">
              <a:rPr lang="en-US" smtClean="0"/>
              <a:t>9/25/26</a:t>
            </a:fld>
            <a:endParaRPr lang="en-US"/>
          </a:p>
        </p:txBody>
      </p:sp>
      <p:sp>
        <p:nvSpPr>
          <p:cNvPr id="5" name="Footer Placeholder 4">
            <a:extLst>
              <a:ext uri="{FF2B5EF4-FFF2-40B4-BE49-F238E27FC236}">
                <a16:creationId xmlns:a16="http://schemas.microsoft.com/office/drawing/2014/main" id="{EDE2F210-D328-5811-E111-D11C44A8C5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3321BA-1357-A541-6E58-5F78B2FFEED4}"/>
              </a:ext>
            </a:extLst>
          </p:cNvPr>
          <p:cNvSpPr>
            <a:spLocks noGrp="1"/>
          </p:cNvSpPr>
          <p:nvPr>
            <p:ph type="sldNum" sz="quarter" idx="12"/>
          </p:nvPr>
        </p:nvSpPr>
        <p:spPr/>
        <p:txBody>
          <a:bodyPr/>
          <a:lstStyle/>
          <a:p>
            <a:fld id="{3DD0BA02-043D-8248-A774-317A17439D2F}" type="slidenum">
              <a:rPr lang="en-US" smtClean="0"/>
              <a:t>‹#›</a:t>
            </a:fld>
            <a:endParaRPr lang="en-US"/>
          </a:p>
        </p:txBody>
      </p:sp>
    </p:spTree>
    <p:extLst>
      <p:ext uri="{BB962C8B-B14F-4D97-AF65-F5344CB8AC3E}">
        <p14:creationId xmlns:p14="http://schemas.microsoft.com/office/powerpoint/2010/main" val="3405998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9E690-D9EB-D7DB-7239-03D1B80C63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7E7DB8-CACB-88B5-67D7-69D89098F1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48A76CE-8DCC-CDB2-E6F6-2D65248760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42FD34F-1490-1B9B-9C16-33D3FAE797E4}"/>
              </a:ext>
            </a:extLst>
          </p:cNvPr>
          <p:cNvSpPr>
            <a:spLocks noGrp="1"/>
          </p:cNvSpPr>
          <p:nvPr>
            <p:ph type="dt" sz="half" idx="10"/>
          </p:nvPr>
        </p:nvSpPr>
        <p:spPr/>
        <p:txBody>
          <a:bodyPr/>
          <a:lstStyle/>
          <a:p>
            <a:fld id="{C40380D3-086C-5646-8963-A337AB065128}" type="datetimeFigureOut">
              <a:rPr lang="en-US" smtClean="0"/>
              <a:t>9/25/26</a:t>
            </a:fld>
            <a:endParaRPr lang="en-US"/>
          </a:p>
        </p:txBody>
      </p:sp>
      <p:sp>
        <p:nvSpPr>
          <p:cNvPr id="6" name="Footer Placeholder 5">
            <a:extLst>
              <a:ext uri="{FF2B5EF4-FFF2-40B4-BE49-F238E27FC236}">
                <a16:creationId xmlns:a16="http://schemas.microsoft.com/office/drawing/2014/main" id="{4B3C87FD-87C1-F2DC-6DCA-C2F0084225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C7565C-344D-D685-6DCA-7E20FE9C73A3}"/>
              </a:ext>
            </a:extLst>
          </p:cNvPr>
          <p:cNvSpPr>
            <a:spLocks noGrp="1"/>
          </p:cNvSpPr>
          <p:nvPr>
            <p:ph type="sldNum" sz="quarter" idx="12"/>
          </p:nvPr>
        </p:nvSpPr>
        <p:spPr/>
        <p:txBody>
          <a:bodyPr/>
          <a:lstStyle/>
          <a:p>
            <a:fld id="{3DD0BA02-043D-8248-A774-317A17439D2F}" type="slidenum">
              <a:rPr lang="en-US" smtClean="0"/>
              <a:t>‹#›</a:t>
            </a:fld>
            <a:endParaRPr lang="en-US"/>
          </a:p>
        </p:txBody>
      </p:sp>
    </p:spTree>
    <p:extLst>
      <p:ext uri="{BB962C8B-B14F-4D97-AF65-F5344CB8AC3E}">
        <p14:creationId xmlns:p14="http://schemas.microsoft.com/office/powerpoint/2010/main" val="2213687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E213F-E34B-CC46-1C74-9F3DF1CC105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513F19B-C958-029F-A5E0-9C68A96344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A5B7CD-B9AD-7C61-15D4-C4D177CDDB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649930-E9A5-DB0C-576A-685B4CA389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FF8E88-BA5F-79E0-BE15-11881406AFB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068131-7AE6-AF17-DAE0-24B51C8319EF}"/>
              </a:ext>
            </a:extLst>
          </p:cNvPr>
          <p:cNvSpPr>
            <a:spLocks noGrp="1"/>
          </p:cNvSpPr>
          <p:nvPr>
            <p:ph type="dt" sz="half" idx="10"/>
          </p:nvPr>
        </p:nvSpPr>
        <p:spPr/>
        <p:txBody>
          <a:bodyPr/>
          <a:lstStyle/>
          <a:p>
            <a:fld id="{C40380D3-086C-5646-8963-A337AB065128}" type="datetimeFigureOut">
              <a:rPr lang="en-US" smtClean="0"/>
              <a:t>9/25/26</a:t>
            </a:fld>
            <a:endParaRPr lang="en-US"/>
          </a:p>
        </p:txBody>
      </p:sp>
      <p:sp>
        <p:nvSpPr>
          <p:cNvPr id="8" name="Footer Placeholder 7">
            <a:extLst>
              <a:ext uri="{FF2B5EF4-FFF2-40B4-BE49-F238E27FC236}">
                <a16:creationId xmlns:a16="http://schemas.microsoft.com/office/drawing/2014/main" id="{787DB560-A8B7-BF0D-75D7-5ECD7865B64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35B2E4-851F-A8AA-2EC8-B1712AE36CCA}"/>
              </a:ext>
            </a:extLst>
          </p:cNvPr>
          <p:cNvSpPr>
            <a:spLocks noGrp="1"/>
          </p:cNvSpPr>
          <p:nvPr>
            <p:ph type="sldNum" sz="quarter" idx="12"/>
          </p:nvPr>
        </p:nvSpPr>
        <p:spPr/>
        <p:txBody>
          <a:bodyPr/>
          <a:lstStyle/>
          <a:p>
            <a:fld id="{3DD0BA02-043D-8248-A774-317A17439D2F}" type="slidenum">
              <a:rPr lang="en-US" smtClean="0"/>
              <a:t>‹#›</a:t>
            </a:fld>
            <a:endParaRPr lang="en-US"/>
          </a:p>
        </p:txBody>
      </p:sp>
    </p:spTree>
    <p:extLst>
      <p:ext uri="{BB962C8B-B14F-4D97-AF65-F5344CB8AC3E}">
        <p14:creationId xmlns:p14="http://schemas.microsoft.com/office/powerpoint/2010/main" val="3612157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A4963-7560-C373-670C-8E7168F7608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5B0B8C7-352E-E8A0-4AB6-CF345ED803CB}"/>
              </a:ext>
            </a:extLst>
          </p:cNvPr>
          <p:cNvSpPr>
            <a:spLocks noGrp="1"/>
          </p:cNvSpPr>
          <p:nvPr>
            <p:ph type="dt" sz="half" idx="10"/>
          </p:nvPr>
        </p:nvSpPr>
        <p:spPr/>
        <p:txBody>
          <a:bodyPr/>
          <a:lstStyle/>
          <a:p>
            <a:fld id="{C40380D3-086C-5646-8963-A337AB065128}" type="datetimeFigureOut">
              <a:rPr lang="en-US" smtClean="0"/>
              <a:t>9/25/26</a:t>
            </a:fld>
            <a:endParaRPr lang="en-US"/>
          </a:p>
        </p:txBody>
      </p:sp>
      <p:sp>
        <p:nvSpPr>
          <p:cNvPr id="4" name="Footer Placeholder 3">
            <a:extLst>
              <a:ext uri="{FF2B5EF4-FFF2-40B4-BE49-F238E27FC236}">
                <a16:creationId xmlns:a16="http://schemas.microsoft.com/office/drawing/2014/main" id="{FF24CC73-A250-D50A-5454-AD6C948823A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7F963CF-DE07-4C62-90E8-6904868EDBC3}"/>
              </a:ext>
            </a:extLst>
          </p:cNvPr>
          <p:cNvSpPr>
            <a:spLocks noGrp="1"/>
          </p:cNvSpPr>
          <p:nvPr>
            <p:ph type="sldNum" sz="quarter" idx="12"/>
          </p:nvPr>
        </p:nvSpPr>
        <p:spPr/>
        <p:txBody>
          <a:bodyPr/>
          <a:lstStyle/>
          <a:p>
            <a:fld id="{3DD0BA02-043D-8248-A774-317A17439D2F}" type="slidenum">
              <a:rPr lang="en-US" smtClean="0"/>
              <a:t>‹#›</a:t>
            </a:fld>
            <a:endParaRPr lang="en-US"/>
          </a:p>
        </p:txBody>
      </p:sp>
    </p:spTree>
    <p:extLst>
      <p:ext uri="{BB962C8B-B14F-4D97-AF65-F5344CB8AC3E}">
        <p14:creationId xmlns:p14="http://schemas.microsoft.com/office/powerpoint/2010/main" val="1075518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DB51E5-4C69-0469-8CD5-7862D494F821}"/>
              </a:ext>
            </a:extLst>
          </p:cNvPr>
          <p:cNvSpPr>
            <a:spLocks noGrp="1"/>
          </p:cNvSpPr>
          <p:nvPr>
            <p:ph type="dt" sz="half" idx="10"/>
          </p:nvPr>
        </p:nvSpPr>
        <p:spPr/>
        <p:txBody>
          <a:bodyPr/>
          <a:lstStyle/>
          <a:p>
            <a:fld id="{C40380D3-086C-5646-8963-A337AB065128}" type="datetimeFigureOut">
              <a:rPr lang="en-US" smtClean="0"/>
              <a:t>9/25/26</a:t>
            </a:fld>
            <a:endParaRPr lang="en-US"/>
          </a:p>
        </p:txBody>
      </p:sp>
      <p:sp>
        <p:nvSpPr>
          <p:cNvPr id="3" name="Footer Placeholder 2">
            <a:extLst>
              <a:ext uri="{FF2B5EF4-FFF2-40B4-BE49-F238E27FC236}">
                <a16:creationId xmlns:a16="http://schemas.microsoft.com/office/drawing/2014/main" id="{AC2AAFDD-4B86-DAD2-C645-06E38A9291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C7C6468-57B6-DB79-92C5-210AD35DE785}"/>
              </a:ext>
            </a:extLst>
          </p:cNvPr>
          <p:cNvSpPr>
            <a:spLocks noGrp="1"/>
          </p:cNvSpPr>
          <p:nvPr>
            <p:ph type="sldNum" sz="quarter" idx="12"/>
          </p:nvPr>
        </p:nvSpPr>
        <p:spPr/>
        <p:txBody>
          <a:bodyPr/>
          <a:lstStyle/>
          <a:p>
            <a:fld id="{3DD0BA02-043D-8248-A774-317A17439D2F}" type="slidenum">
              <a:rPr lang="en-US" smtClean="0"/>
              <a:t>‹#›</a:t>
            </a:fld>
            <a:endParaRPr lang="en-US"/>
          </a:p>
        </p:txBody>
      </p:sp>
    </p:spTree>
    <p:extLst>
      <p:ext uri="{BB962C8B-B14F-4D97-AF65-F5344CB8AC3E}">
        <p14:creationId xmlns:p14="http://schemas.microsoft.com/office/powerpoint/2010/main" val="1583415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0BEE3-79A7-D123-0187-53EAADAC4F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080BDFF-FCF2-9135-D082-9BEE4B1A84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C59EEE-CF36-1265-D3BD-9E93D1A881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478D59-B1C0-496C-10AF-F80085070213}"/>
              </a:ext>
            </a:extLst>
          </p:cNvPr>
          <p:cNvSpPr>
            <a:spLocks noGrp="1"/>
          </p:cNvSpPr>
          <p:nvPr>
            <p:ph type="dt" sz="half" idx="10"/>
          </p:nvPr>
        </p:nvSpPr>
        <p:spPr/>
        <p:txBody>
          <a:bodyPr/>
          <a:lstStyle/>
          <a:p>
            <a:fld id="{C40380D3-086C-5646-8963-A337AB065128}" type="datetimeFigureOut">
              <a:rPr lang="en-US" smtClean="0"/>
              <a:t>9/25/26</a:t>
            </a:fld>
            <a:endParaRPr lang="en-US"/>
          </a:p>
        </p:txBody>
      </p:sp>
      <p:sp>
        <p:nvSpPr>
          <p:cNvPr id="6" name="Footer Placeholder 5">
            <a:extLst>
              <a:ext uri="{FF2B5EF4-FFF2-40B4-BE49-F238E27FC236}">
                <a16:creationId xmlns:a16="http://schemas.microsoft.com/office/drawing/2014/main" id="{0EB0D6E4-77EF-83A9-CA7A-2443C5415C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BD464B-85D3-9389-98CE-DD29358FE1E8}"/>
              </a:ext>
            </a:extLst>
          </p:cNvPr>
          <p:cNvSpPr>
            <a:spLocks noGrp="1"/>
          </p:cNvSpPr>
          <p:nvPr>
            <p:ph type="sldNum" sz="quarter" idx="12"/>
          </p:nvPr>
        </p:nvSpPr>
        <p:spPr/>
        <p:txBody>
          <a:bodyPr/>
          <a:lstStyle/>
          <a:p>
            <a:fld id="{3DD0BA02-043D-8248-A774-317A17439D2F}" type="slidenum">
              <a:rPr lang="en-US" smtClean="0"/>
              <a:t>‹#›</a:t>
            </a:fld>
            <a:endParaRPr lang="en-US"/>
          </a:p>
        </p:txBody>
      </p:sp>
    </p:spTree>
    <p:extLst>
      <p:ext uri="{BB962C8B-B14F-4D97-AF65-F5344CB8AC3E}">
        <p14:creationId xmlns:p14="http://schemas.microsoft.com/office/powerpoint/2010/main" val="1893408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3B9B7-C871-6277-95C2-119B9B42A3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096B2C-F0B2-114C-4CCE-CDC404F716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917C845-EC1A-3C18-FDE8-9D496A3010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272FF8-EAD5-BCFD-F86A-32BDC5C92818}"/>
              </a:ext>
            </a:extLst>
          </p:cNvPr>
          <p:cNvSpPr>
            <a:spLocks noGrp="1"/>
          </p:cNvSpPr>
          <p:nvPr>
            <p:ph type="dt" sz="half" idx="10"/>
          </p:nvPr>
        </p:nvSpPr>
        <p:spPr/>
        <p:txBody>
          <a:bodyPr/>
          <a:lstStyle/>
          <a:p>
            <a:fld id="{C40380D3-086C-5646-8963-A337AB065128}" type="datetimeFigureOut">
              <a:rPr lang="en-US" smtClean="0"/>
              <a:t>9/25/26</a:t>
            </a:fld>
            <a:endParaRPr lang="en-US"/>
          </a:p>
        </p:txBody>
      </p:sp>
      <p:sp>
        <p:nvSpPr>
          <p:cNvPr id="6" name="Footer Placeholder 5">
            <a:extLst>
              <a:ext uri="{FF2B5EF4-FFF2-40B4-BE49-F238E27FC236}">
                <a16:creationId xmlns:a16="http://schemas.microsoft.com/office/drawing/2014/main" id="{78387B80-A2F3-86B0-84FD-7DC0F88527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E46513-C765-3C60-4BE5-2967F5434B5C}"/>
              </a:ext>
            </a:extLst>
          </p:cNvPr>
          <p:cNvSpPr>
            <a:spLocks noGrp="1"/>
          </p:cNvSpPr>
          <p:nvPr>
            <p:ph type="sldNum" sz="quarter" idx="12"/>
          </p:nvPr>
        </p:nvSpPr>
        <p:spPr/>
        <p:txBody>
          <a:bodyPr/>
          <a:lstStyle/>
          <a:p>
            <a:fld id="{3DD0BA02-043D-8248-A774-317A17439D2F}" type="slidenum">
              <a:rPr lang="en-US" smtClean="0"/>
              <a:t>‹#›</a:t>
            </a:fld>
            <a:endParaRPr lang="en-US"/>
          </a:p>
        </p:txBody>
      </p:sp>
    </p:spTree>
    <p:extLst>
      <p:ext uri="{BB962C8B-B14F-4D97-AF65-F5344CB8AC3E}">
        <p14:creationId xmlns:p14="http://schemas.microsoft.com/office/powerpoint/2010/main" val="3874809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345E6-EFEF-4659-DB56-9EED4D927B2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C16FDC8-12D8-DE6D-B292-3EED0EC7BF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A01275-7310-A783-6893-B1483E1ED6DD}"/>
              </a:ext>
            </a:extLst>
          </p:cNvPr>
          <p:cNvSpPr>
            <a:spLocks noGrp="1"/>
          </p:cNvSpPr>
          <p:nvPr>
            <p:ph type="dt" sz="half" idx="10"/>
          </p:nvPr>
        </p:nvSpPr>
        <p:spPr/>
        <p:txBody>
          <a:bodyPr/>
          <a:lstStyle/>
          <a:p>
            <a:fld id="{C40380D3-086C-5646-8963-A337AB065128}" type="datetimeFigureOut">
              <a:rPr lang="en-US" smtClean="0"/>
              <a:t>9/25/26</a:t>
            </a:fld>
            <a:endParaRPr lang="en-US"/>
          </a:p>
        </p:txBody>
      </p:sp>
      <p:sp>
        <p:nvSpPr>
          <p:cNvPr id="5" name="Footer Placeholder 4">
            <a:extLst>
              <a:ext uri="{FF2B5EF4-FFF2-40B4-BE49-F238E27FC236}">
                <a16:creationId xmlns:a16="http://schemas.microsoft.com/office/drawing/2014/main" id="{92808F01-A4B2-937A-5C82-1B82776AAE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746661-0402-FA00-3C8C-C21D520B95C0}"/>
              </a:ext>
            </a:extLst>
          </p:cNvPr>
          <p:cNvSpPr>
            <a:spLocks noGrp="1"/>
          </p:cNvSpPr>
          <p:nvPr>
            <p:ph type="sldNum" sz="quarter" idx="12"/>
          </p:nvPr>
        </p:nvSpPr>
        <p:spPr/>
        <p:txBody>
          <a:bodyPr/>
          <a:lstStyle/>
          <a:p>
            <a:fld id="{3DD0BA02-043D-8248-A774-317A17439D2F}" type="slidenum">
              <a:rPr lang="en-US" smtClean="0"/>
              <a:t>‹#›</a:t>
            </a:fld>
            <a:endParaRPr lang="en-US"/>
          </a:p>
        </p:txBody>
      </p:sp>
    </p:spTree>
    <p:extLst>
      <p:ext uri="{BB962C8B-B14F-4D97-AF65-F5344CB8AC3E}">
        <p14:creationId xmlns:p14="http://schemas.microsoft.com/office/powerpoint/2010/main" val="2406899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BA38A9-F74A-BF4E-5BBE-E9D3CC690A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609B49-557C-3638-F388-A55FBCD66AA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A9E365-FB5F-1F18-327C-881352A143EC}"/>
              </a:ext>
            </a:extLst>
          </p:cNvPr>
          <p:cNvSpPr>
            <a:spLocks noGrp="1"/>
          </p:cNvSpPr>
          <p:nvPr>
            <p:ph type="dt" sz="half" idx="10"/>
          </p:nvPr>
        </p:nvSpPr>
        <p:spPr/>
        <p:txBody>
          <a:bodyPr/>
          <a:lstStyle/>
          <a:p>
            <a:fld id="{C40380D3-086C-5646-8963-A337AB065128}" type="datetimeFigureOut">
              <a:rPr lang="en-US" smtClean="0"/>
              <a:t>9/25/26</a:t>
            </a:fld>
            <a:endParaRPr lang="en-US"/>
          </a:p>
        </p:txBody>
      </p:sp>
      <p:sp>
        <p:nvSpPr>
          <p:cNvPr id="5" name="Footer Placeholder 4">
            <a:extLst>
              <a:ext uri="{FF2B5EF4-FFF2-40B4-BE49-F238E27FC236}">
                <a16:creationId xmlns:a16="http://schemas.microsoft.com/office/drawing/2014/main" id="{885FED4F-1024-53EE-37C7-A5B45E2FA9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F518EB-B5FA-F1D2-AC89-C5F0FAA5B229}"/>
              </a:ext>
            </a:extLst>
          </p:cNvPr>
          <p:cNvSpPr>
            <a:spLocks noGrp="1"/>
          </p:cNvSpPr>
          <p:nvPr>
            <p:ph type="sldNum" sz="quarter" idx="12"/>
          </p:nvPr>
        </p:nvSpPr>
        <p:spPr/>
        <p:txBody>
          <a:bodyPr/>
          <a:lstStyle/>
          <a:p>
            <a:fld id="{3DD0BA02-043D-8248-A774-317A17439D2F}" type="slidenum">
              <a:rPr lang="en-US" smtClean="0"/>
              <a:t>‹#›</a:t>
            </a:fld>
            <a:endParaRPr lang="en-US"/>
          </a:p>
        </p:txBody>
      </p:sp>
    </p:spTree>
    <p:extLst>
      <p:ext uri="{BB962C8B-B14F-4D97-AF65-F5344CB8AC3E}">
        <p14:creationId xmlns:p14="http://schemas.microsoft.com/office/powerpoint/2010/main" val="20387255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FF0E41-7070-7136-0D03-3526D9300A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3480F8-FDC5-FD5D-ABE0-9684B2F6C8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6928A5-E3C4-F563-B84A-68321134AE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0380D3-086C-5646-8963-A337AB065128}" type="datetimeFigureOut">
              <a:rPr lang="en-US" smtClean="0"/>
              <a:t>9/25/26</a:t>
            </a:fld>
            <a:endParaRPr lang="en-US"/>
          </a:p>
        </p:txBody>
      </p:sp>
      <p:sp>
        <p:nvSpPr>
          <p:cNvPr id="5" name="Footer Placeholder 4">
            <a:extLst>
              <a:ext uri="{FF2B5EF4-FFF2-40B4-BE49-F238E27FC236}">
                <a16:creationId xmlns:a16="http://schemas.microsoft.com/office/drawing/2014/main" id="{8A241498-4E2C-F3C6-6492-16C9315796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C16AE58-D546-8235-4A5D-384F840D91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D0BA02-043D-8248-A774-317A17439D2F}" type="slidenum">
              <a:rPr lang="en-US" smtClean="0"/>
              <a:t>‹#›</a:t>
            </a:fld>
            <a:endParaRPr lang="en-US"/>
          </a:p>
        </p:txBody>
      </p:sp>
    </p:spTree>
    <p:extLst>
      <p:ext uri="{BB962C8B-B14F-4D97-AF65-F5344CB8AC3E}">
        <p14:creationId xmlns:p14="http://schemas.microsoft.com/office/powerpoint/2010/main" val="35176465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FA14E-E537-E209-CE35-5B39A49D2101}"/>
              </a:ext>
            </a:extLst>
          </p:cNvPr>
          <p:cNvSpPr>
            <a:spLocks noGrp="1"/>
          </p:cNvSpPr>
          <p:nvPr>
            <p:ph type="ctrTitle"/>
          </p:nvPr>
        </p:nvSpPr>
        <p:spPr>
          <a:xfrm>
            <a:off x="1524000" y="868362"/>
            <a:ext cx="9144000" cy="2387600"/>
          </a:xfrm>
        </p:spPr>
        <p:txBody>
          <a:bodyPr>
            <a:normAutofit/>
          </a:bodyPr>
          <a:lstStyle/>
          <a:p>
            <a:r>
              <a:rPr lang="en-US" sz="8000" dirty="0"/>
              <a:t>Multiple Regression </a:t>
            </a:r>
          </a:p>
        </p:txBody>
      </p:sp>
      <p:sp>
        <p:nvSpPr>
          <p:cNvPr id="3" name="Subtitle 2">
            <a:extLst>
              <a:ext uri="{FF2B5EF4-FFF2-40B4-BE49-F238E27FC236}">
                <a16:creationId xmlns:a16="http://schemas.microsoft.com/office/drawing/2014/main" id="{CA65997B-1256-9E36-0D37-6C7876F204B5}"/>
              </a:ext>
            </a:extLst>
          </p:cNvPr>
          <p:cNvSpPr>
            <a:spLocks noGrp="1"/>
          </p:cNvSpPr>
          <p:nvPr>
            <p:ph type="subTitle" idx="1"/>
          </p:nvPr>
        </p:nvSpPr>
        <p:spPr>
          <a:xfrm>
            <a:off x="1524000" y="3429000"/>
            <a:ext cx="9144000" cy="2387600"/>
          </a:xfrm>
        </p:spPr>
        <p:txBody>
          <a:bodyPr>
            <a:normAutofit/>
          </a:bodyPr>
          <a:lstStyle/>
          <a:p>
            <a:r>
              <a:rPr lang="en-US" sz="3200" dirty="0"/>
              <a:t>Discuss with classmates: Is there ever just one thing that influences a response in a natural system? What are some things that could have influenced our response variable from our last lab on PAR and canopy cover?</a:t>
            </a:r>
          </a:p>
        </p:txBody>
      </p:sp>
    </p:spTree>
    <p:extLst>
      <p:ext uri="{BB962C8B-B14F-4D97-AF65-F5344CB8AC3E}">
        <p14:creationId xmlns:p14="http://schemas.microsoft.com/office/powerpoint/2010/main" val="4047848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FEA1E-AC29-06D2-699F-C7FED65213D3}"/>
              </a:ext>
            </a:extLst>
          </p:cNvPr>
          <p:cNvSpPr>
            <a:spLocks noGrp="1"/>
          </p:cNvSpPr>
          <p:nvPr>
            <p:ph type="title"/>
          </p:nvPr>
        </p:nvSpPr>
        <p:spPr/>
        <p:txBody>
          <a:bodyPr>
            <a:normAutofit/>
          </a:bodyPr>
          <a:lstStyle/>
          <a:p>
            <a:r>
              <a:rPr lang="en-US" sz="5400" dirty="0"/>
              <a:t>What is Multiple Regression?</a:t>
            </a:r>
          </a:p>
        </p:txBody>
      </p:sp>
      <p:sp>
        <p:nvSpPr>
          <p:cNvPr id="3" name="Content Placeholder 2">
            <a:extLst>
              <a:ext uri="{FF2B5EF4-FFF2-40B4-BE49-F238E27FC236}">
                <a16:creationId xmlns:a16="http://schemas.microsoft.com/office/drawing/2014/main" id="{C847F450-50CD-DB7E-B842-E16A8113CAEC}"/>
              </a:ext>
            </a:extLst>
          </p:cNvPr>
          <p:cNvSpPr>
            <a:spLocks noGrp="1"/>
          </p:cNvSpPr>
          <p:nvPr>
            <p:ph idx="1"/>
          </p:nvPr>
        </p:nvSpPr>
        <p:spPr/>
        <p:txBody>
          <a:bodyPr>
            <a:normAutofit fontScale="92500" lnSpcReduction="10000"/>
          </a:bodyPr>
          <a:lstStyle/>
          <a:p>
            <a:pPr marL="0" lvl="0" indent="0">
              <a:buNone/>
            </a:pPr>
            <a:r>
              <a:rPr lang="en-US" sz="3200" dirty="0"/>
              <a:t>Multiple regression examines how several predictors (independent variables) together influence a response (dependent variable)</a:t>
            </a:r>
          </a:p>
          <a:p>
            <a:pPr lvl="0"/>
            <a:r>
              <a:rPr lang="en-US" sz="3200" dirty="0"/>
              <a:t>Why use it? Ecological systems are complex; rarely does one factor explain patterns alone!</a:t>
            </a:r>
          </a:p>
          <a:p>
            <a:pPr lvl="0"/>
            <a:r>
              <a:rPr lang="en-US" sz="3200" dirty="0"/>
              <a:t>We want to construct a model that effectively explains observed variation in the response variable!</a:t>
            </a:r>
          </a:p>
          <a:p>
            <a:pPr lvl="0"/>
            <a:r>
              <a:rPr lang="en-US" sz="3200" dirty="0"/>
              <a:t>Example: Species richness may depend on productivity, habitat heterogeneity, and disturbance frequency simultaneously.</a:t>
            </a:r>
          </a:p>
          <a:p>
            <a:endParaRPr lang="en-US" sz="3200" dirty="0"/>
          </a:p>
        </p:txBody>
      </p:sp>
    </p:spTree>
    <p:extLst>
      <p:ext uri="{BB962C8B-B14F-4D97-AF65-F5344CB8AC3E}">
        <p14:creationId xmlns:p14="http://schemas.microsoft.com/office/powerpoint/2010/main" val="395659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E0B32-BBEE-ED43-7A08-4FDF1725E2E3}"/>
              </a:ext>
            </a:extLst>
          </p:cNvPr>
          <p:cNvSpPr>
            <a:spLocks noGrp="1"/>
          </p:cNvSpPr>
          <p:nvPr>
            <p:ph type="title"/>
          </p:nvPr>
        </p:nvSpPr>
        <p:spPr/>
        <p:txBody>
          <a:bodyPr>
            <a:normAutofit/>
          </a:bodyPr>
          <a:lstStyle/>
          <a:p>
            <a:r>
              <a:rPr lang="en-US" sz="5400" dirty="0"/>
              <a:t>Imagine:</a:t>
            </a:r>
          </a:p>
        </p:txBody>
      </p:sp>
      <p:sp>
        <p:nvSpPr>
          <p:cNvPr id="3" name="Content Placeholder 2">
            <a:extLst>
              <a:ext uri="{FF2B5EF4-FFF2-40B4-BE49-F238E27FC236}">
                <a16:creationId xmlns:a16="http://schemas.microsoft.com/office/drawing/2014/main" id="{98698B23-D866-82CA-E46A-E4FFA7A8CC4C}"/>
              </a:ext>
            </a:extLst>
          </p:cNvPr>
          <p:cNvSpPr>
            <a:spLocks noGrp="1"/>
          </p:cNvSpPr>
          <p:nvPr>
            <p:ph idx="1"/>
          </p:nvPr>
        </p:nvSpPr>
        <p:spPr>
          <a:xfrm>
            <a:off x="838200" y="1489447"/>
            <a:ext cx="4890247" cy="5003427"/>
          </a:xfrm>
        </p:spPr>
        <p:txBody>
          <a:bodyPr>
            <a:normAutofit fontScale="92500"/>
          </a:bodyPr>
          <a:lstStyle/>
          <a:p>
            <a:r>
              <a:rPr lang="en-US" dirty="0"/>
              <a:t>You’re a researcher testing the effects of pesticide application on a pest species. You’re looking into whether the application of a pesticide reduces the number of caterpillars on crops. </a:t>
            </a:r>
          </a:p>
          <a:p>
            <a:r>
              <a:rPr lang="en-US" dirty="0"/>
              <a:t>You also need to account for bird density. Birds are unaffected by the pesticide, but could be a confounding variable when it comes to the amount of caterpillars around. </a:t>
            </a:r>
          </a:p>
          <a:p>
            <a:endParaRPr lang="en-US" dirty="0"/>
          </a:p>
        </p:txBody>
      </p:sp>
      <p:pic>
        <p:nvPicPr>
          <p:cNvPr id="5" name="Picture 4">
            <a:extLst>
              <a:ext uri="{FF2B5EF4-FFF2-40B4-BE49-F238E27FC236}">
                <a16:creationId xmlns:a16="http://schemas.microsoft.com/office/drawing/2014/main" id="{684C2381-89CC-5301-FB7F-DE4896A99E20}"/>
              </a:ext>
            </a:extLst>
          </p:cNvPr>
          <p:cNvPicPr>
            <a:picLocks noChangeAspect="1"/>
          </p:cNvPicPr>
          <p:nvPr/>
        </p:nvPicPr>
        <p:blipFill>
          <a:blip r:embed="rId3"/>
          <a:stretch>
            <a:fillRect/>
          </a:stretch>
        </p:blipFill>
        <p:spPr>
          <a:xfrm>
            <a:off x="6096000" y="2195957"/>
            <a:ext cx="5684373" cy="3246015"/>
          </a:xfrm>
          <a:prstGeom prst="rect">
            <a:avLst/>
          </a:prstGeom>
        </p:spPr>
      </p:pic>
    </p:spTree>
    <p:extLst>
      <p:ext uri="{BB962C8B-B14F-4D97-AF65-F5344CB8AC3E}">
        <p14:creationId xmlns:p14="http://schemas.microsoft.com/office/powerpoint/2010/main" val="2283055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F9C084B-4E70-C04E-400D-298B9B6946A8}"/>
              </a:ext>
            </a:extLst>
          </p:cNvPr>
          <p:cNvPicPr>
            <a:picLocks noGrp="1" noChangeAspect="1"/>
          </p:cNvPicPr>
          <p:nvPr>
            <p:ph idx="1"/>
          </p:nvPr>
        </p:nvPicPr>
        <p:blipFill>
          <a:blip r:embed="rId3"/>
          <a:stretch>
            <a:fillRect/>
          </a:stretch>
        </p:blipFill>
        <p:spPr>
          <a:xfrm>
            <a:off x="2666627" y="853062"/>
            <a:ext cx="7531100" cy="4241800"/>
          </a:xfrm>
          <a:prstGeom prst="rect">
            <a:avLst/>
          </a:prstGeom>
          <a:ln w="28575">
            <a:solidFill>
              <a:schemeClr val="accent6">
                <a:lumMod val="75000"/>
              </a:schemeClr>
            </a:solidFill>
          </a:ln>
        </p:spPr>
      </p:pic>
      <p:sp>
        <p:nvSpPr>
          <p:cNvPr id="6" name="TextBox 5">
            <a:extLst>
              <a:ext uri="{FF2B5EF4-FFF2-40B4-BE49-F238E27FC236}">
                <a16:creationId xmlns:a16="http://schemas.microsoft.com/office/drawing/2014/main" id="{9D81A42E-7EA6-D80B-CC4F-2C7BCC664737}"/>
              </a:ext>
            </a:extLst>
          </p:cNvPr>
          <p:cNvSpPr txBox="1"/>
          <p:nvPr/>
        </p:nvSpPr>
        <p:spPr>
          <a:xfrm>
            <a:off x="3025763" y="5339677"/>
            <a:ext cx="7367851" cy="461665"/>
          </a:xfrm>
          <a:prstGeom prst="rect">
            <a:avLst/>
          </a:prstGeom>
          <a:noFill/>
        </p:spPr>
        <p:txBody>
          <a:bodyPr wrap="none" rtlCol="0">
            <a:spAutoFit/>
          </a:bodyPr>
          <a:lstStyle/>
          <a:p>
            <a:r>
              <a:rPr lang="en-US" sz="2400" dirty="0"/>
              <a:t>Bird density (# individuals per 100 m</a:t>
            </a:r>
            <a:r>
              <a:rPr lang="en-US" sz="2400" baseline="30000" dirty="0"/>
              <a:t>2 </a:t>
            </a:r>
            <a:r>
              <a:rPr lang="en-US" sz="2400" dirty="0"/>
              <a:t>of farmland area)</a:t>
            </a:r>
            <a:endParaRPr lang="en-US" sz="2400" baseline="30000" dirty="0"/>
          </a:p>
        </p:txBody>
      </p:sp>
      <p:sp>
        <p:nvSpPr>
          <p:cNvPr id="7" name="TextBox 6">
            <a:extLst>
              <a:ext uri="{FF2B5EF4-FFF2-40B4-BE49-F238E27FC236}">
                <a16:creationId xmlns:a16="http://schemas.microsoft.com/office/drawing/2014/main" id="{0F86F0F3-E795-AEDB-9BDD-8F92C69622B9}"/>
              </a:ext>
            </a:extLst>
          </p:cNvPr>
          <p:cNvSpPr txBox="1"/>
          <p:nvPr/>
        </p:nvSpPr>
        <p:spPr>
          <a:xfrm>
            <a:off x="653896" y="2066021"/>
            <a:ext cx="2129645" cy="1815882"/>
          </a:xfrm>
          <a:prstGeom prst="rect">
            <a:avLst/>
          </a:prstGeom>
          <a:noFill/>
        </p:spPr>
        <p:txBody>
          <a:bodyPr wrap="square" rtlCol="0">
            <a:spAutoFit/>
          </a:bodyPr>
          <a:lstStyle/>
          <a:p>
            <a:r>
              <a:rPr lang="en-US" sz="2800" dirty="0"/>
              <a:t>Number of caterpillars per 10m</a:t>
            </a:r>
            <a:r>
              <a:rPr lang="en-US" sz="2800" baseline="30000" dirty="0"/>
              <a:t>2</a:t>
            </a:r>
            <a:r>
              <a:rPr lang="en-US" sz="2800" dirty="0"/>
              <a:t> of crops</a:t>
            </a:r>
          </a:p>
        </p:txBody>
      </p:sp>
    </p:spTree>
    <p:extLst>
      <p:ext uri="{BB962C8B-B14F-4D97-AF65-F5344CB8AC3E}">
        <p14:creationId xmlns:p14="http://schemas.microsoft.com/office/powerpoint/2010/main" val="2791031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B617558-DF7E-7DA9-C593-D8E28940F252}"/>
              </a:ext>
            </a:extLst>
          </p:cNvPr>
          <p:cNvPicPr>
            <a:picLocks noGrp="1" noChangeAspect="1"/>
          </p:cNvPicPr>
          <p:nvPr>
            <p:ph idx="1"/>
          </p:nvPr>
        </p:nvPicPr>
        <p:blipFill>
          <a:blip r:embed="rId3"/>
          <a:srcRect l="1076"/>
          <a:stretch>
            <a:fillRect/>
          </a:stretch>
        </p:blipFill>
        <p:spPr>
          <a:xfrm>
            <a:off x="3765134" y="941682"/>
            <a:ext cx="5091998" cy="4304821"/>
          </a:xfrm>
          <a:prstGeom prst="rect">
            <a:avLst/>
          </a:prstGeom>
          <a:ln w="28575">
            <a:solidFill>
              <a:schemeClr val="accent6">
                <a:lumMod val="75000"/>
              </a:schemeClr>
            </a:solidFill>
          </a:ln>
        </p:spPr>
      </p:pic>
      <p:sp>
        <p:nvSpPr>
          <p:cNvPr id="6" name="TextBox 5">
            <a:extLst>
              <a:ext uri="{FF2B5EF4-FFF2-40B4-BE49-F238E27FC236}">
                <a16:creationId xmlns:a16="http://schemas.microsoft.com/office/drawing/2014/main" id="{2964D5F4-18B4-C087-18C4-EACC5D6A3FDB}"/>
              </a:ext>
            </a:extLst>
          </p:cNvPr>
          <p:cNvSpPr txBox="1"/>
          <p:nvPr/>
        </p:nvSpPr>
        <p:spPr>
          <a:xfrm>
            <a:off x="5030489" y="5775731"/>
            <a:ext cx="3422668" cy="523220"/>
          </a:xfrm>
          <a:prstGeom prst="rect">
            <a:avLst/>
          </a:prstGeom>
          <a:noFill/>
        </p:spPr>
        <p:txBody>
          <a:bodyPr wrap="none" rtlCol="0">
            <a:spAutoFit/>
          </a:bodyPr>
          <a:lstStyle/>
          <a:p>
            <a:r>
              <a:rPr lang="en-US" sz="2800" dirty="0"/>
              <a:t>Pesticide application</a:t>
            </a:r>
          </a:p>
        </p:txBody>
      </p:sp>
      <p:sp>
        <p:nvSpPr>
          <p:cNvPr id="8" name="TextBox 7">
            <a:extLst>
              <a:ext uri="{FF2B5EF4-FFF2-40B4-BE49-F238E27FC236}">
                <a16:creationId xmlns:a16="http://schemas.microsoft.com/office/drawing/2014/main" id="{43B61218-1B4E-271F-280A-63B67E44DC42}"/>
              </a:ext>
            </a:extLst>
          </p:cNvPr>
          <p:cNvSpPr txBox="1"/>
          <p:nvPr/>
        </p:nvSpPr>
        <p:spPr>
          <a:xfrm>
            <a:off x="1205225" y="2165640"/>
            <a:ext cx="2129645" cy="1815882"/>
          </a:xfrm>
          <a:prstGeom prst="rect">
            <a:avLst/>
          </a:prstGeom>
          <a:noFill/>
        </p:spPr>
        <p:txBody>
          <a:bodyPr wrap="square" rtlCol="0">
            <a:spAutoFit/>
          </a:bodyPr>
          <a:lstStyle/>
          <a:p>
            <a:r>
              <a:rPr lang="en-US" sz="2800" dirty="0"/>
              <a:t>Number of caterpillars per 10m</a:t>
            </a:r>
            <a:r>
              <a:rPr lang="en-US" sz="2800" baseline="30000" dirty="0"/>
              <a:t>2</a:t>
            </a:r>
            <a:r>
              <a:rPr lang="en-US" sz="2800" dirty="0"/>
              <a:t> of crops</a:t>
            </a:r>
          </a:p>
        </p:txBody>
      </p:sp>
      <p:sp>
        <p:nvSpPr>
          <p:cNvPr id="9" name="TextBox 8">
            <a:extLst>
              <a:ext uri="{FF2B5EF4-FFF2-40B4-BE49-F238E27FC236}">
                <a16:creationId xmlns:a16="http://schemas.microsoft.com/office/drawing/2014/main" id="{D8B17EBE-8135-D62C-2FD8-118E4D2B27C5}"/>
              </a:ext>
            </a:extLst>
          </p:cNvPr>
          <p:cNvSpPr txBox="1"/>
          <p:nvPr/>
        </p:nvSpPr>
        <p:spPr>
          <a:xfrm>
            <a:off x="8027894" y="5246503"/>
            <a:ext cx="632096" cy="461665"/>
          </a:xfrm>
          <a:prstGeom prst="rect">
            <a:avLst/>
          </a:prstGeom>
          <a:noFill/>
        </p:spPr>
        <p:txBody>
          <a:bodyPr wrap="none" rtlCol="0">
            <a:spAutoFit/>
          </a:bodyPr>
          <a:lstStyle/>
          <a:p>
            <a:r>
              <a:rPr lang="en-US" sz="2400" dirty="0"/>
              <a:t>yes</a:t>
            </a:r>
          </a:p>
        </p:txBody>
      </p:sp>
      <p:sp>
        <p:nvSpPr>
          <p:cNvPr id="10" name="TextBox 9">
            <a:extLst>
              <a:ext uri="{FF2B5EF4-FFF2-40B4-BE49-F238E27FC236}">
                <a16:creationId xmlns:a16="http://schemas.microsoft.com/office/drawing/2014/main" id="{29899D8C-192B-4D20-0C66-E938BB3E6420}"/>
              </a:ext>
            </a:extLst>
          </p:cNvPr>
          <p:cNvSpPr txBox="1"/>
          <p:nvPr/>
        </p:nvSpPr>
        <p:spPr>
          <a:xfrm>
            <a:off x="4603376" y="5246502"/>
            <a:ext cx="524503" cy="461665"/>
          </a:xfrm>
          <a:prstGeom prst="rect">
            <a:avLst/>
          </a:prstGeom>
          <a:noFill/>
        </p:spPr>
        <p:txBody>
          <a:bodyPr wrap="none" rtlCol="0">
            <a:spAutoFit/>
          </a:bodyPr>
          <a:lstStyle/>
          <a:p>
            <a:r>
              <a:rPr lang="en-US" sz="2400" dirty="0"/>
              <a:t>no</a:t>
            </a:r>
          </a:p>
        </p:txBody>
      </p:sp>
    </p:spTree>
    <p:extLst>
      <p:ext uri="{BB962C8B-B14F-4D97-AF65-F5344CB8AC3E}">
        <p14:creationId xmlns:p14="http://schemas.microsoft.com/office/powerpoint/2010/main" val="800210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89A8F-E619-69FC-D8F1-FAA998DF5F96}"/>
              </a:ext>
            </a:extLst>
          </p:cNvPr>
          <p:cNvSpPr>
            <a:spLocks noGrp="1"/>
          </p:cNvSpPr>
          <p:nvPr>
            <p:ph type="title"/>
          </p:nvPr>
        </p:nvSpPr>
        <p:spPr/>
        <p:txBody>
          <a:bodyPr>
            <a:normAutofit/>
          </a:bodyPr>
          <a:lstStyle/>
          <a:p>
            <a:r>
              <a:rPr lang="en-US" sz="5400" dirty="0"/>
              <a:t>General Equation</a:t>
            </a:r>
          </a:p>
        </p:txBody>
      </p:sp>
      <p:sp>
        <p:nvSpPr>
          <p:cNvPr id="3" name="Content Placeholder 2">
            <a:extLst>
              <a:ext uri="{FF2B5EF4-FFF2-40B4-BE49-F238E27FC236}">
                <a16:creationId xmlns:a16="http://schemas.microsoft.com/office/drawing/2014/main" id="{C75F3AFB-CE61-9683-7787-2EDFBD82BCEB}"/>
              </a:ext>
            </a:extLst>
          </p:cNvPr>
          <p:cNvSpPr>
            <a:spLocks noGrp="1"/>
          </p:cNvSpPr>
          <p:nvPr>
            <p:ph idx="1"/>
          </p:nvPr>
        </p:nvSpPr>
        <p:spPr/>
        <p:txBody>
          <a:bodyPr>
            <a:normAutofit fontScale="92500"/>
          </a:bodyPr>
          <a:lstStyle/>
          <a:p>
            <a:pPr marL="0" indent="0">
              <a:buNone/>
            </a:pPr>
            <a:r>
              <a:rPr lang="en-US" sz="4000" dirty="0"/>
              <a:t> </a:t>
            </a:r>
            <a:r>
              <a:rPr lang="en-US" sz="4400" dirty="0"/>
              <a:t>Y = β</a:t>
            </a:r>
            <a:r>
              <a:rPr lang="en-US" sz="4400" baseline="-25000" dirty="0"/>
              <a:t>0</a:t>
            </a:r>
            <a:r>
              <a:rPr lang="en-US" sz="4400" dirty="0"/>
              <a:t> + β</a:t>
            </a:r>
            <a:r>
              <a:rPr lang="en-US" sz="4400" baseline="-25000" dirty="0"/>
              <a:t>1</a:t>
            </a:r>
            <a:r>
              <a:rPr lang="en-US" sz="4400" dirty="0"/>
              <a:t>X</a:t>
            </a:r>
            <a:r>
              <a:rPr lang="en-US" sz="4400" baseline="-25000" dirty="0"/>
              <a:t>1</a:t>
            </a:r>
            <a:r>
              <a:rPr lang="en-US" sz="4400" dirty="0"/>
              <a:t> + β</a:t>
            </a:r>
            <a:r>
              <a:rPr lang="en-US" sz="4400" baseline="-25000" dirty="0"/>
              <a:t>2</a:t>
            </a:r>
            <a:r>
              <a:rPr lang="en-US" sz="4400" dirty="0"/>
              <a:t>X</a:t>
            </a:r>
            <a:r>
              <a:rPr lang="en-US" sz="4400" baseline="-25000" dirty="0"/>
              <a:t>2</a:t>
            </a:r>
            <a:r>
              <a:rPr lang="en-US" sz="4400" dirty="0"/>
              <a:t> + … + β</a:t>
            </a:r>
            <a:r>
              <a:rPr lang="en-US" sz="4400" baseline="-25000" dirty="0" err="1"/>
              <a:t>p</a:t>
            </a:r>
            <a:r>
              <a:rPr lang="en-US" sz="4400" dirty="0" err="1"/>
              <a:t>X</a:t>
            </a:r>
            <a:r>
              <a:rPr lang="en-US" sz="4400" baseline="-25000" dirty="0" err="1"/>
              <a:t>p</a:t>
            </a:r>
            <a:r>
              <a:rPr lang="en-US" sz="4400" dirty="0"/>
              <a:t> + </a:t>
            </a:r>
            <a:r>
              <a:rPr lang="en-US" sz="4400" dirty="0" err="1"/>
              <a:t>ε</a:t>
            </a:r>
            <a:endParaRPr lang="en-US" sz="4400" dirty="0"/>
          </a:p>
          <a:p>
            <a:pPr marL="0" indent="0">
              <a:buNone/>
            </a:pPr>
            <a:r>
              <a:rPr lang="en-US" dirty="0"/>
              <a:t>Where:</a:t>
            </a:r>
          </a:p>
          <a:p>
            <a:pPr lvl="0"/>
            <a:r>
              <a:rPr lang="en-US" dirty="0"/>
              <a:t>Y = response variable (e.g., biomass, species richness, number of caterpillars)</a:t>
            </a:r>
          </a:p>
          <a:p>
            <a:pPr lvl="0"/>
            <a:r>
              <a:rPr lang="en-US" dirty="0"/>
              <a:t>X</a:t>
            </a:r>
            <a:r>
              <a:rPr lang="en-US" baseline="-25000" dirty="0"/>
              <a:t>1</a:t>
            </a:r>
            <a:r>
              <a:rPr lang="en-US" dirty="0"/>
              <a:t>, X</a:t>
            </a:r>
            <a:r>
              <a:rPr lang="en-US" baseline="-25000" dirty="0"/>
              <a:t>2</a:t>
            </a:r>
            <a:r>
              <a:rPr lang="en-US" dirty="0"/>
              <a:t>, …, </a:t>
            </a:r>
            <a:r>
              <a:rPr lang="en-US" dirty="0" err="1"/>
              <a:t>X</a:t>
            </a:r>
            <a:r>
              <a:rPr lang="en-US" baseline="-25000" dirty="0" err="1"/>
              <a:t>p</a:t>
            </a:r>
            <a:r>
              <a:rPr lang="en-US" dirty="0"/>
              <a:t> = predictor variables (e.g., soil nitrogen, rainfall, canopy cover, pesticide application, bird density)</a:t>
            </a:r>
          </a:p>
          <a:p>
            <a:pPr lvl="0"/>
            <a:r>
              <a:rPr lang="en-US" dirty="0"/>
              <a:t>β</a:t>
            </a:r>
            <a:r>
              <a:rPr lang="en-US" baseline="-25000" dirty="0"/>
              <a:t>0</a:t>
            </a:r>
            <a:r>
              <a:rPr lang="en-US" dirty="0"/>
              <a:t> = intercept</a:t>
            </a:r>
          </a:p>
          <a:p>
            <a:pPr lvl="0"/>
            <a:r>
              <a:rPr lang="en-US" dirty="0"/>
              <a:t>β</a:t>
            </a:r>
            <a:r>
              <a:rPr lang="en-US" baseline="-25000" dirty="0"/>
              <a:t>1</a:t>
            </a:r>
            <a:r>
              <a:rPr lang="en-US" dirty="0"/>
              <a:t>, β</a:t>
            </a:r>
            <a:r>
              <a:rPr lang="en-US" baseline="-25000" dirty="0"/>
              <a:t>2</a:t>
            </a:r>
            <a:r>
              <a:rPr lang="en-US" dirty="0"/>
              <a:t>, …, β</a:t>
            </a:r>
            <a:r>
              <a:rPr lang="en-US" baseline="-25000" dirty="0"/>
              <a:t>p</a:t>
            </a:r>
            <a:r>
              <a:rPr lang="en-US" dirty="0"/>
              <a:t> = regression coefficients (partial effects of each predictor)</a:t>
            </a:r>
          </a:p>
          <a:p>
            <a:pPr lvl="0"/>
            <a:r>
              <a:rPr lang="en-US" dirty="0" err="1"/>
              <a:t>ε</a:t>
            </a:r>
            <a:r>
              <a:rPr lang="en-US" dirty="0"/>
              <a:t> = error term</a:t>
            </a:r>
          </a:p>
          <a:p>
            <a:endParaRPr lang="en-US" dirty="0"/>
          </a:p>
        </p:txBody>
      </p:sp>
    </p:spTree>
    <p:extLst>
      <p:ext uri="{BB962C8B-B14F-4D97-AF65-F5344CB8AC3E}">
        <p14:creationId xmlns:p14="http://schemas.microsoft.com/office/powerpoint/2010/main" val="545357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6748A7-2E71-40C0-EA11-DB71D029EF27}"/>
              </a:ext>
            </a:extLst>
          </p:cNvPr>
          <p:cNvSpPr>
            <a:spLocks noGrp="1"/>
          </p:cNvSpPr>
          <p:nvPr>
            <p:ph idx="1"/>
          </p:nvPr>
        </p:nvSpPr>
        <p:spPr>
          <a:xfrm>
            <a:off x="995415" y="1161494"/>
            <a:ext cx="10515600" cy="4351338"/>
          </a:xfrm>
        </p:spPr>
        <p:txBody>
          <a:bodyPr/>
          <a:lstStyle/>
          <a:p>
            <a:pPr marL="0" indent="0">
              <a:buNone/>
            </a:pPr>
            <a:r>
              <a:rPr lang="en-US" sz="3600" dirty="0"/>
              <a:t>Number of caterpillars = </a:t>
            </a:r>
          </a:p>
          <a:p>
            <a:pPr marL="0" indent="0">
              <a:buNone/>
            </a:pPr>
            <a:r>
              <a:rPr lang="en-US" sz="3600" dirty="0"/>
              <a:t>β</a:t>
            </a:r>
            <a:r>
              <a:rPr lang="en-US" sz="3600" baseline="-25000" dirty="0"/>
              <a:t>0</a:t>
            </a:r>
            <a:r>
              <a:rPr lang="en-US" sz="3600" dirty="0"/>
              <a:t> + β</a:t>
            </a:r>
            <a:r>
              <a:rPr lang="en-US" sz="3600" baseline="-25000" dirty="0"/>
              <a:t> Pesticide</a:t>
            </a:r>
            <a:r>
              <a:rPr lang="en-US" sz="3600" dirty="0"/>
              <a:t>(Pesticide) + β</a:t>
            </a:r>
            <a:r>
              <a:rPr lang="en-US" sz="3600" baseline="-25000" dirty="0"/>
              <a:t>Bird Density</a:t>
            </a:r>
            <a:r>
              <a:rPr lang="en-US" sz="3600" dirty="0"/>
              <a:t>(Bird Density). </a:t>
            </a:r>
          </a:p>
          <a:p>
            <a:endParaRPr lang="en-US" dirty="0"/>
          </a:p>
        </p:txBody>
      </p:sp>
      <p:pic>
        <p:nvPicPr>
          <p:cNvPr id="5" name="Picture 4">
            <a:extLst>
              <a:ext uri="{FF2B5EF4-FFF2-40B4-BE49-F238E27FC236}">
                <a16:creationId xmlns:a16="http://schemas.microsoft.com/office/drawing/2014/main" id="{A3AC3019-420F-4806-4234-0EFCF6DCC7BE}"/>
              </a:ext>
            </a:extLst>
          </p:cNvPr>
          <p:cNvPicPr>
            <a:picLocks noChangeAspect="1"/>
          </p:cNvPicPr>
          <p:nvPr/>
        </p:nvPicPr>
        <p:blipFill>
          <a:blip r:embed="rId3"/>
          <a:stretch>
            <a:fillRect/>
          </a:stretch>
        </p:blipFill>
        <p:spPr>
          <a:xfrm>
            <a:off x="2534337" y="3218779"/>
            <a:ext cx="7123321" cy="1615440"/>
          </a:xfrm>
          <a:prstGeom prst="rect">
            <a:avLst/>
          </a:prstGeom>
          <a:ln w="28575">
            <a:solidFill>
              <a:schemeClr val="accent6">
                <a:lumMod val="75000"/>
              </a:schemeClr>
            </a:solidFill>
          </a:ln>
        </p:spPr>
      </p:pic>
      <p:sp>
        <p:nvSpPr>
          <p:cNvPr id="6" name="TextBox 5">
            <a:extLst>
              <a:ext uri="{FF2B5EF4-FFF2-40B4-BE49-F238E27FC236}">
                <a16:creationId xmlns:a16="http://schemas.microsoft.com/office/drawing/2014/main" id="{1CB5FE9F-5E3D-974F-38AE-A50BA4F13C30}"/>
              </a:ext>
            </a:extLst>
          </p:cNvPr>
          <p:cNvSpPr txBox="1"/>
          <p:nvPr/>
        </p:nvSpPr>
        <p:spPr>
          <a:xfrm>
            <a:off x="3131820" y="4026499"/>
            <a:ext cx="1099596" cy="369332"/>
          </a:xfrm>
          <a:prstGeom prst="rect">
            <a:avLst/>
          </a:prstGeom>
          <a:solidFill>
            <a:schemeClr val="bg1"/>
          </a:solidFill>
        </p:spPr>
        <p:txBody>
          <a:bodyPr wrap="none" rtlCol="0">
            <a:spAutoFit/>
          </a:bodyPr>
          <a:lstStyle/>
          <a:p>
            <a:r>
              <a:rPr lang="en-US" dirty="0"/>
              <a:t>Pesticide</a:t>
            </a:r>
          </a:p>
        </p:txBody>
      </p:sp>
      <p:sp>
        <p:nvSpPr>
          <p:cNvPr id="7" name="TextBox 6">
            <a:extLst>
              <a:ext uri="{FF2B5EF4-FFF2-40B4-BE49-F238E27FC236}">
                <a16:creationId xmlns:a16="http://schemas.microsoft.com/office/drawing/2014/main" id="{D8DDABAB-8E55-B556-A771-745B27520C49}"/>
              </a:ext>
            </a:extLst>
          </p:cNvPr>
          <p:cNvSpPr txBox="1"/>
          <p:nvPr/>
        </p:nvSpPr>
        <p:spPr>
          <a:xfrm>
            <a:off x="2849243" y="4311812"/>
            <a:ext cx="1382173" cy="369332"/>
          </a:xfrm>
          <a:prstGeom prst="rect">
            <a:avLst/>
          </a:prstGeom>
          <a:solidFill>
            <a:schemeClr val="bg1"/>
          </a:solidFill>
        </p:spPr>
        <p:txBody>
          <a:bodyPr wrap="none" rtlCol="0">
            <a:spAutoFit/>
          </a:bodyPr>
          <a:lstStyle/>
          <a:p>
            <a:r>
              <a:rPr lang="en-US" dirty="0"/>
              <a:t>Bird Density</a:t>
            </a:r>
          </a:p>
        </p:txBody>
      </p:sp>
      <p:sp>
        <p:nvSpPr>
          <p:cNvPr id="9" name="TextBox 8">
            <a:extLst>
              <a:ext uri="{FF2B5EF4-FFF2-40B4-BE49-F238E27FC236}">
                <a16:creationId xmlns:a16="http://schemas.microsoft.com/office/drawing/2014/main" id="{7255227E-00C6-4EBA-5649-B2D2E5604F92}"/>
              </a:ext>
            </a:extLst>
          </p:cNvPr>
          <p:cNvSpPr txBox="1"/>
          <p:nvPr/>
        </p:nvSpPr>
        <p:spPr>
          <a:xfrm>
            <a:off x="1812107" y="5366445"/>
            <a:ext cx="8882216" cy="954107"/>
          </a:xfrm>
          <a:prstGeom prst="rect">
            <a:avLst/>
          </a:prstGeom>
          <a:noFill/>
        </p:spPr>
        <p:txBody>
          <a:bodyPr wrap="square">
            <a:spAutoFit/>
          </a:bodyPr>
          <a:lstStyle/>
          <a:p>
            <a:pPr>
              <a:buNone/>
            </a:pPr>
            <a:r>
              <a:rPr lang="en-US" sz="2800" dirty="0">
                <a:effectLst/>
                <a:latin typeface="+mn-lt"/>
              </a:rPr>
              <a:t>Estimated # of Caterpillars = </a:t>
            </a:r>
          </a:p>
          <a:p>
            <a:pPr>
              <a:buNone/>
            </a:pPr>
            <a:r>
              <a:rPr lang="en-US" sz="2800" dirty="0">
                <a:effectLst/>
                <a:latin typeface="+mn-lt"/>
              </a:rPr>
              <a:t>137.8822 + 0.8509(Pesticide) − 1.2710(Bird Density). </a:t>
            </a:r>
            <a:endParaRPr lang="en-US" sz="2800" dirty="0">
              <a:effectLst/>
            </a:endParaRPr>
          </a:p>
        </p:txBody>
      </p:sp>
    </p:spTree>
    <p:extLst>
      <p:ext uri="{BB962C8B-B14F-4D97-AF65-F5344CB8AC3E}">
        <p14:creationId xmlns:p14="http://schemas.microsoft.com/office/powerpoint/2010/main" val="11125259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B256C-9DF8-6765-89AE-071BB7DA5B41}"/>
              </a:ext>
            </a:extLst>
          </p:cNvPr>
          <p:cNvSpPr>
            <a:spLocks noGrp="1"/>
          </p:cNvSpPr>
          <p:nvPr>
            <p:ph type="title"/>
          </p:nvPr>
        </p:nvSpPr>
        <p:spPr/>
        <p:txBody>
          <a:bodyPr>
            <a:normAutofit/>
          </a:bodyPr>
          <a:lstStyle/>
          <a:p>
            <a:r>
              <a:rPr lang="en-US" sz="5400" dirty="0"/>
              <a:t>Testing Hypotheses</a:t>
            </a:r>
          </a:p>
        </p:txBody>
      </p:sp>
      <p:sp>
        <p:nvSpPr>
          <p:cNvPr id="3" name="Content Placeholder 2">
            <a:extLst>
              <a:ext uri="{FF2B5EF4-FFF2-40B4-BE49-F238E27FC236}">
                <a16:creationId xmlns:a16="http://schemas.microsoft.com/office/drawing/2014/main" id="{7C4516A1-63CA-A41B-D447-EE35E5D54638}"/>
              </a:ext>
            </a:extLst>
          </p:cNvPr>
          <p:cNvSpPr>
            <a:spLocks noGrp="1"/>
          </p:cNvSpPr>
          <p:nvPr>
            <p:ph idx="1"/>
          </p:nvPr>
        </p:nvSpPr>
        <p:spPr>
          <a:xfrm>
            <a:off x="838200" y="1825625"/>
            <a:ext cx="10515600" cy="4871010"/>
          </a:xfrm>
        </p:spPr>
        <p:txBody>
          <a:bodyPr>
            <a:normAutofit/>
          </a:bodyPr>
          <a:lstStyle/>
          <a:p>
            <a:pPr marL="0" indent="0">
              <a:buNone/>
            </a:pPr>
            <a:r>
              <a:rPr lang="en-US" sz="3200" dirty="0"/>
              <a:t>For this model, the two null hypotheses are H</a:t>
            </a:r>
            <a:r>
              <a:rPr lang="en-US" sz="3200" baseline="-25000" dirty="0"/>
              <a:t>0</a:t>
            </a:r>
            <a:r>
              <a:rPr lang="en-US" sz="3200" dirty="0"/>
              <a:t>: β</a:t>
            </a:r>
            <a:r>
              <a:rPr lang="en-US" sz="3200" baseline="-25000" dirty="0"/>
              <a:t>Pesticide</a:t>
            </a:r>
            <a:r>
              <a:rPr lang="en-US" sz="3200" dirty="0"/>
              <a:t> = 0 </a:t>
            </a:r>
          </a:p>
          <a:p>
            <a:pPr marL="0" indent="0">
              <a:buNone/>
            </a:pPr>
            <a:r>
              <a:rPr lang="en-US" sz="3200" dirty="0"/>
              <a:t>and H</a:t>
            </a:r>
            <a:r>
              <a:rPr lang="en-US" sz="3200" baseline="-25000" dirty="0"/>
              <a:t>0</a:t>
            </a:r>
            <a:r>
              <a:rPr lang="en-US" sz="3200" dirty="0"/>
              <a:t>: β</a:t>
            </a:r>
            <a:r>
              <a:rPr lang="en-US" sz="3200" baseline="-25000" dirty="0"/>
              <a:t>Bird Density </a:t>
            </a:r>
            <a:r>
              <a:rPr lang="en-US" sz="3200" dirty="0"/>
              <a:t>= 0. </a:t>
            </a:r>
          </a:p>
          <a:p>
            <a:pPr marL="0" indent="0">
              <a:buNone/>
            </a:pPr>
            <a:endParaRPr lang="en-US" sz="3200" dirty="0"/>
          </a:p>
        </p:txBody>
      </p:sp>
      <p:pic>
        <p:nvPicPr>
          <p:cNvPr id="4" name="Picture 3">
            <a:extLst>
              <a:ext uri="{FF2B5EF4-FFF2-40B4-BE49-F238E27FC236}">
                <a16:creationId xmlns:a16="http://schemas.microsoft.com/office/drawing/2014/main" id="{422D6FE4-04BC-51D4-F250-9AA734951D34}"/>
              </a:ext>
            </a:extLst>
          </p:cNvPr>
          <p:cNvPicPr>
            <a:picLocks noChangeAspect="1"/>
          </p:cNvPicPr>
          <p:nvPr/>
        </p:nvPicPr>
        <p:blipFill>
          <a:blip r:embed="rId3"/>
          <a:stretch>
            <a:fillRect/>
          </a:stretch>
        </p:blipFill>
        <p:spPr>
          <a:xfrm>
            <a:off x="2534339" y="3043964"/>
            <a:ext cx="7123321" cy="1615440"/>
          </a:xfrm>
          <a:prstGeom prst="rect">
            <a:avLst/>
          </a:prstGeom>
          <a:ln w="28575">
            <a:solidFill>
              <a:schemeClr val="accent6">
                <a:lumMod val="75000"/>
              </a:schemeClr>
            </a:solidFill>
          </a:ln>
        </p:spPr>
      </p:pic>
      <p:sp>
        <p:nvSpPr>
          <p:cNvPr id="5" name="TextBox 4">
            <a:extLst>
              <a:ext uri="{FF2B5EF4-FFF2-40B4-BE49-F238E27FC236}">
                <a16:creationId xmlns:a16="http://schemas.microsoft.com/office/drawing/2014/main" id="{61694C9C-8E18-CA1D-F9B3-DF182AF1F753}"/>
              </a:ext>
            </a:extLst>
          </p:cNvPr>
          <p:cNvSpPr txBox="1"/>
          <p:nvPr/>
        </p:nvSpPr>
        <p:spPr>
          <a:xfrm>
            <a:off x="3131822" y="3851684"/>
            <a:ext cx="1099596" cy="369332"/>
          </a:xfrm>
          <a:prstGeom prst="rect">
            <a:avLst/>
          </a:prstGeom>
          <a:solidFill>
            <a:schemeClr val="bg1"/>
          </a:solidFill>
        </p:spPr>
        <p:txBody>
          <a:bodyPr wrap="none" rtlCol="0">
            <a:spAutoFit/>
          </a:bodyPr>
          <a:lstStyle/>
          <a:p>
            <a:r>
              <a:rPr lang="en-US" dirty="0"/>
              <a:t>Pesticide</a:t>
            </a:r>
          </a:p>
        </p:txBody>
      </p:sp>
      <p:sp>
        <p:nvSpPr>
          <p:cNvPr id="6" name="TextBox 5">
            <a:extLst>
              <a:ext uri="{FF2B5EF4-FFF2-40B4-BE49-F238E27FC236}">
                <a16:creationId xmlns:a16="http://schemas.microsoft.com/office/drawing/2014/main" id="{1FB68D39-FEBB-4EC5-2576-CC2C27B93E58}"/>
              </a:ext>
            </a:extLst>
          </p:cNvPr>
          <p:cNvSpPr txBox="1"/>
          <p:nvPr/>
        </p:nvSpPr>
        <p:spPr>
          <a:xfrm>
            <a:off x="2849245" y="4136997"/>
            <a:ext cx="1382173" cy="369332"/>
          </a:xfrm>
          <a:prstGeom prst="rect">
            <a:avLst/>
          </a:prstGeom>
          <a:solidFill>
            <a:schemeClr val="bg1"/>
          </a:solidFill>
        </p:spPr>
        <p:txBody>
          <a:bodyPr wrap="none" rtlCol="0">
            <a:spAutoFit/>
          </a:bodyPr>
          <a:lstStyle/>
          <a:p>
            <a:r>
              <a:rPr lang="en-US" dirty="0"/>
              <a:t>Bird Density</a:t>
            </a:r>
          </a:p>
        </p:txBody>
      </p:sp>
      <p:sp>
        <p:nvSpPr>
          <p:cNvPr id="7" name="TextBox 6">
            <a:extLst>
              <a:ext uri="{FF2B5EF4-FFF2-40B4-BE49-F238E27FC236}">
                <a16:creationId xmlns:a16="http://schemas.microsoft.com/office/drawing/2014/main" id="{802F590E-A1AB-BC27-6689-DEE9868A3E71}"/>
              </a:ext>
            </a:extLst>
          </p:cNvPr>
          <p:cNvSpPr txBox="1"/>
          <p:nvPr/>
        </p:nvSpPr>
        <p:spPr>
          <a:xfrm>
            <a:off x="1058701" y="4791642"/>
            <a:ext cx="10074595" cy="2246769"/>
          </a:xfrm>
          <a:prstGeom prst="rect">
            <a:avLst/>
          </a:prstGeom>
          <a:noFill/>
        </p:spPr>
        <p:txBody>
          <a:bodyPr wrap="square" rtlCol="0">
            <a:spAutoFit/>
          </a:bodyPr>
          <a:lstStyle/>
          <a:p>
            <a:r>
              <a:rPr lang="en-US" sz="2800" dirty="0"/>
              <a:t>The p-values for the tests indicate that at significance level α = 0.05, the association between # caterpillars and pesticide is not statistically significant, but the association between # caterpillars and bird density is significant. </a:t>
            </a:r>
          </a:p>
          <a:p>
            <a:endParaRPr lang="en-US" sz="2800" dirty="0"/>
          </a:p>
        </p:txBody>
      </p:sp>
    </p:spTree>
    <p:extLst>
      <p:ext uri="{BB962C8B-B14F-4D97-AF65-F5344CB8AC3E}">
        <p14:creationId xmlns:p14="http://schemas.microsoft.com/office/powerpoint/2010/main" val="2658621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037F9-BEBD-4C00-1C80-07E0734CA65C}"/>
              </a:ext>
            </a:extLst>
          </p:cNvPr>
          <p:cNvSpPr>
            <a:spLocks noGrp="1"/>
          </p:cNvSpPr>
          <p:nvPr>
            <p:ph type="title"/>
          </p:nvPr>
        </p:nvSpPr>
        <p:spPr/>
        <p:txBody>
          <a:bodyPr>
            <a:normAutofit/>
          </a:bodyPr>
          <a:lstStyle/>
          <a:p>
            <a:r>
              <a:rPr lang="en-US" sz="5400" dirty="0"/>
              <a:t>Residual Confounders</a:t>
            </a:r>
          </a:p>
        </p:txBody>
      </p:sp>
      <p:sp>
        <p:nvSpPr>
          <p:cNvPr id="3" name="Content Placeholder 2">
            <a:extLst>
              <a:ext uri="{FF2B5EF4-FFF2-40B4-BE49-F238E27FC236}">
                <a16:creationId xmlns:a16="http://schemas.microsoft.com/office/drawing/2014/main" id="{843A8549-79FE-DBF8-881E-CF4154C01888}"/>
              </a:ext>
            </a:extLst>
          </p:cNvPr>
          <p:cNvSpPr>
            <a:spLocks noGrp="1"/>
          </p:cNvSpPr>
          <p:nvPr>
            <p:ph idx="1"/>
          </p:nvPr>
        </p:nvSpPr>
        <p:spPr/>
        <p:txBody>
          <a:bodyPr>
            <a:normAutofit lnSpcReduction="10000"/>
          </a:bodyPr>
          <a:lstStyle/>
          <a:p>
            <a:pPr marL="0" indent="0">
              <a:buNone/>
            </a:pPr>
            <a:r>
              <a:rPr lang="en-US" sz="3200" dirty="0"/>
              <a:t>Residual confounders can be other variables in a dataset that have not been examined, or variables that were not measured in the study </a:t>
            </a:r>
          </a:p>
          <a:p>
            <a:r>
              <a:rPr lang="en-US" sz="3200" dirty="0"/>
              <a:t>Exist in almost all observational studies</a:t>
            </a:r>
          </a:p>
          <a:p>
            <a:r>
              <a:rPr lang="en-US" sz="3200" dirty="0"/>
              <a:t>One of the main reasons that observational studies should be interpreted with caution </a:t>
            </a:r>
          </a:p>
          <a:p>
            <a:pPr marL="0" indent="0">
              <a:buNone/>
            </a:pPr>
            <a:r>
              <a:rPr lang="en-US" sz="3200" dirty="0"/>
              <a:t>A randomized experiment is the best way to eliminate residual confounders </a:t>
            </a:r>
          </a:p>
          <a:p>
            <a:r>
              <a:rPr lang="en-US" sz="3200" dirty="0"/>
              <a:t>However, randomization may not be possible or ethical</a:t>
            </a:r>
          </a:p>
          <a:p>
            <a:endParaRPr lang="en-US" sz="3200" dirty="0"/>
          </a:p>
        </p:txBody>
      </p:sp>
    </p:spTree>
    <p:extLst>
      <p:ext uri="{BB962C8B-B14F-4D97-AF65-F5344CB8AC3E}">
        <p14:creationId xmlns:p14="http://schemas.microsoft.com/office/powerpoint/2010/main" val="3156710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53D92-58E1-55B7-9049-F30B74A9C61C}"/>
              </a:ext>
            </a:extLst>
          </p:cNvPr>
          <p:cNvSpPr>
            <a:spLocks noGrp="1"/>
          </p:cNvSpPr>
          <p:nvPr>
            <p:ph type="title"/>
          </p:nvPr>
        </p:nvSpPr>
        <p:spPr/>
        <p:txBody>
          <a:bodyPr>
            <a:normAutofit/>
          </a:bodyPr>
          <a:lstStyle/>
          <a:p>
            <a:r>
              <a:rPr lang="en-US" sz="5400" dirty="0"/>
              <a:t>Assumptions</a:t>
            </a:r>
          </a:p>
        </p:txBody>
      </p:sp>
      <p:sp>
        <p:nvSpPr>
          <p:cNvPr id="3" name="Content Placeholder 2">
            <a:extLst>
              <a:ext uri="{FF2B5EF4-FFF2-40B4-BE49-F238E27FC236}">
                <a16:creationId xmlns:a16="http://schemas.microsoft.com/office/drawing/2014/main" id="{93DE2F18-50DA-1D41-FF35-FB36C8753BF8}"/>
              </a:ext>
            </a:extLst>
          </p:cNvPr>
          <p:cNvSpPr>
            <a:spLocks noGrp="1"/>
          </p:cNvSpPr>
          <p:nvPr>
            <p:ph idx="1"/>
          </p:nvPr>
        </p:nvSpPr>
        <p:spPr/>
        <p:txBody>
          <a:bodyPr>
            <a:normAutofit fontScale="92500"/>
          </a:bodyPr>
          <a:lstStyle/>
          <a:p>
            <a:pPr marL="0" lvl="0" indent="0">
              <a:buNone/>
            </a:pPr>
            <a:r>
              <a:rPr lang="en-US" sz="3200" dirty="0"/>
              <a:t>Linearity – relationships between predictors and the response are linear (when only one predictor variable changes, it is linearly related to the change in the response variable).</a:t>
            </a:r>
          </a:p>
          <a:p>
            <a:pPr marL="0" lvl="0" indent="0">
              <a:buNone/>
            </a:pPr>
            <a:r>
              <a:rPr lang="en-US" sz="3200" dirty="0"/>
              <a:t>Independence – residuals are independent.</a:t>
            </a:r>
          </a:p>
          <a:p>
            <a:pPr marL="0" lvl="0" indent="0">
              <a:buNone/>
            </a:pPr>
            <a:r>
              <a:rPr lang="en-US" sz="3200" dirty="0"/>
              <a:t>Homoscedasticity – residuals have approximately constant variance.</a:t>
            </a:r>
          </a:p>
          <a:p>
            <a:pPr marL="0" lvl="0" indent="0">
              <a:buNone/>
            </a:pPr>
            <a:r>
              <a:rPr lang="en-US" sz="3200" dirty="0"/>
              <a:t>Normality – residuals are approximately normal.</a:t>
            </a:r>
          </a:p>
          <a:p>
            <a:pPr marL="0" lvl="0" indent="0">
              <a:buNone/>
            </a:pPr>
            <a:r>
              <a:rPr lang="en-US" sz="3200" dirty="0"/>
              <a:t>No strong multicollinearity – predictors are not too highly correlated</a:t>
            </a:r>
          </a:p>
          <a:p>
            <a:endParaRPr lang="en-US" sz="3200" dirty="0"/>
          </a:p>
        </p:txBody>
      </p:sp>
    </p:spTree>
    <p:extLst>
      <p:ext uri="{BB962C8B-B14F-4D97-AF65-F5344CB8AC3E}">
        <p14:creationId xmlns:p14="http://schemas.microsoft.com/office/powerpoint/2010/main" val="1984964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D2276-852F-EEC9-E5F8-77EE266F120A}"/>
              </a:ext>
            </a:extLst>
          </p:cNvPr>
          <p:cNvSpPr>
            <a:spLocks noGrp="1"/>
          </p:cNvSpPr>
          <p:nvPr>
            <p:ph type="title"/>
          </p:nvPr>
        </p:nvSpPr>
        <p:spPr/>
        <p:txBody>
          <a:bodyPr>
            <a:normAutofit/>
          </a:bodyPr>
          <a:lstStyle/>
          <a:p>
            <a:r>
              <a:rPr lang="en-US" sz="5400" dirty="0"/>
              <a:t>Assumption of Linearity</a:t>
            </a:r>
          </a:p>
        </p:txBody>
      </p:sp>
      <p:sp>
        <p:nvSpPr>
          <p:cNvPr id="3" name="Content Placeholder 2">
            <a:extLst>
              <a:ext uri="{FF2B5EF4-FFF2-40B4-BE49-F238E27FC236}">
                <a16:creationId xmlns:a16="http://schemas.microsoft.com/office/drawing/2014/main" id="{14D3E41F-529D-50F5-2AFC-3B92FB0521EC}"/>
              </a:ext>
            </a:extLst>
          </p:cNvPr>
          <p:cNvSpPr>
            <a:spLocks noGrp="1"/>
          </p:cNvSpPr>
          <p:nvPr>
            <p:ph idx="1"/>
          </p:nvPr>
        </p:nvSpPr>
        <p:spPr>
          <a:xfrm>
            <a:off x="838200" y="1825625"/>
            <a:ext cx="4984376" cy="4351338"/>
          </a:xfrm>
        </p:spPr>
        <p:txBody>
          <a:bodyPr/>
          <a:lstStyle/>
          <a:p>
            <a:pPr marL="0" indent="0">
              <a:buNone/>
            </a:pPr>
            <a:r>
              <a:rPr lang="en-US" dirty="0"/>
              <a:t>Examine plots of residuals against each of the predictors </a:t>
            </a:r>
          </a:p>
          <a:p>
            <a:r>
              <a:rPr lang="en-US" dirty="0"/>
              <a:t>Might show a nonlinear trend that could be corrected with a transformation </a:t>
            </a:r>
          </a:p>
          <a:p>
            <a:r>
              <a:rPr lang="en-US" dirty="0"/>
              <a:t>Not necessary to assess linearity against a categorical predictor, since a line drawn through two points is necessarily linear </a:t>
            </a:r>
          </a:p>
          <a:p>
            <a:endParaRPr lang="en-US" dirty="0"/>
          </a:p>
        </p:txBody>
      </p:sp>
      <p:pic>
        <p:nvPicPr>
          <p:cNvPr id="4" name="Picture 3">
            <a:extLst>
              <a:ext uri="{FF2B5EF4-FFF2-40B4-BE49-F238E27FC236}">
                <a16:creationId xmlns:a16="http://schemas.microsoft.com/office/drawing/2014/main" id="{30C57B88-9DCC-EAB0-D0D1-1A339BDBD422}"/>
              </a:ext>
            </a:extLst>
          </p:cNvPr>
          <p:cNvPicPr>
            <a:picLocks noChangeAspect="1"/>
          </p:cNvPicPr>
          <p:nvPr/>
        </p:nvPicPr>
        <p:blipFill>
          <a:blip r:embed="rId3"/>
          <a:stretch>
            <a:fillRect/>
          </a:stretch>
        </p:blipFill>
        <p:spPr>
          <a:xfrm>
            <a:off x="6699995" y="1569665"/>
            <a:ext cx="4968725" cy="2775324"/>
          </a:xfrm>
          <a:prstGeom prst="rect">
            <a:avLst/>
          </a:prstGeom>
          <a:ln w="28575">
            <a:solidFill>
              <a:schemeClr val="accent6">
                <a:lumMod val="75000"/>
              </a:schemeClr>
            </a:solidFill>
          </a:ln>
        </p:spPr>
      </p:pic>
      <p:pic>
        <p:nvPicPr>
          <p:cNvPr id="5" name="Content Placeholder 4">
            <a:extLst>
              <a:ext uri="{FF2B5EF4-FFF2-40B4-BE49-F238E27FC236}">
                <a16:creationId xmlns:a16="http://schemas.microsoft.com/office/drawing/2014/main" id="{099F1D0A-1132-C14B-ACF0-CDE693478233}"/>
              </a:ext>
            </a:extLst>
          </p:cNvPr>
          <p:cNvPicPr>
            <a:picLocks noChangeAspect="1"/>
          </p:cNvPicPr>
          <p:nvPr/>
        </p:nvPicPr>
        <p:blipFill>
          <a:blip r:embed="rId4"/>
          <a:srcRect l="1076"/>
          <a:stretch>
            <a:fillRect/>
          </a:stretch>
        </p:blipFill>
        <p:spPr>
          <a:xfrm>
            <a:off x="9184357" y="4522340"/>
            <a:ext cx="2330866" cy="1970535"/>
          </a:xfrm>
          <a:prstGeom prst="rect">
            <a:avLst/>
          </a:prstGeom>
          <a:ln w="28575">
            <a:solidFill>
              <a:schemeClr val="accent6">
                <a:lumMod val="75000"/>
              </a:schemeClr>
            </a:solidFill>
          </a:ln>
        </p:spPr>
      </p:pic>
      <p:sp>
        <p:nvSpPr>
          <p:cNvPr id="6" name="Right Arrow 5">
            <a:extLst>
              <a:ext uri="{FF2B5EF4-FFF2-40B4-BE49-F238E27FC236}">
                <a16:creationId xmlns:a16="http://schemas.microsoft.com/office/drawing/2014/main" id="{84E653A1-26D0-90F7-82E6-2D308BB60568}"/>
              </a:ext>
            </a:extLst>
          </p:cNvPr>
          <p:cNvSpPr/>
          <p:nvPr/>
        </p:nvSpPr>
        <p:spPr>
          <a:xfrm>
            <a:off x="4555189" y="5421782"/>
            <a:ext cx="4289611" cy="255494"/>
          </a:xfrm>
          <a:prstGeom prst="rightArrow">
            <a:avLst/>
          </a:prstGeom>
          <a:solidFill>
            <a:schemeClr val="accent6"/>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0DF67CE-B363-25F0-82DA-632F74F912F2}"/>
              </a:ext>
            </a:extLst>
          </p:cNvPr>
          <p:cNvSpPr txBox="1"/>
          <p:nvPr/>
        </p:nvSpPr>
        <p:spPr>
          <a:xfrm>
            <a:off x="5662690" y="5627547"/>
            <a:ext cx="2074607" cy="369332"/>
          </a:xfrm>
          <a:prstGeom prst="rect">
            <a:avLst/>
          </a:prstGeom>
          <a:noFill/>
        </p:spPr>
        <p:txBody>
          <a:bodyPr wrap="none" rtlCol="0">
            <a:spAutoFit/>
          </a:bodyPr>
          <a:lstStyle/>
          <a:p>
            <a:r>
              <a:rPr lang="en-US" dirty="0"/>
              <a:t>imagine this sort of</a:t>
            </a:r>
          </a:p>
        </p:txBody>
      </p:sp>
      <p:sp>
        <p:nvSpPr>
          <p:cNvPr id="8" name="TextBox 7">
            <a:extLst>
              <a:ext uri="{FF2B5EF4-FFF2-40B4-BE49-F238E27FC236}">
                <a16:creationId xmlns:a16="http://schemas.microsoft.com/office/drawing/2014/main" id="{FB4F9A62-7AD2-6173-F984-40E0FB438A1D}"/>
              </a:ext>
            </a:extLst>
          </p:cNvPr>
          <p:cNvSpPr txBox="1"/>
          <p:nvPr/>
        </p:nvSpPr>
        <p:spPr>
          <a:xfrm rot="16200000">
            <a:off x="6021409" y="2694572"/>
            <a:ext cx="987835" cy="369332"/>
          </a:xfrm>
          <a:prstGeom prst="rect">
            <a:avLst/>
          </a:prstGeom>
          <a:noFill/>
        </p:spPr>
        <p:txBody>
          <a:bodyPr wrap="none" rtlCol="0">
            <a:spAutoFit/>
          </a:bodyPr>
          <a:lstStyle/>
          <a:p>
            <a:r>
              <a:rPr lang="en-US" dirty="0"/>
              <a:t>residual</a:t>
            </a:r>
          </a:p>
        </p:txBody>
      </p:sp>
      <p:sp>
        <p:nvSpPr>
          <p:cNvPr id="9" name="TextBox 8">
            <a:extLst>
              <a:ext uri="{FF2B5EF4-FFF2-40B4-BE49-F238E27FC236}">
                <a16:creationId xmlns:a16="http://schemas.microsoft.com/office/drawing/2014/main" id="{232A0B80-9CFC-D0FC-F4E3-8E5BE5C871D6}"/>
              </a:ext>
            </a:extLst>
          </p:cNvPr>
          <p:cNvSpPr txBox="1"/>
          <p:nvPr/>
        </p:nvSpPr>
        <p:spPr>
          <a:xfrm>
            <a:off x="7511878" y="4366088"/>
            <a:ext cx="1353319" cy="369332"/>
          </a:xfrm>
          <a:prstGeom prst="rect">
            <a:avLst/>
          </a:prstGeom>
          <a:noFill/>
        </p:spPr>
        <p:txBody>
          <a:bodyPr wrap="none" rtlCol="0">
            <a:spAutoFit/>
          </a:bodyPr>
          <a:lstStyle/>
          <a:p>
            <a:r>
              <a:rPr lang="en-US" dirty="0"/>
              <a:t>Bird density</a:t>
            </a:r>
          </a:p>
        </p:txBody>
      </p:sp>
    </p:spTree>
    <p:extLst>
      <p:ext uri="{BB962C8B-B14F-4D97-AF65-F5344CB8AC3E}">
        <p14:creationId xmlns:p14="http://schemas.microsoft.com/office/powerpoint/2010/main" val="3802159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30701-3337-8DF4-7F95-E96AD5D042D5}"/>
              </a:ext>
            </a:extLst>
          </p:cNvPr>
          <p:cNvSpPr>
            <a:spLocks noGrp="1"/>
          </p:cNvSpPr>
          <p:nvPr>
            <p:ph type="title"/>
          </p:nvPr>
        </p:nvSpPr>
        <p:spPr/>
        <p:txBody>
          <a:bodyPr>
            <a:normAutofit/>
          </a:bodyPr>
          <a:lstStyle/>
          <a:p>
            <a:r>
              <a:rPr lang="en-US" sz="5400" dirty="0"/>
              <a:t>Constant Variance and Normality</a:t>
            </a:r>
          </a:p>
        </p:txBody>
      </p:sp>
      <p:sp>
        <p:nvSpPr>
          <p:cNvPr id="3" name="Content Placeholder 2">
            <a:extLst>
              <a:ext uri="{FF2B5EF4-FFF2-40B4-BE49-F238E27FC236}">
                <a16:creationId xmlns:a16="http://schemas.microsoft.com/office/drawing/2014/main" id="{5F16E7EC-4E1E-AE6C-BF0E-C5768FAC149E}"/>
              </a:ext>
            </a:extLst>
          </p:cNvPr>
          <p:cNvSpPr>
            <a:spLocks noGrp="1"/>
          </p:cNvSpPr>
          <p:nvPr>
            <p:ph idx="1"/>
          </p:nvPr>
        </p:nvSpPr>
        <p:spPr>
          <a:xfrm>
            <a:off x="838200" y="1583577"/>
            <a:ext cx="4325471" cy="4909297"/>
          </a:xfrm>
        </p:spPr>
        <p:txBody>
          <a:bodyPr>
            <a:normAutofit/>
          </a:bodyPr>
          <a:lstStyle/>
          <a:p>
            <a:r>
              <a:rPr lang="en-US" dirty="0"/>
              <a:t>Each case has one predicted value and one residual: residuals can still be plotted against predicted values to assess the constant variance assumption </a:t>
            </a:r>
          </a:p>
          <a:p>
            <a:r>
              <a:rPr lang="en-US" dirty="0"/>
              <a:t>Normal probability plots can be used to check the normality assumption of the residuals</a:t>
            </a:r>
          </a:p>
          <a:p>
            <a:endParaRPr lang="en-US" dirty="0"/>
          </a:p>
        </p:txBody>
      </p:sp>
      <p:pic>
        <p:nvPicPr>
          <p:cNvPr id="7" name="Picture 6">
            <a:extLst>
              <a:ext uri="{FF2B5EF4-FFF2-40B4-BE49-F238E27FC236}">
                <a16:creationId xmlns:a16="http://schemas.microsoft.com/office/drawing/2014/main" id="{A2034EF1-0778-9216-2A12-A1EC4EFC316E}"/>
              </a:ext>
            </a:extLst>
          </p:cNvPr>
          <p:cNvPicPr>
            <a:picLocks noChangeAspect="1"/>
          </p:cNvPicPr>
          <p:nvPr/>
        </p:nvPicPr>
        <p:blipFill>
          <a:blip r:embed="rId3"/>
          <a:stretch>
            <a:fillRect/>
          </a:stretch>
        </p:blipFill>
        <p:spPr>
          <a:xfrm>
            <a:off x="5163671" y="2000049"/>
            <a:ext cx="6609199" cy="3274374"/>
          </a:xfrm>
          <a:prstGeom prst="rect">
            <a:avLst/>
          </a:prstGeom>
          <a:ln w="28575">
            <a:solidFill>
              <a:schemeClr val="accent6">
                <a:lumMod val="75000"/>
              </a:schemeClr>
            </a:solidFill>
          </a:ln>
        </p:spPr>
      </p:pic>
    </p:spTree>
    <p:extLst>
      <p:ext uri="{BB962C8B-B14F-4D97-AF65-F5344CB8AC3E}">
        <p14:creationId xmlns:p14="http://schemas.microsoft.com/office/powerpoint/2010/main" val="359450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7AEDF50-C342-BC9B-60C3-32C349690BA2}"/>
              </a:ext>
            </a:extLst>
          </p:cNvPr>
          <p:cNvPicPr>
            <a:picLocks noGrp="1" noChangeAspect="1"/>
          </p:cNvPicPr>
          <p:nvPr>
            <p:ph idx="1"/>
          </p:nvPr>
        </p:nvPicPr>
        <p:blipFill>
          <a:blip r:embed="rId3"/>
          <a:stretch>
            <a:fillRect/>
          </a:stretch>
        </p:blipFill>
        <p:spPr>
          <a:xfrm>
            <a:off x="1525004" y="1330722"/>
            <a:ext cx="9141992" cy="4196556"/>
          </a:xfrm>
          <a:prstGeom prst="rect">
            <a:avLst/>
          </a:prstGeom>
          <a:ln w="28575">
            <a:solidFill>
              <a:schemeClr val="accent6">
                <a:lumMod val="75000"/>
              </a:schemeClr>
            </a:solidFill>
          </a:ln>
        </p:spPr>
      </p:pic>
    </p:spTree>
    <p:extLst>
      <p:ext uri="{BB962C8B-B14F-4D97-AF65-F5344CB8AC3E}">
        <p14:creationId xmlns:p14="http://schemas.microsoft.com/office/powerpoint/2010/main" val="1044290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8DF10-D356-D91D-FC38-C24945E3F437}"/>
              </a:ext>
            </a:extLst>
          </p:cNvPr>
          <p:cNvSpPr>
            <a:spLocks noGrp="1"/>
          </p:cNvSpPr>
          <p:nvPr>
            <p:ph type="title"/>
          </p:nvPr>
        </p:nvSpPr>
        <p:spPr/>
        <p:txBody>
          <a:bodyPr>
            <a:normAutofit/>
          </a:bodyPr>
          <a:lstStyle/>
          <a:p>
            <a:r>
              <a:rPr lang="en-US" sz="5400" dirty="0"/>
              <a:t>Multicollinearity</a:t>
            </a:r>
          </a:p>
        </p:txBody>
      </p:sp>
      <p:sp>
        <p:nvSpPr>
          <p:cNvPr id="3" name="Content Placeholder 2">
            <a:extLst>
              <a:ext uri="{FF2B5EF4-FFF2-40B4-BE49-F238E27FC236}">
                <a16:creationId xmlns:a16="http://schemas.microsoft.com/office/drawing/2014/main" id="{BDBAC86D-C4AA-8F6C-B277-8850314B4E20}"/>
              </a:ext>
            </a:extLst>
          </p:cNvPr>
          <p:cNvSpPr>
            <a:spLocks noGrp="1"/>
          </p:cNvSpPr>
          <p:nvPr>
            <p:ph idx="1"/>
          </p:nvPr>
        </p:nvSpPr>
        <p:spPr>
          <a:xfrm>
            <a:off x="838200" y="1825625"/>
            <a:ext cx="10515600" cy="4667250"/>
          </a:xfrm>
        </p:spPr>
        <p:txBody>
          <a:bodyPr>
            <a:normAutofit fontScale="92500" lnSpcReduction="20000"/>
          </a:bodyPr>
          <a:lstStyle/>
          <a:p>
            <a:pPr marL="0" indent="0">
              <a:buNone/>
            </a:pPr>
            <a:r>
              <a:rPr lang="en-US" dirty="0"/>
              <a:t>Exact collinearity occurs if one variable determines the other variable (e.g., X</a:t>
            </a:r>
            <a:r>
              <a:rPr lang="en-US" baseline="-25000" dirty="0"/>
              <a:t>1</a:t>
            </a:r>
            <a:r>
              <a:rPr lang="en-US" dirty="0"/>
              <a:t> = 100 − 2X</a:t>
            </a:r>
            <a:r>
              <a:rPr lang="en-US" baseline="-25000" dirty="0"/>
              <a:t>2</a:t>
            </a:r>
            <a:r>
              <a:rPr lang="en-US" dirty="0"/>
              <a:t>). </a:t>
            </a:r>
            <a:r>
              <a:rPr lang="en-US" b="1" dirty="0"/>
              <a:t>Multicollinearity</a:t>
            </a:r>
            <a:r>
              <a:rPr lang="en-US" dirty="0"/>
              <a:t> is when this kind of relationship exists between more than two explanatory variables (e.g., X</a:t>
            </a:r>
            <a:r>
              <a:rPr lang="en-US" baseline="-25000" dirty="0"/>
              <a:t>1</a:t>
            </a:r>
            <a:r>
              <a:rPr lang="en-US" dirty="0"/>
              <a:t> = 100 − 2X</a:t>
            </a:r>
            <a:r>
              <a:rPr lang="en-US" baseline="-25000" dirty="0"/>
              <a:t>2</a:t>
            </a:r>
            <a:r>
              <a:rPr lang="en-US" dirty="0"/>
              <a:t> + 3X</a:t>
            </a:r>
            <a:r>
              <a:rPr lang="en-US" baseline="-25000" dirty="0"/>
              <a:t>3</a:t>
            </a:r>
            <a:r>
              <a:rPr lang="en-US" dirty="0"/>
              <a:t>)</a:t>
            </a:r>
          </a:p>
          <a:p>
            <a:r>
              <a:rPr lang="en-US" dirty="0"/>
              <a:t>A strong relationship is enough to have significant multicollinearity</a:t>
            </a:r>
          </a:p>
          <a:p>
            <a:pPr marL="0" indent="0">
              <a:buNone/>
            </a:pPr>
            <a:r>
              <a:rPr lang="en-US" dirty="0"/>
              <a:t>How can we tell?</a:t>
            </a:r>
          </a:p>
          <a:p>
            <a:r>
              <a:rPr lang="en-US" dirty="0"/>
              <a:t>If the </a:t>
            </a:r>
            <a:r>
              <a:rPr lang="en-US" b="1" dirty="0"/>
              <a:t>variance inflation factor and tolerance </a:t>
            </a:r>
            <a:r>
              <a:rPr lang="en-US" dirty="0"/>
              <a:t>are greater than 5 to 10 and lower than 0.1 to 0.2, respectively (</a:t>
            </a:r>
            <a:r>
              <a:rPr lang="en-US" i="1" dirty="0"/>
              <a:t>R</a:t>
            </a:r>
            <a:r>
              <a:rPr lang="en-US" baseline="30000" dirty="0"/>
              <a:t>2</a:t>
            </a:r>
            <a:r>
              <a:rPr lang="en-US" dirty="0"/>
              <a:t> = 0.8 to 0.9), multicollinearity exists. </a:t>
            </a:r>
          </a:p>
          <a:p>
            <a:r>
              <a:rPr lang="en-US" dirty="0"/>
              <a:t>Determines presence of multicollinearity </a:t>
            </a:r>
          </a:p>
          <a:p>
            <a:r>
              <a:rPr lang="en-US" dirty="0"/>
              <a:t>Cannot detect the explanatory variables causing it</a:t>
            </a:r>
          </a:p>
          <a:p>
            <a:pPr marL="0" indent="0">
              <a:buNone/>
            </a:pPr>
            <a:r>
              <a:rPr lang="en-US" dirty="0"/>
              <a:t>Example: If you check and you have a tolerance/VIF of 0.1/7.5 on an explanatory variable, your model results might not be the most reliable.</a:t>
            </a:r>
          </a:p>
        </p:txBody>
      </p:sp>
    </p:spTree>
    <p:extLst>
      <p:ext uri="{BB962C8B-B14F-4D97-AF65-F5344CB8AC3E}">
        <p14:creationId xmlns:p14="http://schemas.microsoft.com/office/powerpoint/2010/main" val="35640850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0A25F-03FC-386D-5E9B-B831FC66EC0D}"/>
              </a:ext>
            </a:extLst>
          </p:cNvPr>
          <p:cNvSpPr>
            <a:spLocks noGrp="1"/>
          </p:cNvSpPr>
          <p:nvPr>
            <p:ph type="title"/>
          </p:nvPr>
        </p:nvSpPr>
        <p:spPr/>
        <p:txBody>
          <a:bodyPr>
            <a:normAutofit/>
          </a:bodyPr>
          <a:lstStyle/>
          <a:p>
            <a:r>
              <a:rPr lang="en-US" sz="5400" dirty="0"/>
              <a:t>R</a:t>
            </a:r>
            <a:r>
              <a:rPr lang="en-US" sz="5400" baseline="30000" dirty="0"/>
              <a:t>2</a:t>
            </a:r>
          </a:p>
        </p:txBody>
      </p:sp>
      <p:sp>
        <p:nvSpPr>
          <p:cNvPr id="3" name="Content Placeholder 2">
            <a:extLst>
              <a:ext uri="{FF2B5EF4-FFF2-40B4-BE49-F238E27FC236}">
                <a16:creationId xmlns:a16="http://schemas.microsoft.com/office/drawing/2014/main" id="{0C06DC27-9D76-DB61-0DD5-026BF0974024}"/>
              </a:ext>
            </a:extLst>
          </p:cNvPr>
          <p:cNvSpPr>
            <a:spLocks noGrp="1"/>
          </p:cNvSpPr>
          <p:nvPr>
            <p:ph idx="1"/>
          </p:nvPr>
        </p:nvSpPr>
        <p:spPr>
          <a:xfrm>
            <a:off x="838200" y="1502895"/>
            <a:ext cx="10515600" cy="4989979"/>
          </a:xfrm>
        </p:spPr>
        <p:txBody>
          <a:bodyPr>
            <a:normAutofit lnSpcReduction="10000"/>
          </a:bodyPr>
          <a:lstStyle/>
          <a:p>
            <a:pPr marL="0" indent="0">
              <a:buNone/>
            </a:pPr>
            <a:r>
              <a:rPr lang="en-US" sz="3200" dirty="0"/>
              <a:t>Recall: the square of the correlation coefficient r between a response and the single predictor in simple linear regression, and equivalently, it is the proportion of the variation in the response variable explained by the model. </a:t>
            </a:r>
          </a:p>
          <a:p>
            <a:r>
              <a:rPr lang="en-US" sz="3200" dirty="0"/>
              <a:t>“Square of the correlation coefficient r” – NOT in multiple regression! We have more than one predictor!</a:t>
            </a:r>
          </a:p>
          <a:p>
            <a:r>
              <a:rPr lang="en-US" sz="3200" dirty="0"/>
              <a:t>Still is the proportion of variance in Y explained by all predictors.</a:t>
            </a:r>
          </a:p>
          <a:p>
            <a:endParaRPr lang="en-US" sz="3200" dirty="0"/>
          </a:p>
          <a:p>
            <a:pPr marL="0" indent="0">
              <a:buNone/>
            </a:pPr>
            <a:r>
              <a:rPr lang="en-US" sz="3200" dirty="0"/>
              <a:t>But, adding a variable to a regression model always increases the value of R</a:t>
            </a:r>
            <a:r>
              <a:rPr lang="en-US" sz="3200" baseline="30000" dirty="0"/>
              <a:t>2</a:t>
            </a:r>
            <a:r>
              <a:rPr lang="en-US" sz="3200" dirty="0"/>
              <a:t>. What do we do?</a:t>
            </a:r>
          </a:p>
        </p:txBody>
      </p:sp>
    </p:spTree>
    <p:extLst>
      <p:ext uri="{BB962C8B-B14F-4D97-AF65-F5344CB8AC3E}">
        <p14:creationId xmlns:p14="http://schemas.microsoft.com/office/powerpoint/2010/main" val="3112573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D872D-C00B-839B-A714-988219DAB071}"/>
              </a:ext>
            </a:extLst>
          </p:cNvPr>
          <p:cNvSpPr>
            <a:spLocks noGrp="1"/>
          </p:cNvSpPr>
          <p:nvPr>
            <p:ph type="title"/>
          </p:nvPr>
        </p:nvSpPr>
        <p:spPr/>
        <p:txBody>
          <a:bodyPr>
            <a:normAutofit/>
          </a:bodyPr>
          <a:lstStyle/>
          <a:p>
            <a:r>
              <a:rPr lang="en-US" sz="5400" dirty="0"/>
              <a:t>Adjusted R²</a:t>
            </a:r>
          </a:p>
        </p:txBody>
      </p:sp>
      <p:sp>
        <p:nvSpPr>
          <p:cNvPr id="3" name="Content Placeholder 2">
            <a:extLst>
              <a:ext uri="{FF2B5EF4-FFF2-40B4-BE49-F238E27FC236}">
                <a16:creationId xmlns:a16="http://schemas.microsoft.com/office/drawing/2014/main" id="{2C912FF4-2563-2DC8-B85A-01013AC2132A}"/>
              </a:ext>
            </a:extLst>
          </p:cNvPr>
          <p:cNvSpPr>
            <a:spLocks noGrp="1"/>
          </p:cNvSpPr>
          <p:nvPr>
            <p:ph idx="1"/>
          </p:nvPr>
        </p:nvSpPr>
        <p:spPr/>
        <p:txBody>
          <a:bodyPr>
            <a:normAutofit/>
          </a:bodyPr>
          <a:lstStyle/>
          <a:p>
            <a:pPr marL="0" indent="0">
              <a:buNone/>
            </a:pPr>
            <a:r>
              <a:rPr lang="en-US" sz="3200" dirty="0"/>
              <a:t>Corrects R² for the number of predictors, preventing inflation from overfitting </a:t>
            </a:r>
          </a:p>
          <a:p>
            <a:r>
              <a:rPr lang="en-US" sz="3200" dirty="0"/>
              <a:t>Balances predictive ability with complexity in a multiple regression model </a:t>
            </a:r>
          </a:p>
          <a:p>
            <a:r>
              <a:rPr lang="en-US" sz="3200" dirty="0"/>
              <a:t>Does not have an inherent interpretation like R</a:t>
            </a:r>
            <a:r>
              <a:rPr lang="en-US" sz="3200" baseline="30000" dirty="0"/>
              <a:t>2</a:t>
            </a:r>
            <a:r>
              <a:rPr lang="en-US" sz="3200" dirty="0"/>
              <a:t> </a:t>
            </a:r>
          </a:p>
          <a:p>
            <a:pPr lvl="1"/>
            <a:r>
              <a:rPr lang="en-US" sz="2800" dirty="0"/>
              <a:t>Useful as a statistic for comparing models </a:t>
            </a:r>
          </a:p>
          <a:p>
            <a:pPr lvl="1"/>
            <a:r>
              <a:rPr lang="en-US" sz="2800" dirty="0"/>
              <a:t>Not</a:t>
            </a:r>
            <a:r>
              <a:rPr lang="en-US" sz="2800" i="1" dirty="0"/>
              <a:t> </a:t>
            </a:r>
            <a:r>
              <a:rPr lang="en-US" sz="2800" dirty="0"/>
              <a:t>the proportion of variation in the response variable explained by the model </a:t>
            </a:r>
          </a:p>
          <a:p>
            <a:pPr lvl="1"/>
            <a:endParaRPr lang="en-US" sz="2800" dirty="0"/>
          </a:p>
          <a:p>
            <a:endParaRPr lang="en-US" sz="3200" dirty="0"/>
          </a:p>
        </p:txBody>
      </p:sp>
    </p:spTree>
    <p:extLst>
      <p:ext uri="{BB962C8B-B14F-4D97-AF65-F5344CB8AC3E}">
        <p14:creationId xmlns:p14="http://schemas.microsoft.com/office/powerpoint/2010/main" val="26184511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F5C96-A778-179A-2996-B934CA76CD25}"/>
              </a:ext>
            </a:extLst>
          </p:cNvPr>
          <p:cNvSpPr>
            <a:spLocks noGrp="1"/>
          </p:cNvSpPr>
          <p:nvPr>
            <p:ph type="title"/>
          </p:nvPr>
        </p:nvSpPr>
        <p:spPr/>
        <p:txBody>
          <a:bodyPr>
            <a:normAutofit/>
          </a:bodyPr>
          <a:lstStyle/>
          <a:p>
            <a:r>
              <a:rPr lang="en-US" sz="5400" dirty="0"/>
              <a:t>Example: </a:t>
            </a:r>
          </a:p>
        </p:txBody>
      </p:sp>
      <p:sp>
        <p:nvSpPr>
          <p:cNvPr id="3" name="Content Placeholder 2">
            <a:extLst>
              <a:ext uri="{FF2B5EF4-FFF2-40B4-BE49-F238E27FC236}">
                <a16:creationId xmlns:a16="http://schemas.microsoft.com/office/drawing/2014/main" id="{B82B738A-DC1F-1694-0DDC-F0B2B8603277}"/>
              </a:ext>
            </a:extLst>
          </p:cNvPr>
          <p:cNvSpPr>
            <a:spLocks noGrp="1"/>
          </p:cNvSpPr>
          <p:nvPr>
            <p:ph idx="1"/>
          </p:nvPr>
        </p:nvSpPr>
        <p:spPr/>
        <p:txBody>
          <a:bodyPr>
            <a:normAutofit lnSpcReduction="10000"/>
          </a:bodyPr>
          <a:lstStyle/>
          <a:p>
            <a:r>
              <a:rPr lang="en-US" sz="3200" dirty="0"/>
              <a:t>Model with the response variable caterpillars and predictor pesticide : R</a:t>
            </a:r>
            <a:r>
              <a:rPr lang="en-US" sz="3200" baseline="30000" dirty="0"/>
              <a:t>2</a:t>
            </a:r>
            <a:r>
              <a:rPr lang="en-US" sz="3200" dirty="0"/>
              <a:t> = 0.0239</a:t>
            </a:r>
          </a:p>
          <a:p>
            <a:r>
              <a:rPr lang="en-US" sz="3200" dirty="0"/>
              <a:t>Model with the response variable caterpillars and predictors pesticide AND bird density: R</a:t>
            </a:r>
            <a:r>
              <a:rPr lang="en-US" sz="3200" baseline="30000" dirty="0"/>
              <a:t>2</a:t>
            </a:r>
            <a:r>
              <a:rPr lang="en-US" sz="3200" dirty="0"/>
              <a:t> = 0.2852</a:t>
            </a:r>
          </a:p>
          <a:p>
            <a:pPr lvl="1"/>
            <a:r>
              <a:rPr lang="en-US" sz="2800" dirty="0"/>
              <a:t>explains almost 29% of the variability in RFFT scores</a:t>
            </a:r>
          </a:p>
          <a:p>
            <a:r>
              <a:rPr lang="en-US" sz="3200" dirty="0"/>
              <a:t>Adjusted R</a:t>
            </a:r>
            <a:r>
              <a:rPr lang="en-US" sz="3200" baseline="30000" dirty="0"/>
              <a:t>2</a:t>
            </a:r>
            <a:r>
              <a:rPr lang="en-US" sz="3200" dirty="0"/>
              <a:t> in the model with both pesticide and birds is 0.2823</a:t>
            </a:r>
          </a:p>
          <a:p>
            <a:pPr lvl="1"/>
            <a:r>
              <a:rPr lang="en-US" sz="2800" dirty="0"/>
              <a:t>essentially the same as the R</a:t>
            </a:r>
            <a:r>
              <a:rPr lang="en-US" sz="2800" baseline="30000" dirty="0"/>
              <a:t>2</a:t>
            </a:r>
            <a:r>
              <a:rPr lang="en-US" sz="2800" dirty="0"/>
              <a:t> value </a:t>
            </a:r>
          </a:p>
          <a:p>
            <a:pPr lvl="1"/>
            <a:r>
              <a:rPr lang="en-US" sz="2800" dirty="0"/>
              <a:t>additional predictor birds considerably increases the strength of the model, resulting in only a small penalty to the R</a:t>
            </a:r>
            <a:r>
              <a:rPr lang="en-US" sz="2800" baseline="30000" dirty="0"/>
              <a:t>2</a:t>
            </a:r>
            <a:r>
              <a:rPr lang="en-US" sz="2800" dirty="0"/>
              <a:t> value</a:t>
            </a:r>
          </a:p>
          <a:p>
            <a:endParaRPr lang="en-US" sz="3200" dirty="0"/>
          </a:p>
        </p:txBody>
      </p:sp>
    </p:spTree>
    <p:extLst>
      <p:ext uri="{BB962C8B-B14F-4D97-AF65-F5344CB8AC3E}">
        <p14:creationId xmlns:p14="http://schemas.microsoft.com/office/powerpoint/2010/main" val="3052292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AE33C-2E6D-F32E-3301-DF717E3B86CD}"/>
              </a:ext>
            </a:extLst>
          </p:cNvPr>
          <p:cNvSpPr>
            <a:spLocks noGrp="1"/>
          </p:cNvSpPr>
          <p:nvPr>
            <p:ph type="title"/>
          </p:nvPr>
        </p:nvSpPr>
        <p:spPr/>
        <p:txBody>
          <a:bodyPr>
            <a:normAutofit/>
          </a:bodyPr>
          <a:lstStyle/>
          <a:p>
            <a:r>
              <a:rPr lang="en-US" sz="5400" dirty="0"/>
              <a:t>T-tests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95F1A75-105E-4C8F-5FF2-C74C1DE3D528}"/>
                  </a:ext>
                </a:extLst>
              </p:cNvPr>
              <p:cNvSpPr>
                <a:spLocks noGrp="1"/>
              </p:cNvSpPr>
              <p:nvPr>
                <p:ph idx="1"/>
              </p:nvPr>
            </p:nvSpPr>
            <p:spPr/>
            <p:txBody>
              <a:bodyPr>
                <a:normAutofit lnSpcReduction="10000"/>
              </a:bodyPr>
              <a:lstStyle/>
              <a:p>
                <a:r>
                  <a:rPr lang="en-US" sz="3200" dirty="0"/>
                  <a:t>Tests if each coefficient differs from zero</a:t>
                </a:r>
              </a:p>
              <a:p>
                <a:r>
                  <a:rPr lang="en-US" sz="3200" dirty="0"/>
                  <a:t>The test of the null hypothesis H</a:t>
                </a:r>
                <a:r>
                  <a:rPr lang="en-US" sz="3200" baseline="-25000" dirty="0"/>
                  <a:t>0</a:t>
                </a:r>
                <a:r>
                  <a:rPr lang="en-US" sz="3200" dirty="0"/>
                  <a:t>: β</a:t>
                </a:r>
                <a:r>
                  <a:rPr lang="en-US" sz="3200" baseline="-25000" dirty="0"/>
                  <a:t>k</a:t>
                </a:r>
                <a:r>
                  <a:rPr lang="en-US" sz="3200" dirty="0"/>
                  <a:t> = 0 is a test of whether the predictor </a:t>
                </a:r>
                <a:r>
                  <a:rPr lang="en-US" sz="3200" dirty="0" err="1"/>
                  <a:t>X</a:t>
                </a:r>
                <a:r>
                  <a:rPr lang="en-US" sz="3200" baseline="-25000" dirty="0" err="1"/>
                  <a:t>k</a:t>
                </a:r>
                <a:r>
                  <a:rPr lang="en-US" sz="3200" dirty="0"/>
                  <a:t> is associated with the response variable </a:t>
                </a:r>
              </a:p>
              <a:p>
                <a:r>
                  <a:rPr lang="en-US" sz="3200" dirty="0"/>
                  <a:t>If the coefficient of a predictor equals 0, the predicted value of the response does not change when the predictor changes; i.e., a value of 0 indicates there is no association between the predictor and response </a:t>
                </a:r>
              </a:p>
              <a:p>
                <a:r>
                  <a:rPr lang="en-US" sz="3200" dirty="0"/>
                  <a:t>H</a:t>
                </a:r>
                <a:r>
                  <a:rPr lang="en-US" sz="3200" baseline="-25000" dirty="0"/>
                  <a:t>0</a:t>
                </a:r>
                <a:r>
                  <a:rPr lang="en-US" sz="3200" dirty="0"/>
                  <a:t>: β</a:t>
                </a:r>
                <a:r>
                  <a:rPr lang="en-US" sz="3200" baseline="-25000" dirty="0"/>
                  <a:t>k</a:t>
                </a:r>
                <a:r>
                  <a:rPr lang="en-US" sz="3200" dirty="0"/>
                  <a:t> = 0 vs. H</a:t>
                </a:r>
                <a:r>
                  <a:rPr lang="en-US" sz="3200" baseline="-25000" dirty="0"/>
                  <a:t>A</a:t>
                </a:r>
                <a:r>
                  <a:rPr lang="en-US" sz="3200" dirty="0"/>
                  <a:t>: β</a:t>
                </a:r>
                <a:r>
                  <a:rPr lang="en-US" sz="3200" baseline="-25000" dirty="0"/>
                  <a:t>k</a:t>
                </a:r>
                <a:r>
                  <a:rPr lang="en-US" sz="3200" dirty="0"/>
                  <a:t> </a:t>
                </a:r>
                <a14:m>
                  <m:oMath xmlns:m="http://schemas.openxmlformats.org/officeDocument/2006/math">
                    <m:r>
                      <a:rPr lang="en-US" sz="3200" i="1" smtClean="0">
                        <a:latin typeface="Cambria Math" panose="02040503050406030204" pitchFamily="18" charset="0"/>
                        <a:ea typeface="Cambria Math" panose="02040503050406030204" pitchFamily="18" charset="0"/>
                      </a:rPr>
                      <m:t>≠</m:t>
                    </m:r>
                  </m:oMath>
                </a14:m>
                <a:r>
                  <a:rPr lang="en-US" sz="3200" dirty="0"/>
                  <a:t> 0 </a:t>
                </a:r>
                <a:endParaRPr lang="en-US" sz="3200" dirty="0">
                  <a:effectLst/>
                </a:endParaRPr>
              </a:p>
              <a:p>
                <a:endParaRPr lang="en-US" sz="3200" dirty="0"/>
              </a:p>
            </p:txBody>
          </p:sp>
        </mc:Choice>
        <mc:Fallback xmlns="">
          <p:sp>
            <p:nvSpPr>
              <p:cNvPr id="3" name="Content Placeholder 2">
                <a:extLst>
                  <a:ext uri="{FF2B5EF4-FFF2-40B4-BE49-F238E27FC236}">
                    <a16:creationId xmlns:a16="http://schemas.microsoft.com/office/drawing/2014/main" id="{195F1A75-105E-4C8F-5FF2-C74C1DE3D528}"/>
                  </a:ext>
                </a:extLst>
              </p:cNvPr>
              <p:cNvSpPr>
                <a:spLocks noGrp="1" noRot="1" noChangeAspect="1" noMove="1" noResize="1" noEditPoints="1" noAdjustHandles="1" noChangeArrowheads="1" noChangeShapeType="1" noTextEdit="1"/>
              </p:cNvSpPr>
              <p:nvPr>
                <p:ph idx="1"/>
              </p:nvPr>
            </p:nvSpPr>
            <p:spPr>
              <a:blipFill>
                <a:blip r:embed="rId3"/>
                <a:stretch>
                  <a:fillRect l="-1327" t="-3779" r="-2051"/>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7736FCC8-D245-D96A-7410-D1398C22AC8E}"/>
              </a:ext>
            </a:extLst>
          </p:cNvPr>
          <p:cNvPicPr>
            <a:picLocks noChangeAspect="1"/>
          </p:cNvPicPr>
          <p:nvPr/>
        </p:nvPicPr>
        <p:blipFill>
          <a:blip r:embed="rId4"/>
          <a:stretch>
            <a:fillRect/>
          </a:stretch>
        </p:blipFill>
        <p:spPr>
          <a:xfrm>
            <a:off x="10180917" y="220009"/>
            <a:ext cx="1727200" cy="2222500"/>
          </a:xfrm>
          <a:prstGeom prst="rect">
            <a:avLst/>
          </a:prstGeom>
          <a:ln w="28575">
            <a:solidFill>
              <a:schemeClr val="accent6">
                <a:lumMod val="75000"/>
              </a:schemeClr>
            </a:solidFill>
          </a:ln>
        </p:spPr>
      </p:pic>
    </p:spTree>
    <p:extLst>
      <p:ext uri="{BB962C8B-B14F-4D97-AF65-F5344CB8AC3E}">
        <p14:creationId xmlns:p14="http://schemas.microsoft.com/office/powerpoint/2010/main" val="1989080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6C0B0-D3C6-0450-4FFA-4A902429009D}"/>
              </a:ext>
            </a:extLst>
          </p:cNvPr>
          <p:cNvSpPr>
            <a:spLocks noGrp="1"/>
          </p:cNvSpPr>
          <p:nvPr>
            <p:ph type="title"/>
          </p:nvPr>
        </p:nvSpPr>
        <p:spPr/>
        <p:txBody>
          <a:bodyPr>
            <a:normAutofit/>
          </a:bodyPr>
          <a:lstStyle/>
          <a:p>
            <a:r>
              <a:rPr lang="en-US" sz="5400" dirty="0"/>
              <a:t>F-test</a:t>
            </a:r>
          </a:p>
        </p:txBody>
      </p:sp>
      <p:sp>
        <p:nvSpPr>
          <p:cNvPr id="3" name="Content Placeholder 2">
            <a:extLst>
              <a:ext uri="{FF2B5EF4-FFF2-40B4-BE49-F238E27FC236}">
                <a16:creationId xmlns:a16="http://schemas.microsoft.com/office/drawing/2014/main" id="{59500EF2-7DC4-1866-26FD-CD190A5FE32E}"/>
              </a:ext>
            </a:extLst>
          </p:cNvPr>
          <p:cNvSpPr>
            <a:spLocks noGrp="1"/>
          </p:cNvSpPr>
          <p:nvPr>
            <p:ph idx="1"/>
          </p:nvPr>
        </p:nvSpPr>
        <p:spPr/>
        <p:txBody>
          <a:bodyPr>
            <a:normAutofit fontScale="92500" lnSpcReduction="20000"/>
          </a:bodyPr>
          <a:lstStyle/>
          <a:p>
            <a:pPr marL="0" indent="0">
              <a:buNone/>
            </a:pPr>
            <a:r>
              <a:rPr lang="en-US" b="1" dirty="0"/>
              <a:t>Tests if predictors, as a group, improve the model compared to a null model</a:t>
            </a:r>
          </a:p>
          <a:p>
            <a:r>
              <a:rPr lang="en-US" dirty="0"/>
              <a:t>When all the model coefficients are 0, the predictors in the model, considered as a group, are not associated with the response; i.e., the response variable is not associated with any linear combination of the predictors. </a:t>
            </a:r>
          </a:p>
          <a:p>
            <a:r>
              <a:rPr lang="en-US" dirty="0"/>
              <a:t>H</a:t>
            </a:r>
            <a:r>
              <a:rPr lang="en-US" baseline="-25000" dirty="0"/>
              <a:t>0</a:t>
            </a:r>
            <a:r>
              <a:rPr lang="en-US" dirty="0"/>
              <a:t>: β</a:t>
            </a:r>
            <a:r>
              <a:rPr lang="en-US" baseline="-25000" dirty="0"/>
              <a:t>1</a:t>
            </a:r>
            <a:r>
              <a:rPr lang="en-US" dirty="0"/>
              <a:t> = β</a:t>
            </a:r>
            <a:r>
              <a:rPr lang="en-US" baseline="-25000" dirty="0"/>
              <a:t>2</a:t>
            </a:r>
            <a:r>
              <a:rPr lang="en-US" dirty="0"/>
              <a:t> =···= β</a:t>
            </a:r>
            <a:r>
              <a:rPr lang="en-US" baseline="-25000" dirty="0"/>
              <a:t>p</a:t>
            </a:r>
            <a:r>
              <a:rPr lang="en-US" dirty="0"/>
              <a:t> = 0 against the alternative that at least one of the coefficients is </a:t>
            </a:r>
            <a:r>
              <a:rPr lang="en-US" b="1" dirty="0"/>
              <a:t>not</a:t>
            </a:r>
            <a:r>
              <a:rPr lang="en-US" dirty="0"/>
              <a:t> 0 </a:t>
            </a:r>
            <a:endParaRPr lang="en-US" dirty="0">
              <a:effectLst/>
            </a:endParaRPr>
          </a:p>
          <a:p>
            <a:r>
              <a:rPr lang="en-US" dirty="0"/>
              <a:t>A significant p-value for the F-statistic suggests that the predictor variables in the model, when considered as a group, are associated with the response variable</a:t>
            </a:r>
          </a:p>
          <a:p>
            <a:pPr lvl="1"/>
            <a:r>
              <a:rPr lang="en-US" dirty="0"/>
              <a:t>Mistake: assuming that if the null hypothesis of the F-test is rejected, all coefficients must be non-zero, instead of at least one. </a:t>
            </a:r>
          </a:p>
          <a:p>
            <a:pPr lvl="1"/>
            <a:endParaRPr lang="en-US" dirty="0"/>
          </a:p>
        </p:txBody>
      </p:sp>
      <p:pic>
        <p:nvPicPr>
          <p:cNvPr id="5" name="Picture 4">
            <a:extLst>
              <a:ext uri="{FF2B5EF4-FFF2-40B4-BE49-F238E27FC236}">
                <a16:creationId xmlns:a16="http://schemas.microsoft.com/office/drawing/2014/main" id="{41C801AE-D9AB-690A-A0A4-5CFEF41C3CA5}"/>
              </a:ext>
            </a:extLst>
          </p:cNvPr>
          <p:cNvPicPr>
            <a:picLocks noChangeAspect="1"/>
          </p:cNvPicPr>
          <p:nvPr/>
        </p:nvPicPr>
        <p:blipFill>
          <a:blip r:embed="rId2"/>
          <a:stretch>
            <a:fillRect/>
          </a:stretch>
        </p:blipFill>
        <p:spPr>
          <a:xfrm>
            <a:off x="9702426" y="230188"/>
            <a:ext cx="2146300" cy="1397000"/>
          </a:xfrm>
          <a:prstGeom prst="rect">
            <a:avLst/>
          </a:prstGeom>
          <a:ln w="28575">
            <a:solidFill>
              <a:schemeClr val="accent6">
                <a:lumMod val="75000"/>
              </a:schemeClr>
            </a:solidFill>
          </a:ln>
        </p:spPr>
      </p:pic>
    </p:spTree>
    <p:extLst>
      <p:ext uri="{BB962C8B-B14F-4D97-AF65-F5344CB8AC3E}">
        <p14:creationId xmlns:p14="http://schemas.microsoft.com/office/powerpoint/2010/main" val="13308473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0AD56-6A1C-8CB1-CA4E-AA670EBAF44D}"/>
              </a:ext>
            </a:extLst>
          </p:cNvPr>
          <p:cNvSpPr>
            <a:spLocks noGrp="1"/>
          </p:cNvSpPr>
          <p:nvPr>
            <p:ph type="title"/>
          </p:nvPr>
        </p:nvSpPr>
        <p:spPr/>
        <p:txBody>
          <a:bodyPr>
            <a:normAutofit/>
          </a:bodyPr>
          <a:lstStyle/>
          <a:p>
            <a:r>
              <a:rPr lang="en-US" sz="5400" dirty="0"/>
              <a:t>Explanatory Modeling</a:t>
            </a:r>
          </a:p>
        </p:txBody>
      </p:sp>
      <p:sp>
        <p:nvSpPr>
          <p:cNvPr id="3" name="Content Placeholder 2">
            <a:extLst>
              <a:ext uri="{FF2B5EF4-FFF2-40B4-BE49-F238E27FC236}">
                <a16:creationId xmlns:a16="http://schemas.microsoft.com/office/drawing/2014/main" id="{2CDEC22D-2B47-1306-3CCF-836E67D38947}"/>
              </a:ext>
            </a:extLst>
          </p:cNvPr>
          <p:cNvSpPr>
            <a:spLocks noGrp="1"/>
          </p:cNvSpPr>
          <p:nvPr>
            <p:ph idx="1"/>
          </p:nvPr>
        </p:nvSpPr>
        <p:spPr/>
        <p:txBody>
          <a:bodyPr>
            <a:normAutofit/>
          </a:bodyPr>
          <a:lstStyle/>
          <a:p>
            <a:r>
              <a:rPr lang="en-US" sz="3200" dirty="0"/>
              <a:t>Goal: construct a model that explains the observed variation in the response variable</a:t>
            </a:r>
          </a:p>
          <a:p>
            <a:r>
              <a:rPr lang="en-US" sz="3200" dirty="0"/>
              <a:t>No pre-specified primary predictor of interest; explanatory modeling is concerned with identifying predictors associated with the response. </a:t>
            </a:r>
          </a:p>
          <a:p>
            <a:r>
              <a:rPr lang="en-US" sz="3200" dirty="0"/>
              <a:t>Model selection in the context of a small set of potential predictors </a:t>
            </a:r>
          </a:p>
          <a:p>
            <a:r>
              <a:rPr lang="en-US" sz="3200" dirty="0"/>
              <a:t>This is a lot of what we do in ecology!</a:t>
            </a:r>
          </a:p>
          <a:p>
            <a:endParaRPr lang="en-US" sz="3200" dirty="0"/>
          </a:p>
        </p:txBody>
      </p:sp>
    </p:spTree>
    <p:extLst>
      <p:ext uri="{BB962C8B-B14F-4D97-AF65-F5344CB8AC3E}">
        <p14:creationId xmlns:p14="http://schemas.microsoft.com/office/powerpoint/2010/main" val="31379695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E4159-385A-39A6-21F0-280D2FBA29E1}"/>
              </a:ext>
            </a:extLst>
          </p:cNvPr>
          <p:cNvSpPr>
            <a:spLocks noGrp="1"/>
          </p:cNvSpPr>
          <p:nvPr>
            <p:ph type="title"/>
          </p:nvPr>
        </p:nvSpPr>
        <p:spPr/>
        <p:txBody>
          <a:bodyPr>
            <a:normAutofit/>
          </a:bodyPr>
          <a:lstStyle/>
          <a:p>
            <a:r>
              <a:rPr lang="en-US" sz="5400" dirty="0"/>
              <a:t>Example: Forest Birds</a:t>
            </a:r>
          </a:p>
        </p:txBody>
      </p:sp>
      <p:sp>
        <p:nvSpPr>
          <p:cNvPr id="3" name="Content Placeholder 2">
            <a:extLst>
              <a:ext uri="{FF2B5EF4-FFF2-40B4-BE49-F238E27FC236}">
                <a16:creationId xmlns:a16="http://schemas.microsoft.com/office/drawing/2014/main" id="{A38FB9FE-DCFD-9BC3-52CD-1C1F4DB577AB}"/>
              </a:ext>
            </a:extLst>
          </p:cNvPr>
          <p:cNvSpPr>
            <a:spLocks noGrp="1"/>
          </p:cNvSpPr>
          <p:nvPr>
            <p:ph idx="1"/>
          </p:nvPr>
        </p:nvSpPr>
        <p:spPr>
          <a:xfrm>
            <a:off x="838200" y="1825625"/>
            <a:ext cx="5952565" cy="4351338"/>
          </a:xfrm>
        </p:spPr>
        <p:txBody>
          <a:bodyPr>
            <a:normAutofit fontScale="85000" lnSpcReduction="20000"/>
          </a:bodyPr>
          <a:lstStyle/>
          <a:p>
            <a:pPr marL="0" indent="0">
              <a:buNone/>
            </a:pPr>
            <a:r>
              <a:rPr lang="en-US" sz="3200" dirty="0"/>
              <a:t>We are a group of researchers analyzing the effect of habitat fragmentation on bird abundance </a:t>
            </a:r>
          </a:p>
          <a:p>
            <a:r>
              <a:rPr lang="en-US" sz="3200" dirty="0"/>
              <a:t>Habitat fragmentation: process by which a large contiguous habitat  is divided into pieces which are smaller and more isolated </a:t>
            </a:r>
          </a:p>
          <a:p>
            <a:r>
              <a:rPr lang="en-US" sz="3200" dirty="0"/>
              <a:t>Smaller habitat patches place limits on the populations they can support, and this can reduce genetic diversity / population fitness</a:t>
            </a:r>
          </a:p>
          <a:p>
            <a:r>
              <a:rPr lang="en-US" sz="3200" dirty="0"/>
              <a:t>Are habitat factors associated with bird abundance?</a:t>
            </a:r>
          </a:p>
        </p:txBody>
      </p:sp>
      <p:pic>
        <p:nvPicPr>
          <p:cNvPr id="5" name="Picture 4">
            <a:extLst>
              <a:ext uri="{FF2B5EF4-FFF2-40B4-BE49-F238E27FC236}">
                <a16:creationId xmlns:a16="http://schemas.microsoft.com/office/drawing/2014/main" id="{8F27AD67-FD9C-B007-6FB9-A46020619644}"/>
              </a:ext>
            </a:extLst>
          </p:cNvPr>
          <p:cNvPicPr>
            <a:picLocks noChangeAspect="1"/>
          </p:cNvPicPr>
          <p:nvPr/>
        </p:nvPicPr>
        <p:blipFill>
          <a:blip r:embed="rId2"/>
          <a:stretch>
            <a:fillRect/>
          </a:stretch>
        </p:blipFill>
        <p:spPr>
          <a:xfrm>
            <a:off x="6790765" y="1825625"/>
            <a:ext cx="5202158" cy="3783387"/>
          </a:xfrm>
          <a:prstGeom prst="rect">
            <a:avLst/>
          </a:prstGeom>
        </p:spPr>
      </p:pic>
    </p:spTree>
    <p:extLst>
      <p:ext uri="{BB962C8B-B14F-4D97-AF65-F5344CB8AC3E}">
        <p14:creationId xmlns:p14="http://schemas.microsoft.com/office/powerpoint/2010/main" val="1585627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5B31E-2574-B2A5-A10F-50D0FC6853A7}"/>
              </a:ext>
            </a:extLst>
          </p:cNvPr>
          <p:cNvSpPr>
            <a:spLocks noGrp="1"/>
          </p:cNvSpPr>
          <p:nvPr>
            <p:ph type="title"/>
          </p:nvPr>
        </p:nvSpPr>
        <p:spPr/>
        <p:txBody>
          <a:bodyPr>
            <a:normAutofit/>
          </a:bodyPr>
          <a:lstStyle/>
          <a:p>
            <a:r>
              <a:rPr lang="en-US" sz="5400" dirty="0"/>
              <a:t>Example: Variables</a:t>
            </a:r>
          </a:p>
        </p:txBody>
      </p:sp>
      <p:sp>
        <p:nvSpPr>
          <p:cNvPr id="3" name="Content Placeholder 2">
            <a:extLst>
              <a:ext uri="{FF2B5EF4-FFF2-40B4-BE49-F238E27FC236}">
                <a16:creationId xmlns:a16="http://schemas.microsoft.com/office/drawing/2014/main" id="{F54B5462-6CD4-46BE-961A-46CF9AB9CFEF}"/>
              </a:ext>
            </a:extLst>
          </p:cNvPr>
          <p:cNvSpPr>
            <a:spLocks noGrp="1"/>
          </p:cNvSpPr>
          <p:nvPr>
            <p:ph idx="1"/>
          </p:nvPr>
        </p:nvSpPr>
        <p:spPr/>
        <p:txBody>
          <a:bodyPr>
            <a:normAutofit fontScale="85000" lnSpcReduction="20000"/>
          </a:bodyPr>
          <a:lstStyle/>
          <a:p>
            <a:r>
              <a:rPr lang="en-US" dirty="0"/>
              <a:t>abundance: average number of forest birds observed in the patch, as calculated from several independent 20-minute counting sessions. </a:t>
            </a:r>
          </a:p>
          <a:p>
            <a:r>
              <a:rPr lang="en-US" dirty="0"/>
              <a:t>patch area, measured in hectares. 1 hectare is 10,000 square meters and approximately 2.47 acres. </a:t>
            </a:r>
          </a:p>
          <a:p>
            <a:r>
              <a:rPr lang="en-US" dirty="0"/>
              <a:t>distance to the nearest patch, measured in kilometers. </a:t>
            </a:r>
          </a:p>
          <a:p>
            <a:r>
              <a:rPr lang="en-US" dirty="0"/>
              <a:t>distance to the nearest patch larger than the current patch, measured in kilometers. </a:t>
            </a:r>
          </a:p>
          <a:p>
            <a:r>
              <a:rPr lang="en-US" dirty="0"/>
              <a:t>patch altitude, measured in meters above sea level. </a:t>
            </a:r>
          </a:p>
          <a:p>
            <a:r>
              <a:rPr lang="en-US" dirty="0"/>
              <a:t>extent of livestock grazing, recorded as either "light", "less than average", "average", "moderately heavy", or "heavy". </a:t>
            </a:r>
          </a:p>
          <a:p>
            <a:r>
              <a:rPr lang="en-US" dirty="0"/>
              <a:t>year in which the patch became isolated due to habitat fragmentation. </a:t>
            </a:r>
          </a:p>
          <a:p>
            <a:r>
              <a:rPr lang="en-US" dirty="0"/>
              <a:t>number of years since patch became isolated due to habitat fragmentation </a:t>
            </a:r>
            <a:endParaRPr lang="en-US" dirty="0">
              <a:effectLst/>
            </a:endParaRPr>
          </a:p>
          <a:p>
            <a:endParaRPr lang="en-US" dirty="0"/>
          </a:p>
        </p:txBody>
      </p:sp>
    </p:spTree>
    <p:extLst>
      <p:ext uri="{BB962C8B-B14F-4D97-AF65-F5344CB8AC3E}">
        <p14:creationId xmlns:p14="http://schemas.microsoft.com/office/powerpoint/2010/main" val="38253369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6165B-564B-5553-4C6F-1936F908852C}"/>
              </a:ext>
            </a:extLst>
          </p:cNvPr>
          <p:cNvSpPr>
            <a:spLocks noGrp="1"/>
          </p:cNvSpPr>
          <p:nvPr>
            <p:ph type="title"/>
          </p:nvPr>
        </p:nvSpPr>
        <p:spPr/>
        <p:txBody>
          <a:bodyPr>
            <a:normAutofit/>
          </a:bodyPr>
          <a:lstStyle/>
          <a:p>
            <a:r>
              <a:rPr lang="en-US" sz="5400" dirty="0"/>
              <a:t>Data Exploration</a:t>
            </a:r>
          </a:p>
        </p:txBody>
      </p:sp>
      <p:pic>
        <p:nvPicPr>
          <p:cNvPr id="5" name="Content Placeholder 4">
            <a:extLst>
              <a:ext uri="{FF2B5EF4-FFF2-40B4-BE49-F238E27FC236}">
                <a16:creationId xmlns:a16="http://schemas.microsoft.com/office/drawing/2014/main" id="{84EAE345-A0B9-0315-278C-5BCC1A77A88E}"/>
              </a:ext>
            </a:extLst>
          </p:cNvPr>
          <p:cNvPicPr>
            <a:picLocks noGrp="1" noChangeAspect="1"/>
          </p:cNvPicPr>
          <p:nvPr>
            <p:ph idx="1"/>
          </p:nvPr>
        </p:nvPicPr>
        <p:blipFill>
          <a:blip r:embed="rId3"/>
          <a:stretch>
            <a:fillRect/>
          </a:stretch>
        </p:blipFill>
        <p:spPr>
          <a:xfrm>
            <a:off x="1574800" y="2102644"/>
            <a:ext cx="9042400" cy="3797300"/>
          </a:xfrm>
          <a:prstGeom prst="rect">
            <a:avLst/>
          </a:prstGeom>
          <a:ln w="28575">
            <a:solidFill>
              <a:schemeClr val="accent6">
                <a:lumMod val="75000"/>
              </a:schemeClr>
            </a:solidFill>
          </a:ln>
        </p:spPr>
      </p:pic>
    </p:spTree>
    <p:extLst>
      <p:ext uri="{BB962C8B-B14F-4D97-AF65-F5344CB8AC3E}">
        <p14:creationId xmlns:p14="http://schemas.microsoft.com/office/powerpoint/2010/main" val="8808450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BDD4E61-F193-8983-43E7-7A4DB91BF7E0}"/>
              </a:ext>
            </a:extLst>
          </p:cNvPr>
          <p:cNvPicPr>
            <a:picLocks noGrp="1" noChangeAspect="1"/>
          </p:cNvPicPr>
          <p:nvPr>
            <p:ph idx="1"/>
          </p:nvPr>
        </p:nvPicPr>
        <p:blipFill>
          <a:blip r:embed="rId3"/>
          <a:stretch>
            <a:fillRect/>
          </a:stretch>
        </p:blipFill>
        <p:spPr>
          <a:xfrm>
            <a:off x="0" y="0"/>
            <a:ext cx="7291926" cy="4351338"/>
          </a:xfrm>
          <a:prstGeom prst="rect">
            <a:avLst/>
          </a:prstGeom>
          <a:ln w="28575">
            <a:solidFill>
              <a:schemeClr val="accent6">
                <a:lumMod val="75000"/>
              </a:schemeClr>
            </a:solidFill>
          </a:ln>
        </p:spPr>
      </p:pic>
      <p:pic>
        <p:nvPicPr>
          <p:cNvPr id="7" name="Picture 6">
            <a:extLst>
              <a:ext uri="{FF2B5EF4-FFF2-40B4-BE49-F238E27FC236}">
                <a16:creationId xmlns:a16="http://schemas.microsoft.com/office/drawing/2014/main" id="{2E27B60B-467E-94CA-B871-C3855A9F13D2}"/>
              </a:ext>
            </a:extLst>
          </p:cNvPr>
          <p:cNvPicPr>
            <a:picLocks noChangeAspect="1"/>
          </p:cNvPicPr>
          <p:nvPr/>
        </p:nvPicPr>
        <p:blipFill>
          <a:blip r:embed="rId4"/>
          <a:stretch>
            <a:fillRect/>
          </a:stretch>
        </p:blipFill>
        <p:spPr>
          <a:xfrm>
            <a:off x="6006918" y="3249399"/>
            <a:ext cx="6185082" cy="3608601"/>
          </a:xfrm>
          <a:prstGeom prst="rect">
            <a:avLst/>
          </a:prstGeom>
          <a:ln w="28575">
            <a:solidFill>
              <a:schemeClr val="accent6">
                <a:lumMod val="75000"/>
              </a:schemeClr>
            </a:solidFill>
          </a:ln>
        </p:spPr>
      </p:pic>
    </p:spTree>
    <p:extLst>
      <p:ext uri="{BB962C8B-B14F-4D97-AF65-F5344CB8AC3E}">
        <p14:creationId xmlns:p14="http://schemas.microsoft.com/office/powerpoint/2010/main" val="21022727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4184DED-AC3C-D1E8-26C8-E0A9EF16FDAD}"/>
              </a:ext>
            </a:extLst>
          </p:cNvPr>
          <p:cNvPicPr>
            <a:picLocks noGrp="1" noChangeAspect="1"/>
          </p:cNvPicPr>
          <p:nvPr>
            <p:ph idx="1"/>
          </p:nvPr>
        </p:nvPicPr>
        <p:blipFill>
          <a:blip r:embed="rId3"/>
          <a:stretch>
            <a:fillRect/>
          </a:stretch>
        </p:blipFill>
        <p:spPr>
          <a:xfrm>
            <a:off x="4815792" y="0"/>
            <a:ext cx="7376208" cy="6858000"/>
          </a:xfrm>
          <a:prstGeom prst="rect">
            <a:avLst/>
          </a:prstGeom>
        </p:spPr>
      </p:pic>
      <p:pic>
        <p:nvPicPr>
          <p:cNvPr id="7" name="Picture 6">
            <a:extLst>
              <a:ext uri="{FF2B5EF4-FFF2-40B4-BE49-F238E27FC236}">
                <a16:creationId xmlns:a16="http://schemas.microsoft.com/office/drawing/2014/main" id="{8B5FD5DB-27C1-EECC-DA44-C2D8EC4BCDF8}"/>
              </a:ext>
            </a:extLst>
          </p:cNvPr>
          <p:cNvPicPr>
            <a:picLocks noChangeAspect="1"/>
          </p:cNvPicPr>
          <p:nvPr/>
        </p:nvPicPr>
        <p:blipFill>
          <a:blip r:embed="rId4"/>
          <a:stretch>
            <a:fillRect/>
          </a:stretch>
        </p:blipFill>
        <p:spPr>
          <a:xfrm>
            <a:off x="288149" y="4316506"/>
            <a:ext cx="8430028" cy="1604047"/>
          </a:xfrm>
          <a:prstGeom prst="rect">
            <a:avLst/>
          </a:prstGeom>
          <a:ln w="28575">
            <a:solidFill>
              <a:schemeClr val="accent6">
                <a:lumMod val="75000"/>
              </a:schemeClr>
            </a:solidFill>
          </a:ln>
        </p:spPr>
      </p:pic>
      <p:sp>
        <p:nvSpPr>
          <p:cNvPr id="8" name="TextBox 7">
            <a:extLst>
              <a:ext uri="{FF2B5EF4-FFF2-40B4-BE49-F238E27FC236}">
                <a16:creationId xmlns:a16="http://schemas.microsoft.com/office/drawing/2014/main" id="{B7BC4535-00BD-5F80-196B-833C188F88A5}"/>
              </a:ext>
            </a:extLst>
          </p:cNvPr>
          <p:cNvSpPr txBox="1"/>
          <p:nvPr/>
        </p:nvSpPr>
        <p:spPr>
          <a:xfrm>
            <a:off x="766482" y="1120676"/>
            <a:ext cx="3309721" cy="2308324"/>
          </a:xfrm>
          <a:prstGeom prst="rect">
            <a:avLst/>
          </a:prstGeom>
          <a:noFill/>
        </p:spPr>
        <p:txBody>
          <a:bodyPr wrap="square" rtlCol="0">
            <a:spAutoFit/>
          </a:bodyPr>
          <a:lstStyle/>
          <a:p>
            <a:r>
              <a:rPr lang="en-US" sz="3600" dirty="0"/>
              <a:t>Data Exploration: Choosing your variables</a:t>
            </a:r>
          </a:p>
        </p:txBody>
      </p:sp>
    </p:spTree>
    <p:extLst>
      <p:ext uri="{BB962C8B-B14F-4D97-AF65-F5344CB8AC3E}">
        <p14:creationId xmlns:p14="http://schemas.microsoft.com/office/powerpoint/2010/main" val="25732045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EFF83-F32F-17C8-826C-ED5C6CBF5442}"/>
              </a:ext>
            </a:extLst>
          </p:cNvPr>
          <p:cNvSpPr>
            <a:spLocks noGrp="1"/>
          </p:cNvSpPr>
          <p:nvPr>
            <p:ph type="title"/>
          </p:nvPr>
        </p:nvSpPr>
        <p:spPr/>
        <p:txBody>
          <a:bodyPr>
            <a:normAutofit/>
          </a:bodyPr>
          <a:lstStyle/>
          <a:p>
            <a:r>
              <a:rPr lang="en-US" sz="5400" dirty="0"/>
              <a:t>Initial Model</a:t>
            </a:r>
          </a:p>
        </p:txBody>
      </p:sp>
      <p:pic>
        <p:nvPicPr>
          <p:cNvPr id="5" name="Content Placeholder 4">
            <a:extLst>
              <a:ext uri="{FF2B5EF4-FFF2-40B4-BE49-F238E27FC236}">
                <a16:creationId xmlns:a16="http://schemas.microsoft.com/office/drawing/2014/main" id="{2935E679-D99A-D7FF-4503-C0B53FED899A}"/>
              </a:ext>
            </a:extLst>
          </p:cNvPr>
          <p:cNvPicPr>
            <a:picLocks noGrp="1" noChangeAspect="1"/>
          </p:cNvPicPr>
          <p:nvPr>
            <p:ph idx="1"/>
          </p:nvPr>
        </p:nvPicPr>
        <p:blipFill>
          <a:blip r:embed="rId3"/>
          <a:stretch>
            <a:fillRect/>
          </a:stretch>
        </p:blipFill>
        <p:spPr>
          <a:xfrm>
            <a:off x="1140563" y="1922555"/>
            <a:ext cx="10213237" cy="3362512"/>
          </a:xfrm>
          <a:prstGeom prst="rect">
            <a:avLst/>
          </a:prstGeom>
          <a:ln w="38100">
            <a:solidFill>
              <a:schemeClr val="accent6">
                <a:lumMod val="75000"/>
              </a:schemeClr>
            </a:solidFill>
          </a:ln>
        </p:spPr>
      </p:pic>
      <p:sp>
        <p:nvSpPr>
          <p:cNvPr id="6" name="TextBox 5">
            <a:extLst>
              <a:ext uri="{FF2B5EF4-FFF2-40B4-BE49-F238E27FC236}">
                <a16:creationId xmlns:a16="http://schemas.microsoft.com/office/drawing/2014/main" id="{456F44C4-9AD2-206A-FD82-61F4706610DD}"/>
              </a:ext>
            </a:extLst>
          </p:cNvPr>
          <p:cNvSpPr txBox="1"/>
          <p:nvPr/>
        </p:nvSpPr>
        <p:spPr>
          <a:xfrm>
            <a:off x="1658745" y="5516934"/>
            <a:ext cx="9176871" cy="738664"/>
          </a:xfrm>
          <a:prstGeom prst="rect">
            <a:avLst/>
          </a:prstGeom>
          <a:noFill/>
        </p:spPr>
        <p:txBody>
          <a:bodyPr wrap="none" rtlCol="0">
            <a:spAutoFit/>
          </a:bodyPr>
          <a:lstStyle/>
          <a:p>
            <a:r>
              <a:rPr lang="en-US" sz="2400" dirty="0"/>
              <a:t>R2 and adjusted R2 for this model are, respectively, 0.728 and 0.688 </a:t>
            </a:r>
          </a:p>
          <a:p>
            <a:endParaRPr lang="en-US" dirty="0"/>
          </a:p>
        </p:txBody>
      </p:sp>
    </p:spTree>
    <p:extLst>
      <p:ext uri="{BB962C8B-B14F-4D97-AF65-F5344CB8AC3E}">
        <p14:creationId xmlns:p14="http://schemas.microsoft.com/office/powerpoint/2010/main" val="41760164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99507-398C-D26F-F44B-D9B62BE75470}"/>
              </a:ext>
            </a:extLst>
          </p:cNvPr>
          <p:cNvSpPr>
            <a:spLocks noGrp="1"/>
          </p:cNvSpPr>
          <p:nvPr>
            <p:ph type="title"/>
          </p:nvPr>
        </p:nvSpPr>
        <p:spPr/>
        <p:txBody>
          <a:bodyPr>
            <a:normAutofit/>
          </a:bodyPr>
          <a:lstStyle/>
          <a:p>
            <a:r>
              <a:rPr lang="en-US" sz="5400" dirty="0"/>
              <a:t>Model Comparison</a:t>
            </a:r>
          </a:p>
        </p:txBody>
      </p:sp>
      <p:pic>
        <p:nvPicPr>
          <p:cNvPr id="5" name="Content Placeholder 4">
            <a:extLst>
              <a:ext uri="{FF2B5EF4-FFF2-40B4-BE49-F238E27FC236}">
                <a16:creationId xmlns:a16="http://schemas.microsoft.com/office/drawing/2014/main" id="{FD196D59-EBB7-49DA-A571-6E758201E0AF}"/>
              </a:ext>
            </a:extLst>
          </p:cNvPr>
          <p:cNvPicPr>
            <a:picLocks noGrp="1" noChangeAspect="1"/>
          </p:cNvPicPr>
          <p:nvPr>
            <p:ph idx="1"/>
          </p:nvPr>
        </p:nvPicPr>
        <p:blipFill>
          <a:blip r:embed="rId3"/>
          <a:stretch>
            <a:fillRect/>
          </a:stretch>
        </p:blipFill>
        <p:spPr>
          <a:xfrm>
            <a:off x="572247" y="1887864"/>
            <a:ext cx="8331200" cy="2209800"/>
          </a:xfrm>
          <a:prstGeom prst="rect">
            <a:avLst/>
          </a:prstGeom>
          <a:ln w="28575">
            <a:solidFill>
              <a:schemeClr val="accent6">
                <a:lumMod val="75000"/>
              </a:schemeClr>
            </a:solidFill>
          </a:ln>
        </p:spPr>
      </p:pic>
      <p:sp>
        <p:nvSpPr>
          <p:cNvPr id="6" name="TextBox 5">
            <a:extLst>
              <a:ext uri="{FF2B5EF4-FFF2-40B4-BE49-F238E27FC236}">
                <a16:creationId xmlns:a16="http://schemas.microsoft.com/office/drawing/2014/main" id="{9FEE7139-090B-21BD-07F7-6EF9ECBAE27B}"/>
              </a:ext>
            </a:extLst>
          </p:cNvPr>
          <p:cNvSpPr txBox="1"/>
          <p:nvPr/>
        </p:nvSpPr>
        <p:spPr>
          <a:xfrm>
            <a:off x="9169400" y="2084823"/>
            <a:ext cx="2450353" cy="1815882"/>
          </a:xfrm>
          <a:prstGeom prst="rect">
            <a:avLst/>
          </a:prstGeom>
          <a:noFill/>
        </p:spPr>
        <p:txBody>
          <a:bodyPr wrap="square" rtlCol="0">
            <a:spAutoFit/>
          </a:bodyPr>
          <a:lstStyle/>
          <a:p>
            <a:r>
              <a:rPr lang="en-US" sz="2800" dirty="0"/>
              <a:t>R</a:t>
            </a:r>
            <a:r>
              <a:rPr lang="en-US" sz="2800" baseline="30000" dirty="0"/>
              <a:t>2</a:t>
            </a:r>
            <a:r>
              <a:rPr lang="en-US" sz="2800" dirty="0"/>
              <a:t> = 0.727, adjusted R</a:t>
            </a:r>
            <a:r>
              <a:rPr lang="en-US" sz="2800" baseline="30000" dirty="0"/>
              <a:t>2 </a:t>
            </a:r>
            <a:r>
              <a:rPr lang="en-US" sz="2800" dirty="0"/>
              <a:t>= 0.70 </a:t>
            </a:r>
          </a:p>
          <a:p>
            <a:endParaRPr lang="en-US" sz="2800" dirty="0"/>
          </a:p>
        </p:txBody>
      </p:sp>
      <p:pic>
        <p:nvPicPr>
          <p:cNvPr id="9" name="Picture 8">
            <a:extLst>
              <a:ext uri="{FF2B5EF4-FFF2-40B4-BE49-F238E27FC236}">
                <a16:creationId xmlns:a16="http://schemas.microsoft.com/office/drawing/2014/main" id="{6BAE4564-12A6-7CF8-0E51-B68DD141EC2D}"/>
              </a:ext>
            </a:extLst>
          </p:cNvPr>
          <p:cNvPicPr>
            <a:picLocks noChangeAspect="1"/>
          </p:cNvPicPr>
          <p:nvPr/>
        </p:nvPicPr>
        <p:blipFill>
          <a:blip r:embed="rId4"/>
          <a:stretch>
            <a:fillRect/>
          </a:stretch>
        </p:blipFill>
        <p:spPr>
          <a:xfrm>
            <a:off x="491168" y="4491799"/>
            <a:ext cx="8678232" cy="1748599"/>
          </a:xfrm>
          <a:prstGeom prst="rect">
            <a:avLst/>
          </a:prstGeom>
          <a:ln w="28575">
            <a:solidFill>
              <a:schemeClr val="accent6">
                <a:lumMod val="75000"/>
              </a:schemeClr>
            </a:solidFill>
          </a:ln>
        </p:spPr>
      </p:pic>
      <p:sp>
        <p:nvSpPr>
          <p:cNvPr id="10" name="TextBox 9">
            <a:extLst>
              <a:ext uri="{FF2B5EF4-FFF2-40B4-BE49-F238E27FC236}">
                <a16:creationId xmlns:a16="http://schemas.microsoft.com/office/drawing/2014/main" id="{C53EECDD-BD1B-9655-C063-C690828E4B1C}"/>
              </a:ext>
            </a:extLst>
          </p:cNvPr>
          <p:cNvSpPr txBox="1"/>
          <p:nvPr/>
        </p:nvSpPr>
        <p:spPr>
          <a:xfrm>
            <a:off x="9442823" y="4676993"/>
            <a:ext cx="2450353" cy="1815882"/>
          </a:xfrm>
          <a:prstGeom prst="rect">
            <a:avLst/>
          </a:prstGeom>
          <a:noFill/>
        </p:spPr>
        <p:txBody>
          <a:bodyPr wrap="square" rtlCol="0">
            <a:spAutoFit/>
          </a:bodyPr>
          <a:lstStyle/>
          <a:p>
            <a:r>
              <a:rPr lang="en-US" sz="2800" dirty="0"/>
              <a:t>R</a:t>
            </a:r>
            <a:r>
              <a:rPr lang="en-US" sz="2800" baseline="30000" dirty="0"/>
              <a:t>2</a:t>
            </a:r>
            <a:r>
              <a:rPr lang="en-US" sz="2800" dirty="0"/>
              <a:t> = 0.724, adjusted R</a:t>
            </a:r>
            <a:r>
              <a:rPr lang="en-US" sz="2800" baseline="30000" dirty="0"/>
              <a:t>2 </a:t>
            </a:r>
            <a:r>
              <a:rPr lang="en-US" sz="2800" dirty="0"/>
              <a:t>= 0.71 </a:t>
            </a:r>
          </a:p>
          <a:p>
            <a:endParaRPr lang="en-US" sz="2800" dirty="0"/>
          </a:p>
        </p:txBody>
      </p:sp>
    </p:spTree>
    <p:extLst>
      <p:ext uri="{BB962C8B-B14F-4D97-AF65-F5344CB8AC3E}">
        <p14:creationId xmlns:p14="http://schemas.microsoft.com/office/powerpoint/2010/main" val="1885714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B80FE-E392-9C7D-0EAC-2610E8E1D63C}"/>
              </a:ext>
            </a:extLst>
          </p:cNvPr>
          <p:cNvSpPr>
            <a:spLocks noGrp="1"/>
          </p:cNvSpPr>
          <p:nvPr>
            <p:ph type="title"/>
          </p:nvPr>
        </p:nvSpPr>
        <p:spPr/>
        <p:txBody>
          <a:bodyPr>
            <a:normAutofit/>
          </a:bodyPr>
          <a:lstStyle/>
          <a:p>
            <a:r>
              <a:rPr lang="en-US" sz="5400" dirty="0"/>
              <a:t>Evaluation</a:t>
            </a:r>
          </a:p>
        </p:txBody>
      </p:sp>
      <p:sp>
        <p:nvSpPr>
          <p:cNvPr id="3" name="Content Placeholder 2">
            <a:extLst>
              <a:ext uri="{FF2B5EF4-FFF2-40B4-BE49-F238E27FC236}">
                <a16:creationId xmlns:a16="http://schemas.microsoft.com/office/drawing/2014/main" id="{E5472898-885B-0CFA-421D-C4199A702D4C}"/>
              </a:ext>
            </a:extLst>
          </p:cNvPr>
          <p:cNvSpPr>
            <a:spLocks noGrp="1"/>
          </p:cNvSpPr>
          <p:nvPr>
            <p:ph idx="1"/>
          </p:nvPr>
        </p:nvSpPr>
        <p:spPr>
          <a:xfrm>
            <a:off x="289113" y="1736441"/>
            <a:ext cx="5170394" cy="4351338"/>
          </a:xfrm>
        </p:spPr>
        <p:txBody>
          <a:bodyPr/>
          <a:lstStyle/>
          <a:p>
            <a:pPr marL="0" indent="0">
              <a:buNone/>
            </a:pPr>
            <a:r>
              <a:rPr lang="en-US" dirty="0"/>
              <a:t>Histogram and normal probability plot of the residuals </a:t>
            </a:r>
          </a:p>
          <a:p>
            <a:pPr marL="0" indent="0">
              <a:buNone/>
            </a:pPr>
            <a:r>
              <a:rPr lang="en-US" dirty="0"/>
              <a:t>Residual values closer to 0 are indicative of a more accurate prediction</a:t>
            </a:r>
          </a:p>
          <a:p>
            <a:r>
              <a:rPr lang="en-US" dirty="0"/>
              <a:t>Positive values occur when the predicted value from the model is smaller than the observed value</a:t>
            </a:r>
          </a:p>
          <a:p>
            <a:r>
              <a:rPr lang="en-US" dirty="0"/>
              <a:t>Vice versa for negative values </a:t>
            </a:r>
          </a:p>
        </p:txBody>
      </p:sp>
      <p:pic>
        <p:nvPicPr>
          <p:cNvPr id="5" name="Picture 4">
            <a:extLst>
              <a:ext uri="{FF2B5EF4-FFF2-40B4-BE49-F238E27FC236}">
                <a16:creationId xmlns:a16="http://schemas.microsoft.com/office/drawing/2014/main" id="{3C28556C-DA35-E98C-19D9-ADA54F34839D}"/>
              </a:ext>
            </a:extLst>
          </p:cNvPr>
          <p:cNvPicPr>
            <a:picLocks noChangeAspect="1"/>
          </p:cNvPicPr>
          <p:nvPr/>
        </p:nvPicPr>
        <p:blipFill>
          <a:blip r:embed="rId3"/>
          <a:stretch>
            <a:fillRect/>
          </a:stretch>
        </p:blipFill>
        <p:spPr>
          <a:xfrm>
            <a:off x="5580528" y="161366"/>
            <a:ext cx="6524065" cy="3211222"/>
          </a:xfrm>
          <a:prstGeom prst="rect">
            <a:avLst/>
          </a:prstGeom>
          <a:ln w="28575">
            <a:solidFill>
              <a:schemeClr val="accent6">
                <a:lumMod val="75000"/>
              </a:schemeClr>
            </a:solidFill>
          </a:ln>
        </p:spPr>
      </p:pic>
      <p:pic>
        <p:nvPicPr>
          <p:cNvPr id="7" name="Picture 6">
            <a:extLst>
              <a:ext uri="{FF2B5EF4-FFF2-40B4-BE49-F238E27FC236}">
                <a16:creationId xmlns:a16="http://schemas.microsoft.com/office/drawing/2014/main" id="{8B3FBCF9-E89B-B213-F03D-D6592C5DCC3F}"/>
              </a:ext>
            </a:extLst>
          </p:cNvPr>
          <p:cNvPicPr>
            <a:picLocks noChangeAspect="1"/>
          </p:cNvPicPr>
          <p:nvPr/>
        </p:nvPicPr>
        <p:blipFill>
          <a:blip r:embed="rId4"/>
          <a:stretch>
            <a:fillRect/>
          </a:stretch>
        </p:blipFill>
        <p:spPr>
          <a:xfrm>
            <a:off x="5580528" y="3372588"/>
            <a:ext cx="6524065" cy="3375093"/>
          </a:xfrm>
          <a:prstGeom prst="rect">
            <a:avLst/>
          </a:prstGeom>
          <a:ln w="28575">
            <a:solidFill>
              <a:schemeClr val="accent6">
                <a:lumMod val="75000"/>
              </a:schemeClr>
            </a:solidFill>
          </a:ln>
        </p:spPr>
      </p:pic>
    </p:spTree>
    <p:extLst>
      <p:ext uri="{BB962C8B-B14F-4D97-AF65-F5344CB8AC3E}">
        <p14:creationId xmlns:p14="http://schemas.microsoft.com/office/powerpoint/2010/main" val="3282033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6E2F2-994E-CC39-EEC2-FC665A633E7A}"/>
              </a:ext>
            </a:extLst>
          </p:cNvPr>
          <p:cNvSpPr>
            <a:spLocks noGrp="1"/>
          </p:cNvSpPr>
          <p:nvPr>
            <p:ph type="title"/>
          </p:nvPr>
        </p:nvSpPr>
        <p:spPr/>
        <p:txBody>
          <a:bodyPr>
            <a:normAutofit/>
          </a:bodyPr>
          <a:lstStyle/>
          <a:p>
            <a:r>
              <a:rPr lang="en-US" sz="5400" dirty="0"/>
              <a:t>Forest Birds Conclusion:</a:t>
            </a:r>
          </a:p>
        </p:txBody>
      </p:sp>
      <p:sp>
        <p:nvSpPr>
          <p:cNvPr id="3" name="Content Placeholder 2">
            <a:extLst>
              <a:ext uri="{FF2B5EF4-FFF2-40B4-BE49-F238E27FC236}">
                <a16:creationId xmlns:a16="http://schemas.microsoft.com/office/drawing/2014/main" id="{80390CFB-775B-8613-FB4E-92A439EA1270}"/>
              </a:ext>
            </a:extLst>
          </p:cNvPr>
          <p:cNvSpPr>
            <a:spLocks noGrp="1"/>
          </p:cNvSpPr>
          <p:nvPr>
            <p:ph idx="1"/>
          </p:nvPr>
        </p:nvSpPr>
        <p:spPr/>
        <p:txBody>
          <a:bodyPr>
            <a:normAutofit fontScale="92500"/>
          </a:bodyPr>
          <a:lstStyle/>
          <a:p>
            <a:r>
              <a:rPr lang="en-US" dirty="0"/>
              <a:t>R</a:t>
            </a:r>
            <a:r>
              <a:rPr lang="en-US" baseline="30000" dirty="0"/>
              <a:t>2</a:t>
            </a:r>
            <a:r>
              <a:rPr lang="en-US" dirty="0"/>
              <a:t> for the final model (0.72) suggests that patch area and extent of grazing explain a large amount of the observed variability in bird abundance </a:t>
            </a:r>
          </a:p>
          <a:p>
            <a:r>
              <a:rPr lang="en-US" dirty="0"/>
              <a:t>Residual plots: model may not be particularly accurate</a:t>
            </a:r>
          </a:p>
          <a:p>
            <a:pPr lvl="1"/>
            <a:r>
              <a:rPr lang="en-US" dirty="0"/>
              <a:t>Some over/under predictions</a:t>
            </a:r>
          </a:p>
          <a:p>
            <a:pPr lvl="1"/>
            <a:r>
              <a:rPr lang="en-US" dirty="0"/>
              <a:t>Accurate and inaccurate predictions occur at similar ranges of of area </a:t>
            </a:r>
          </a:p>
          <a:p>
            <a:pPr lvl="1"/>
            <a:r>
              <a:rPr lang="en-US" dirty="0"/>
              <a:t>If it was only inaccurate at a specific range, (i.e., small patches), it would be possible to provide clearer advice about when the model is unreliable. </a:t>
            </a:r>
          </a:p>
          <a:p>
            <a:pPr lvl="1"/>
            <a:r>
              <a:rPr lang="en-US" dirty="0"/>
              <a:t>Residual plots suggest model is more reliable for patches with heavy grazing </a:t>
            </a:r>
          </a:p>
          <a:p>
            <a:r>
              <a:rPr lang="en-US" dirty="0"/>
              <a:t>Based on these results, the ecologists might decide to proceed by collecting more data </a:t>
            </a:r>
          </a:p>
          <a:p>
            <a:endParaRPr lang="en-US" dirty="0"/>
          </a:p>
        </p:txBody>
      </p:sp>
      <p:pic>
        <p:nvPicPr>
          <p:cNvPr id="5" name="Picture 4">
            <a:extLst>
              <a:ext uri="{FF2B5EF4-FFF2-40B4-BE49-F238E27FC236}">
                <a16:creationId xmlns:a16="http://schemas.microsoft.com/office/drawing/2014/main" id="{9752BD44-11E4-5FC1-C437-57C142381B29}"/>
              </a:ext>
            </a:extLst>
          </p:cNvPr>
          <p:cNvPicPr>
            <a:picLocks noChangeAspect="1"/>
          </p:cNvPicPr>
          <p:nvPr/>
        </p:nvPicPr>
        <p:blipFill>
          <a:blip r:embed="rId2"/>
          <a:stretch>
            <a:fillRect/>
          </a:stretch>
        </p:blipFill>
        <p:spPr>
          <a:xfrm>
            <a:off x="9841753" y="96884"/>
            <a:ext cx="2057507" cy="1862044"/>
          </a:xfrm>
          <a:prstGeom prst="rect">
            <a:avLst/>
          </a:prstGeom>
        </p:spPr>
      </p:pic>
    </p:spTree>
    <p:extLst>
      <p:ext uri="{BB962C8B-B14F-4D97-AF65-F5344CB8AC3E}">
        <p14:creationId xmlns:p14="http://schemas.microsoft.com/office/powerpoint/2010/main" val="34280114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E9E78-5989-AC9D-1CC5-2218220FC404}"/>
              </a:ext>
            </a:extLst>
          </p:cNvPr>
          <p:cNvSpPr>
            <a:spLocks noGrp="1"/>
          </p:cNvSpPr>
          <p:nvPr>
            <p:ph type="title"/>
          </p:nvPr>
        </p:nvSpPr>
        <p:spPr/>
        <p:txBody>
          <a:bodyPr>
            <a:normAutofit/>
          </a:bodyPr>
          <a:lstStyle/>
          <a:p>
            <a:r>
              <a:rPr lang="en-US" sz="5400" dirty="0"/>
              <a:t>Why It Matters in Ecology</a:t>
            </a:r>
          </a:p>
        </p:txBody>
      </p:sp>
      <p:sp>
        <p:nvSpPr>
          <p:cNvPr id="3" name="Content Placeholder 2">
            <a:extLst>
              <a:ext uri="{FF2B5EF4-FFF2-40B4-BE49-F238E27FC236}">
                <a16:creationId xmlns:a16="http://schemas.microsoft.com/office/drawing/2014/main" id="{641E1ED1-5D03-6FC5-DED4-5F3072407E87}"/>
              </a:ext>
            </a:extLst>
          </p:cNvPr>
          <p:cNvSpPr>
            <a:spLocks noGrp="1"/>
          </p:cNvSpPr>
          <p:nvPr>
            <p:ph idx="1"/>
          </p:nvPr>
        </p:nvSpPr>
        <p:spPr/>
        <p:txBody>
          <a:bodyPr>
            <a:normAutofit lnSpcReduction="10000"/>
          </a:bodyPr>
          <a:lstStyle/>
          <a:p>
            <a:pPr marL="0" lvl="0" indent="0">
              <a:buNone/>
            </a:pPr>
            <a:r>
              <a:rPr lang="en-US" sz="3600" dirty="0"/>
              <a:t>Ecological responses are rarely driven by a single factor</a:t>
            </a:r>
          </a:p>
          <a:p>
            <a:pPr marL="0" lvl="0" indent="0">
              <a:buNone/>
            </a:pPr>
            <a:r>
              <a:rPr lang="en-US" sz="3600" dirty="0"/>
              <a:t>Multiple regression allows researchers to:</a:t>
            </a:r>
          </a:p>
          <a:p>
            <a:pPr lvl="0"/>
            <a:r>
              <a:rPr lang="en-US" sz="3600" dirty="0"/>
              <a:t>Partition effects among multiple drivers</a:t>
            </a:r>
          </a:p>
          <a:p>
            <a:pPr lvl="0"/>
            <a:r>
              <a:rPr lang="en-US" sz="3600" dirty="0"/>
              <a:t>Control for confounding variables</a:t>
            </a:r>
          </a:p>
          <a:p>
            <a:pPr lvl="0"/>
            <a:r>
              <a:rPr lang="en-US" sz="3600" dirty="0"/>
              <a:t>Test mechanistic hypotheses (e.g., productivity–diversity relationships while accounting for habitat area)</a:t>
            </a:r>
          </a:p>
          <a:p>
            <a:endParaRPr lang="en-US" sz="3600" dirty="0"/>
          </a:p>
        </p:txBody>
      </p:sp>
      <p:pic>
        <p:nvPicPr>
          <p:cNvPr id="5" name="Picture 4">
            <a:extLst>
              <a:ext uri="{FF2B5EF4-FFF2-40B4-BE49-F238E27FC236}">
                <a16:creationId xmlns:a16="http://schemas.microsoft.com/office/drawing/2014/main" id="{C401D07B-C929-42AF-A481-B63BA294B9E3}"/>
              </a:ext>
            </a:extLst>
          </p:cNvPr>
          <p:cNvPicPr>
            <a:picLocks noChangeAspect="1"/>
          </p:cNvPicPr>
          <p:nvPr/>
        </p:nvPicPr>
        <p:blipFill>
          <a:blip r:embed="rId2"/>
          <a:stretch>
            <a:fillRect/>
          </a:stretch>
        </p:blipFill>
        <p:spPr>
          <a:xfrm>
            <a:off x="9829800" y="2159000"/>
            <a:ext cx="2362200" cy="2540000"/>
          </a:xfrm>
          <a:prstGeom prst="rect">
            <a:avLst/>
          </a:prstGeom>
        </p:spPr>
      </p:pic>
    </p:spTree>
    <p:extLst>
      <p:ext uri="{BB962C8B-B14F-4D97-AF65-F5344CB8AC3E}">
        <p14:creationId xmlns:p14="http://schemas.microsoft.com/office/powerpoint/2010/main" val="26840430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E843E-2807-EBEA-05DE-D2C1FCB5A58C}"/>
              </a:ext>
            </a:extLst>
          </p:cNvPr>
          <p:cNvSpPr>
            <a:spLocks noGrp="1"/>
          </p:cNvSpPr>
          <p:nvPr>
            <p:ph type="title"/>
          </p:nvPr>
        </p:nvSpPr>
        <p:spPr/>
        <p:txBody>
          <a:bodyPr/>
          <a:lstStyle/>
          <a:p>
            <a:r>
              <a:rPr lang="en-US" dirty="0"/>
              <a:t>Bonus: what if you applied different classes of pesticide?</a:t>
            </a:r>
          </a:p>
        </p:txBody>
      </p:sp>
      <p:sp>
        <p:nvSpPr>
          <p:cNvPr id="3" name="Content Placeholder 2">
            <a:extLst>
              <a:ext uri="{FF2B5EF4-FFF2-40B4-BE49-F238E27FC236}">
                <a16:creationId xmlns:a16="http://schemas.microsoft.com/office/drawing/2014/main" id="{8F03C9C8-41B6-B8B9-EF3B-4AFBBD2E8D54}"/>
              </a:ext>
            </a:extLst>
          </p:cNvPr>
          <p:cNvSpPr>
            <a:spLocks noGrp="1"/>
          </p:cNvSpPr>
          <p:nvPr>
            <p:ph idx="1"/>
          </p:nvPr>
        </p:nvSpPr>
        <p:spPr/>
        <p:txBody>
          <a:bodyPr/>
          <a:lstStyle/>
          <a:p>
            <a:r>
              <a:rPr lang="en-US" dirty="0"/>
              <a:t>Code pesticide class as 0 (no pesticide) 1 (herbal repellent) 2 (weak chemical) 3 (strong chemical)</a:t>
            </a:r>
          </a:p>
          <a:p>
            <a:r>
              <a:rPr lang="en-US" dirty="0"/>
              <a:t>Each of the predictor levels can be thought of as binary variables that can take on either 0 or 1, where only one level at most can be a 1 and the rest must be 0, with 1 corresponding to the category of interest</a:t>
            </a:r>
            <a:endParaRPr lang="en-US" dirty="0">
              <a:effectLst/>
            </a:endParaRPr>
          </a:p>
          <a:p>
            <a:r>
              <a:rPr lang="en-US" dirty="0"/>
              <a:t>RFFT = 40.94 + 14.78(1) + 32.13(0) + 44.96(0) = 55.72.</a:t>
            </a:r>
            <a:br>
              <a:rPr lang="en-US" dirty="0"/>
            </a:br>
            <a:endParaRPr lang="en-US" dirty="0">
              <a:effectLst/>
            </a:endParaRPr>
          </a:p>
          <a:p>
            <a:endParaRPr lang="en-US" dirty="0"/>
          </a:p>
        </p:txBody>
      </p:sp>
      <p:pic>
        <p:nvPicPr>
          <p:cNvPr id="5" name="Picture 4">
            <a:extLst>
              <a:ext uri="{FF2B5EF4-FFF2-40B4-BE49-F238E27FC236}">
                <a16:creationId xmlns:a16="http://schemas.microsoft.com/office/drawing/2014/main" id="{621759BB-B5A9-32A7-D590-73DD32465CA6}"/>
              </a:ext>
            </a:extLst>
          </p:cNvPr>
          <p:cNvPicPr>
            <a:picLocks noChangeAspect="1"/>
          </p:cNvPicPr>
          <p:nvPr/>
        </p:nvPicPr>
        <p:blipFill>
          <a:blip r:embed="rId3"/>
          <a:stretch>
            <a:fillRect/>
          </a:stretch>
        </p:blipFill>
        <p:spPr>
          <a:xfrm>
            <a:off x="2209800" y="4890557"/>
            <a:ext cx="7772400" cy="1561977"/>
          </a:xfrm>
          <a:prstGeom prst="rect">
            <a:avLst/>
          </a:prstGeom>
        </p:spPr>
      </p:pic>
    </p:spTree>
    <p:extLst>
      <p:ext uri="{BB962C8B-B14F-4D97-AF65-F5344CB8AC3E}">
        <p14:creationId xmlns:p14="http://schemas.microsoft.com/office/powerpoint/2010/main" val="18167858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4603</TotalTime>
  <Words>3034</Words>
  <Application>Microsoft Macintosh PowerPoint</Application>
  <PresentationFormat>Widescreen</PresentationFormat>
  <Paragraphs>246</Paragraphs>
  <Slides>31</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Aptos</vt:lpstr>
      <vt:lpstr>Aptos Display</vt:lpstr>
      <vt:lpstr>Arial</vt:lpstr>
      <vt:lpstr>Cambria Math</vt:lpstr>
      <vt:lpstr>Office Theme</vt:lpstr>
      <vt:lpstr>Multiple Regression </vt:lpstr>
      <vt:lpstr>What is Multiple Regression?</vt:lpstr>
      <vt:lpstr>Imagine:</vt:lpstr>
      <vt:lpstr>PowerPoint Presentation</vt:lpstr>
      <vt:lpstr>PowerPoint Presentation</vt:lpstr>
      <vt:lpstr>General Equation</vt:lpstr>
      <vt:lpstr>PowerPoint Presentation</vt:lpstr>
      <vt:lpstr>Testing Hypotheses</vt:lpstr>
      <vt:lpstr>Residual Confounders</vt:lpstr>
      <vt:lpstr>Assumptions</vt:lpstr>
      <vt:lpstr>Assumption of Linearity</vt:lpstr>
      <vt:lpstr>Constant Variance and Normality</vt:lpstr>
      <vt:lpstr>PowerPoint Presentation</vt:lpstr>
      <vt:lpstr>Multicollinearity</vt:lpstr>
      <vt:lpstr>R2</vt:lpstr>
      <vt:lpstr>Adjusted R²</vt:lpstr>
      <vt:lpstr>Example: </vt:lpstr>
      <vt:lpstr>T-tests</vt:lpstr>
      <vt:lpstr>F-test</vt:lpstr>
      <vt:lpstr>Explanatory Modeling</vt:lpstr>
      <vt:lpstr>Example: Forest Birds</vt:lpstr>
      <vt:lpstr>Example: Variables</vt:lpstr>
      <vt:lpstr>Data Exploration</vt:lpstr>
      <vt:lpstr>PowerPoint Presentation</vt:lpstr>
      <vt:lpstr>PowerPoint Presentation</vt:lpstr>
      <vt:lpstr>Initial Model</vt:lpstr>
      <vt:lpstr>Model Comparison</vt:lpstr>
      <vt:lpstr>Evaluation</vt:lpstr>
      <vt:lpstr>Forest Birds Conclusion:</vt:lpstr>
      <vt:lpstr>Why It Matters in Ecology</vt:lpstr>
      <vt:lpstr>Bonus: what if you applied different classes of pesticide?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Mothersole</dc:creator>
  <cp:lastModifiedBy>Anna Mothersole</cp:lastModifiedBy>
  <cp:revision>18</cp:revision>
  <dcterms:created xsi:type="dcterms:W3CDTF">2026-09-21T20:45:17Z</dcterms:created>
  <dcterms:modified xsi:type="dcterms:W3CDTF">2026-09-25T17:24:57Z</dcterms:modified>
</cp:coreProperties>
</file>